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Malgun Gothic" panose="020B0503020000020004" pitchFamily="34" charset="-127"/>
      <p:regular r:id="rId16"/>
      <p:bold r:id="rId17"/>
    </p:embeddedFont>
    <p:embeddedFont>
      <p:font typeface="Roboto Mono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20" y="17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08952cd1e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08952cd1e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8952cd1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8952cd1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08952cd1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08952cd1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08952cd1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08952cd1e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8729d1c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38729d1cf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38729d1cf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38729d1cf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38729d1c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38729d1c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38729d1cf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38729d1cf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38729d1cf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38729d1cf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38729d1cf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38729d1cf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38729d1c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38729d1cf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18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ko" sz="5400" b="1">
                <a:solidFill>
                  <a:schemeClr val="accent1"/>
                </a:solidFill>
              </a:rPr>
              <a:t>Centris Sym3 Etch</a:t>
            </a:r>
            <a:endParaRPr sz="5400" b="1">
              <a:solidFill>
                <a:schemeClr val="accen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64975" y="21754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rPr lang="ko" sz="2200">
                <a:solidFill>
                  <a:schemeClr val="dk1"/>
                </a:solidFill>
              </a:rPr>
              <a:t>장비 데이터 시뮬레이터 개발 후 데이터 분석</a:t>
            </a:r>
            <a:endParaRPr sz="2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856375" y="4293700"/>
            <a:ext cx="50292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 b="1">
                <a:solidFill>
                  <a:schemeClr val="dk1"/>
                </a:solidFill>
              </a:rPr>
              <a:t>반도체 장비소프트웨어과 하이테크 송성민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>
                <a:solidFill>
                  <a:schemeClr val="accent1"/>
                </a:solidFill>
              </a:rPr>
              <a:t>데이터 수집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Centris Sym3 Etch 시뮬레이터</a:t>
            </a:r>
            <a:r>
              <a:rPr lang="ko" sz="1400" b="1">
                <a:solidFill>
                  <a:schemeClr val="dk1"/>
                </a:solidFill>
              </a:rPr>
              <a:t> 이용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chemeClr val="dk1"/>
                </a:solidFill>
              </a:rPr>
              <a:t>2. 가스 유량 저하 시나리오 실행 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chemeClr val="dk1"/>
                </a:solidFill>
              </a:rPr>
              <a:t>3. RF 불안정/고장 시나리오 실행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chemeClr val="dk1"/>
                </a:solidFill>
              </a:rPr>
              <a:t>3. 각 시나리오 실행 후 </a:t>
            </a:r>
            <a:endParaRPr sz="14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 b="1">
                <a:solidFill>
                  <a:schemeClr val="dk1"/>
                </a:solidFill>
              </a:rPr>
              <a:t>CSV파일 저장 및 분석 진행</a:t>
            </a:r>
            <a:endParaRPr sz="1400" b="1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350" y="872625"/>
            <a:ext cx="5629652" cy="36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chemeClr val="accent1"/>
                </a:solidFill>
              </a:rPr>
              <a:t>데이터 종류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71375" y="1027000"/>
            <a:ext cx="8551200" cy="3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총 10000개의 데이터 13개의 컬럼으로 구성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timestamp, equipment_id, wafer_id,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rf_source_power, rf_bias_power, pressure,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cl2_flow, hbr_flow, etch_rate, etch_depth,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oes_intensity, status, result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6258" y="445025"/>
            <a:ext cx="4687741" cy="44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>
                <a:solidFill>
                  <a:schemeClr val="accent1"/>
                </a:solidFill>
              </a:rPr>
              <a:t>선정 분석 기법</a:t>
            </a:r>
            <a:endParaRPr sz="3000" b="1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175600" y="1154700"/>
            <a:ext cx="8774700" cy="38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chemeClr val="dk1"/>
                </a:solidFill>
              </a:rPr>
              <a:t>① 관리도 (X-bar &amp; S Chart)</a:t>
            </a:r>
            <a:endParaRPr sz="10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정상 구간(이상 발생 전) 데이터로 관리한계(UCL/LCL)를 계산하고, 0.5초 단위 서브그룹으로 X̄(평균)·S(표준편차) 두 관리도를 그렸습니다.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RF는 </a:t>
            </a:r>
            <a:r>
              <a:rPr lang="ko" sz="1000" b="1" dirty="0">
                <a:solidFill>
                  <a:schemeClr val="dk1"/>
                </a:solidFill>
              </a:rPr>
              <a:t>S 관리도</a:t>
            </a:r>
            <a:r>
              <a:rPr lang="ko" sz="1000" dirty="0">
                <a:solidFill>
                  <a:schemeClr val="dk1"/>
                </a:solidFill>
              </a:rPr>
              <a:t>에서, 가스는 </a:t>
            </a:r>
            <a:r>
              <a:rPr lang="ko" sz="1000" b="1" dirty="0">
                <a:solidFill>
                  <a:schemeClr val="dk1"/>
                </a:solidFill>
              </a:rPr>
              <a:t>X̄ 관리도</a:t>
            </a:r>
            <a:r>
              <a:rPr lang="ko" sz="1000" dirty="0">
                <a:solidFill>
                  <a:schemeClr val="dk1"/>
                </a:solidFill>
              </a:rPr>
              <a:t>에서 이탈이 뚜렷하게 </a:t>
            </a:r>
            <a:r>
              <a:rPr lang="ko" sz="1000" dirty="0" smtClean="0">
                <a:solidFill>
                  <a:schemeClr val="dk1"/>
                </a:solidFill>
              </a:rPr>
              <a:t>나타</a:t>
            </a:r>
            <a:r>
              <a:rPr lang="ko-KR" altLang="en-US" sz="1000" dirty="0" smtClean="0">
                <a:solidFill>
                  <a:schemeClr val="dk1"/>
                </a:solidFill>
              </a:rPr>
              <a:t>납니다</a:t>
            </a:r>
            <a:r>
              <a:rPr lang="ko" sz="1000" dirty="0" smtClean="0">
                <a:solidFill>
                  <a:schemeClr val="dk1"/>
                </a:solidFill>
              </a:rPr>
              <a:t>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 dirty="0">
                <a:solidFill>
                  <a:schemeClr val="dk1"/>
                </a:solidFill>
              </a:rPr>
              <a:t>② 바이올린 플롯 + 가설검정 p-value</a:t>
            </a:r>
            <a:endParaRPr sz="1000" b="1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(RF Bias Power·OES Intensity, Levene 분산검정) / (Pressure Levene, Etch Rate Welch t-test)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전부 </a:t>
            </a:r>
            <a:r>
              <a:rPr lang="ko" sz="1000" b="1" dirty="0">
                <a:solidFill>
                  <a:schemeClr val="dk1"/>
                </a:solidFill>
              </a:rPr>
              <a:t>p &lt; 0.001</a:t>
            </a:r>
            <a:r>
              <a:rPr lang="ko" sz="1000" dirty="0">
                <a:solidFill>
                  <a:schemeClr val="dk1"/>
                </a:solidFill>
              </a:rPr>
              <a:t>로 통계적으로 유의미한 차이 확인. 분포의 폭·모양까지 보여줘 Box plot보다 정보량이 많습니다.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 dirty="0">
                <a:solidFill>
                  <a:schemeClr val="dk1"/>
                </a:solidFill>
              </a:rPr>
              <a:t>③ CUSUM 변화점 탐지</a:t>
            </a:r>
            <a:endParaRPr sz="1000" b="1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RF는 분산형 이상이라 </a:t>
            </a:r>
            <a:r>
              <a:rPr lang="ko" sz="1000" b="1" dirty="0">
                <a:solidFill>
                  <a:schemeClr val="dk1"/>
                </a:solidFill>
              </a:rPr>
              <a:t>제곱편차 누적합(Scale-CUSUM)</a:t>
            </a:r>
            <a:r>
              <a:rPr lang="ko" sz="1000" dirty="0">
                <a:solidFill>
                  <a:schemeClr val="dk1"/>
                </a:solidFill>
              </a:rPr>
              <a:t> 사용 → </a:t>
            </a:r>
            <a:r>
              <a:rPr lang="ko" sz="1000" b="1" dirty="0">
                <a:solidFill>
                  <a:schemeClr val="dk1"/>
                </a:solidFill>
              </a:rPr>
              <a:t>t≈27.0s</a:t>
            </a:r>
            <a:r>
              <a:rPr lang="ko" sz="1000" dirty="0">
                <a:solidFill>
                  <a:schemeClr val="dk1"/>
                </a:solidFill>
              </a:rPr>
              <a:t> 자동 검출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가스는 평균이동형이라 </a:t>
            </a:r>
            <a:r>
              <a:rPr lang="ko" sz="1000" b="1" dirty="0">
                <a:solidFill>
                  <a:schemeClr val="dk1"/>
                </a:solidFill>
              </a:rPr>
              <a:t>표준 CUSUM</a:t>
            </a:r>
            <a:r>
              <a:rPr lang="ko" sz="1000" dirty="0">
                <a:solidFill>
                  <a:schemeClr val="dk1"/>
                </a:solidFill>
              </a:rPr>
              <a:t> 사용 → </a:t>
            </a:r>
            <a:r>
              <a:rPr lang="ko" sz="1000" b="1" dirty="0">
                <a:solidFill>
                  <a:schemeClr val="dk1"/>
                </a:solidFill>
              </a:rPr>
              <a:t>t≈30.0s</a:t>
            </a:r>
            <a:r>
              <a:rPr lang="ko" sz="1000" dirty="0">
                <a:solidFill>
                  <a:schemeClr val="dk1"/>
                </a:solidFill>
              </a:rPr>
              <a:t> 자동 검출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000" b="1" dirty="0">
                <a:solidFill>
                  <a:schemeClr val="dk1"/>
                </a:solidFill>
              </a:rPr>
              <a:t>④ 파이 차트 (정상/이상 비율)</a:t>
            </a:r>
            <a:endParaRPr sz="1000" b="1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Status(NORMAL 27.0% / FAULT 73.0%), Result(OK 27.0% / NG 73.0%)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ko" sz="1000" dirty="0">
                <a:solidFill>
                  <a:schemeClr val="dk1"/>
                </a:solidFill>
              </a:rPr>
              <a:t>Status(NORMAL 30.0% / WARNING 69.8% / FAULT 0.2%), Result(OK 33.7% / NG 66.3%)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chemeClr val="accent1"/>
                </a:solidFill>
              </a:rPr>
              <a:t>가스 유량 저하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l="30" r="20"/>
          <a:stretch/>
        </p:blipFill>
        <p:spPr>
          <a:xfrm>
            <a:off x="3826725" y="956025"/>
            <a:ext cx="5317275" cy="323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261050" y="1008950"/>
            <a:ext cx="3565800" cy="3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>
                <a:solidFill>
                  <a:schemeClr val="dk2"/>
                </a:solidFill>
              </a:rPr>
              <a:t>① 관리도 (X̄–S 관리도)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>
                <a:solidFill>
                  <a:schemeClr val="dk2"/>
                </a:solidFill>
              </a:rPr>
              <a:t>정상일 때 데이터로 위·아래 경계선(UCL/LCL)을 긋고, 값이 선을 넘으면 "이상"으로 판단하는 감시 그래프입니다.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위 = 평균(X̄), 아래 = 흔들림(S)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t≈30초부터 압력이 경계선을 벗어나 크게 요동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값이 이동·요동하는 고장은 관리도로 즉시 검출됨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가스 유량 저하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13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>
                <a:solidFill>
                  <a:schemeClr val="dk2"/>
                </a:solidFill>
              </a:rPr>
              <a:t>② 바이올린 플롯 + p값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>
                <a:solidFill>
                  <a:schemeClr val="dk2"/>
                </a:solidFill>
              </a:rPr>
              <a:t>값들이 어디에 얼마나 몰려 있는지 바이올린 모양으로 보여줍니다. 통통할수록 데이터가 많다는 뜻입니다.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압력: 정상은 한 점(20), 이상은 위아래로 퍼짐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Etch Rate: 바이올린 전체가 아래로 이동(평균 하락)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p &lt; 0.001 → 우연이 아닌 "확실한 차이"로 증명</a:t>
            </a:r>
          </a:p>
        </p:txBody>
      </p:sp>
      <p:pic>
        <p:nvPicPr>
          <p:cNvPr id="90" name="Google Shape;90;p18" title="gas_viol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5325" y="1434111"/>
            <a:ext cx="5318673" cy="285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가스 유량 저하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57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 dirty="0">
                <a:solidFill>
                  <a:schemeClr val="dk2"/>
                </a:solidFill>
              </a:rPr>
              <a:t>③ CUSUM 변화점 탐지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 dirty="0">
                <a:solidFill>
                  <a:schemeClr val="dk2"/>
                </a:solidFill>
              </a:rPr>
              <a:t>기준값과의 차이를 계속 더해 가는 그래프입니다. 이상이 시작되면 선이 급격히 꺾이고, 꺾인 지점이 곧 이상 시작 시점입니다.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Cl₂가 120→95 sccm으로 줄자 누적합이 급락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 smtClean="0">
                <a:solidFill>
                  <a:schemeClr val="dk2"/>
                </a:solidFill>
              </a:rPr>
              <a:t>t</a:t>
            </a:r>
            <a:r>
              <a:rPr lang="ko" sz="1200" b="0" dirty="0">
                <a:solidFill>
                  <a:schemeClr val="dk2"/>
                </a:solidFill>
              </a:rPr>
              <a:t>≈30.0</a:t>
            </a:r>
            <a:r>
              <a:rPr lang="ko" sz="1200" b="0" dirty="0" smtClean="0">
                <a:solidFill>
                  <a:schemeClr val="dk2"/>
                </a:solidFill>
              </a:rPr>
              <a:t>초</a:t>
            </a:r>
            <a:r>
              <a:rPr lang="ko-KR" altLang="en-US" sz="1200" b="0" dirty="0" err="1" smtClean="0">
                <a:solidFill>
                  <a:schemeClr val="dk2"/>
                </a:solidFill>
              </a:rPr>
              <a:t>부터</a:t>
            </a:r>
            <a:r>
              <a:rPr lang="ko-KR" altLang="en-US" sz="1200" b="0" dirty="0" smtClean="0">
                <a:solidFill>
                  <a:schemeClr val="dk2"/>
                </a:solidFill>
              </a:rPr>
              <a:t> 기울기 급변</a:t>
            </a:r>
            <a:endParaRPr lang="ko" sz="1200" b="0" dirty="0">
              <a:solidFill>
                <a:schemeClr val="dk2"/>
              </a:solidFill>
            </a:endParaRPr>
          </a:p>
        </p:txBody>
      </p:sp>
      <p:pic>
        <p:nvPicPr>
          <p:cNvPr id="97" name="Google Shape;97;p19" title="gas_cus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8900" y="1332138"/>
            <a:ext cx="5475102" cy="305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가스 유량 저하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90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>
                <a:solidFill>
                  <a:schemeClr val="dk2"/>
                </a:solidFill>
              </a:rPr>
              <a:t>④ 파이 차트 (정상/이상 비율)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>
                <a:solidFill>
                  <a:schemeClr val="dk2"/>
                </a:solidFill>
              </a:rPr>
              <a:t>전체 10,000개 데이터 중 정상·경고·불량이 각각 몇 %인지 한눈에 보여줍니다.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Status: NORMAL 30.0% / WARNING 69.8% / FAULT 0.2%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Result: OK 33.7% / NG 66.3%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큰 고장은 아니어도 데이터 2/3가 불합격 → 조기 발견이 중요</a:t>
            </a:r>
          </a:p>
        </p:txBody>
      </p:sp>
      <p:pic>
        <p:nvPicPr>
          <p:cNvPr id="104" name="Google Shape;104;p20" title="gas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625" y="1291550"/>
            <a:ext cx="5442374" cy="29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RF 불안정/고장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2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 dirty="0">
                <a:solidFill>
                  <a:schemeClr val="dk2"/>
                </a:solidFill>
              </a:rPr>
              <a:t>① 관리도 (X̄–S 관리도)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 dirty="0">
                <a:solidFill>
                  <a:schemeClr val="dk2"/>
                </a:solidFill>
              </a:rPr>
              <a:t>정상 데이터로 경계선(UCL/LCL)을 긋고, 선을 넘으면 이상으로 판단합니다.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평균(위, X̄)은 150 </a:t>
            </a:r>
            <a:r>
              <a:rPr lang="ko" sz="1200" b="0" dirty="0" smtClean="0">
                <a:solidFill>
                  <a:schemeClr val="dk2"/>
                </a:solidFill>
              </a:rPr>
              <a:t>W</a:t>
            </a:r>
            <a:r>
              <a:rPr lang="en-US" altLang="ko" sz="1200" b="0" dirty="0" smtClean="0">
                <a:solidFill>
                  <a:schemeClr val="dk2"/>
                </a:solidFill>
              </a:rPr>
              <a:t> </a:t>
            </a:r>
            <a:r>
              <a:rPr lang="ko-KR" altLang="en-US" sz="1200" b="0" dirty="0" smtClean="0">
                <a:solidFill>
                  <a:schemeClr val="dk2"/>
                </a:solidFill>
              </a:rPr>
              <a:t>고정에서 근처로 값이 튐</a:t>
            </a:r>
            <a:endParaRPr lang="ko" sz="1200" b="0" dirty="0">
              <a:solidFill>
                <a:schemeClr val="dk2"/>
              </a:solidFill>
            </a:endParaRP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흔들림(아래, S)은 t≈27초부터 0→7 W로 급증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None/>
            </a:pPr>
            <a:endParaRPr lang="ko" sz="1200" b="0" dirty="0">
              <a:solidFill>
                <a:schemeClr val="dk2"/>
              </a:solidFill>
            </a:endParaRPr>
          </a:p>
        </p:txBody>
      </p:sp>
      <p:pic>
        <p:nvPicPr>
          <p:cNvPr id="111" name="Google Shape;111;p21"/>
          <p:cNvPicPr preferRelativeResize="0"/>
          <p:nvPr/>
        </p:nvPicPr>
        <p:blipFill rotWithShape="1">
          <a:blip r:embed="rId3">
            <a:alphaModFix/>
          </a:blip>
          <a:srcRect t="20" b="30"/>
          <a:stretch/>
        </p:blipFill>
        <p:spPr>
          <a:xfrm>
            <a:off x="3739450" y="1220013"/>
            <a:ext cx="5404552" cy="3281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RF 불안정/고장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4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>
                <a:solidFill>
                  <a:schemeClr val="dk2"/>
                </a:solidFill>
              </a:rPr>
              <a:t>② 바이올린 플롯 + p값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>
                <a:solidFill>
                  <a:schemeClr val="dk2"/>
                </a:solidFill>
              </a:rPr>
              <a:t>정상과 이상 구간의 값 분포를 나란히 비교합니다.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정상: 150 W 한 점에 얇게 몰림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이상: 118~182 W로 뚱뚱하게 퍼짐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평균은 비슷해도 "퍼짐"이 완전히 다름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>
                <a:solidFill>
                  <a:schemeClr val="dk2"/>
                </a:solidFill>
              </a:rPr>
              <a:t>Levene 검정 p &lt; 0.001 → 분산 차이가 통계적으로 확실</a:t>
            </a:r>
          </a:p>
        </p:txBody>
      </p:sp>
      <p:pic>
        <p:nvPicPr>
          <p:cNvPr id="118" name="Google Shape;118;p22" title="rf_viol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0625" y="1281737"/>
            <a:ext cx="5883374" cy="31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ko" altLang="ko-KR" b="1" dirty="0">
                <a:solidFill>
                  <a:schemeClr val="accent1"/>
                </a:solidFill>
              </a:rPr>
              <a:t>RF 불안정/고장 </a:t>
            </a:r>
            <a:r>
              <a:rPr lang="ko-KR" altLang="en-US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046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 dirty="0">
                <a:solidFill>
                  <a:schemeClr val="dk2"/>
                </a:solidFill>
              </a:rPr>
              <a:t>③ CUSUM 변화점 탐지 (Scale-CUSUM)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 dirty="0">
                <a:solidFill>
                  <a:schemeClr val="dk2"/>
                </a:solidFill>
              </a:rPr>
              <a:t>평균이 변하지 않는 고장이라 (값−150)², 즉 제곱편차를 누적합니다. 흔들림이 커지면 선이 가파르게 올라갑니다.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t≈27.0초에서 기울기가 급변 </a:t>
            </a:r>
            <a:endParaRPr lang="en-US" altLang="ko" sz="1200" b="0" dirty="0" smtClean="0">
              <a:solidFill>
                <a:schemeClr val="dk2"/>
              </a:solidFill>
            </a:endParaRP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 smtClean="0">
                <a:solidFill>
                  <a:schemeClr val="dk2"/>
                </a:solidFill>
              </a:rPr>
              <a:t>실제 </a:t>
            </a:r>
            <a:r>
              <a:rPr lang="ko" sz="1200" b="0" dirty="0">
                <a:solidFill>
                  <a:schemeClr val="dk2"/>
                </a:solidFill>
              </a:rPr>
              <a:t>고장 시점과 정확히 </a:t>
            </a:r>
            <a:r>
              <a:rPr lang="ko" sz="1200" b="0" dirty="0" smtClean="0">
                <a:solidFill>
                  <a:schemeClr val="dk2"/>
                </a:solidFill>
              </a:rPr>
              <a:t>일치</a:t>
            </a:r>
          </a:p>
        </p:txBody>
      </p:sp>
      <p:pic>
        <p:nvPicPr>
          <p:cNvPr id="125" name="Google Shape;125;p23" title="rf_cusu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450" y="1247663"/>
            <a:ext cx="5785551" cy="32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ko" sz="3000" b="1" dirty="0">
                <a:solidFill>
                  <a:schemeClr val="accent1"/>
                </a:solidFill>
              </a:rPr>
              <a:t>RF 불안정/고장 </a:t>
            </a:r>
            <a:r>
              <a:rPr lang="ko-KR" altLang="en-US" sz="3000" b="1" dirty="0" smtClean="0">
                <a:solidFill>
                  <a:schemeClr val="accent1"/>
                </a:solidFill>
              </a:rPr>
              <a:t>분석</a:t>
            </a:r>
            <a:endParaRPr dirty="0"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375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ko" sz="1500" b="1" dirty="0">
                <a:solidFill>
                  <a:schemeClr val="dk2"/>
                </a:solidFill>
              </a:rPr>
              <a:t>④ 파이 차트 (정상/이상 비율)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ko" sz="1200" b="0" dirty="0">
                <a:solidFill>
                  <a:schemeClr val="dk2"/>
                </a:solidFill>
              </a:rPr>
              <a:t>전체 10,000개 데이터의 판정 비율입니다.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Status: NORMAL 27.0% / FAULT 73.0%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Result: OK 27.0% / NG 73.0%</a:t>
            </a:r>
          </a:p>
          <a:p>
            <a:pPr marL="171450" lvl="0" indent="-171450" algn="l" rtl="0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ko" sz="1200" b="0" dirty="0">
                <a:solidFill>
                  <a:schemeClr val="dk2"/>
                </a:solidFill>
              </a:rPr>
              <a:t>고장 후 사실상 전 구간이 불량 → 데이터 2/3 이상 폐기 </a:t>
            </a:r>
            <a:r>
              <a:rPr lang="ko" sz="1200" b="0" dirty="0" smtClean="0">
                <a:solidFill>
                  <a:schemeClr val="dk2"/>
                </a:solidFill>
              </a:rPr>
              <a:t>수준</a:t>
            </a:r>
            <a:endParaRPr lang="ko" sz="1200" b="0" dirty="0">
              <a:solidFill>
                <a:schemeClr val="dk2"/>
              </a:solidFill>
            </a:endParaRPr>
          </a:p>
        </p:txBody>
      </p:sp>
      <p:pic>
        <p:nvPicPr>
          <p:cNvPr id="132" name="Google Shape;132;p24" title="rf_pi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6875" y="1354301"/>
            <a:ext cx="5457124" cy="3012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 smtClean="0">
                <a:solidFill>
                  <a:schemeClr val="accent1"/>
                </a:solidFill>
              </a:rPr>
              <a:t>결론</a:t>
            </a:r>
            <a:endParaRPr lang="ko-KR" altLang="en-US" b="1" dirty="0">
              <a:solidFill>
                <a:schemeClr val="accent1"/>
              </a:solidFill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ko-KR" altLang="en-US" b="1" dirty="0" smtClean="0">
                <a:solidFill>
                  <a:schemeClr val="tx1"/>
                </a:solidFill>
              </a:rPr>
              <a:t>불량 </a:t>
            </a:r>
            <a:r>
              <a:rPr lang="ko-KR" altLang="en-US" b="1" dirty="0" smtClean="0">
                <a:solidFill>
                  <a:schemeClr val="tx1"/>
                </a:solidFill>
              </a:rPr>
              <a:t>방지</a:t>
            </a:r>
            <a:r>
              <a:rPr lang="en-US" altLang="ko-KR" b="1" dirty="0" smtClean="0">
                <a:solidFill>
                  <a:schemeClr val="tx1"/>
                </a:solidFill>
              </a:rPr>
              <a:t>: </a:t>
            </a:r>
            <a:r>
              <a:rPr lang="ko-KR" altLang="en-US" dirty="0" smtClean="0">
                <a:solidFill>
                  <a:schemeClr val="tx1"/>
                </a:solidFill>
              </a:rPr>
              <a:t>공정변수들이 정상범위로 설정이 되어있는지 확인하고 </a:t>
            </a:r>
            <a:r>
              <a:rPr lang="ko-KR" altLang="en-US" dirty="0" err="1" smtClean="0">
                <a:solidFill>
                  <a:schemeClr val="tx1"/>
                </a:solidFill>
              </a:rPr>
              <a:t>점검해야하고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다른 부가적인 요인들이 영향을 주지 않았는지 확인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114300" lvl="0" indent="0">
              <a:buNone/>
            </a:pP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" b="1" dirty="0" smtClean="0">
                <a:solidFill>
                  <a:schemeClr val="tx1"/>
                </a:solidFill>
              </a:rPr>
              <a:t>RF </a:t>
            </a:r>
            <a:r>
              <a:rPr lang="en-US" altLang="ko" b="1" dirty="0">
                <a:solidFill>
                  <a:schemeClr val="tx1"/>
                </a:solidFill>
              </a:rPr>
              <a:t>Source </a:t>
            </a:r>
            <a:r>
              <a:rPr lang="en-US" altLang="ko" b="1" dirty="0" smtClean="0">
                <a:solidFill>
                  <a:schemeClr val="tx1"/>
                </a:solidFill>
              </a:rPr>
              <a:t>Power: </a:t>
            </a:r>
            <a:r>
              <a:rPr lang="ko-KR" altLang="en-US" dirty="0" err="1">
                <a:solidFill>
                  <a:schemeClr val="tx1"/>
                </a:solidFill>
              </a:rPr>
              <a:t>플라즈마</a:t>
            </a:r>
            <a:r>
              <a:rPr lang="ko-KR" altLang="en-US" dirty="0">
                <a:solidFill>
                  <a:schemeClr val="tx1"/>
                </a:solidFill>
              </a:rPr>
              <a:t> 세기 부족 </a:t>
            </a:r>
            <a:r>
              <a:rPr lang="en-US" altLang="ko-KR" dirty="0">
                <a:solidFill>
                  <a:schemeClr val="tx1"/>
                </a:solidFill>
              </a:rPr>
              <a:t>or </a:t>
            </a:r>
            <a:r>
              <a:rPr lang="ko-KR" altLang="en-US" dirty="0">
                <a:solidFill>
                  <a:schemeClr val="tx1"/>
                </a:solidFill>
              </a:rPr>
              <a:t>과도</a:t>
            </a:r>
            <a:endParaRPr lang="en-US" altLang="ko" dirty="0" smtClean="0">
              <a:solidFill>
                <a:schemeClr val="tx1"/>
              </a:solidFill>
            </a:endParaRPr>
          </a:p>
          <a:p>
            <a:pPr lvl="0"/>
            <a:r>
              <a:rPr lang="en-US" altLang="ko" b="1" dirty="0" smtClean="0">
                <a:solidFill>
                  <a:schemeClr val="tx1"/>
                </a:solidFill>
              </a:rPr>
              <a:t>RF </a:t>
            </a:r>
            <a:r>
              <a:rPr lang="en-US" altLang="ko" b="1" dirty="0">
                <a:solidFill>
                  <a:schemeClr val="tx1"/>
                </a:solidFill>
              </a:rPr>
              <a:t>Bias </a:t>
            </a:r>
            <a:r>
              <a:rPr lang="en-US" altLang="ko" b="1" dirty="0" smtClean="0">
                <a:solidFill>
                  <a:schemeClr val="tx1"/>
                </a:solidFill>
              </a:rPr>
              <a:t>Power: </a:t>
            </a:r>
            <a:r>
              <a:rPr lang="ko-KR" altLang="en-US" dirty="0" err="1">
                <a:solidFill>
                  <a:schemeClr val="tx1"/>
                </a:solidFill>
              </a:rPr>
              <a:t>이온에너지</a:t>
            </a:r>
            <a:r>
              <a:rPr lang="ko-KR" altLang="en-US" dirty="0">
                <a:solidFill>
                  <a:schemeClr val="tx1"/>
                </a:solidFill>
              </a:rPr>
              <a:t> 불안정</a:t>
            </a:r>
            <a:endParaRPr lang="en-US" altLang="ko" dirty="0" smtClean="0">
              <a:solidFill>
                <a:schemeClr val="tx1"/>
              </a:solidFill>
            </a:endParaRPr>
          </a:p>
          <a:p>
            <a:pPr lvl="0"/>
            <a:r>
              <a:rPr lang="en-US" altLang="ko" b="1" dirty="0" smtClean="0">
                <a:solidFill>
                  <a:schemeClr val="tx1"/>
                </a:solidFill>
              </a:rPr>
              <a:t>Chamber Pressure:</a:t>
            </a:r>
            <a:r>
              <a:rPr lang="ko-KR" altLang="en-US" b="1" dirty="0" smtClean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압력변동으로 </a:t>
            </a:r>
            <a:r>
              <a:rPr lang="ko-KR" altLang="en-US" dirty="0" err="1">
                <a:solidFill>
                  <a:schemeClr val="tx1"/>
                </a:solidFill>
              </a:rPr>
              <a:t>식각</a:t>
            </a:r>
            <a:r>
              <a:rPr lang="ko-KR" altLang="en-US" dirty="0">
                <a:solidFill>
                  <a:schemeClr val="tx1"/>
                </a:solidFill>
              </a:rPr>
              <a:t> 균일도 저하</a:t>
            </a:r>
            <a:endParaRPr lang="en-US" altLang="ko-KR" dirty="0">
              <a:solidFill>
                <a:schemeClr val="tx1"/>
              </a:solidFill>
            </a:endParaRPr>
          </a:p>
          <a:p>
            <a:pPr lvl="0"/>
            <a:r>
              <a:rPr lang="en-US" altLang="ko" b="1" dirty="0">
                <a:solidFill>
                  <a:schemeClr val="tx1"/>
                </a:solidFill>
              </a:rPr>
              <a:t>Cl₂ / </a:t>
            </a:r>
            <a:r>
              <a:rPr lang="en-US" altLang="ko" b="1" dirty="0" err="1">
                <a:solidFill>
                  <a:schemeClr val="tx1"/>
                </a:solidFill>
              </a:rPr>
              <a:t>HBr</a:t>
            </a:r>
            <a:r>
              <a:rPr lang="en-US" altLang="ko" b="1" dirty="0">
                <a:solidFill>
                  <a:schemeClr val="tx1"/>
                </a:solidFill>
              </a:rPr>
              <a:t> Gas </a:t>
            </a:r>
            <a:r>
              <a:rPr lang="en-US" altLang="ko" b="1" dirty="0" smtClean="0">
                <a:solidFill>
                  <a:schemeClr val="tx1"/>
                </a:solidFill>
              </a:rPr>
              <a:t>Flow: </a:t>
            </a:r>
            <a:r>
              <a:rPr lang="ko-KR" altLang="en-US" dirty="0" err="1">
                <a:solidFill>
                  <a:schemeClr val="tx1"/>
                </a:solidFill>
              </a:rPr>
              <a:t>식각량</a:t>
            </a:r>
            <a:r>
              <a:rPr lang="ko-KR" altLang="en-US" dirty="0">
                <a:solidFill>
                  <a:schemeClr val="tx1"/>
                </a:solidFill>
              </a:rPr>
              <a:t> 부족 또는 </a:t>
            </a:r>
            <a:r>
              <a:rPr lang="ko-KR" altLang="en-US" dirty="0" err="1" smtClean="0">
                <a:solidFill>
                  <a:schemeClr val="tx1"/>
                </a:solidFill>
              </a:rPr>
              <a:t>과식각</a:t>
            </a:r>
            <a:r>
              <a:rPr lang="en-US" altLang="ko-KR" dirty="0">
                <a:solidFill>
                  <a:schemeClr val="tx1"/>
                </a:solidFill>
              </a:rPr>
              <a:t>, Sidewall </a:t>
            </a:r>
            <a:r>
              <a:rPr lang="ko-KR" altLang="en-US" dirty="0">
                <a:solidFill>
                  <a:schemeClr val="tx1"/>
                </a:solidFill>
              </a:rPr>
              <a:t>보호 부족</a:t>
            </a:r>
            <a:endParaRPr lang="en-US" altLang="ko" dirty="0" smtClean="0">
              <a:solidFill>
                <a:schemeClr val="tx1"/>
              </a:solidFill>
            </a:endParaRPr>
          </a:p>
          <a:p>
            <a:pPr lvl="0"/>
            <a:r>
              <a:rPr lang="en-US" altLang="ko-KR" b="1" dirty="0">
                <a:solidFill>
                  <a:schemeClr val="tx1"/>
                </a:solidFill>
              </a:rPr>
              <a:t>OES Intensity </a:t>
            </a:r>
            <a:r>
              <a:rPr lang="en-US" altLang="ko-KR" b="1" dirty="0" smtClean="0">
                <a:solidFill>
                  <a:schemeClr val="tx1"/>
                </a:solidFill>
              </a:rPr>
              <a:t>Plasma: </a:t>
            </a:r>
            <a:r>
              <a:rPr lang="ko-KR" altLang="en-US" dirty="0">
                <a:solidFill>
                  <a:schemeClr val="tx1"/>
                </a:solidFill>
              </a:rPr>
              <a:t>이상 발생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0"/>
            <a:r>
              <a:rPr lang="en-US" altLang="ko-KR" b="1" dirty="0">
                <a:solidFill>
                  <a:schemeClr val="tx1"/>
                </a:solidFill>
              </a:rPr>
              <a:t>Etch </a:t>
            </a:r>
            <a:r>
              <a:rPr lang="en-US" altLang="ko-KR" b="1" dirty="0" smtClean="0">
                <a:solidFill>
                  <a:schemeClr val="tx1"/>
                </a:solidFill>
              </a:rPr>
              <a:t>Rate: </a:t>
            </a:r>
            <a:r>
              <a:rPr lang="ko-KR" altLang="en-US" dirty="0">
                <a:solidFill>
                  <a:schemeClr val="tx1"/>
                </a:solidFill>
              </a:rPr>
              <a:t>목표 </a:t>
            </a:r>
            <a:r>
              <a:rPr lang="ko-KR" altLang="en-US" dirty="0" err="1">
                <a:solidFill>
                  <a:schemeClr val="tx1"/>
                </a:solidFill>
              </a:rPr>
              <a:t>식각속도</a:t>
            </a:r>
            <a:r>
              <a:rPr lang="ko-KR" altLang="en-US" dirty="0">
                <a:solidFill>
                  <a:schemeClr val="tx1"/>
                </a:solidFill>
              </a:rPr>
              <a:t> 벗어남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0"/>
            <a:r>
              <a:rPr lang="en-US" altLang="ko-KR" b="1" dirty="0">
                <a:solidFill>
                  <a:schemeClr val="tx1"/>
                </a:solidFill>
              </a:rPr>
              <a:t>Etch </a:t>
            </a:r>
            <a:r>
              <a:rPr lang="en-US" altLang="ko-KR" b="1" dirty="0" smtClean="0">
                <a:solidFill>
                  <a:schemeClr val="tx1"/>
                </a:solidFill>
              </a:rPr>
              <a:t>Depth: </a:t>
            </a:r>
            <a:r>
              <a:rPr lang="en-US" altLang="ko-KR" dirty="0">
                <a:solidFill>
                  <a:schemeClr val="tx1"/>
                </a:solidFill>
              </a:rPr>
              <a:t>Under/Over Etch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lvl="0"/>
            <a:endParaRPr lang="en-US" altLang="ko" dirty="0" smtClean="0">
              <a:solidFill>
                <a:srgbClr val="13202B"/>
              </a:solidFill>
            </a:endParaRPr>
          </a:p>
          <a:p>
            <a:pPr marL="114300" lvl="0" indent="0">
              <a:buNone/>
            </a:pPr>
            <a:endParaRPr lang="en-US" altLang="ko-KR" dirty="0">
              <a:solidFill>
                <a:srgbClr val="13202B"/>
              </a:solidFill>
            </a:endParaRPr>
          </a:p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2982242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770</Words>
  <Application>Microsoft Office PowerPoint</Application>
  <PresentationFormat>화면 슬라이드 쇼(16:9)</PresentationFormat>
  <Paragraphs>92</Paragraphs>
  <Slides>13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Malgun Gothic</vt:lpstr>
      <vt:lpstr>Roboto Mono</vt:lpstr>
      <vt:lpstr>Simple Light</vt:lpstr>
      <vt:lpstr>Centris Sym3 Etch </vt:lpstr>
      <vt:lpstr>데이터 수집 </vt:lpstr>
      <vt:lpstr>데이터 종류 </vt:lpstr>
      <vt:lpstr>선정 분석 기법 </vt:lpstr>
      <vt:lpstr>가스 유량 저하 분석</vt:lpstr>
      <vt:lpstr>가스 유량 저하 분석</vt:lpstr>
      <vt:lpstr>가스 유량 저하 분석</vt:lpstr>
      <vt:lpstr>가스 유량 저하 분석</vt:lpstr>
      <vt:lpstr>RF 불안정/고장 분석</vt:lpstr>
      <vt:lpstr>RF 불안정/고장 분석</vt:lpstr>
      <vt:lpstr>RF 불안정/고장 분석</vt:lpstr>
      <vt:lpstr>RF 불안정/고장 분석</vt:lpstr>
      <vt:lpstr>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 </dc:title>
  <cp:lastModifiedBy>user</cp:lastModifiedBy>
  <cp:revision>8</cp:revision>
  <dcterms:modified xsi:type="dcterms:W3CDTF">2026-07-08T04:18:44Z</dcterms:modified>
</cp:coreProperties>
</file>