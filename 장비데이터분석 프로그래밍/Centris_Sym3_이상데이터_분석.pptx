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3566160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3" name="Shape 1"/>
          <p:cNvSpPr/>
          <p:nvPr/>
        </p:nvSpPr>
        <p:spPr>
          <a:xfrm>
            <a:off x="6949440" y="3895344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4" name="Shape 2"/>
          <p:cNvSpPr/>
          <p:nvPr/>
        </p:nvSpPr>
        <p:spPr>
          <a:xfrm>
            <a:off x="6949440" y="4224528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5" name="Shape 3"/>
          <p:cNvSpPr/>
          <p:nvPr/>
        </p:nvSpPr>
        <p:spPr>
          <a:xfrm>
            <a:off x="6949440" y="4553712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6" name="Shape 4"/>
          <p:cNvSpPr/>
          <p:nvPr/>
        </p:nvSpPr>
        <p:spPr>
          <a:xfrm>
            <a:off x="7278624" y="3566160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7" name="Shape 5"/>
          <p:cNvSpPr/>
          <p:nvPr/>
        </p:nvSpPr>
        <p:spPr>
          <a:xfrm>
            <a:off x="7278624" y="3895344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8" name="Shape 6"/>
          <p:cNvSpPr/>
          <p:nvPr/>
        </p:nvSpPr>
        <p:spPr>
          <a:xfrm>
            <a:off x="7278624" y="4224528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9" name="Shape 7"/>
          <p:cNvSpPr/>
          <p:nvPr/>
        </p:nvSpPr>
        <p:spPr>
          <a:xfrm>
            <a:off x="7278624" y="4553712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0" name="Shape 8"/>
          <p:cNvSpPr/>
          <p:nvPr/>
        </p:nvSpPr>
        <p:spPr>
          <a:xfrm>
            <a:off x="7607808" y="3566160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1" name="Shape 9"/>
          <p:cNvSpPr/>
          <p:nvPr/>
        </p:nvSpPr>
        <p:spPr>
          <a:xfrm>
            <a:off x="7607808" y="3895344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2" name="Shape 10"/>
          <p:cNvSpPr/>
          <p:nvPr/>
        </p:nvSpPr>
        <p:spPr>
          <a:xfrm>
            <a:off x="7607808" y="4224528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3" name="Shape 11"/>
          <p:cNvSpPr/>
          <p:nvPr/>
        </p:nvSpPr>
        <p:spPr>
          <a:xfrm>
            <a:off x="7607808" y="4553712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4" name="Shape 12"/>
          <p:cNvSpPr/>
          <p:nvPr/>
        </p:nvSpPr>
        <p:spPr>
          <a:xfrm>
            <a:off x="7936992" y="3566160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5" name="Shape 13"/>
          <p:cNvSpPr/>
          <p:nvPr/>
        </p:nvSpPr>
        <p:spPr>
          <a:xfrm>
            <a:off x="7936992" y="3895344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6" name="Shape 14"/>
          <p:cNvSpPr/>
          <p:nvPr/>
        </p:nvSpPr>
        <p:spPr>
          <a:xfrm>
            <a:off x="7936992" y="4224528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7" name="Shape 15"/>
          <p:cNvSpPr/>
          <p:nvPr/>
        </p:nvSpPr>
        <p:spPr>
          <a:xfrm>
            <a:off x="7936992" y="4553712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8" name="Shape 16"/>
          <p:cNvSpPr/>
          <p:nvPr/>
        </p:nvSpPr>
        <p:spPr>
          <a:xfrm>
            <a:off x="8266176" y="3566160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19" name="Shape 17"/>
          <p:cNvSpPr/>
          <p:nvPr/>
        </p:nvSpPr>
        <p:spPr>
          <a:xfrm>
            <a:off x="8266176" y="3895344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0" name="Shape 18"/>
          <p:cNvSpPr/>
          <p:nvPr/>
        </p:nvSpPr>
        <p:spPr>
          <a:xfrm>
            <a:off x="8266176" y="4224528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1" name="Shape 19"/>
          <p:cNvSpPr/>
          <p:nvPr/>
        </p:nvSpPr>
        <p:spPr>
          <a:xfrm>
            <a:off x="8266176" y="4553712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2" name="Shape 20"/>
          <p:cNvSpPr/>
          <p:nvPr/>
        </p:nvSpPr>
        <p:spPr>
          <a:xfrm>
            <a:off x="8595360" y="3566160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3" name="Shape 21"/>
          <p:cNvSpPr/>
          <p:nvPr/>
        </p:nvSpPr>
        <p:spPr>
          <a:xfrm>
            <a:off x="8595360" y="3895344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4" name="Shape 22"/>
          <p:cNvSpPr/>
          <p:nvPr/>
        </p:nvSpPr>
        <p:spPr>
          <a:xfrm>
            <a:off x="8595360" y="4224528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5" name="Shape 23"/>
          <p:cNvSpPr/>
          <p:nvPr/>
        </p:nvSpPr>
        <p:spPr>
          <a:xfrm>
            <a:off x="8595360" y="4553712"/>
            <a:ext cx="118872" cy="118872"/>
          </a:xfrm>
          <a:prstGeom prst="ellipse">
            <a:avLst/>
          </a:prstGeom>
          <a:solidFill>
            <a:srgbClr val="22334E"/>
          </a:solidFill>
          <a:ln/>
        </p:spPr>
      </p:sp>
      <p:sp>
        <p:nvSpPr>
          <p:cNvPr id="26" name="Shape 24"/>
          <p:cNvSpPr/>
          <p:nvPr/>
        </p:nvSpPr>
        <p:spPr>
          <a:xfrm>
            <a:off x="8924544" y="3566160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7" name="Shape 25"/>
          <p:cNvSpPr/>
          <p:nvPr/>
        </p:nvSpPr>
        <p:spPr>
          <a:xfrm>
            <a:off x="8924544" y="3895344"/>
            <a:ext cx="118872" cy="118872"/>
          </a:xfrm>
          <a:prstGeom prst="ellipse">
            <a:avLst/>
          </a:prstGeom>
          <a:solidFill>
            <a:srgbClr val="24486B"/>
          </a:solidFill>
          <a:ln/>
        </p:spPr>
      </p:sp>
      <p:sp>
        <p:nvSpPr>
          <p:cNvPr id="28" name="Shape 26"/>
          <p:cNvSpPr/>
          <p:nvPr/>
        </p:nvSpPr>
        <p:spPr>
          <a:xfrm>
            <a:off x="8924544" y="4224528"/>
            <a:ext cx="118872" cy="118872"/>
          </a:xfrm>
          <a:prstGeom prst="ellipse">
            <a:avLst/>
          </a:prstGeom>
          <a:solidFill>
            <a:srgbClr val="22334E"/>
          </a:solidFill>
          <a:ln/>
        </p:spPr>
      </p:sp>
      <p:sp>
        <p:nvSpPr>
          <p:cNvPr id="29" name="Shape 27"/>
          <p:cNvSpPr/>
          <p:nvPr/>
        </p:nvSpPr>
        <p:spPr>
          <a:xfrm>
            <a:off x="8924544" y="4553712"/>
            <a:ext cx="118872" cy="118872"/>
          </a:xfrm>
          <a:prstGeom prst="ellipse">
            <a:avLst/>
          </a:prstGeom>
          <a:solidFill>
            <a:srgbClr val="22334E"/>
          </a:solidFill>
          <a:ln/>
        </p:spPr>
      </p:sp>
      <p:sp>
        <p:nvSpPr>
          <p:cNvPr id="30" name="Shape 28"/>
          <p:cNvSpPr/>
          <p:nvPr/>
        </p:nvSpPr>
        <p:spPr>
          <a:xfrm>
            <a:off x="548640" y="594360"/>
            <a:ext cx="731520" cy="73152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3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9574" y="755294"/>
            <a:ext cx="409651" cy="409651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566928" y="16002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7FD1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AMAT CENTRIS SYM3 ETCH SIMULATOR</a:t>
            </a:r>
            <a:endParaRPr lang="en-US" sz="1300" dirty="0"/>
          </a:p>
        </p:txBody>
      </p:sp>
      <p:sp>
        <p:nvSpPr>
          <p:cNvPr id="33" name="Text 30"/>
          <p:cNvSpPr/>
          <p:nvPr/>
        </p:nvSpPr>
        <p:spPr>
          <a:xfrm>
            <a:off x="548640" y="1920240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플라즈마 식각 장비 이상 데이터 분석</a:t>
            </a:r>
            <a:endParaRPr lang="en-US" sz="4000" dirty="0"/>
          </a:p>
        </p:txBody>
      </p:sp>
      <p:sp>
        <p:nvSpPr>
          <p:cNvPr id="34" name="Text 31"/>
          <p:cNvSpPr/>
          <p:nvPr/>
        </p:nvSpPr>
        <p:spPr>
          <a:xfrm>
            <a:off x="566928" y="306324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불안정(Matcher Fault) · 가스 유량 저하(Cl₂ Leak) 시나리오 로그 시각화 및 통계 비교</a:t>
            </a:r>
            <a:endParaRPr lang="en-US" sz="1500" dirty="0"/>
          </a:p>
        </p:txBody>
      </p:sp>
      <p:sp>
        <p:nvSpPr>
          <p:cNvPr id="35" name="Text 32"/>
          <p:cNvSpPr/>
          <p:nvPr/>
        </p:nvSpPr>
        <p:spPr>
          <a:xfrm>
            <a:off x="566928" y="448056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C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Equipment Log 2026-07-08  |  SYM3-ETCH-01  |  LOT2603 - W12/25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PROGRAM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프로그램 소개 — Centris Sym3 Etch 시뮬레이터</a:t>
            </a:r>
            <a:endParaRPr lang="en-US" sz="2700" dirty="0"/>
          </a:p>
        </p:txBody>
      </p:sp>
      <p:sp>
        <p:nvSpPr>
          <p:cNvPr id="4" name="Text 2"/>
          <p:cNvSpPr/>
          <p:nvPr/>
        </p:nvSpPr>
        <p:spPr>
          <a:xfrm>
            <a:off x="502920" y="1207008"/>
            <a:ext cx="8138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Applied Materials Centris Sym3 식각 챔버를 모사한 웹 기반 시뮬레이터(HTML/CSS/JS).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실제 FDC(Fault Detection &amp; Classification) 데이터와 유사한 100 Hz 고속 로그를 생성한다.</a:t>
            </a:r>
            <a:endParaRPr lang="en-US" sz="1350" dirty="0"/>
          </a:p>
        </p:txBody>
      </p:sp>
      <p:sp>
        <p:nvSpPr>
          <p:cNvPr id="5" name="Shape 3"/>
          <p:cNvSpPr/>
          <p:nvPr/>
        </p:nvSpPr>
        <p:spPr>
          <a:xfrm>
            <a:off x="502920" y="201168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6F8FA"/>
          </a:solidFill>
          <a:ln/>
          <a:effectLst>
            <a:outerShdw sx="100000" sy="100000" kx="0" ky="0" algn="bl" rotWithShape="0" blurRad="88900" dist="25400" dir="5400000">
              <a:srgbClr val="1B2A41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04088" y="2359152"/>
            <a:ext cx="530352" cy="530352"/>
          </a:xfrm>
          <a:prstGeom prst="ellipse">
            <a:avLst/>
          </a:prstGeom>
          <a:solidFill>
            <a:srgbClr val="E2F1F0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1980" y="2497044"/>
            <a:ext cx="254569" cy="25456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99032" y="21305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4단계 레시피 엔진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99032" y="244144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Strike → Break-thru → Main Etch → Over-Etch, 총 100초 공정을 스텝별 설정값(RF/압력/가스)으로 구동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709160" y="201168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6F8FA"/>
          </a:solidFill>
          <a:ln/>
          <a:effectLst>
            <a:outerShdw sx="100000" sy="100000" kx="0" ky="0" algn="bl" rotWithShape="0" blurRad="88900" dist="25400" dir="5400000">
              <a:srgbClr val="1B2A41">
                <a:alpha val="1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10328" y="2359152"/>
            <a:ext cx="530352" cy="530352"/>
          </a:xfrm>
          <a:prstGeom prst="ellipse">
            <a:avLst/>
          </a:prstGeom>
          <a:solidFill>
            <a:srgbClr val="E2F1F0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8220" y="2497044"/>
            <a:ext cx="254569" cy="254569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05272" y="213055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텔레메트리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05272" y="244144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Power, 압력, 가스 유량, Etch Rate, OES Intensity 등을 실시간 차트와 챔버 애니메이션으로 표시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502920" y="342900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6F8FA"/>
          </a:solidFill>
          <a:ln/>
          <a:effectLst>
            <a:outerShdw sx="100000" sy="100000" kx="0" ky="0" algn="bl" rotWithShape="0" blurRad="88900" dist="25400" dir="5400000">
              <a:srgbClr val="1B2A41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704088" y="3776472"/>
            <a:ext cx="530352" cy="530352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980" y="3914364"/>
            <a:ext cx="254569" cy="254569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99032" y="35478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이상(Fault) 주입 기능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99032" y="385876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Main Etch 구간에서 RF Matcher 고장 또는 Cl₂ 가스 누설을 자동 주입해 비정상 데이터를 재현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4709160" y="3429000"/>
            <a:ext cx="3977640" cy="1234440"/>
          </a:xfrm>
          <a:prstGeom prst="roundRect">
            <a:avLst>
              <a:gd name="adj" fmla="val 5185"/>
            </a:avLst>
          </a:prstGeom>
          <a:solidFill>
            <a:srgbClr val="F6F8FA"/>
          </a:solidFill>
          <a:ln/>
          <a:effectLst>
            <a:outerShdw sx="100000" sy="100000" kx="0" ky="0" algn="bl" rotWithShape="0" blurRad="88900" dist="25400" dir="5400000">
              <a:srgbClr val="1B2A41">
                <a:alpha val="12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10328" y="3776472"/>
            <a:ext cx="530352" cy="530352"/>
          </a:xfrm>
          <a:prstGeom prst="ellipse">
            <a:avLst/>
          </a:prstGeom>
          <a:solidFill>
            <a:srgbClr val="E2F1F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8220" y="3914364"/>
            <a:ext cx="254569" cy="254569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05272" y="3547872"/>
            <a:ext cx="2971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로그 익스포트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605272" y="3858768"/>
            <a:ext cx="29718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1회 실행당 10,000 포인트(0.01초 간격) × 13개 항목을 status/result 판정과 함께 CSV로 저장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RECIPE &amp; DATA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레시피 구성과 로그 데이터 구조</a:t>
            </a:r>
            <a:endParaRPr lang="en-US" sz="27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325880"/>
          <a:ext cx="5212080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1645920"/>
                <a:gridCol w="548640"/>
                <a:gridCol w="1051560"/>
                <a:gridCol w="685800"/>
                <a:gridCol w="77724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Step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시간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RF Src/Bias (W)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압력 (mTorr)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Cl₂ / HBr (sccm)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41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Strike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 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300 / 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30.0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/ 0 (Ar 50)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Break-thru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 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600 / 100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25.0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80 / 40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Main Etch ★ 이상 주입 구간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70 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900 / 150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20.0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120 / 90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F1F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Over-Etch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15 s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850 / 140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22.0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22303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 / 80</a:t>
                      </a:r>
                      <a:endParaRPr lang="en-US" sz="10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8DFE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3429000"/>
            <a:ext cx="52120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레시피 개요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목표 식각 깊이 110 nm, Main Etch 목표 Etch Rate 60 nm/min. 이상 시나리오는 Step 3 진입 후 12~15초 시점에 자동 주입된다.</a:t>
            </a:r>
            <a:endParaRPr lang="en-US" sz="1300" dirty="0"/>
          </a:p>
        </p:txBody>
      </p:sp>
      <p:sp>
        <p:nvSpPr>
          <p:cNvPr id="6" name="Shape 3"/>
          <p:cNvSpPr/>
          <p:nvPr/>
        </p:nvSpPr>
        <p:spPr>
          <a:xfrm>
            <a:off x="5989320" y="1325880"/>
            <a:ext cx="2697480" cy="3200400"/>
          </a:xfrm>
          <a:prstGeom prst="roundRect">
            <a:avLst>
              <a:gd name="adj" fmla="val 2712"/>
            </a:avLst>
          </a:prstGeom>
          <a:solidFill>
            <a:srgbClr val="1B2A41"/>
          </a:solidFill>
          <a:ln/>
          <a:effectLst>
            <a:outerShdw sx="100000" sy="100000" kx="0" ky="0" algn="bl" rotWithShape="0" blurRad="101600" dist="25400" dir="5400000">
              <a:srgbClr val="1B2A41">
                <a:alpha val="2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217920" y="1536192"/>
            <a:ext cx="457200" cy="457200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36792" y="1655064"/>
            <a:ext cx="219456" cy="2194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784848" y="159105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로그 구조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6217920" y="21488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FD1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10,000 rows × 13 cols</a:t>
            </a:r>
            <a:endParaRPr lang="en-US" sz="1500" dirty="0"/>
          </a:p>
          <a:p>
            <a:pPr indent="0" marL="0">
              <a:buNone/>
            </a:pPr>
            <a:r>
              <a:rPr lang="en-US" sz="1050" dirty="0">
                <a:solidFill>
                  <a:srgbClr val="AEB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0.01 s (100 Hz)</a:t>
            </a:r>
            <a:endParaRPr lang="en-US" sz="1500" dirty="0"/>
          </a:p>
          <a:p>
            <a:pPr indent="0" marL="0">
              <a:buNone/>
            </a:pPr>
            <a:r>
              <a:rPr lang="en-US" sz="50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입력: rf_source · rf_bias · pressure · cl2 · hbr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출력: etch_rate · etch_depth · oes_intensity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E6ECF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판정: status(NORMAL/WARNING/FAULT) · result(OK/NG)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DATASET SUMMARY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대상 — 두 가지 이상 시나리오 로그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3977640" cy="3246120"/>
          </a:xfrm>
          <a:prstGeom prst="roundRect">
            <a:avLst>
              <a:gd name="adj" fmla="val 2535"/>
            </a:avLst>
          </a:prstGeom>
          <a:solidFill>
            <a:srgbClr val="FBE7E9"/>
          </a:solidFill>
          <a:ln/>
          <a:effectLst>
            <a:outerShdw sx="100000" sy="100000" kx="0" ky="0" algn="bl" rotWithShape="0" blurRad="101600" dist="25400" dir="5400000">
              <a:srgbClr val="1B2A41">
                <a:alpha val="14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58952" y="1536192"/>
            <a:ext cx="566928" cy="566928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0684" y="1677924"/>
            <a:ext cx="283464" cy="28346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591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A · RF FAULT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463040" y="18288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불안정 (Matcher 고장)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77724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equipment_log_…101834.csv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77240" y="2633472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t≈27s부터 RF Bias 150 W가 ±28 W 진동 (118~182 W)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OES Intensity 노이즈 급증, 반사파 서지 알람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데이터의 73.0%가 FAULT 판정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663440" y="1298448"/>
            <a:ext cx="3977640" cy="3246120"/>
          </a:xfrm>
          <a:prstGeom prst="roundRect">
            <a:avLst>
              <a:gd name="adj" fmla="val 2535"/>
            </a:avLst>
          </a:prstGeom>
          <a:solidFill>
            <a:srgbClr val="FCF3DC"/>
          </a:solidFill>
          <a:ln/>
          <a:effectLst>
            <a:outerShdw sx="100000" sy="100000" kx="0" ky="0" algn="bl" rotWithShape="0" blurRad="101600" dist="25400" dir="5400000">
              <a:srgbClr val="1B2A41">
                <a:alpha val="14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919472" y="1536192"/>
            <a:ext cx="566928" cy="566928"/>
          </a:xfrm>
          <a:prstGeom prst="ellipse">
            <a:avLst/>
          </a:prstGeom>
          <a:solidFill>
            <a:srgbClr val="E9A820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1204" y="1677924"/>
            <a:ext cx="283464" cy="28346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23560" y="1591056"/>
            <a:ext cx="2834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B · GAS LOW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5623560" y="18288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유량 저하 (Cl₂ 누설)</a:t>
            </a:r>
            <a:endParaRPr lang="en-US" sz="1550" dirty="0"/>
          </a:p>
        </p:txBody>
      </p:sp>
      <p:sp>
        <p:nvSpPr>
          <p:cNvPr id="16" name="Text 12"/>
          <p:cNvSpPr/>
          <p:nvPr/>
        </p:nvSpPr>
        <p:spPr>
          <a:xfrm>
            <a:off x="4937760" y="2304288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equipment_log_…101816.csv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4937760" y="2633472"/>
            <a:ext cx="352044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t≈30s부터 Cl₂ 120 → 95 sccm 저하 (약 21%)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챔버 압력 20 mTorr 기준 ±3 mTorr 주기적 요동</a:t>
            </a:r>
            <a:endParaRPr lang="en-US" sz="1150" dirty="0"/>
          </a:p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5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데이터의 69.8%가 WARNING 판정</a:t>
            </a:r>
            <a:endParaRPr lang="en-US" sz="1150" dirty="0"/>
          </a:p>
        </p:txBody>
      </p:sp>
      <p:sp>
        <p:nvSpPr>
          <p:cNvPr id="18" name="Text 14"/>
          <p:cNvSpPr/>
          <p:nvPr/>
        </p:nvSpPr>
        <p:spPr>
          <a:xfrm>
            <a:off x="502920" y="464515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두 로그 모두 동일 레시피·동일 웨이퍼 조건에서 생성 → 이상 유형별 시그니처 비교에 적합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A · TIME SERIES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불안정 — 시계열 분석</a:t>
            </a:r>
            <a:endParaRPr lang="en-US" sz="2700" dirty="0"/>
          </a:p>
        </p:txBody>
      </p:sp>
      <p:pic>
        <p:nvPicPr>
          <p:cNvPr id="4" name="Image 0" descr="charts/rf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5367528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53328" y="1389888"/>
            <a:ext cx="274320" cy="274320"/>
          </a:xfrm>
          <a:prstGeom prst="ellipse">
            <a:avLst/>
          </a:prstGeom>
          <a:solidFill>
            <a:srgbClr val="FBE7E9"/>
          </a:solidFill>
          <a:ln/>
        </p:spPr>
      </p:sp>
      <p:sp>
        <p:nvSpPr>
          <p:cNvPr id="6" name="Text 3"/>
          <p:cNvSpPr/>
          <p:nvPr/>
        </p:nvSpPr>
        <p:spPr>
          <a:xfrm>
            <a:off x="605332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19088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Fault 시그니처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19088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t≈27초부터 RF Bias가 ±28 W 정현파 형태로 발진 — Matcher 임피던스 정합 실패의 전형적 패턴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53328" y="2560320"/>
            <a:ext cx="274320" cy="274320"/>
          </a:xfrm>
          <a:prstGeom prst="ellipse">
            <a:avLst/>
          </a:prstGeom>
          <a:solidFill>
            <a:srgbClr val="FBE7E9"/>
          </a:solidFill>
          <a:ln/>
        </p:spPr>
      </p:sp>
      <p:sp>
        <p:nvSpPr>
          <p:cNvPr id="10" name="Text 7"/>
          <p:cNvSpPr/>
          <p:nvPr/>
        </p:nvSpPr>
        <p:spPr>
          <a:xfrm>
            <a:off x="605332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19088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OES 노이즈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19088" y="28163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플라즈마 불안정으로 OES Intensity 산포가 약 5배 확대 → EPD(종점 검출) 신뢰도 저하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53328" y="3730752"/>
            <a:ext cx="274320" cy="274320"/>
          </a:xfrm>
          <a:prstGeom prst="ellipse">
            <a:avLst/>
          </a:prstGeom>
          <a:solidFill>
            <a:srgbClr val="FBE7E9"/>
          </a:solidFill>
          <a:ln/>
        </p:spPr>
      </p:sp>
      <p:sp>
        <p:nvSpPr>
          <p:cNvPr id="14" name="Text 11"/>
          <p:cNvSpPr/>
          <p:nvPr/>
        </p:nvSpPr>
        <p:spPr>
          <a:xfrm>
            <a:off x="6053328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19088" y="3712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미달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19088" y="398678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종료 시 78.8 nm로 목표 110 nm 대비 28% 미달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A · BOX PLOT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불안정 — 정상 vs 이상 구간 통계 비교</a:t>
            </a:r>
            <a:endParaRPr lang="en-US" sz="2700" dirty="0"/>
          </a:p>
        </p:txBody>
      </p:sp>
      <p:pic>
        <p:nvPicPr>
          <p:cNvPr id="4" name="Image 0" descr="charts/rf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8138160" cy="2980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 → 20.0 W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Bias σ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7472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0.01 → 0.05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47472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OES σ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7220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60 유지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17220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Etch Rate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10332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평균은 정상과 같아도 산포(분산)가 폭증 — 평균 기반 SPC로는 놓치기 쉬운 이상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B · TIME SERIES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유량 저하 — 시계열 분석</a:t>
            </a:r>
            <a:endParaRPr lang="en-US" sz="2700" dirty="0"/>
          </a:p>
        </p:txBody>
      </p:sp>
      <p:pic>
        <p:nvPicPr>
          <p:cNvPr id="4" name="Image 0" descr="charts/gas_timeserie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07008"/>
            <a:ext cx="5367528" cy="36576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053328" y="1389888"/>
            <a:ext cx="274320" cy="274320"/>
          </a:xfrm>
          <a:prstGeom prst="ellipse">
            <a:avLst/>
          </a:prstGeom>
          <a:solidFill>
            <a:srgbClr val="FCF3DC"/>
          </a:solidFill>
          <a:ln/>
        </p:spPr>
      </p:sp>
      <p:sp>
        <p:nvSpPr>
          <p:cNvPr id="6" name="Text 3"/>
          <p:cNvSpPr/>
          <p:nvPr/>
        </p:nvSpPr>
        <p:spPr>
          <a:xfrm>
            <a:off x="6053328" y="13898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419088" y="137160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계단형 저하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6419088" y="164592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t≈30초에 Cl₂가 120 → 95 sccm으로 급락 후 고착 — MFC 이상 또는 배관 누설 패턴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053328" y="2560320"/>
            <a:ext cx="274320" cy="274320"/>
          </a:xfrm>
          <a:prstGeom prst="ellipse">
            <a:avLst/>
          </a:prstGeom>
          <a:solidFill>
            <a:srgbClr val="FCF3DC"/>
          </a:solidFill>
          <a:ln/>
        </p:spPr>
      </p:sp>
      <p:sp>
        <p:nvSpPr>
          <p:cNvPr id="10" name="Text 7"/>
          <p:cNvSpPr/>
          <p:nvPr/>
        </p:nvSpPr>
        <p:spPr>
          <a:xfrm>
            <a:off x="6053328" y="2560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6419088" y="2542032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 요동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6419088" y="281635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수지 붕괴로 압력이 ±3 mTorr 주기 진동 (σ 0 → 2.27)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053328" y="3730752"/>
            <a:ext cx="274320" cy="274320"/>
          </a:xfrm>
          <a:prstGeom prst="ellipse">
            <a:avLst/>
          </a:prstGeom>
          <a:solidFill>
            <a:srgbClr val="FCF3DC"/>
          </a:solidFill>
          <a:ln/>
        </p:spPr>
      </p:sp>
      <p:sp>
        <p:nvSpPr>
          <p:cNvPr id="14" name="Text 11"/>
          <p:cNvSpPr/>
          <p:nvPr/>
        </p:nvSpPr>
        <p:spPr>
          <a:xfrm>
            <a:off x="6053328" y="37307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419088" y="3712464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식각률 하락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419088" y="3986784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Etch Rate 평균 60 → 51.3 nm/min (−15%), 산포도 σ 3.1로 확대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SCENARIO B · PARAMETER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가스 유량 저하 — 정상 vs 이상 구간 비교</a:t>
            </a:r>
            <a:endParaRPr lang="en-US" sz="2700" dirty="0"/>
          </a:p>
        </p:txBody>
      </p:sp>
      <p:pic>
        <p:nvPicPr>
          <p:cNvPr id="4" name="Image 0" descr="charts/gas_boxpl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80160"/>
            <a:ext cx="8138160" cy="2980944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7724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 → 95 sccm</a:t>
            </a:r>
            <a:endParaRPr lang="en-US" sz="1900" dirty="0"/>
          </a:p>
        </p:txBody>
      </p:sp>
      <p:sp>
        <p:nvSpPr>
          <p:cNvPr id="6" name="Text 3"/>
          <p:cNvSpPr/>
          <p:nvPr/>
        </p:nvSpPr>
        <p:spPr>
          <a:xfrm>
            <a:off x="77724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Cl₂ Flow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347472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0.0 → 2.27 mTorr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347472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압력 σ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6172200" y="4370832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D6455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60 → 51.3 nm/min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172200" y="475488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Etch Rate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502920" y="1033272"/>
            <a:ext cx="8138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B07C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핵심: Cl₂는 설정값 자체가 이동(120→95, 상수라 막대로 표시) · 그 여파로 압력·식각률은 산포까지 확대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DISTRIBUTION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파라미터 분포 비교 — 이상 유형별 시그니처</a:t>
            </a:r>
            <a:endParaRPr lang="en-US" sz="2700" dirty="0"/>
          </a:p>
        </p:txBody>
      </p:sp>
      <p:pic>
        <p:nvPicPr>
          <p:cNvPr id="4" name="Image 0" descr="charts/distributio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325880"/>
            <a:ext cx="7772400" cy="2724912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85800" y="4224528"/>
            <a:ext cx="7772400" cy="713232"/>
          </a:xfrm>
          <a:prstGeom prst="roundRect">
            <a:avLst>
              <a:gd name="adj" fmla="val 8974"/>
            </a:avLst>
          </a:prstGeom>
          <a:solidFill>
            <a:srgbClr val="F6F8FA"/>
          </a:solidFill>
          <a:ln/>
        </p:spPr>
      </p:sp>
      <p:sp>
        <p:nvSpPr>
          <p:cNvPr id="6" name="Text 3"/>
          <p:cNvSpPr/>
          <p:nvPr/>
        </p:nvSpPr>
        <p:spPr>
          <a:xfrm>
            <a:off x="914400" y="4224528"/>
            <a:ext cx="7315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정상 구간은 설정값 한 점에 고정(분산 0, 초록 기준선). </a:t>
            </a:r>
            <a:pPr indent="0" marL="0">
              <a:buNone/>
            </a:pPr>
            <a:r>
              <a:rPr lang="en-US" sz="1200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불안정은 150 W 기준으로 넓게 퍼지고(산포형), 가스 저하는 20 mTorr 기준으로 좌우 요동(주기적 진동)한다.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E7C7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PROCESS IMPACT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8138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공정 결과 영향 — 판정 구성과 식각 깊이</a:t>
            </a:r>
            <a:endParaRPr lang="en-US" sz="2700" dirty="0"/>
          </a:p>
        </p:txBody>
      </p:sp>
      <p:pic>
        <p:nvPicPr>
          <p:cNvPr id="4" name="Image 0" descr="charts/status_compos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298448"/>
            <a:ext cx="4892040" cy="1783080"/>
          </a:xfrm>
          <a:prstGeom prst="rect">
            <a:avLst/>
          </a:prstGeom>
        </p:spPr>
      </p:pic>
      <p:pic>
        <p:nvPicPr>
          <p:cNvPr id="5" name="Image 1" descr="charts/depth_compar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0"/>
            <a:ext cx="4892040" cy="1865376"/>
          </a:xfrm>
          <a:prstGeom prst="rect">
            <a:avLst/>
          </a:prstGeom>
        </p:spPr>
      </p:pic>
      <p:sp>
        <p:nvSpPr>
          <p:cNvPr id="6" name="Shape 2"/>
          <p:cNvSpPr/>
          <p:nvPr/>
        </p:nvSpPr>
        <p:spPr>
          <a:xfrm>
            <a:off x="5669280" y="1371600"/>
            <a:ext cx="475488" cy="475488"/>
          </a:xfrm>
          <a:prstGeom prst="ellipse">
            <a:avLst/>
          </a:prstGeom>
          <a:solidFill>
            <a:srgbClr val="FBE7E9"/>
          </a:solidFill>
          <a:ln/>
        </p:spPr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2907" y="1495227"/>
            <a:ext cx="228234" cy="228234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6291072" y="1353312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NG율 66~73%</a:t>
            </a:r>
            <a:endParaRPr lang="en-US" sz="1350" dirty="0"/>
          </a:p>
        </p:txBody>
      </p:sp>
      <p:sp>
        <p:nvSpPr>
          <p:cNvPr id="9" name="Text 4"/>
          <p:cNvSpPr/>
          <p:nvPr/>
        </p:nvSpPr>
        <p:spPr>
          <a:xfrm>
            <a:off x="6291072" y="1645920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발생 이후 사실상 전 구간이 규격 이탈 — 웨이퍼 스크랩 리스크</a:t>
            </a:r>
            <a:endParaRPr lang="en-US" sz="1000" dirty="0"/>
          </a:p>
        </p:txBody>
      </p:sp>
      <p:sp>
        <p:nvSpPr>
          <p:cNvPr id="10" name="Shape 5"/>
          <p:cNvSpPr/>
          <p:nvPr/>
        </p:nvSpPr>
        <p:spPr>
          <a:xfrm>
            <a:off x="5669280" y="2578608"/>
            <a:ext cx="475488" cy="475488"/>
          </a:xfrm>
          <a:prstGeom prst="ellipse">
            <a:avLst/>
          </a:prstGeom>
          <a:solidFill>
            <a:srgbClr val="FCF3DC"/>
          </a:solidFill>
          <a:ln/>
        </p:spPr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2907" y="2702235"/>
            <a:ext cx="228234" cy="228234"/>
          </a:xfrm>
          <a:prstGeom prst="rect">
            <a:avLst/>
          </a:prstGeom>
        </p:spPr>
      </p:pic>
      <p:sp>
        <p:nvSpPr>
          <p:cNvPr id="12" name="Text 6"/>
          <p:cNvSpPr/>
          <p:nvPr/>
        </p:nvSpPr>
        <p:spPr>
          <a:xfrm>
            <a:off x="6291072" y="256032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깊이 28~36% 미달</a:t>
            </a:r>
            <a:endParaRPr lang="en-US" sz="1350" dirty="0"/>
          </a:p>
        </p:txBody>
      </p:sp>
      <p:sp>
        <p:nvSpPr>
          <p:cNvPr id="13" name="Text 7"/>
          <p:cNvSpPr/>
          <p:nvPr/>
        </p:nvSpPr>
        <p:spPr>
          <a:xfrm>
            <a:off x="6291072" y="2852928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78.8 nm · 가스 70.5 nm (목표 110 nm) — 재작업 불가한 패턴 결함 가능</a:t>
            </a:r>
            <a:endParaRPr lang="en-US" sz="1000" dirty="0"/>
          </a:p>
        </p:txBody>
      </p:sp>
      <p:sp>
        <p:nvSpPr>
          <p:cNvPr id="14" name="Shape 8"/>
          <p:cNvSpPr/>
          <p:nvPr/>
        </p:nvSpPr>
        <p:spPr>
          <a:xfrm>
            <a:off x="5669280" y="3785616"/>
            <a:ext cx="475488" cy="475488"/>
          </a:xfrm>
          <a:prstGeom prst="ellipse">
            <a:avLst/>
          </a:prstGeom>
          <a:solidFill>
            <a:srgbClr val="E2F1F0"/>
          </a:solidFill>
          <a:ln/>
        </p:spPr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92907" y="3909243"/>
            <a:ext cx="228234" cy="228234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291072" y="3767328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22303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조기 검출 필요</a:t>
            </a:r>
            <a:endParaRPr lang="en-US" sz="1350" dirty="0"/>
          </a:p>
        </p:txBody>
      </p:sp>
      <p:sp>
        <p:nvSpPr>
          <p:cNvPr id="17" name="Text 10"/>
          <p:cNvSpPr/>
          <p:nvPr/>
        </p:nvSpPr>
        <p:spPr>
          <a:xfrm>
            <a:off x="6291072" y="4059936"/>
            <a:ext cx="239572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주입 후 판정 전환까지 지연 극소 — 실시간 FDC 인터락이 손실 최소화의 관건</a:t>
            </a:r>
            <a:endParaRPr lang="en-US" sz="1000" dirty="0"/>
          </a:p>
        </p:txBody>
      </p:sp>
      <p:sp>
        <p:nvSpPr>
          <p:cNvPr id="18" name="Text 11"/>
          <p:cNvSpPr/>
          <p:nvPr/>
        </p:nvSpPr>
        <p:spPr>
          <a:xfrm>
            <a:off x="8549640" y="4773168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8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7FD1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30352" y="713232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 및 시사점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572768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22334E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773936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377" y="1907073"/>
            <a:ext cx="245791" cy="24579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82496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이상 유형별 통계 시그니처가 뚜렷하다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463040" y="1984248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고장은 '분산 폭증(σ 0→20 W)', 가스 누설은 '평균 이동(120→95 sccm)' — Box plot만으로도 두 유형이 명확히 구분된다.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548640" y="2651760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22334E"/>
          </a:solidFill>
          <a:ln/>
        </p:spPr>
      </p:sp>
      <p:sp>
        <p:nvSpPr>
          <p:cNvPr id="10" name="Shape 7"/>
          <p:cNvSpPr/>
          <p:nvPr/>
        </p:nvSpPr>
        <p:spPr>
          <a:xfrm>
            <a:off x="777240" y="2852928"/>
            <a:ext cx="512064" cy="512064"/>
          </a:xfrm>
          <a:prstGeom prst="ellipse">
            <a:avLst/>
          </a:prstGeom>
          <a:solidFill>
            <a:srgbClr val="D64550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77" y="2986065"/>
            <a:ext cx="245791" cy="245791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463040" y="2761488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기반 SPC의 한계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1463040" y="306324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RF 이상 구간의 Bias 평균은 150.2 W로 정상과 동일. 분산·range 관리도(S-chart)나 고주파 샘플링 없이는 검출이 어렵다.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3730752"/>
            <a:ext cx="8092440" cy="914400"/>
          </a:xfrm>
          <a:prstGeom prst="roundRect">
            <a:avLst>
              <a:gd name="adj" fmla="val 8000"/>
            </a:avLst>
          </a:prstGeom>
          <a:solidFill>
            <a:srgbClr val="22334E"/>
          </a:solidFill>
          <a:ln/>
        </p:spPr>
      </p:sp>
      <p:sp>
        <p:nvSpPr>
          <p:cNvPr id="15" name="Shape 11"/>
          <p:cNvSpPr/>
          <p:nvPr/>
        </p:nvSpPr>
        <p:spPr>
          <a:xfrm>
            <a:off x="777240" y="3931920"/>
            <a:ext cx="512064" cy="512064"/>
          </a:xfrm>
          <a:prstGeom prst="ellipse">
            <a:avLst/>
          </a:prstGeom>
          <a:solidFill>
            <a:srgbClr val="0E7C7B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377" y="4065057"/>
            <a:ext cx="245791" cy="245791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463040" y="3840480"/>
            <a:ext cx="7040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FDC 룰 제안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463040" y="4142232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EBFD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RF Bias 이동 표준편차 &gt; 5 W 인터락  ② Cl₂ 유량 설정 대비 −10% 이탈 알람  ③ 압력 σ 및 OES 노이즈 보조 지표 병행.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548640" y="4800600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A8CA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Centris Sym3 Etch Simulator  ·  Equipment Log Analysis  ·  2026.07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Centris Sym3 Etch 이상 데이터 분석</dc:title>
  <dc:subject>PptxGenJS Presentation</dc:subject>
  <dc:creator>PptxGenJS</dc:creator>
  <cp:lastModifiedBy>PptxGenJS</cp:lastModifiedBy>
  <cp:revision>1</cp:revision>
  <dcterms:created xsi:type="dcterms:W3CDTF">2026-07-08T01:36:14Z</dcterms:created>
  <dcterms:modified xsi:type="dcterms:W3CDTF">2026-07-08T01:36:14Z</dcterms:modified>
</cp:coreProperties>
</file>