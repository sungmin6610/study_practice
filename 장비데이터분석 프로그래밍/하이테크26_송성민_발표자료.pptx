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6" r:id="rId5"/>
    <p:sldId id="259" r:id="rId6"/>
    <p:sldId id="265" r:id="rId7"/>
    <p:sldId id="268" r:id="rId8"/>
    <p:sldId id="269" r:id="rId9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8" d="100"/>
          <a:sy n="78" d="100"/>
        </p:scale>
        <p:origin x="498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C27EA4-E190-4756-9F1C-CECA618921C8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77B77D-3E48-452C-8DEE-159666559A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6095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77B77D-3E48-452C-8DEE-159666559ADB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96844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77B77D-3E48-452C-8DEE-159666559ADB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34955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77B77D-3E48-452C-8DEE-159666559ADB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31456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58000"/>
            <a:ext cx="24384000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38100" y="4273550"/>
            <a:ext cx="24307800" cy="1663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7200" b="1" dirty="0" err="1">
                <a:latin typeface="맑은 고딕" panose="020B0503020000020004" pitchFamily="34" charset="-127"/>
                <a:cs typeface="Anek Bangla Expanded Medium" panose="020B0604020202020204" charset="0"/>
              </a:rPr>
              <a:t>식각</a:t>
            </a:r>
            <a:r>
              <a:rPr lang="ko-KR" altLang="en-US" sz="7200" b="1" dirty="0">
                <a:latin typeface="맑은 고딕" panose="020B0503020000020004" pitchFamily="34" charset="-127"/>
                <a:cs typeface="Anek Bangla Expanded Medium" panose="020B0604020202020204" charset="0"/>
              </a:rPr>
              <a:t> </a:t>
            </a:r>
            <a:r>
              <a:rPr lang="ko-KR" altLang="en-US" sz="7200" b="1" dirty="0" smtClean="0">
                <a:latin typeface="맑은 고딕" panose="020B0503020000020004" pitchFamily="34" charset="-127"/>
                <a:cs typeface="Anek Bangla Expanded Medium" panose="020B0604020202020204" charset="0"/>
              </a:rPr>
              <a:t>공정 시뮬레이션 기반 </a:t>
            </a:r>
            <a:endParaRPr lang="en-US" altLang="ko-KR" sz="7200" b="1" dirty="0" smtClean="0">
              <a:latin typeface="맑은 고딕" panose="020B0503020000020004" pitchFamily="34" charset="-127"/>
              <a:cs typeface="Anek Bangla Expanded Medium" panose="020B0604020202020204" charset="0"/>
            </a:endParaRPr>
          </a:p>
          <a:p>
            <a:pPr lvl="0" algn="ctr">
              <a:lnSpc>
                <a:spcPct val="116199"/>
              </a:lnSpc>
            </a:pPr>
            <a:r>
              <a:rPr lang="ko-KR" altLang="en-US" sz="7200" b="1" dirty="0" smtClean="0">
                <a:latin typeface="맑은 고딕" panose="020B0503020000020004" pitchFamily="34" charset="-127"/>
                <a:cs typeface="Anek Bangla Expanded Medium" panose="020B0604020202020204" charset="0"/>
              </a:rPr>
              <a:t>가상계측 및 </a:t>
            </a:r>
            <a:r>
              <a:rPr lang="ko-KR" altLang="en-US" sz="7200" b="1" dirty="0">
                <a:latin typeface="맑은 고딕" panose="020B0503020000020004" pitchFamily="34" charset="-127"/>
                <a:cs typeface="Anek Bangla Expanded Medium" panose="020B0604020202020204" charset="0"/>
              </a:rPr>
              <a:t>분석 프로그램</a:t>
            </a:r>
            <a:endParaRPr lang="en-US" sz="7200" b="1" i="0" u="none" strike="noStrike" dirty="0">
              <a:solidFill>
                <a:srgbClr val="091C78"/>
              </a:solidFill>
              <a:latin typeface="맑은 고딕" panose="020B0503020000020004" pitchFamily="34" charset="-127"/>
              <a:ea typeface="Gmarket Sans Bold"/>
              <a:cs typeface="Anek Bangla Expanded Medium" panose="020B0604020202020204" charset="0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8712200" y="8572500"/>
            <a:ext cx="6959600" cy="647700"/>
          </a:xfrm>
          <a:prstGeom prst="rect">
            <a:avLst/>
          </a:prstGeom>
        </p:spPr>
        <p:txBody>
          <a:bodyPr lIns="0" tIns="42332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altLang="ko-KR" sz="2800" dirty="0">
                <a:solidFill>
                  <a:schemeClr val="bg1"/>
                </a:solidFill>
                <a:latin typeface="Anek Bangla Expanded SemiBold" panose="020B0604020202020204" charset="0"/>
                <a:cs typeface="Anek Bangla Expanded SemiBold" panose="020B0604020202020204" charset="0"/>
              </a:rPr>
              <a:t>Vibe </a:t>
            </a:r>
            <a:r>
              <a:rPr lang="en-US" altLang="ko-KR" sz="2800" dirty="0" smtClean="0">
                <a:solidFill>
                  <a:schemeClr val="bg1"/>
                </a:solidFill>
                <a:latin typeface="Anek Bangla Expanded SemiBold" panose="020B0604020202020204" charset="0"/>
                <a:cs typeface="Anek Bangla Expanded SemiBold" panose="020B0604020202020204" charset="0"/>
              </a:rPr>
              <a:t>Coding </a:t>
            </a:r>
            <a:r>
              <a:rPr lang="ko-KR" altLang="en-US" sz="2800" dirty="0" smtClean="0">
                <a:solidFill>
                  <a:schemeClr val="bg1"/>
                </a:solidFill>
                <a:latin typeface="Anek Bangla Expanded SemiBold" panose="020B0604020202020204" charset="0"/>
                <a:cs typeface="Anek Bangla Expanded SemiBold" panose="020B0604020202020204" charset="0"/>
              </a:rPr>
              <a:t>을 </a:t>
            </a:r>
            <a:r>
              <a:rPr lang="ko-KR" altLang="en-US" sz="2800" dirty="0">
                <a:solidFill>
                  <a:schemeClr val="bg1"/>
                </a:solidFill>
                <a:latin typeface="Anek Bangla Expanded SemiBold" panose="020B0604020202020204" charset="0"/>
                <a:cs typeface="Anek Bangla Expanded SemiBold" panose="020B0604020202020204" charset="0"/>
              </a:rPr>
              <a:t>활용한 실시간 공정 모니터링 시스템 구축 </a:t>
            </a:r>
            <a:endParaRPr lang="en-US" sz="2666" b="0" i="0" u="none" strike="noStrike" dirty="0">
              <a:solidFill>
                <a:schemeClr val="bg1"/>
              </a:solidFill>
              <a:latin typeface="Anek Bangla Expanded SemiBold" panose="020B0604020202020204" charset="0"/>
              <a:ea typeface="Anek Bangla Expanded SemiBold"/>
              <a:cs typeface="Anek Bangla Expanded SemiBold" panose="020B0604020202020204" charset="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667750" y="11658600"/>
            <a:ext cx="7048500" cy="1371600"/>
          </a:xfrm>
          <a:prstGeom prst="rect">
            <a:avLst/>
          </a:prstGeom>
        </p:spPr>
        <p:txBody>
          <a:bodyPr lIns="0" tIns="46566" rIns="0" bIns="0" rtlCol="0" anchor="t"/>
          <a:lstStyle/>
          <a:p>
            <a:pPr lvl="0" algn="ctr">
              <a:lnSpc>
                <a:spcPct val="95449"/>
              </a:lnSpc>
            </a:pPr>
            <a:r>
              <a:rPr lang="ko-KR" altLang="en-US" sz="2933" b="0" i="0" u="none" strike="noStrike" dirty="0" smtClean="0">
                <a:solidFill>
                  <a:srgbClr val="FFFFFF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Gmarket Sans Bold"/>
              </a:rPr>
              <a:t>반도체장비소프트웨어과 하이테크</a:t>
            </a:r>
            <a:endParaRPr lang="en-US" sz="2933" b="0" i="0" u="none" strike="noStrike" dirty="0" smtClean="0">
              <a:solidFill>
                <a:srgbClr val="FFFFFF"/>
              </a:solidFill>
              <a:latin typeface="맑은 고딕" panose="020B0503020000020004" pitchFamily="34" charset="-127"/>
              <a:ea typeface="맑은 고딕" panose="020B0503020000020004" pitchFamily="34" charset="-127"/>
              <a:cs typeface="Gmarket Sans Bold"/>
            </a:endParaRPr>
          </a:p>
          <a:p>
            <a:pPr lvl="0" algn="ctr">
              <a:lnSpc>
                <a:spcPct val="95449"/>
              </a:lnSpc>
            </a:pPr>
            <a:r>
              <a:rPr lang="en-US" sz="2933" b="0" i="0" u="none" strike="noStrike" dirty="0" err="1" smtClean="0">
                <a:solidFill>
                  <a:srgbClr val="FFFFFF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Gmarket Sans Bold"/>
              </a:rPr>
              <a:t>이름</a:t>
            </a:r>
            <a:r>
              <a:rPr lang="en-US" sz="2933" b="0" i="0" u="none" strike="noStrike" dirty="0" smtClean="0">
                <a:solidFill>
                  <a:srgbClr val="FFFFFF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Gmarket Sans Bold"/>
              </a:rPr>
              <a:t>: </a:t>
            </a:r>
            <a:r>
              <a:rPr lang="ko-KR" altLang="en-US" sz="2933" b="0" i="0" u="none" strike="noStrike" dirty="0" smtClean="0">
                <a:solidFill>
                  <a:srgbClr val="FFFFFF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Gmarket Sans Bold"/>
              </a:rPr>
              <a:t>송성민</a:t>
            </a:r>
            <a:endParaRPr lang="en-US" sz="2933" b="0" i="0" u="none" strike="noStrike" dirty="0">
              <a:solidFill>
                <a:srgbClr val="FFFFFF"/>
              </a:solidFill>
              <a:latin typeface="맑은 고딕" panose="020B0503020000020004" pitchFamily="34" charset="-127"/>
              <a:ea typeface="맑은 고딕" panose="020B0503020000020004" pitchFamily="34" charset="-127"/>
              <a:cs typeface="Gmarket Sans Bold"/>
            </a:endParaRPr>
          </a:p>
          <a:p>
            <a:pPr lvl="0" algn="ctr">
              <a:lnSpc>
                <a:spcPct val="95449"/>
              </a:lnSpc>
            </a:pPr>
            <a:r>
              <a:rPr lang="en-US" sz="2933" b="0" i="0" u="none" strike="noStrike" dirty="0" err="1">
                <a:solidFill>
                  <a:srgbClr val="FFFFFF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Gmarket Sans Bold"/>
              </a:rPr>
              <a:t>날짜</a:t>
            </a:r>
            <a:r>
              <a:rPr lang="en-US" sz="2933" b="0" i="0" u="none" strike="noStrike" dirty="0" smtClean="0">
                <a:solidFill>
                  <a:srgbClr val="FFFFFF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Gmarket Sans Bold"/>
              </a:rPr>
              <a:t>: 2026.06.29</a:t>
            </a:r>
            <a:endParaRPr lang="en-US" sz="2933" b="0" i="0" u="none" strike="noStrike" dirty="0">
              <a:solidFill>
                <a:srgbClr val="FFFFFF"/>
              </a:solidFill>
              <a:latin typeface="맑은 고딕" panose="020B0503020000020004" pitchFamily="34" charset="-127"/>
              <a:ea typeface="맑은 고딕" panose="020B0503020000020004" pitchFamily="34" charset="-127"/>
              <a:cs typeface="Gmarket Sans Bold"/>
            </a:endParaRPr>
          </a:p>
          <a:p>
            <a:pPr lvl="0" algn="ctr">
              <a:lnSpc>
                <a:spcPct val="95449"/>
              </a:lnSpc>
            </a:pPr>
            <a:r>
              <a:rPr lang="en-US" sz="2933" b="0" i="0" u="none" strike="noStrike" dirty="0" err="1">
                <a:solidFill>
                  <a:srgbClr val="FFFFFF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Gmarket Sans Bold"/>
              </a:rPr>
              <a:t>과목명</a:t>
            </a:r>
            <a:r>
              <a:rPr lang="en-US" sz="2933" b="0" i="0" u="none" strike="noStrike" dirty="0" smtClean="0">
                <a:solidFill>
                  <a:srgbClr val="FFFFFF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Gmarket Sans Bold"/>
              </a:rPr>
              <a:t>: </a:t>
            </a:r>
            <a:r>
              <a:rPr lang="ko-KR" altLang="en-US" sz="2933" dirty="0" err="1" smtClean="0">
                <a:solidFill>
                  <a:srgbClr val="FFFFFF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Gmarket Sans Bold"/>
              </a:rPr>
              <a:t>장비데이터</a:t>
            </a:r>
            <a:r>
              <a:rPr lang="ko-KR" altLang="en-US" sz="2933" dirty="0" smtClean="0">
                <a:solidFill>
                  <a:srgbClr val="FFFFFF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Gmarket Sans Bold"/>
              </a:rPr>
              <a:t> 분석 프로그래밍</a:t>
            </a:r>
            <a:endParaRPr lang="en-US" sz="2933" b="0" i="0" u="none" strike="noStrike" dirty="0">
              <a:solidFill>
                <a:srgbClr val="FFFFFF"/>
              </a:solidFill>
              <a:latin typeface="맑은 고딕" panose="020B0503020000020004" pitchFamily="34" charset="-127"/>
              <a:ea typeface="맑은 고딕" panose="020B0503020000020004" pitchFamily="34" charset="-127"/>
              <a:cs typeface="Gmarket Sans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254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3190200" y="355600"/>
            <a:ext cx="774700" cy="5207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r">
              <a:lnSpc>
                <a:spcPct val="95449"/>
              </a:lnSpc>
            </a:pPr>
            <a:r>
              <a:rPr lang="en-US" sz="2133" b="0" i="0" u="none" strike="noStrike">
                <a:solidFill>
                  <a:srgbClr val="001CA0"/>
                </a:solidFill>
                <a:latin typeface="Anek Bangla Expanded SemiBold"/>
                <a:ea typeface="Anek Bangla Expanded SemiBold"/>
                <a:cs typeface="Anek Bangla Expanded SemiBold"/>
              </a:rPr>
              <a:t>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95400" y="3784600"/>
            <a:ext cx="6959600" cy="584200"/>
          </a:xfrm>
          <a:prstGeom prst="rect">
            <a:avLst/>
          </a:prstGeom>
        </p:spPr>
        <p:txBody>
          <a:bodyPr lIns="0" tIns="38099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2399" b="0" i="0" u="none" strike="noStrike" dirty="0">
                <a:solidFill>
                  <a:srgbClr val="001CA0"/>
                </a:solidFill>
                <a:latin typeface="+mj-ea"/>
                <a:ea typeface="+mj-ea"/>
                <a:cs typeface="Anek Bangla Expanded Medium"/>
              </a:rPr>
              <a:t>Table of Contents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95400" y="2616200"/>
            <a:ext cx="9639300" cy="1308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7333" b="0" i="0" u="none" strike="noStrike" dirty="0" smtClean="0">
                <a:solidFill>
                  <a:srgbClr val="091C78"/>
                </a:solidFill>
                <a:latin typeface="+mj-ea"/>
                <a:ea typeface="+mj-ea"/>
                <a:cs typeface="Gmarket Sans Bold"/>
              </a:rPr>
              <a:t>목차</a:t>
            </a:r>
            <a:endParaRPr lang="en-US" sz="7333" b="0" i="0" u="none" strike="noStrike" dirty="0">
              <a:solidFill>
                <a:srgbClr val="091C78"/>
              </a:solidFill>
              <a:latin typeface="+mj-ea"/>
              <a:ea typeface="+mj-ea"/>
              <a:cs typeface="Gmarket Sans Bold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93600" y="2552700"/>
            <a:ext cx="88900" cy="16764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2560300" y="2590800"/>
            <a:ext cx="5930900" cy="660400"/>
          </a:xfrm>
          <a:prstGeom prst="rect">
            <a:avLst/>
          </a:prstGeom>
        </p:spPr>
        <p:txBody>
          <a:bodyPr lIns="0" tIns="47412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3733" b="1" dirty="0" smtClean="0">
                <a:solidFill>
                  <a:srgbClr val="091C78"/>
                </a:solidFill>
                <a:latin typeface="+mj-ea"/>
                <a:ea typeface="+mj-ea"/>
                <a:cs typeface="Gmarket Sans Medium"/>
              </a:rPr>
              <a:t>반도체 </a:t>
            </a:r>
            <a:r>
              <a:rPr lang="ko-KR" altLang="en-US" sz="3733" b="1" dirty="0" err="1" smtClean="0">
                <a:solidFill>
                  <a:srgbClr val="091C78"/>
                </a:solidFill>
                <a:latin typeface="+mj-ea"/>
                <a:ea typeface="+mj-ea"/>
                <a:cs typeface="Gmarket Sans Medium"/>
              </a:rPr>
              <a:t>식각공정</a:t>
            </a:r>
            <a:r>
              <a:rPr lang="ko-KR" altLang="en-US" sz="3733" b="1" dirty="0" smtClean="0">
                <a:solidFill>
                  <a:srgbClr val="091C78"/>
                </a:solidFill>
                <a:latin typeface="+mj-ea"/>
                <a:ea typeface="+mj-ea"/>
                <a:cs typeface="Gmarket Sans Medium"/>
              </a:rPr>
              <a:t> 이해</a:t>
            </a:r>
            <a:endParaRPr lang="en-US" sz="3733" b="1" i="0" u="none" strike="noStrike" dirty="0">
              <a:solidFill>
                <a:srgbClr val="091C78"/>
              </a:solidFill>
              <a:latin typeface="+mj-ea"/>
              <a:ea typeface="+mj-ea"/>
              <a:cs typeface="Gmarket Sans Medium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7754600" y="2667000"/>
            <a:ext cx="1397000" cy="520700"/>
          </a:xfrm>
          <a:prstGeom prst="rect">
            <a:avLst/>
          </a:prstGeom>
        </p:spPr>
        <p:txBody>
          <a:bodyPr lIns="0" tIns="46566" rIns="0" bIns="0" rtlCol="0" anchor="t"/>
          <a:lstStyle/>
          <a:p>
            <a:pPr lvl="0" algn="r">
              <a:lnSpc>
                <a:spcPct val="95449"/>
              </a:lnSpc>
            </a:pPr>
            <a:r>
              <a:rPr lang="en-US" altLang="ko-KR" sz="2933" b="0" i="0" u="none" strike="noStrike" dirty="0" smtClean="0">
                <a:solidFill>
                  <a:srgbClr val="787878"/>
                </a:solidFill>
                <a:latin typeface="+mj-ea"/>
                <a:ea typeface="+mj-ea"/>
                <a:cs typeface="Gmarket Sans Medium"/>
              </a:rPr>
              <a:t>2 ~ 4</a:t>
            </a:r>
            <a:r>
              <a:rPr lang="en-US" sz="2933" b="0" i="0" u="none" strike="noStrike" dirty="0" smtClean="0">
                <a:solidFill>
                  <a:srgbClr val="787878"/>
                </a:solidFill>
                <a:latin typeface="+mj-ea"/>
                <a:ea typeface="+mj-ea"/>
                <a:cs typeface="Gmarket Sans Medium"/>
              </a:rPr>
              <a:t>p</a:t>
            </a:r>
            <a:endParaRPr lang="en-US" sz="2933" b="0" i="0" u="none" strike="noStrike" dirty="0">
              <a:solidFill>
                <a:srgbClr val="787878"/>
              </a:solidFill>
              <a:latin typeface="+mj-ea"/>
              <a:ea typeface="+mj-ea"/>
              <a:cs typeface="Gmarket Sans Medium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93600" y="4660900"/>
            <a:ext cx="88900" cy="16764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2560300" y="4699000"/>
            <a:ext cx="5930900" cy="660400"/>
          </a:xfrm>
          <a:prstGeom prst="rect">
            <a:avLst/>
          </a:prstGeom>
        </p:spPr>
        <p:txBody>
          <a:bodyPr lIns="0" tIns="47412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3733" b="1" i="0" u="none" strike="noStrike" dirty="0" smtClean="0">
                <a:solidFill>
                  <a:srgbClr val="091C78"/>
                </a:solidFill>
                <a:latin typeface="+mj-ea"/>
                <a:ea typeface="+mj-ea"/>
                <a:cs typeface="Gmarket Sans Medium"/>
              </a:rPr>
              <a:t>장비 선정 및 스펙</a:t>
            </a:r>
            <a:endParaRPr lang="en-US" sz="3733" b="1" i="0" u="none" strike="noStrike" dirty="0">
              <a:solidFill>
                <a:srgbClr val="091C78"/>
              </a:solidFill>
              <a:latin typeface="+mj-ea"/>
              <a:ea typeface="+mj-ea"/>
              <a:cs typeface="Gmarket Sans Medium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7754600" y="4775200"/>
            <a:ext cx="1397000" cy="520700"/>
          </a:xfrm>
          <a:prstGeom prst="rect">
            <a:avLst/>
          </a:prstGeom>
        </p:spPr>
        <p:txBody>
          <a:bodyPr lIns="0" tIns="46566" rIns="0" bIns="0" rtlCol="0" anchor="t"/>
          <a:lstStyle/>
          <a:p>
            <a:pPr lvl="0" algn="r">
              <a:lnSpc>
                <a:spcPct val="95449"/>
              </a:lnSpc>
            </a:pPr>
            <a:r>
              <a:rPr lang="en-US" altLang="ko-KR" sz="2933" b="0" i="0" u="none" strike="noStrike" dirty="0" smtClean="0">
                <a:solidFill>
                  <a:srgbClr val="787878"/>
                </a:solidFill>
                <a:latin typeface="+mj-ea"/>
                <a:ea typeface="+mj-ea"/>
                <a:cs typeface="Gmarket Sans Medium"/>
              </a:rPr>
              <a:t>5</a:t>
            </a:r>
            <a:r>
              <a:rPr lang="en-US" sz="2933" b="0" i="0" u="none" strike="noStrike" dirty="0" smtClean="0">
                <a:solidFill>
                  <a:srgbClr val="787878"/>
                </a:solidFill>
                <a:latin typeface="+mj-ea"/>
                <a:ea typeface="+mj-ea"/>
                <a:cs typeface="Gmarket Sans Medium"/>
              </a:rPr>
              <a:t>p</a:t>
            </a:r>
            <a:endParaRPr lang="en-US" sz="2933" b="0" i="0" u="none" strike="noStrike" dirty="0">
              <a:solidFill>
                <a:srgbClr val="787878"/>
              </a:solidFill>
              <a:latin typeface="+mj-ea"/>
              <a:ea typeface="+mj-ea"/>
              <a:cs typeface="Gmarket Sans Medium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93600" y="6769100"/>
            <a:ext cx="88900" cy="16764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2560300" y="6794500"/>
            <a:ext cx="5930900" cy="660400"/>
          </a:xfrm>
          <a:prstGeom prst="rect">
            <a:avLst/>
          </a:prstGeom>
        </p:spPr>
        <p:txBody>
          <a:bodyPr lIns="0" tIns="47412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3733" b="1" i="0" u="none" strike="noStrike" dirty="0" smtClean="0">
                <a:solidFill>
                  <a:srgbClr val="091C78"/>
                </a:solidFill>
                <a:latin typeface="+mj-ea"/>
                <a:ea typeface="+mj-ea"/>
                <a:cs typeface="Gmarket Sans Medium"/>
              </a:rPr>
              <a:t>데이터 시뮬레이션 시나리오</a:t>
            </a:r>
            <a:endParaRPr lang="en-US" sz="3733" b="1" i="0" u="none" strike="noStrike" dirty="0">
              <a:solidFill>
                <a:srgbClr val="091C78"/>
              </a:solidFill>
              <a:latin typeface="+mj-ea"/>
              <a:ea typeface="+mj-ea"/>
              <a:cs typeface="Gmarket Sans Medium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7754600" y="6870700"/>
            <a:ext cx="1397000" cy="520700"/>
          </a:xfrm>
          <a:prstGeom prst="rect">
            <a:avLst/>
          </a:prstGeom>
        </p:spPr>
        <p:txBody>
          <a:bodyPr lIns="0" tIns="46566" rIns="0" bIns="0" rtlCol="0" anchor="t"/>
          <a:lstStyle/>
          <a:p>
            <a:pPr lvl="0" algn="r">
              <a:lnSpc>
                <a:spcPct val="95449"/>
              </a:lnSpc>
            </a:pPr>
            <a:r>
              <a:rPr lang="en-US" altLang="ko-KR" sz="2933" b="0" i="0" u="none" strike="noStrike" dirty="0" smtClean="0">
                <a:solidFill>
                  <a:srgbClr val="787878"/>
                </a:solidFill>
                <a:latin typeface="+mj-ea"/>
                <a:ea typeface="+mj-ea"/>
                <a:cs typeface="Gmarket Sans Medium"/>
              </a:rPr>
              <a:t>6</a:t>
            </a:r>
            <a:r>
              <a:rPr lang="en-US" sz="2933" b="0" i="0" u="none" strike="noStrike" dirty="0" smtClean="0">
                <a:solidFill>
                  <a:srgbClr val="787878"/>
                </a:solidFill>
                <a:latin typeface="+mj-ea"/>
                <a:ea typeface="+mj-ea"/>
                <a:cs typeface="Gmarket Sans Medium"/>
              </a:rPr>
              <a:t>p</a:t>
            </a:r>
            <a:endParaRPr lang="en-US" sz="2933" b="0" i="0" u="none" strike="noStrike" dirty="0">
              <a:solidFill>
                <a:srgbClr val="787878"/>
              </a:solidFill>
              <a:latin typeface="+mj-ea"/>
              <a:ea typeface="+mj-ea"/>
              <a:cs typeface="Gmarket Sans Medium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93600" y="8877300"/>
            <a:ext cx="88900" cy="16764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12560300" y="8902700"/>
            <a:ext cx="5930900" cy="660400"/>
          </a:xfrm>
          <a:prstGeom prst="rect">
            <a:avLst/>
          </a:prstGeom>
        </p:spPr>
        <p:txBody>
          <a:bodyPr lIns="0" tIns="47412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3733" b="1" i="0" u="none" strike="noStrike" dirty="0" err="1" smtClean="0">
                <a:solidFill>
                  <a:srgbClr val="091C78"/>
                </a:solidFill>
                <a:latin typeface="+mj-ea"/>
                <a:ea typeface="+mj-ea"/>
                <a:cs typeface="Gmarket Sans Medium"/>
              </a:rPr>
              <a:t>핵심데이터</a:t>
            </a:r>
            <a:r>
              <a:rPr lang="ko-KR" altLang="en-US" sz="3733" b="1" i="0" u="none" strike="noStrike" dirty="0" smtClean="0">
                <a:solidFill>
                  <a:srgbClr val="091C78"/>
                </a:solidFill>
                <a:latin typeface="+mj-ea"/>
                <a:ea typeface="+mj-ea"/>
                <a:cs typeface="Gmarket Sans Medium"/>
              </a:rPr>
              <a:t> 분석 알고리즘</a:t>
            </a:r>
            <a:endParaRPr lang="en-US" sz="3733" b="1" i="0" u="none" strike="noStrike" dirty="0">
              <a:solidFill>
                <a:srgbClr val="091C78"/>
              </a:solidFill>
              <a:latin typeface="+mj-ea"/>
              <a:ea typeface="+mj-ea"/>
              <a:cs typeface="Gmarket Sans Medium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7754600" y="8978900"/>
            <a:ext cx="1397000" cy="520700"/>
          </a:xfrm>
          <a:prstGeom prst="rect">
            <a:avLst/>
          </a:prstGeom>
        </p:spPr>
        <p:txBody>
          <a:bodyPr lIns="0" tIns="46566" rIns="0" bIns="0" rtlCol="0" anchor="t"/>
          <a:lstStyle/>
          <a:p>
            <a:pPr lvl="0" algn="r">
              <a:lnSpc>
                <a:spcPct val="95449"/>
              </a:lnSpc>
            </a:pPr>
            <a:r>
              <a:rPr lang="en-US" altLang="ko-KR" sz="2933" b="0" i="0" u="none" strike="noStrike" dirty="0" smtClean="0">
                <a:solidFill>
                  <a:srgbClr val="787878"/>
                </a:solidFill>
                <a:latin typeface="+mj-ea"/>
                <a:ea typeface="+mj-ea"/>
                <a:cs typeface="Gmarket Sans Medium"/>
              </a:rPr>
              <a:t>7</a:t>
            </a:r>
            <a:r>
              <a:rPr lang="en-US" sz="2933" b="0" i="0" u="none" strike="noStrike" dirty="0" smtClean="0">
                <a:solidFill>
                  <a:srgbClr val="787878"/>
                </a:solidFill>
                <a:latin typeface="+mj-ea"/>
                <a:ea typeface="+mj-ea"/>
                <a:cs typeface="Gmarket Sans Medium"/>
              </a:rPr>
              <a:t>p</a:t>
            </a:r>
            <a:endParaRPr lang="en-US" sz="2933" b="0" i="0" u="none" strike="noStrike" dirty="0">
              <a:solidFill>
                <a:srgbClr val="787878"/>
              </a:solidFill>
              <a:latin typeface="+mj-ea"/>
              <a:ea typeface="+mj-ea"/>
              <a:cs typeface="Gmarket Sans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254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3190200" y="355600"/>
            <a:ext cx="774700" cy="5207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r">
              <a:lnSpc>
                <a:spcPct val="95449"/>
              </a:lnSpc>
            </a:pPr>
            <a:r>
              <a:rPr lang="en-US" sz="2133" b="0" i="0" u="none" strike="noStrike">
                <a:solidFill>
                  <a:srgbClr val="001CA0"/>
                </a:solidFill>
                <a:latin typeface="Anek Bangla Expanded SemiBold"/>
                <a:ea typeface="Anek Bangla Expanded SemiBold"/>
                <a:cs typeface="Anek Bangla Expanded SemiBold"/>
              </a:rPr>
              <a:t>2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95400" y="3784600"/>
            <a:ext cx="6959600" cy="584200"/>
          </a:xfrm>
          <a:prstGeom prst="rect">
            <a:avLst/>
          </a:prstGeom>
        </p:spPr>
        <p:txBody>
          <a:bodyPr lIns="0" tIns="38099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altLang="ko-KR" sz="2399" b="0" i="0" u="none" strike="noStrike" dirty="0" smtClean="0">
                <a:solidFill>
                  <a:srgbClr val="001CA0"/>
                </a:solidFill>
                <a:latin typeface="+mj-ea"/>
                <a:ea typeface="+mj-ea"/>
                <a:cs typeface="Anek Bangla Expanded Medium"/>
              </a:rPr>
              <a:t>Etching Process</a:t>
            </a:r>
            <a:endParaRPr lang="en-US" sz="2399" b="0" i="0" u="none" strike="noStrike" dirty="0">
              <a:solidFill>
                <a:srgbClr val="001CA0"/>
              </a:solidFill>
              <a:latin typeface="+mj-ea"/>
              <a:ea typeface="+mj-ea"/>
              <a:cs typeface="Anek Bangla Expanded Medium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295400" y="2616200"/>
            <a:ext cx="9639300" cy="1308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7333" b="0" i="0" u="none" strike="noStrike" dirty="0" smtClean="0">
                <a:solidFill>
                  <a:srgbClr val="091C78"/>
                </a:solidFill>
                <a:latin typeface="+mj-ea"/>
                <a:ea typeface="+mj-ea"/>
                <a:cs typeface="Gmarket Sans Bold"/>
              </a:rPr>
              <a:t>식각공정이란</a:t>
            </a:r>
            <a:r>
              <a:rPr lang="en-US" altLang="ko-KR" sz="7333" b="0" i="0" u="none" strike="noStrike" dirty="0" smtClean="0">
                <a:solidFill>
                  <a:srgbClr val="091C78"/>
                </a:solidFill>
                <a:latin typeface="+mj-ea"/>
                <a:ea typeface="+mj-ea"/>
                <a:cs typeface="Gmarket Sans Bold"/>
              </a:rPr>
              <a:t>?</a:t>
            </a:r>
            <a:endParaRPr lang="en-US" sz="7333" b="0" i="0" u="none" strike="noStrike" dirty="0">
              <a:solidFill>
                <a:srgbClr val="091C78"/>
              </a:solidFill>
              <a:latin typeface="+mj-ea"/>
              <a:ea typeface="+mj-ea"/>
              <a:cs typeface="Gmarket Sans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6362700" y="9944100"/>
            <a:ext cx="11658600" cy="2628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3200" b="0" i="0" u="none" strike="noStrike" dirty="0" err="1" smtClean="0">
                <a:solidFill>
                  <a:srgbClr val="323232"/>
                </a:solidFill>
                <a:latin typeface="+mj-ea"/>
                <a:ea typeface="+mj-ea"/>
                <a:cs typeface="Gmarket Sans Medium"/>
              </a:rPr>
              <a:t>식각은</a:t>
            </a:r>
            <a:r>
              <a:rPr lang="ko-KR" altLang="en-US" sz="3200" b="0" i="0" u="none" strike="noStrike" dirty="0" smtClean="0">
                <a:solidFill>
                  <a:srgbClr val="323232"/>
                </a:solidFill>
                <a:latin typeface="+mj-ea"/>
                <a:ea typeface="+mj-ea"/>
                <a:cs typeface="Gmarket Sans Medium"/>
              </a:rPr>
              <a:t> </a:t>
            </a:r>
            <a:r>
              <a:rPr lang="ko-KR" altLang="en-US" sz="3200" b="0" i="0" u="none" strike="noStrike" dirty="0" err="1" smtClean="0">
                <a:solidFill>
                  <a:srgbClr val="323232"/>
                </a:solidFill>
                <a:latin typeface="+mj-ea"/>
                <a:ea typeface="+mj-ea"/>
                <a:cs typeface="Gmarket Sans Medium"/>
              </a:rPr>
              <a:t>노광공정을</a:t>
            </a:r>
            <a:r>
              <a:rPr lang="ko-KR" altLang="en-US" sz="3200" b="0" i="0" u="none" strike="noStrike" dirty="0" smtClean="0">
                <a:solidFill>
                  <a:srgbClr val="323232"/>
                </a:solidFill>
                <a:latin typeface="+mj-ea"/>
                <a:ea typeface="+mj-ea"/>
                <a:cs typeface="Gmarket Sans Medium"/>
              </a:rPr>
              <a:t> 통해 형성된 패턴을 기준으로 불필요한 박막을 </a:t>
            </a:r>
            <a:endParaRPr lang="en-US" altLang="ko-KR" sz="3200" b="0" i="0" u="none" strike="noStrike" dirty="0" smtClean="0">
              <a:solidFill>
                <a:srgbClr val="323232"/>
              </a:solidFill>
              <a:latin typeface="+mj-ea"/>
              <a:ea typeface="+mj-ea"/>
              <a:cs typeface="Gmarket Sans Medium"/>
            </a:endParaRPr>
          </a:p>
          <a:p>
            <a:pPr lvl="0" algn="l">
              <a:lnSpc>
                <a:spcPct val="116199"/>
              </a:lnSpc>
            </a:pPr>
            <a:r>
              <a:rPr lang="ko-KR" altLang="en-US" sz="3200" b="0" i="0" u="none" strike="noStrike" dirty="0" smtClean="0">
                <a:solidFill>
                  <a:srgbClr val="323232"/>
                </a:solidFill>
                <a:latin typeface="+mj-ea"/>
                <a:ea typeface="+mj-ea"/>
                <a:cs typeface="Gmarket Sans Medium"/>
              </a:rPr>
              <a:t>선택적으로 제거해 원하는 회로 구조를 만드는 핵심공정이다</a:t>
            </a:r>
            <a:r>
              <a:rPr lang="en-US" altLang="ko-KR" sz="3200" b="0" i="0" u="none" strike="noStrike" dirty="0" smtClean="0">
                <a:solidFill>
                  <a:srgbClr val="323232"/>
                </a:solidFill>
                <a:latin typeface="+mj-ea"/>
                <a:ea typeface="+mj-ea"/>
                <a:cs typeface="Gmarket Sans Medium"/>
              </a:rPr>
              <a:t>.</a:t>
            </a:r>
          </a:p>
          <a:p>
            <a:pPr lvl="0" algn="l">
              <a:lnSpc>
                <a:spcPct val="116199"/>
              </a:lnSpc>
            </a:pPr>
            <a:r>
              <a:rPr lang="ko-KR" altLang="en-US" sz="3200" b="0" i="0" u="none" strike="noStrike" dirty="0" smtClean="0">
                <a:solidFill>
                  <a:srgbClr val="323232"/>
                </a:solidFill>
                <a:latin typeface="+mj-ea"/>
                <a:ea typeface="+mj-ea"/>
                <a:cs typeface="Gmarket Sans Medium"/>
              </a:rPr>
              <a:t>반도체 소자의 성능과 </a:t>
            </a:r>
            <a:r>
              <a:rPr lang="ko-KR" altLang="en-US" sz="3200" b="0" i="0" u="none" strike="noStrike" dirty="0" err="1" smtClean="0">
                <a:solidFill>
                  <a:srgbClr val="323232"/>
                </a:solidFill>
                <a:latin typeface="+mj-ea"/>
                <a:ea typeface="+mj-ea"/>
                <a:cs typeface="Gmarket Sans Medium"/>
              </a:rPr>
              <a:t>수율에</a:t>
            </a:r>
            <a:r>
              <a:rPr lang="ko-KR" altLang="en-US" sz="3200" b="0" i="0" u="none" strike="noStrike" dirty="0" smtClean="0">
                <a:solidFill>
                  <a:srgbClr val="323232"/>
                </a:solidFill>
                <a:latin typeface="+mj-ea"/>
                <a:ea typeface="+mj-ea"/>
                <a:cs typeface="Gmarket Sans Medium"/>
              </a:rPr>
              <a:t> 직접적인 영향을 끼친다</a:t>
            </a:r>
            <a:r>
              <a:rPr lang="en-US" altLang="ko-KR" sz="3200" b="0" i="0" u="none" strike="noStrike" dirty="0" smtClean="0">
                <a:solidFill>
                  <a:srgbClr val="323232"/>
                </a:solidFill>
                <a:latin typeface="+mj-ea"/>
                <a:ea typeface="+mj-ea"/>
                <a:cs typeface="Gmarket Sans Medium"/>
              </a:rPr>
              <a:t>.</a:t>
            </a:r>
            <a:endParaRPr lang="en-US" sz="3200" b="0" i="0" u="none" strike="noStrike" dirty="0">
              <a:solidFill>
                <a:srgbClr val="323232"/>
              </a:solidFill>
              <a:latin typeface="+mj-ea"/>
              <a:ea typeface="+mj-ea"/>
              <a:cs typeface="Gmarket Sans Medium"/>
            </a:endParaRP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9310" y="4527550"/>
            <a:ext cx="19898280" cy="48133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254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3190200" y="355600"/>
            <a:ext cx="774700" cy="5207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r">
              <a:lnSpc>
                <a:spcPct val="95449"/>
              </a:lnSpc>
            </a:pPr>
            <a:r>
              <a:rPr lang="en-US" altLang="ko-KR" sz="2133" b="0" i="0" u="none" strike="noStrike" dirty="0" smtClean="0">
                <a:solidFill>
                  <a:srgbClr val="001CA0"/>
                </a:solidFill>
                <a:latin typeface="Anek Bangla Expanded SemiBold"/>
                <a:ea typeface="Anek Bangla Expanded SemiBold"/>
                <a:cs typeface="Anek Bangla Expanded SemiBold"/>
              </a:rPr>
              <a:t>3</a:t>
            </a:r>
            <a:endParaRPr lang="en-US" sz="2133" b="0" i="0" u="none" strike="noStrike" dirty="0">
              <a:solidFill>
                <a:srgbClr val="001CA0"/>
              </a:solidFill>
              <a:latin typeface="Anek Bangla Expanded SemiBold"/>
              <a:ea typeface="Anek Bangla Expanded SemiBold"/>
              <a:cs typeface="Anek Bangla Expanded Semi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295400" y="2616200"/>
            <a:ext cx="9639300" cy="1308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7333" b="0" i="0" u="none" strike="noStrike" dirty="0" err="1" smtClean="0">
                <a:solidFill>
                  <a:srgbClr val="091C78"/>
                </a:solidFill>
                <a:latin typeface="+mn-ea"/>
                <a:cs typeface="Gmarket Sans Bold"/>
              </a:rPr>
              <a:t>식각공정의</a:t>
            </a:r>
            <a:r>
              <a:rPr lang="ko-KR" altLang="en-US" sz="7333" b="0" i="0" u="none" strike="noStrike" dirty="0" smtClean="0">
                <a:solidFill>
                  <a:srgbClr val="091C78"/>
                </a:solidFill>
                <a:latin typeface="+mn-ea"/>
                <a:cs typeface="Gmarket Sans Bold"/>
              </a:rPr>
              <a:t> 종류</a:t>
            </a:r>
            <a:endParaRPr lang="en-US" sz="7333" b="0" i="0" u="none" strike="noStrike" dirty="0">
              <a:solidFill>
                <a:srgbClr val="091C78"/>
              </a:solidFill>
              <a:latin typeface="+mn-ea"/>
              <a:cs typeface="Gmarket Sans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320800" y="5549900"/>
            <a:ext cx="102997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3733" b="0" i="0" u="none" strike="noStrike" dirty="0" smtClean="0">
                <a:solidFill>
                  <a:srgbClr val="FFFFFF"/>
                </a:solidFill>
                <a:latin typeface="+mn-ea"/>
                <a:cs typeface="Gmarket Sans Bold"/>
              </a:rPr>
              <a:t>습식 </a:t>
            </a:r>
            <a:r>
              <a:rPr lang="ko-KR" altLang="en-US" sz="3733" b="0" i="0" u="none" strike="noStrike" dirty="0" err="1" smtClean="0">
                <a:solidFill>
                  <a:srgbClr val="FFFFFF"/>
                </a:solidFill>
                <a:latin typeface="+mn-ea"/>
                <a:cs typeface="Gmarket Sans Bold"/>
              </a:rPr>
              <a:t>식각</a:t>
            </a:r>
            <a:endParaRPr lang="en-US" sz="3733" b="0" i="0" u="none" strike="noStrike" dirty="0">
              <a:solidFill>
                <a:srgbClr val="FFFFFF"/>
              </a:solidFill>
              <a:latin typeface="+mn-ea"/>
              <a:cs typeface="Gmarket Sa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2763500" y="5549900"/>
            <a:ext cx="102997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3733" b="0" i="0" u="none" strike="noStrike" dirty="0" smtClean="0">
                <a:solidFill>
                  <a:srgbClr val="FFFFFF"/>
                </a:solidFill>
                <a:latin typeface="+mn-ea"/>
                <a:cs typeface="Gmarket Sans Bold"/>
              </a:rPr>
              <a:t>건식 </a:t>
            </a:r>
            <a:r>
              <a:rPr lang="ko-KR" altLang="en-US" sz="3733" b="0" i="0" u="none" strike="noStrike" dirty="0" err="1" smtClean="0">
                <a:solidFill>
                  <a:srgbClr val="FFFFFF"/>
                </a:solidFill>
                <a:latin typeface="+mn-ea"/>
                <a:cs typeface="Gmarket Sans Bold"/>
              </a:rPr>
              <a:t>식각</a:t>
            </a:r>
            <a:endParaRPr lang="en-US" sz="3733" b="0" i="0" u="none" strike="noStrike" dirty="0">
              <a:solidFill>
                <a:srgbClr val="FFFFFF"/>
              </a:solidFill>
              <a:latin typeface="+mn-ea"/>
              <a:cs typeface="Gmarket Sans Bold"/>
            </a:endParaRPr>
          </a:p>
        </p:txBody>
      </p:sp>
      <p:graphicFrame>
        <p:nvGraphicFramePr>
          <p:cNvPr id="19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520071"/>
              </p:ext>
            </p:extLst>
          </p:nvPr>
        </p:nvGraphicFramePr>
        <p:xfrm>
          <a:off x="1930400" y="4368800"/>
          <a:ext cx="20523200" cy="8890001"/>
        </p:xfrm>
        <a:graphic>
          <a:graphicData uri="http://schemas.openxmlformats.org/drawingml/2006/table">
            <a:tbl>
              <a:tblPr/>
              <a:tblGrid>
                <a:gridCol w="31393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128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7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49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2933" b="0" i="0" u="none" strike="noStrike" dirty="0" smtClean="0">
                          <a:solidFill>
                            <a:srgbClr val="FFFFFF"/>
                          </a:solidFill>
                          <a:latin typeface="+mn-ea"/>
                          <a:ea typeface="+mn-ea"/>
                          <a:cs typeface="Gmarket Sans Medium"/>
                        </a:rPr>
                        <a:t>구분</a:t>
                      </a:r>
                      <a:endParaRPr lang="en-US" sz="1100" dirty="0">
                        <a:latin typeface="+mn-ea"/>
                        <a:ea typeface="+mn-ea"/>
                      </a:endParaRPr>
                    </a:p>
                  </a:txBody>
                  <a:tcPr marL="25400" marR="25400" marT="80347" marB="80347"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CA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2933" b="0" i="0" u="none" strike="noStrike" dirty="0" smtClean="0">
                          <a:solidFill>
                            <a:srgbClr val="FFFFFF"/>
                          </a:solidFill>
                          <a:latin typeface="+mn-ea"/>
                          <a:ea typeface="+mn-ea"/>
                          <a:cs typeface="Gmarket Sans Medium"/>
                        </a:rPr>
                        <a:t>습식 </a:t>
                      </a:r>
                      <a:r>
                        <a:rPr lang="ko-KR" altLang="en-US" sz="2933" b="0" i="0" u="none" strike="noStrike" dirty="0" err="1" smtClean="0">
                          <a:solidFill>
                            <a:srgbClr val="FFFFFF"/>
                          </a:solidFill>
                          <a:latin typeface="+mn-ea"/>
                          <a:ea typeface="+mn-ea"/>
                          <a:cs typeface="Gmarket Sans Medium"/>
                        </a:rPr>
                        <a:t>식각</a:t>
                      </a:r>
                      <a:endParaRPr lang="en-US" sz="1100" dirty="0">
                        <a:latin typeface="+mn-ea"/>
                        <a:ea typeface="+mn-ea"/>
                      </a:endParaRPr>
                    </a:p>
                  </a:txBody>
                  <a:tcPr marL="25400" marR="25400" marT="80347" marB="80347"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CA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2933" b="0" i="0" u="none" strike="noStrike" dirty="0" smtClean="0">
                          <a:solidFill>
                            <a:srgbClr val="FFFFFF"/>
                          </a:solidFill>
                          <a:latin typeface="+mn-ea"/>
                          <a:ea typeface="+mn-ea"/>
                          <a:cs typeface="Gmarket Sans Medium"/>
                        </a:rPr>
                        <a:t>건식 </a:t>
                      </a:r>
                      <a:r>
                        <a:rPr lang="ko-KR" altLang="en-US" sz="2933" b="0" i="0" u="none" strike="noStrike" dirty="0" err="1" smtClean="0">
                          <a:solidFill>
                            <a:srgbClr val="FFFFFF"/>
                          </a:solidFill>
                          <a:latin typeface="+mn-ea"/>
                          <a:ea typeface="+mn-ea"/>
                          <a:cs typeface="Gmarket Sans Medium"/>
                        </a:rPr>
                        <a:t>식각</a:t>
                      </a:r>
                      <a:endParaRPr lang="en-US" sz="1100" dirty="0">
                        <a:latin typeface="+mn-ea"/>
                        <a:ea typeface="+mn-ea"/>
                      </a:endParaRPr>
                    </a:p>
                  </a:txBody>
                  <a:tcPr marL="25400" marR="25400" marT="80347" marB="80347"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C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9101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2666" b="0" i="0" u="none" strike="noStrike" dirty="0" smtClean="0">
                          <a:solidFill>
                            <a:srgbClr val="091C78"/>
                          </a:solidFill>
                          <a:latin typeface="+mn-ea"/>
                          <a:ea typeface="+mn-ea"/>
                          <a:cs typeface="Gmarket Sans Medium"/>
                        </a:rPr>
                        <a:t>원리</a:t>
                      </a:r>
                      <a:endParaRPr lang="en-US" sz="1100" dirty="0">
                        <a:latin typeface="+mn-ea"/>
                        <a:ea typeface="+mn-ea"/>
                      </a:endParaRPr>
                    </a:p>
                  </a:txBody>
                  <a:tcPr marL="25400" marR="25400" marT="75352" marB="75352"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altLang="en-US" sz="2666" b="0" i="0" u="none" strike="noStrike" dirty="0" smtClean="0">
                          <a:solidFill>
                            <a:srgbClr val="787878"/>
                          </a:solidFill>
                          <a:latin typeface="+mn-ea"/>
                          <a:ea typeface="+mn-ea"/>
                          <a:cs typeface="Gmarket Sans Medium"/>
                        </a:rPr>
                        <a:t>화학용액으로 박막 제거</a:t>
                      </a:r>
                      <a:endParaRPr lang="en-US" sz="2666" b="0" i="0" u="none" strike="noStrike" dirty="0">
                        <a:solidFill>
                          <a:srgbClr val="787878"/>
                        </a:solidFill>
                        <a:latin typeface="+mn-ea"/>
                        <a:ea typeface="+mn-ea"/>
                        <a:cs typeface="Gmarket Sans Medium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altLang="en-US" sz="2666" b="0" i="0" u="none" strike="noStrike" dirty="0" err="1" smtClean="0">
                          <a:solidFill>
                            <a:srgbClr val="787878"/>
                          </a:solidFill>
                          <a:latin typeface="+mn-ea"/>
                          <a:ea typeface="+mn-ea"/>
                          <a:cs typeface="Gmarket Sans Medium"/>
                        </a:rPr>
                        <a:t>가스입자의</a:t>
                      </a:r>
                      <a:r>
                        <a:rPr lang="en-US" altLang="ko-KR" sz="2666" b="0" i="0" u="none" strike="noStrike" dirty="0" smtClean="0">
                          <a:solidFill>
                            <a:srgbClr val="787878"/>
                          </a:solidFill>
                          <a:latin typeface="+mn-ea"/>
                          <a:ea typeface="+mn-ea"/>
                          <a:cs typeface="Gmarket Sans Medium"/>
                        </a:rPr>
                        <a:t> </a:t>
                      </a:r>
                      <a:r>
                        <a:rPr lang="ko-KR" altLang="en-US" sz="2666" b="0" i="0" u="none" strike="noStrike" dirty="0" err="1" smtClean="0">
                          <a:solidFill>
                            <a:srgbClr val="787878"/>
                          </a:solidFill>
                          <a:latin typeface="+mn-ea"/>
                          <a:ea typeface="+mn-ea"/>
                          <a:cs typeface="Gmarket Sans Medium"/>
                        </a:rPr>
                        <a:t>플라즈마를</a:t>
                      </a:r>
                      <a:r>
                        <a:rPr lang="ko-KR" altLang="en-US" sz="2666" b="0" i="0" u="none" strike="noStrike" dirty="0" smtClean="0">
                          <a:solidFill>
                            <a:srgbClr val="787878"/>
                          </a:solidFill>
                          <a:latin typeface="+mn-ea"/>
                          <a:ea typeface="+mn-ea"/>
                          <a:cs typeface="Gmarket Sans Medium"/>
                        </a:rPr>
                        <a:t> 이용해 박막 제거</a:t>
                      </a:r>
                      <a:endParaRPr lang="en-US" sz="2666" b="0" i="0" u="none" strike="noStrike" dirty="0">
                        <a:solidFill>
                          <a:srgbClr val="787878"/>
                        </a:solidFill>
                        <a:latin typeface="+mn-ea"/>
                        <a:ea typeface="+mn-ea"/>
                        <a:cs typeface="Gmarket Sans Medium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59101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2666" b="0" i="0" u="none" strike="noStrike" dirty="0" err="1" smtClean="0">
                          <a:solidFill>
                            <a:srgbClr val="091C78"/>
                          </a:solidFill>
                          <a:latin typeface="+mn-ea"/>
                          <a:ea typeface="+mn-ea"/>
                          <a:cs typeface="Gmarket Sans Medium"/>
                        </a:rPr>
                        <a:t>식각방향</a:t>
                      </a:r>
                      <a:endParaRPr lang="en-US" sz="1100" dirty="0">
                        <a:latin typeface="+mn-ea"/>
                        <a:ea typeface="+mn-ea"/>
                      </a:endParaRPr>
                    </a:p>
                  </a:txBody>
                  <a:tcPr marL="25400" marR="25400" marT="75352" marB="75352"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altLang="en-US" sz="2666" b="0" i="0" u="none" strike="noStrike" dirty="0" err="1" smtClean="0">
                          <a:solidFill>
                            <a:srgbClr val="787878"/>
                          </a:solidFill>
                          <a:latin typeface="+mn-ea"/>
                          <a:ea typeface="+mn-ea"/>
                          <a:cs typeface="Gmarket Sans Medium"/>
                        </a:rPr>
                        <a:t>등방성</a:t>
                      </a:r>
                      <a:endParaRPr lang="en-US" sz="2666" b="0" i="0" u="none" strike="noStrike" dirty="0">
                        <a:solidFill>
                          <a:srgbClr val="787878"/>
                        </a:solidFill>
                        <a:latin typeface="+mn-ea"/>
                        <a:ea typeface="+mn-ea"/>
                        <a:cs typeface="Gmarket Sans Medium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altLang="en-US" sz="2666" b="0" i="0" u="none" strike="noStrike" dirty="0" err="1" smtClean="0">
                          <a:solidFill>
                            <a:srgbClr val="787878"/>
                          </a:solidFill>
                          <a:latin typeface="+mn-ea"/>
                          <a:ea typeface="+mn-ea"/>
                          <a:cs typeface="Gmarket Sans Medium"/>
                        </a:rPr>
                        <a:t>이방성</a:t>
                      </a:r>
                      <a:endParaRPr lang="en-US" sz="2666" b="0" i="0" u="none" strike="noStrike" dirty="0">
                        <a:solidFill>
                          <a:srgbClr val="787878"/>
                        </a:solidFill>
                        <a:latin typeface="+mn-ea"/>
                        <a:ea typeface="+mn-ea"/>
                        <a:cs typeface="Gmarket Sans Medium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59101">
                <a:tc>
                  <a:txBody>
                    <a:bodyPr/>
                    <a:lstStyle/>
                    <a:p>
                      <a:pPr lvl="0" algn="ctr">
                        <a:lnSpc>
                          <a:spcPct val="83000"/>
                        </a:lnSpc>
                        <a:defRPr/>
                      </a:pPr>
                      <a:r>
                        <a:rPr lang="ko-KR" altLang="en-US" sz="2666" b="0" i="0" u="none" strike="noStrike" dirty="0" smtClean="0">
                          <a:solidFill>
                            <a:srgbClr val="091C78"/>
                          </a:solidFill>
                          <a:latin typeface="+mn-ea"/>
                          <a:ea typeface="+mn-ea"/>
                          <a:cs typeface="Gmarket Sans Medium"/>
                        </a:rPr>
                        <a:t>정밀도</a:t>
                      </a:r>
                      <a:endParaRPr lang="en-US" sz="1100" dirty="0">
                        <a:latin typeface="+mn-ea"/>
                        <a:ea typeface="+mn-ea"/>
                      </a:endParaRPr>
                    </a:p>
                  </a:txBody>
                  <a:tcPr marL="25400" marR="25400" marT="93131" marB="93131"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altLang="en-US" sz="2666" b="0" i="0" u="none" strike="noStrike" dirty="0" smtClean="0">
                          <a:solidFill>
                            <a:srgbClr val="787878"/>
                          </a:solidFill>
                          <a:latin typeface="+mn-ea"/>
                          <a:ea typeface="+mn-ea"/>
                          <a:cs typeface="Gmarket Sans Medium"/>
                        </a:rPr>
                        <a:t>낮음</a:t>
                      </a:r>
                      <a:endParaRPr lang="en-US" sz="2666" b="0" i="0" u="none" strike="noStrike" dirty="0">
                        <a:solidFill>
                          <a:srgbClr val="787878"/>
                        </a:solidFill>
                        <a:latin typeface="+mn-ea"/>
                        <a:ea typeface="+mn-ea"/>
                        <a:cs typeface="Gmarket Sans Medium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altLang="en-US" sz="2666" b="0" i="0" u="none" strike="noStrike" dirty="0" smtClean="0">
                          <a:solidFill>
                            <a:srgbClr val="787878"/>
                          </a:solidFill>
                          <a:latin typeface="+mn-ea"/>
                          <a:ea typeface="+mn-ea"/>
                          <a:cs typeface="Gmarket Sans Medium"/>
                        </a:rPr>
                        <a:t>높음</a:t>
                      </a:r>
                      <a:endParaRPr lang="en-US" sz="2666" b="0" i="0" u="none" strike="noStrike" dirty="0">
                        <a:solidFill>
                          <a:srgbClr val="787878"/>
                        </a:solidFill>
                        <a:latin typeface="+mn-ea"/>
                        <a:ea typeface="+mn-ea"/>
                        <a:cs typeface="Gmarket Sans Medium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591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670" b="0" i="0" u="none" strike="noStrike" dirty="0" smtClean="0">
                          <a:solidFill>
                            <a:srgbClr val="091C78"/>
                          </a:solidFill>
                          <a:latin typeface="+mn-ea"/>
                          <a:ea typeface="+mn-ea"/>
                          <a:cs typeface="Gmarket Sans Medium"/>
                        </a:rPr>
                        <a:t>장점</a:t>
                      </a:r>
                      <a:endParaRPr lang="en-US" sz="1100" dirty="0">
                        <a:latin typeface="+mn-ea"/>
                        <a:ea typeface="+mn-ea"/>
                      </a:endParaRPr>
                    </a:p>
                  </a:txBody>
                  <a:tcPr marL="25400" marR="25400" marT="93131" marB="93131"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altLang="en-US" sz="2666" b="0" i="0" u="none" strike="noStrike" dirty="0" smtClean="0">
                          <a:solidFill>
                            <a:srgbClr val="787878"/>
                          </a:solidFill>
                          <a:latin typeface="+mn-ea"/>
                          <a:ea typeface="+mn-ea"/>
                          <a:cs typeface="Gmarket Sans Medium"/>
                        </a:rPr>
                        <a:t>비용이 저렴</a:t>
                      </a:r>
                      <a:endParaRPr lang="en-US" sz="2666" b="0" i="0" u="none" strike="noStrike" dirty="0">
                        <a:solidFill>
                          <a:srgbClr val="787878"/>
                        </a:solidFill>
                        <a:latin typeface="+mn-ea"/>
                        <a:ea typeface="+mn-ea"/>
                        <a:cs typeface="Gmarket Sans Medium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altLang="en-US" sz="2666" b="0" i="0" u="none" strike="noStrike" dirty="0" err="1" smtClean="0">
                          <a:solidFill>
                            <a:srgbClr val="787878"/>
                          </a:solidFill>
                          <a:latin typeface="+mn-ea"/>
                          <a:ea typeface="+mn-ea"/>
                          <a:cs typeface="Gmarket Sans Medium"/>
                        </a:rPr>
                        <a:t>미세패턴</a:t>
                      </a:r>
                      <a:r>
                        <a:rPr lang="ko-KR" altLang="en-US" sz="2666" b="0" i="0" u="none" strike="noStrike" dirty="0" smtClean="0">
                          <a:solidFill>
                            <a:srgbClr val="787878"/>
                          </a:solidFill>
                          <a:latin typeface="+mn-ea"/>
                          <a:ea typeface="+mn-ea"/>
                          <a:cs typeface="Gmarket Sans Medium"/>
                        </a:rPr>
                        <a:t> 구현 가능</a:t>
                      </a:r>
                      <a:endParaRPr lang="en-US" sz="2666" b="0" i="0" u="none" strike="noStrike" dirty="0">
                        <a:solidFill>
                          <a:srgbClr val="787878"/>
                        </a:solidFill>
                        <a:latin typeface="+mn-ea"/>
                        <a:ea typeface="+mn-ea"/>
                        <a:cs typeface="Gmarket Sans Medium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7886559"/>
                  </a:ext>
                </a:extLst>
              </a:tr>
              <a:tr h="16591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670" b="0" i="0" u="none" strike="noStrike" dirty="0" smtClean="0">
                          <a:solidFill>
                            <a:srgbClr val="091C78"/>
                          </a:solidFill>
                          <a:latin typeface="+mn-ea"/>
                          <a:ea typeface="+mn-ea"/>
                          <a:cs typeface="Gmarket Sans Medium"/>
                        </a:rPr>
                        <a:t>단점</a:t>
                      </a:r>
                      <a:endParaRPr lang="en-US" sz="1100" dirty="0">
                        <a:latin typeface="+mn-ea"/>
                        <a:ea typeface="+mn-ea"/>
                      </a:endParaRPr>
                    </a:p>
                  </a:txBody>
                  <a:tcPr marL="25400" marR="25400" marT="93131" marB="93131"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altLang="en-US" sz="2666" b="0" i="0" u="none" strike="noStrike" dirty="0" err="1" smtClean="0">
                          <a:solidFill>
                            <a:srgbClr val="787878"/>
                          </a:solidFill>
                          <a:latin typeface="+mn-ea"/>
                          <a:ea typeface="+mn-ea"/>
                          <a:cs typeface="Gmarket Sans Medium"/>
                        </a:rPr>
                        <a:t>언더컷</a:t>
                      </a:r>
                      <a:r>
                        <a:rPr lang="ko-KR" altLang="en-US" sz="2666" b="0" i="0" u="none" strike="noStrike" dirty="0" smtClean="0">
                          <a:solidFill>
                            <a:srgbClr val="787878"/>
                          </a:solidFill>
                          <a:latin typeface="+mn-ea"/>
                          <a:ea typeface="+mn-ea"/>
                          <a:cs typeface="Gmarket Sans Medium"/>
                        </a:rPr>
                        <a:t> 발생</a:t>
                      </a:r>
                      <a:endParaRPr lang="en-US" sz="2666" b="0" i="0" u="none" strike="noStrike" dirty="0">
                        <a:solidFill>
                          <a:srgbClr val="787878"/>
                        </a:solidFill>
                        <a:latin typeface="+mn-ea"/>
                        <a:ea typeface="+mn-ea"/>
                        <a:cs typeface="Gmarket Sans Medium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altLang="en-US" sz="2666" b="0" i="0" u="none" strike="noStrike" dirty="0" smtClean="0">
                          <a:solidFill>
                            <a:srgbClr val="787878"/>
                          </a:solidFill>
                          <a:latin typeface="+mn-ea"/>
                          <a:ea typeface="+mn-ea"/>
                          <a:cs typeface="Gmarket Sans Medium"/>
                        </a:rPr>
                        <a:t>장비 가격이 비싸고 공정이 복잡</a:t>
                      </a:r>
                      <a:endParaRPr lang="en-US" sz="2666" b="0" i="0" u="none" strike="noStrike" dirty="0">
                        <a:solidFill>
                          <a:srgbClr val="787878"/>
                        </a:solidFill>
                        <a:latin typeface="+mn-ea"/>
                        <a:ea typeface="+mn-ea"/>
                        <a:cs typeface="Gmarket Sans Medium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16738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68989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2540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520700" y="544286"/>
            <a:ext cx="17233900" cy="1308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en-US" altLang="ko-KR" sz="7333" b="0" i="0" u="none" strike="noStrike" dirty="0" smtClean="0">
                <a:solidFill>
                  <a:srgbClr val="091C78"/>
                </a:solidFill>
                <a:latin typeface="+mn-ea"/>
                <a:cs typeface="Gmarket Sans Bold"/>
              </a:rPr>
              <a:t>Dry Etching </a:t>
            </a:r>
            <a:r>
              <a:rPr lang="ko-KR" altLang="en-US" sz="7333" b="0" i="0" u="none" strike="noStrike" dirty="0" smtClean="0">
                <a:solidFill>
                  <a:srgbClr val="091C78"/>
                </a:solidFill>
                <a:latin typeface="+mn-ea"/>
                <a:cs typeface="Gmarket Sans Bold"/>
              </a:rPr>
              <a:t>공정 원리와 공정 </a:t>
            </a:r>
            <a:r>
              <a:rPr lang="ko-KR" altLang="en-US" sz="7333" b="0" i="0" u="none" strike="noStrike" dirty="0" err="1" smtClean="0">
                <a:solidFill>
                  <a:srgbClr val="091C78"/>
                </a:solidFill>
                <a:latin typeface="+mn-ea"/>
                <a:cs typeface="Gmarket Sans Bold"/>
              </a:rPr>
              <a:t>파라미터</a:t>
            </a:r>
            <a:endParaRPr lang="en-US" sz="7333" b="0" i="0" u="none" strike="noStrike" dirty="0">
              <a:solidFill>
                <a:srgbClr val="091C78"/>
              </a:solidFill>
              <a:latin typeface="+mn-ea"/>
              <a:cs typeface="Gmarket Sans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3190200" y="355600"/>
            <a:ext cx="774700" cy="5207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r">
              <a:lnSpc>
                <a:spcPct val="95449"/>
              </a:lnSpc>
            </a:pPr>
            <a:r>
              <a:rPr lang="en-US" altLang="ko-KR" sz="2133" b="0" i="0" u="none" strike="noStrike" dirty="0" smtClean="0">
                <a:solidFill>
                  <a:srgbClr val="001CA0"/>
                </a:solidFill>
                <a:latin typeface="Anek Bangla Expanded SemiBold"/>
                <a:ea typeface="Anek Bangla Expanded SemiBold"/>
                <a:cs typeface="Anek Bangla Expanded SemiBold"/>
              </a:rPr>
              <a:t>4</a:t>
            </a:r>
            <a:endParaRPr lang="en-US" sz="2133" b="0" i="0" u="none" strike="noStrike" dirty="0">
              <a:solidFill>
                <a:srgbClr val="001CA0"/>
              </a:solidFill>
              <a:latin typeface="Anek Bangla Expanded SemiBold"/>
              <a:ea typeface="Anek Bangla Expanded SemiBold"/>
              <a:cs typeface="Anek Bangla Expanded SemiBold"/>
            </a:endParaRPr>
          </a:p>
        </p:txBody>
      </p:sp>
      <p:graphicFrame>
        <p:nvGraphicFramePr>
          <p:cNvPr id="27" name="표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3204690"/>
              </p:ext>
            </p:extLst>
          </p:nvPr>
        </p:nvGraphicFramePr>
        <p:xfrm>
          <a:off x="13565415" y="2786651"/>
          <a:ext cx="10399485" cy="4390210"/>
        </p:xfrm>
        <a:graphic>
          <a:graphicData uri="http://schemas.openxmlformats.org/drawingml/2006/table">
            <a:tbl>
              <a:tblPr/>
              <a:tblGrid>
                <a:gridCol w="3466495">
                  <a:extLst>
                    <a:ext uri="{9D8B030D-6E8A-4147-A177-3AD203B41FA5}">
                      <a16:colId xmlns:a16="http://schemas.microsoft.com/office/drawing/2014/main" val="3173728650"/>
                    </a:ext>
                  </a:extLst>
                </a:gridCol>
                <a:gridCol w="3466495">
                  <a:extLst>
                    <a:ext uri="{9D8B030D-6E8A-4147-A177-3AD203B41FA5}">
                      <a16:colId xmlns:a16="http://schemas.microsoft.com/office/drawing/2014/main" val="3260622062"/>
                    </a:ext>
                  </a:extLst>
                </a:gridCol>
                <a:gridCol w="3466495">
                  <a:extLst>
                    <a:ext uri="{9D8B030D-6E8A-4147-A177-3AD203B41FA5}">
                      <a16:colId xmlns:a16="http://schemas.microsoft.com/office/drawing/2014/main" val="3695976944"/>
                    </a:ext>
                  </a:extLst>
                </a:gridCol>
              </a:tblGrid>
              <a:tr h="648720">
                <a:tc>
                  <a:txBody>
                    <a:bodyPr/>
                    <a:lstStyle/>
                    <a:p>
                      <a:r>
                        <a:rPr lang="ko-KR" altLang="en-US" sz="2000" dirty="0">
                          <a:latin typeface="+mn-ea"/>
                          <a:ea typeface="+mn-ea"/>
                        </a:rPr>
                        <a:t>공정 변수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 dirty="0">
                          <a:latin typeface="+mn-ea"/>
                          <a:ea typeface="+mn-ea"/>
                        </a:rPr>
                        <a:t>영향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4104661"/>
                  </a:ext>
                </a:extLst>
              </a:tr>
              <a:tr h="49632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+mn-ea"/>
                          <a:ea typeface="+mn-ea"/>
                        </a:rPr>
                        <a:t>RF Power (W)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 dirty="0" err="1">
                          <a:latin typeface="+mn-ea"/>
                          <a:ea typeface="+mn-ea"/>
                        </a:rPr>
                        <a:t>플라즈마</a:t>
                      </a:r>
                      <a:r>
                        <a:rPr lang="ko-KR" altLang="en-US" sz="2000" dirty="0">
                          <a:latin typeface="+mn-ea"/>
                          <a:ea typeface="+mn-ea"/>
                        </a:rPr>
                        <a:t> 생성 에너지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>
                          <a:latin typeface="+mn-ea"/>
                          <a:ea typeface="+mn-ea"/>
                        </a:rPr>
                        <a:t>식각 속도 증가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1086243"/>
                  </a:ext>
                </a:extLst>
              </a:tr>
              <a:tr h="496320">
                <a:tc>
                  <a:txBody>
                    <a:bodyPr/>
                    <a:lstStyle/>
                    <a:p>
                      <a:r>
                        <a:rPr lang="en-US" sz="2000">
                          <a:latin typeface="+mn-ea"/>
                          <a:ea typeface="+mn-ea"/>
                        </a:rPr>
                        <a:t>Pressure (mTorr)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 dirty="0" err="1">
                          <a:latin typeface="+mn-ea"/>
                          <a:ea typeface="+mn-ea"/>
                        </a:rPr>
                        <a:t>챔버</a:t>
                      </a:r>
                      <a:r>
                        <a:rPr lang="ko-KR" altLang="en-US" sz="2000" dirty="0">
                          <a:latin typeface="+mn-ea"/>
                          <a:ea typeface="+mn-ea"/>
                        </a:rPr>
                        <a:t> 내부 압력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 dirty="0">
                          <a:latin typeface="+mn-ea"/>
                          <a:ea typeface="+mn-ea"/>
                        </a:rPr>
                        <a:t>균일도 및 </a:t>
                      </a:r>
                      <a:r>
                        <a:rPr lang="ko-KR" altLang="en-US" sz="2000" dirty="0" err="1">
                          <a:latin typeface="+mn-ea"/>
                          <a:ea typeface="+mn-ea"/>
                        </a:rPr>
                        <a:t>식각</a:t>
                      </a:r>
                      <a:r>
                        <a:rPr lang="ko-KR" altLang="en-US" sz="2000" dirty="0">
                          <a:latin typeface="+mn-ea"/>
                          <a:ea typeface="+mn-ea"/>
                        </a:rPr>
                        <a:t> 방향성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2618107"/>
                  </a:ext>
                </a:extLst>
              </a:tr>
              <a:tr h="49632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+mn-ea"/>
                          <a:ea typeface="+mn-ea"/>
                        </a:rPr>
                        <a:t>Gas Flow (</a:t>
                      </a:r>
                      <a:r>
                        <a:rPr lang="en-US" sz="2000" dirty="0" err="1">
                          <a:latin typeface="+mn-ea"/>
                          <a:ea typeface="+mn-ea"/>
                        </a:rPr>
                        <a:t>sccm</a:t>
                      </a:r>
                      <a:r>
                        <a:rPr lang="en-US" sz="200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>
                          <a:latin typeface="+mn-ea"/>
                          <a:ea typeface="+mn-ea"/>
                        </a:rPr>
                        <a:t>반응 가스 유량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 dirty="0">
                          <a:latin typeface="+mn-ea"/>
                          <a:ea typeface="+mn-ea"/>
                        </a:rPr>
                        <a:t>화학 반응 속도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6650272"/>
                  </a:ext>
                </a:extLst>
              </a:tr>
              <a:tr h="878105">
                <a:tc>
                  <a:txBody>
                    <a:bodyPr/>
                    <a:lstStyle/>
                    <a:p>
                      <a:r>
                        <a:rPr lang="en-US" sz="2000">
                          <a:latin typeface="+mn-ea"/>
                          <a:ea typeface="+mn-ea"/>
                        </a:rPr>
                        <a:t>Temperature (℃)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>
                          <a:latin typeface="+mn-ea"/>
                          <a:ea typeface="+mn-ea"/>
                        </a:rPr>
                        <a:t>웨이퍼 온도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>
                          <a:latin typeface="+mn-ea"/>
                          <a:ea typeface="+mn-ea"/>
                        </a:rPr>
                        <a:t>반응 효율 및 부산물 생성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5951966"/>
                  </a:ext>
                </a:extLst>
              </a:tr>
              <a:tr h="49632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+mn-ea"/>
                          <a:ea typeface="+mn-ea"/>
                        </a:rPr>
                        <a:t>Etch Time (sec)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>
                          <a:latin typeface="+mn-ea"/>
                          <a:ea typeface="+mn-ea"/>
                        </a:rPr>
                        <a:t>식각 시간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>
                          <a:latin typeface="+mn-ea"/>
                          <a:ea typeface="+mn-ea"/>
                        </a:rPr>
                        <a:t>식각 깊이 결정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1047445"/>
                  </a:ext>
                </a:extLst>
              </a:tr>
              <a:tr h="878105">
                <a:tc>
                  <a:txBody>
                    <a:bodyPr/>
                    <a:lstStyle/>
                    <a:p>
                      <a:r>
                        <a:rPr lang="en-US" sz="2000">
                          <a:latin typeface="+mn-ea"/>
                          <a:ea typeface="+mn-ea"/>
                        </a:rPr>
                        <a:t>Bias Voltage (V)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>
                          <a:latin typeface="+mn-ea"/>
                          <a:ea typeface="+mn-ea"/>
                        </a:rPr>
                        <a:t>웨이퍼에 인가되는 전압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 dirty="0">
                          <a:latin typeface="+mn-ea"/>
                          <a:ea typeface="+mn-ea"/>
                        </a:rPr>
                        <a:t>이온 충돌 에너지 증가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7614793"/>
                  </a:ext>
                </a:extLst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520700" y="8089355"/>
            <a:ext cx="189103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latin typeface="+mn-ea"/>
              </a:rPr>
              <a:t>1. </a:t>
            </a:r>
            <a:r>
              <a:rPr lang="ko-KR" altLang="en-US" sz="2800" b="1" dirty="0" err="1">
                <a:latin typeface="+mn-ea"/>
              </a:rPr>
              <a:t>플라즈마</a:t>
            </a:r>
            <a:r>
              <a:rPr lang="en-US" altLang="ko-KR" sz="2800" b="1" dirty="0">
                <a:latin typeface="+mn-ea"/>
              </a:rPr>
              <a:t>(Plasma) </a:t>
            </a:r>
            <a:r>
              <a:rPr lang="ko-KR" altLang="en-US" sz="2800" b="1" dirty="0">
                <a:latin typeface="+mn-ea"/>
              </a:rPr>
              <a:t>생성 및 상태 유지</a:t>
            </a:r>
          </a:p>
          <a:p>
            <a:r>
              <a:rPr lang="ko-KR" altLang="en-US" sz="2800" dirty="0" err="1">
                <a:latin typeface="+mn-ea"/>
              </a:rPr>
              <a:t>챔버</a:t>
            </a:r>
            <a:r>
              <a:rPr lang="ko-KR" altLang="en-US" sz="2800" dirty="0">
                <a:latin typeface="+mn-ea"/>
              </a:rPr>
              <a:t> 내부에 </a:t>
            </a:r>
            <a:r>
              <a:rPr lang="ko-KR" altLang="en-US" sz="2800" dirty="0" err="1">
                <a:latin typeface="+mn-ea"/>
              </a:rPr>
              <a:t>식각</a:t>
            </a:r>
            <a:r>
              <a:rPr lang="ko-KR" altLang="en-US" sz="2800" dirty="0">
                <a:latin typeface="+mn-ea"/>
              </a:rPr>
              <a:t> 가스</a:t>
            </a:r>
            <a:r>
              <a:rPr lang="en-US" altLang="ko-KR" sz="2800" dirty="0">
                <a:latin typeface="+mn-ea"/>
              </a:rPr>
              <a:t>(CF4, </a:t>
            </a:r>
            <a:r>
              <a:rPr lang="en-US" altLang="ko-KR" sz="2800" dirty="0" err="1">
                <a:latin typeface="+mn-ea"/>
              </a:rPr>
              <a:t>Ar</a:t>
            </a:r>
            <a:r>
              <a:rPr lang="en-US" altLang="ko-KR" sz="2800" dirty="0">
                <a:latin typeface="+mn-ea"/>
              </a:rPr>
              <a:t> </a:t>
            </a:r>
            <a:r>
              <a:rPr lang="ko-KR" altLang="en-US" sz="2800" dirty="0">
                <a:latin typeface="+mn-ea"/>
              </a:rPr>
              <a:t>등</a:t>
            </a:r>
            <a:r>
              <a:rPr lang="en-US" altLang="ko-KR" sz="2800" dirty="0">
                <a:latin typeface="+mn-ea"/>
              </a:rPr>
              <a:t>)</a:t>
            </a:r>
            <a:r>
              <a:rPr lang="ko-KR" altLang="en-US" sz="2800" dirty="0">
                <a:latin typeface="+mn-ea"/>
              </a:rPr>
              <a:t>를 주입한 후 고주파 전력</a:t>
            </a:r>
            <a:r>
              <a:rPr lang="en-US" altLang="ko-KR" sz="2800" dirty="0">
                <a:latin typeface="+mn-ea"/>
              </a:rPr>
              <a:t>(RF Power)</a:t>
            </a:r>
            <a:r>
              <a:rPr lang="ko-KR" altLang="en-US" sz="2800" dirty="0">
                <a:latin typeface="+mn-ea"/>
              </a:rPr>
              <a:t>을 인가</a:t>
            </a:r>
          </a:p>
          <a:p>
            <a:r>
              <a:rPr lang="ko-KR" altLang="en-US" sz="2800" dirty="0">
                <a:latin typeface="+mn-ea"/>
              </a:rPr>
              <a:t>가스 분자가 전자와 충돌하면서 이온</a:t>
            </a:r>
            <a:r>
              <a:rPr lang="en-US" altLang="ko-KR" sz="2800" dirty="0">
                <a:latin typeface="+mn-ea"/>
              </a:rPr>
              <a:t>(Ion)</a:t>
            </a:r>
            <a:r>
              <a:rPr lang="ko-KR" altLang="en-US" sz="2800" dirty="0">
                <a:latin typeface="+mn-ea"/>
              </a:rPr>
              <a:t>과 </a:t>
            </a:r>
            <a:r>
              <a:rPr lang="ko-KR" altLang="en-US" sz="2800" dirty="0" err="1">
                <a:latin typeface="+mn-ea"/>
              </a:rPr>
              <a:t>반응성</a:t>
            </a:r>
            <a:r>
              <a:rPr lang="ko-KR" altLang="en-US" sz="2800" dirty="0">
                <a:latin typeface="+mn-ea"/>
              </a:rPr>
              <a:t> 높은 </a:t>
            </a:r>
            <a:r>
              <a:rPr lang="ko-KR" altLang="en-US" sz="2800" dirty="0" err="1">
                <a:latin typeface="+mn-ea"/>
              </a:rPr>
              <a:t>라디칼</a:t>
            </a:r>
            <a:r>
              <a:rPr lang="en-US" altLang="ko-KR" sz="2800" dirty="0">
                <a:latin typeface="+mn-ea"/>
              </a:rPr>
              <a:t>(Radical) </a:t>
            </a:r>
            <a:r>
              <a:rPr lang="ko-KR" altLang="en-US" sz="2800" dirty="0">
                <a:latin typeface="+mn-ea"/>
              </a:rPr>
              <a:t>상태의 </a:t>
            </a:r>
            <a:r>
              <a:rPr lang="ko-KR" altLang="en-US" sz="2800" dirty="0" err="1">
                <a:latin typeface="+mn-ea"/>
              </a:rPr>
              <a:t>플라즈마로</a:t>
            </a:r>
            <a:r>
              <a:rPr lang="ko-KR" altLang="en-US" sz="2800" dirty="0">
                <a:latin typeface="+mn-ea"/>
              </a:rPr>
              <a:t> </a:t>
            </a:r>
            <a:r>
              <a:rPr lang="ko-KR" altLang="en-US" sz="2800" dirty="0" smtClean="0">
                <a:latin typeface="+mn-ea"/>
              </a:rPr>
              <a:t>전환</a:t>
            </a:r>
            <a:endParaRPr lang="en-US" altLang="ko-KR" sz="2800" dirty="0" smtClean="0">
              <a:latin typeface="+mn-ea"/>
            </a:endParaRPr>
          </a:p>
          <a:p>
            <a:endParaRPr lang="ko-KR" altLang="en-US" sz="2800" dirty="0">
              <a:latin typeface="+mn-ea"/>
            </a:endParaRPr>
          </a:p>
          <a:p>
            <a:r>
              <a:rPr lang="en-US" altLang="ko-KR" sz="2800" b="1" dirty="0">
                <a:latin typeface="+mn-ea"/>
              </a:rPr>
              <a:t>2. </a:t>
            </a:r>
            <a:r>
              <a:rPr lang="ko-KR" altLang="en-US" sz="2800" b="1" dirty="0">
                <a:latin typeface="+mn-ea"/>
              </a:rPr>
              <a:t>물리적 </a:t>
            </a:r>
            <a:r>
              <a:rPr lang="en-US" altLang="ko-KR" sz="2800" b="1" dirty="0">
                <a:latin typeface="+mn-ea"/>
              </a:rPr>
              <a:t>/ </a:t>
            </a:r>
            <a:r>
              <a:rPr lang="ko-KR" altLang="en-US" sz="2800" b="1" dirty="0">
                <a:latin typeface="+mn-ea"/>
              </a:rPr>
              <a:t>화학적 동시 반응 유도</a:t>
            </a:r>
          </a:p>
          <a:p>
            <a:r>
              <a:rPr lang="ko-KR" altLang="en-US" sz="2800" dirty="0">
                <a:latin typeface="+mn-ea"/>
              </a:rPr>
              <a:t>화학적 반응 </a:t>
            </a:r>
            <a:r>
              <a:rPr lang="en-US" altLang="ko-KR" sz="2800" dirty="0">
                <a:latin typeface="+mn-ea"/>
              </a:rPr>
              <a:t>(</a:t>
            </a:r>
            <a:r>
              <a:rPr lang="ko-KR" altLang="en-US" sz="2800" dirty="0" err="1">
                <a:latin typeface="+mn-ea"/>
              </a:rPr>
              <a:t>라디칼</a:t>
            </a:r>
            <a:r>
              <a:rPr lang="en-US" altLang="ko-KR" sz="2800" dirty="0">
                <a:latin typeface="+mn-ea"/>
              </a:rPr>
              <a:t>)</a:t>
            </a:r>
            <a:r>
              <a:rPr lang="ko-KR" altLang="en-US" sz="2800" dirty="0">
                <a:latin typeface="+mn-ea"/>
              </a:rPr>
              <a:t> </a:t>
            </a:r>
            <a:r>
              <a:rPr lang="en-US" altLang="ko-KR" sz="2800" dirty="0">
                <a:latin typeface="+mn-ea"/>
              </a:rPr>
              <a:t>: </a:t>
            </a:r>
            <a:r>
              <a:rPr lang="ko-KR" altLang="en-US" sz="2800" dirty="0" err="1">
                <a:latin typeface="+mn-ea"/>
              </a:rPr>
              <a:t>반응성</a:t>
            </a:r>
            <a:r>
              <a:rPr lang="ko-KR" altLang="en-US" sz="2800" dirty="0">
                <a:latin typeface="+mn-ea"/>
              </a:rPr>
              <a:t> </a:t>
            </a:r>
            <a:r>
              <a:rPr lang="ko-KR" altLang="en-US" sz="2800" dirty="0" err="1">
                <a:latin typeface="+mn-ea"/>
              </a:rPr>
              <a:t>라디칼이</a:t>
            </a:r>
            <a:r>
              <a:rPr lang="ko-KR" altLang="en-US" sz="2800" dirty="0">
                <a:latin typeface="+mn-ea"/>
              </a:rPr>
              <a:t> 박막 표면 물질과 결합하여 휘발성 화합물</a:t>
            </a:r>
            <a:r>
              <a:rPr lang="en-US" altLang="ko-KR" sz="2800" dirty="0">
                <a:latin typeface="+mn-ea"/>
              </a:rPr>
              <a:t>(</a:t>
            </a:r>
            <a:r>
              <a:rPr lang="ko-KR" altLang="en-US" sz="2800" dirty="0" err="1">
                <a:latin typeface="+mn-ea"/>
              </a:rPr>
              <a:t>식각</a:t>
            </a:r>
            <a:r>
              <a:rPr lang="ko-KR" altLang="en-US" sz="2800" dirty="0">
                <a:latin typeface="+mn-ea"/>
              </a:rPr>
              <a:t> 부산물</a:t>
            </a:r>
            <a:r>
              <a:rPr lang="en-US" altLang="ko-KR" sz="2800" dirty="0">
                <a:latin typeface="+mn-ea"/>
              </a:rPr>
              <a:t>)</a:t>
            </a:r>
            <a:r>
              <a:rPr lang="ko-KR" altLang="en-US" sz="2800" dirty="0">
                <a:latin typeface="+mn-ea"/>
              </a:rPr>
              <a:t>을 형성 및 제거</a:t>
            </a:r>
          </a:p>
          <a:p>
            <a:r>
              <a:rPr lang="ko-KR" altLang="en-US" sz="2800" dirty="0">
                <a:latin typeface="+mn-ea"/>
              </a:rPr>
              <a:t>물리적 충돌 </a:t>
            </a:r>
            <a:r>
              <a:rPr lang="en-US" altLang="ko-KR" sz="2800" dirty="0">
                <a:latin typeface="+mn-ea"/>
              </a:rPr>
              <a:t>(</a:t>
            </a:r>
            <a:r>
              <a:rPr lang="ko-KR" altLang="en-US" sz="2800" dirty="0">
                <a:latin typeface="+mn-ea"/>
              </a:rPr>
              <a:t>이온</a:t>
            </a:r>
            <a:r>
              <a:rPr lang="en-US" altLang="ko-KR" sz="2800" dirty="0">
                <a:latin typeface="+mn-ea"/>
              </a:rPr>
              <a:t>)</a:t>
            </a:r>
            <a:r>
              <a:rPr lang="ko-KR" altLang="en-US" sz="2800" dirty="0">
                <a:latin typeface="+mn-ea"/>
              </a:rPr>
              <a:t> </a:t>
            </a:r>
            <a:r>
              <a:rPr lang="en-US" altLang="ko-KR" sz="2800" dirty="0">
                <a:latin typeface="+mn-ea"/>
              </a:rPr>
              <a:t>: RF Bottom Power</a:t>
            </a:r>
            <a:r>
              <a:rPr lang="ko-KR" altLang="en-US" sz="2800" dirty="0">
                <a:latin typeface="+mn-ea"/>
              </a:rPr>
              <a:t>에 의해 가속된 이온들이 웨이퍼 표면을 수직으로 타격</a:t>
            </a:r>
            <a:r>
              <a:rPr lang="en-US" altLang="ko-KR" sz="2800" dirty="0">
                <a:latin typeface="+mn-ea"/>
              </a:rPr>
              <a:t>(Sputtering</a:t>
            </a:r>
            <a:r>
              <a:rPr lang="en-US" altLang="ko-KR" sz="2800" dirty="0" smtClean="0">
                <a:latin typeface="+mn-ea"/>
              </a:rPr>
              <a:t>)</a:t>
            </a:r>
          </a:p>
          <a:p>
            <a:endParaRPr lang="en-US" altLang="ko-KR" sz="2800" dirty="0">
              <a:latin typeface="+mn-ea"/>
            </a:endParaRPr>
          </a:p>
          <a:p>
            <a:r>
              <a:rPr lang="en-US" altLang="ko-KR" sz="2800" b="1" dirty="0">
                <a:latin typeface="+mn-ea"/>
              </a:rPr>
              <a:t>3. </a:t>
            </a:r>
            <a:r>
              <a:rPr lang="ko-KR" altLang="en-US" sz="2800" b="1" dirty="0">
                <a:latin typeface="+mn-ea"/>
              </a:rPr>
              <a:t>비등방성</a:t>
            </a:r>
            <a:r>
              <a:rPr lang="en-US" altLang="ko-KR" sz="2800" b="1" dirty="0">
                <a:latin typeface="+mn-ea"/>
              </a:rPr>
              <a:t>(Anisotropy) </a:t>
            </a:r>
            <a:r>
              <a:rPr lang="ko-KR" altLang="en-US" sz="2800" b="1" dirty="0">
                <a:latin typeface="+mn-ea"/>
              </a:rPr>
              <a:t>프로파일 확보</a:t>
            </a:r>
          </a:p>
          <a:p>
            <a:r>
              <a:rPr lang="ko-KR" altLang="en-US" sz="2800" dirty="0">
                <a:latin typeface="+mn-ea"/>
              </a:rPr>
              <a:t>이온의 </a:t>
            </a:r>
            <a:r>
              <a:rPr lang="ko-KR" altLang="en-US" sz="2800" dirty="0" err="1">
                <a:latin typeface="+mn-ea"/>
              </a:rPr>
              <a:t>직진성을</a:t>
            </a:r>
            <a:r>
              <a:rPr lang="ko-KR" altLang="en-US" sz="2800" dirty="0">
                <a:latin typeface="+mn-ea"/>
              </a:rPr>
              <a:t> 이용해 측면 깎임 현상</a:t>
            </a:r>
            <a:r>
              <a:rPr lang="en-US" altLang="ko-KR" sz="2800" dirty="0">
                <a:latin typeface="+mn-ea"/>
              </a:rPr>
              <a:t>(Undercut)</a:t>
            </a:r>
            <a:r>
              <a:rPr lang="ko-KR" altLang="en-US" sz="2800" dirty="0">
                <a:latin typeface="+mn-ea"/>
              </a:rPr>
              <a:t>을 억제하고</a:t>
            </a:r>
            <a:r>
              <a:rPr lang="en-US" altLang="ko-KR" sz="2800" dirty="0">
                <a:latin typeface="+mn-ea"/>
              </a:rPr>
              <a:t>, </a:t>
            </a:r>
            <a:r>
              <a:rPr lang="ko-KR" altLang="en-US" sz="2800" dirty="0">
                <a:latin typeface="+mn-ea"/>
              </a:rPr>
              <a:t>원하는 미세 수직 패턴을 정밀하게 형성</a:t>
            </a:r>
          </a:p>
        </p:txBody>
      </p:sp>
      <p:pic>
        <p:nvPicPr>
          <p:cNvPr id="32" name="그림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852386"/>
            <a:ext cx="9753600" cy="53244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254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3190200" y="355600"/>
            <a:ext cx="774700" cy="5207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r">
              <a:lnSpc>
                <a:spcPct val="95449"/>
              </a:lnSpc>
            </a:pPr>
            <a:r>
              <a:rPr lang="en-US" altLang="ko-KR" sz="2133" b="0" i="0" u="none" strike="noStrike" dirty="0" smtClean="0">
                <a:solidFill>
                  <a:srgbClr val="001CA0"/>
                </a:solidFill>
                <a:latin typeface="Anek Bangla Expanded SemiBold"/>
                <a:ea typeface="Anek Bangla Expanded SemiBold"/>
                <a:cs typeface="Anek Bangla Expanded SemiBold"/>
              </a:rPr>
              <a:t>5</a:t>
            </a:r>
            <a:endParaRPr lang="en-US" sz="2133" b="0" i="0" u="none" strike="noStrike" dirty="0">
              <a:solidFill>
                <a:srgbClr val="001CA0"/>
              </a:solidFill>
              <a:latin typeface="Anek Bangla Expanded SemiBold"/>
              <a:ea typeface="Anek Bangla Expanded SemiBold"/>
              <a:cs typeface="Anek Bangla Expanded Semi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295400" y="2616200"/>
            <a:ext cx="9639300" cy="1308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7333" b="0" i="0" u="none" strike="noStrike" dirty="0" err="1" smtClean="0">
                <a:solidFill>
                  <a:srgbClr val="091C78"/>
                </a:solidFill>
                <a:latin typeface="+mj-ea"/>
                <a:ea typeface="+mj-ea"/>
                <a:cs typeface="Gmarket Sans Bold"/>
              </a:rPr>
              <a:t>장비선정</a:t>
            </a:r>
            <a:r>
              <a:rPr lang="ko-KR" altLang="en-US" sz="7333" b="0" i="0" u="none" strike="noStrike" dirty="0" smtClean="0">
                <a:solidFill>
                  <a:srgbClr val="091C78"/>
                </a:solidFill>
                <a:latin typeface="+mj-ea"/>
                <a:ea typeface="+mj-ea"/>
                <a:cs typeface="Gmarket Sans Bold"/>
              </a:rPr>
              <a:t> 및 스펙</a:t>
            </a:r>
            <a:endParaRPr lang="en-US" sz="7333" b="0" i="0" u="none" strike="noStrike" dirty="0">
              <a:solidFill>
                <a:srgbClr val="091C78"/>
              </a:solidFill>
              <a:latin typeface="+mj-ea"/>
              <a:ea typeface="+mj-ea"/>
              <a:cs typeface="Gmarket Sans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14400" y="4114800"/>
            <a:ext cx="13106400" cy="2286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ko-KR" altLang="en-US" sz="2800" dirty="0" smtClean="0">
                <a:latin typeface="+mj-ea"/>
                <a:ea typeface="+mj-ea"/>
              </a:rPr>
              <a:t>장비</a:t>
            </a:r>
            <a:r>
              <a:rPr lang="en-US" altLang="ko-KR" sz="2800" dirty="0" smtClean="0">
                <a:latin typeface="+mj-ea"/>
                <a:ea typeface="+mj-ea"/>
              </a:rPr>
              <a:t>: 300mm ICP</a:t>
            </a:r>
            <a:r>
              <a:rPr lang="ko-KR" altLang="en-US" sz="2800" dirty="0" smtClean="0">
                <a:latin typeface="+mj-ea"/>
                <a:ea typeface="+mj-ea"/>
              </a:rPr>
              <a:t> </a:t>
            </a:r>
            <a:r>
              <a:rPr lang="ko-KR" altLang="en-US" sz="2800" dirty="0" err="1">
                <a:latin typeface="+mj-ea"/>
                <a:ea typeface="+mj-ea"/>
              </a:rPr>
              <a:t>식각</a:t>
            </a:r>
            <a:r>
              <a:rPr lang="ko-KR" altLang="en-US" sz="2800" dirty="0">
                <a:latin typeface="+mj-ea"/>
                <a:ea typeface="+mj-ea"/>
              </a:rPr>
              <a:t> </a:t>
            </a:r>
            <a:r>
              <a:rPr lang="ko-KR" altLang="en-US" sz="2800" dirty="0" smtClean="0">
                <a:latin typeface="+mj-ea"/>
                <a:ea typeface="+mj-ea"/>
              </a:rPr>
              <a:t>장비</a:t>
            </a:r>
            <a:endParaRPr lang="en-US" altLang="ko-KR" sz="2800" dirty="0" smtClean="0">
              <a:latin typeface="+mj-ea"/>
              <a:ea typeface="+mj-ea"/>
            </a:endParaRPr>
          </a:p>
          <a:p>
            <a:pPr lvl="0">
              <a:lnSpc>
                <a:spcPct val="116199"/>
              </a:lnSpc>
            </a:pPr>
            <a:r>
              <a:rPr lang="ko-KR" altLang="en-US" sz="2800" dirty="0" smtClean="0">
                <a:latin typeface="+mj-ea"/>
                <a:ea typeface="+mj-ea"/>
              </a:rPr>
              <a:t>선정이유</a:t>
            </a:r>
            <a:r>
              <a:rPr lang="en-US" altLang="ko-KR" sz="2800" dirty="0" smtClean="0">
                <a:latin typeface="+mj-ea"/>
                <a:ea typeface="+mj-ea"/>
              </a:rPr>
              <a:t>: </a:t>
            </a:r>
            <a:r>
              <a:rPr lang="ko-KR" altLang="en-US" sz="2800" dirty="0">
                <a:latin typeface="+mj-ea"/>
                <a:ea typeface="+mj-ea"/>
              </a:rPr>
              <a:t>글로벌 반도체 장비 기업인 </a:t>
            </a:r>
            <a:r>
              <a:rPr lang="en-US" altLang="ko-KR" sz="2800" dirty="0">
                <a:latin typeface="+mj-ea"/>
                <a:ea typeface="+mj-ea"/>
              </a:rPr>
              <a:t>Applied Materials</a:t>
            </a:r>
            <a:r>
              <a:rPr lang="ko-KR" altLang="en-US" sz="2800" dirty="0">
                <a:latin typeface="+mj-ea"/>
                <a:ea typeface="+mj-ea"/>
              </a:rPr>
              <a:t>사의 </a:t>
            </a:r>
            <a:r>
              <a:rPr lang="en-US" altLang="ko-KR" sz="2800" dirty="0">
                <a:latin typeface="+mj-ea"/>
                <a:ea typeface="+mj-ea"/>
              </a:rPr>
              <a:t>'</a:t>
            </a:r>
            <a:r>
              <a:rPr lang="en-US" altLang="ko-KR" sz="2800" dirty="0" err="1">
                <a:latin typeface="+mj-ea"/>
                <a:ea typeface="+mj-ea"/>
              </a:rPr>
              <a:t>Centris</a:t>
            </a:r>
            <a:r>
              <a:rPr lang="en-US" altLang="ko-KR" sz="2800" dirty="0">
                <a:latin typeface="+mj-ea"/>
                <a:ea typeface="+mj-ea"/>
              </a:rPr>
              <a:t> Sym3'</a:t>
            </a:r>
            <a:r>
              <a:rPr lang="ko-KR" altLang="en-US" sz="2800" dirty="0">
                <a:latin typeface="+mj-ea"/>
                <a:ea typeface="+mj-ea"/>
              </a:rPr>
              <a:t>는 </a:t>
            </a:r>
            <a:r>
              <a:rPr lang="ko-KR" altLang="en-US" sz="2800" dirty="0" err="1">
                <a:latin typeface="+mj-ea"/>
                <a:ea typeface="+mj-ea"/>
              </a:rPr>
              <a:t>초미세</a:t>
            </a:r>
            <a:r>
              <a:rPr lang="ko-KR" altLang="en-US" sz="2800" dirty="0">
                <a:latin typeface="+mj-ea"/>
                <a:ea typeface="+mj-ea"/>
              </a:rPr>
              <a:t> </a:t>
            </a:r>
            <a:r>
              <a:rPr lang="ko-KR" altLang="en-US" sz="2800" dirty="0" err="1">
                <a:latin typeface="+mj-ea"/>
                <a:ea typeface="+mj-ea"/>
              </a:rPr>
              <a:t>선폭</a:t>
            </a:r>
            <a:r>
              <a:rPr lang="ko-KR" altLang="en-US" sz="2800" dirty="0">
                <a:latin typeface="+mj-ea"/>
                <a:ea typeface="+mj-ea"/>
              </a:rPr>
              <a:t> 공정에 필수적으로 사용되는 업계 표준</a:t>
            </a:r>
            <a:r>
              <a:rPr lang="en-US" altLang="ko-KR" sz="2800" dirty="0">
                <a:latin typeface="+mj-ea"/>
                <a:ea typeface="+mj-ea"/>
              </a:rPr>
              <a:t>(Standard)</a:t>
            </a:r>
            <a:r>
              <a:rPr lang="ko-KR" altLang="en-US" sz="2800" dirty="0">
                <a:latin typeface="+mj-ea"/>
                <a:ea typeface="+mj-ea"/>
              </a:rPr>
              <a:t>급 </a:t>
            </a:r>
            <a:r>
              <a:rPr lang="ko-KR" altLang="en-US" sz="2800" dirty="0" err="1">
                <a:latin typeface="+mj-ea"/>
                <a:ea typeface="+mj-ea"/>
              </a:rPr>
              <a:t>식각</a:t>
            </a:r>
            <a:r>
              <a:rPr lang="ko-KR" altLang="en-US" sz="2800" dirty="0">
                <a:latin typeface="+mj-ea"/>
                <a:ea typeface="+mj-ea"/>
              </a:rPr>
              <a:t> 장비</a:t>
            </a:r>
            <a:r>
              <a:rPr lang="en-US" altLang="ko-KR" sz="2800" dirty="0" smtClean="0">
                <a:latin typeface="+mj-ea"/>
                <a:ea typeface="+mj-ea"/>
              </a:rPr>
              <a:t> </a:t>
            </a:r>
          </a:p>
          <a:p>
            <a:pPr lvl="0">
              <a:lnSpc>
                <a:spcPct val="116199"/>
              </a:lnSpc>
            </a:pPr>
            <a:r>
              <a:rPr lang="ko-KR" altLang="en-US" sz="2800" dirty="0" smtClean="0">
                <a:latin typeface="+mj-ea"/>
                <a:ea typeface="+mj-ea"/>
              </a:rPr>
              <a:t>공정 </a:t>
            </a:r>
            <a:r>
              <a:rPr lang="ko-KR" altLang="en-US" sz="2800" dirty="0">
                <a:latin typeface="+mj-ea"/>
                <a:ea typeface="+mj-ea"/>
              </a:rPr>
              <a:t>대상</a:t>
            </a:r>
            <a:r>
              <a:rPr lang="en-US" altLang="ko-KR" sz="2800" dirty="0">
                <a:latin typeface="+mj-ea"/>
                <a:ea typeface="+mj-ea"/>
              </a:rPr>
              <a:t>:</a:t>
            </a:r>
            <a:r>
              <a:rPr lang="ko-KR" altLang="en-US" sz="2800" dirty="0">
                <a:latin typeface="+mj-ea"/>
                <a:ea typeface="+mj-ea"/>
              </a:rPr>
              <a:t> 웨이퍼 위의 </a:t>
            </a:r>
            <a:r>
              <a:rPr lang="en-US" altLang="ko-KR" sz="2800" dirty="0">
                <a:latin typeface="+mj-ea"/>
                <a:ea typeface="+mj-ea"/>
              </a:rPr>
              <a:t>Oxide(</a:t>
            </a:r>
            <a:r>
              <a:rPr lang="ko-KR" altLang="en-US" sz="2800" dirty="0" err="1">
                <a:latin typeface="+mj-ea"/>
                <a:ea typeface="+mj-ea"/>
              </a:rPr>
              <a:t>산화막</a:t>
            </a:r>
            <a:r>
              <a:rPr lang="en-US" altLang="ko-KR" sz="2800" dirty="0">
                <a:latin typeface="+mj-ea"/>
                <a:ea typeface="+mj-ea"/>
              </a:rPr>
              <a:t>) </a:t>
            </a:r>
            <a:r>
              <a:rPr lang="ko-KR" altLang="en-US" sz="2800" dirty="0">
                <a:latin typeface="+mj-ea"/>
                <a:ea typeface="+mj-ea"/>
              </a:rPr>
              <a:t>또는 </a:t>
            </a:r>
            <a:r>
              <a:rPr lang="ko-KR" altLang="en-US" sz="2800" dirty="0" err="1">
                <a:latin typeface="+mj-ea"/>
                <a:ea typeface="+mj-ea"/>
              </a:rPr>
              <a:t>폴리실리콘</a:t>
            </a:r>
            <a:r>
              <a:rPr lang="en-US" altLang="ko-KR" sz="2800" dirty="0">
                <a:latin typeface="+mj-ea"/>
                <a:ea typeface="+mj-ea"/>
              </a:rPr>
              <a:t>(Poly-Si) </a:t>
            </a:r>
            <a:r>
              <a:rPr lang="ko-KR" altLang="en-US" sz="2800" dirty="0">
                <a:latin typeface="+mj-ea"/>
                <a:ea typeface="+mj-ea"/>
              </a:rPr>
              <a:t>게이트 </a:t>
            </a:r>
            <a:r>
              <a:rPr lang="ko-KR" altLang="en-US" sz="2800" dirty="0" err="1">
                <a:latin typeface="+mj-ea"/>
                <a:ea typeface="+mj-ea"/>
              </a:rPr>
              <a:t>식각</a:t>
            </a:r>
            <a:r>
              <a:rPr lang="ko-KR" altLang="en-US" sz="2800" dirty="0">
                <a:latin typeface="+mj-ea"/>
                <a:ea typeface="+mj-ea"/>
              </a:rPr>
              <a:t> </a:t>
            </a:r>
            <a:r>
              <a:rPr lang="ko-KR" altLang="en-US" sz="2800" dirty="0" smtClean="0">
                <a:latin typeface="+mj-ea"/>
                <a:ea typeface="+mj-ea"/>
              </a:rPr>
              <a:t>공정</a:t>
            </a:r>
            <a:endParaRPr lang="en-US" sz="2666" i="0" u="none" strike="noStrike" dirty="0">
              <a:solidFill>
                <a:srgbClr val="323232"/>
              </a:solidFill>
              <a:latin typeface="+mj-ea"/>
              <a:ea typeface="+mj-ea"/>
              <a:cs typeface="Gmarket Sans Medium"/>
            </a:endParaRPr>
          </a:p>
        </p:txBody>
      </p:sp>
      <p:grpSp>
        <p:nvGrpSpPr>
          <p:cNvPr id="12" name="그룹 11"/>
          <p:cNvGrpSpPr/>
          <p:nvPr/>
        </p:nvGrpSpPr>
        <p:grpSpPr>
          <a:xfrm>
            <a:off x="14905718" y="5302250"/>
            <a:ext cx="8108950" cy="508000"/>
            <a:chOff x="12935857" y="12217400"/>
            <a:chExt cx="10452100" cy="508000"/>
          </a:xfrm>
        </p:grpSpPr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4">
              <a:alphaModFix amt="7000"/>
            </a:blip>
            <a:stretch>
              <a:fillRect/>
            </a:stretch>
          </p:blipFill>
          <p:spPr>
            <a:xfrm>
              <a:off x="12935857" y="12217400"/>
              <a:ext cx="10287000" cy="508000"/>
            </a:xfrm>
            <a:prstGeom prst="rect">
              <a:avLst/>
            </a:prstGeom>
          </p:spPr>
        </p:pic>
        <p:sp>
          <p:nvSpPr>
            <p:cNvPr id="10" name="TextBox 10"/>
            <p:cNvSpPr txBox="1"/>
            <p:nvPr/>
          </p:nvSpPr>
          <p:spPr>
            <a:xfrm>
              <a:off x="13088257" y="12270717"/>
              <a:ext cx="10299700" cy="3556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116199"/>
                </a:lnSpc>
              </a:pPr>
              <a:r>
                <a:rPr lang="en-US" altLang="ko-KR" sz="1999" dirty="0" err="1" smtClean="0">
                  <a:solidFill>
                    <a:srgbClr val="595959"/>
                  </a:solidFill>
                  <a:latin typeface="+mj-ea"/>
                  <a:ea typeface="+mj-ea"/>
                  <a:cs typeface="Gmarket Sans Medium"/>
                </a:rPr>
                <a:t>Appliedmaterials</a:t>
              </a:r>
              <a:r>
                <a:rPr lang="en-US" altLang="ko-KR" sz="1999" dirty="0" smtClean="0">
                  <a:solidFill>
                    <a:srgbClr val="595959"/>
                  </a:solidFill>
                  <a:latin typeface="+mj-ea"/>
                  <a:ea typeface="+mj-ea"/>
                  <a:cs typeface="Gmarket Sans Medium"/>
                </a:rPr>
                <a:t>: </a:t>
              </a:r>
              <a:r>
                <a:rPr lang="en-US" altLang="ko-KR" sz="1999" dirty="0" err="1" smtClean="0">
                  <a:solidFill>
                    <a:srgbClr val="595959"/>
                  </a:solidFill>
                  <a:latin typeface="+mj-ea"/>
                  <a:ea typeface="+mj-ea"/>
                  <a:cs typeface="Gmarket Sans Medium"/>
                </a:rPr>
                <a:t>Centris</a:t>
              </a:r>
              <a:r>
                <a:rPr lang="en-US" altLang="ko-KR" sz="1999" dirty="0" smtClean="0">
                  <a:solidFill>
                    <a:srgbClr val="595959"/>
                  </a:solidFill>
                  <a:latin typeface="+mj-ea"/>
                  <a:ea typeface="+mj-ea"/>
                  <a:cs typeface="Gmarket Sans Medium"/>
                </a:rPr>
                <a:t> </a:t>
              </a:r>
              <a:r>
                <a:rPr lang="en-US" altLang="ko-KR" sz="1999" b="0" i="0" u="none" strike="noStrike" dirty="0" smtClean="0">
                  <a:solidFill>
                    <a:srgbClr val="595959"/>
                  </a:solidFill>
                  <a:latin typeface="+mj-ea"/>
                  <a:ea typeface="+mj-ea"/>
                  <a:cs typeface="Gmarket Sans Medium"/>
                </a:rPr>
                <a:t>Sym3 Etch </a:t>
              </a:r>
              <a:r>
                <a:rPr lang="ko-KR" altLang="en-US" sz="1999" b="0" i="0" u="none" strike="noStrike" dirty="0" smtClean="0">
                  <a:solidFill>
                    <a:srgbClr val="595959"/>
                  </a:solidFill>
                  <a:latin typeface="+mj-ea"/>
                  <a:ea typeface="+mj-ea"/>
                  <a:cs typeface="Gmarket Sans Medium"/>
                </a:rPr>
                <a:t>장비</a:t>
              </a:r>
              <a:endParaRPr lang="en-US" sz="1999" b="0" i="0" u="none" strike="noStrike" dirty="0">
                <a:solidFill>
                  <a:srgbClr val="595959"/>
                </a:solidFill>
                <a:latin typeface="+mj-ea"/>
                <a:ea typeface="+mj-ea"/>
                <a:cs typeface="Gmarket Sans Medium"/>
              </a:endParaRP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231900" y="5302250"/>
            <a:ext cx="9982200" cy="67500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endParaRPr lang="en-US" sz="2666" b="0" i="0" u="none" strike="noStrike" dirty="0">
              <a:solidFill>
                <a:srgbClr val="323232"/>
              </a:solidFill>
              <a:latin typeface="+mj-ea"/>
              <a:ea typeface="+mj-ea"/>
              <a:cs typeface="Gmarket Sans Medium"/>
            </a:endParaRPr>
          </a:p>
        </p:txBody>
      </p:sp>
      <p:pic>
        <p:nvPicPr>
          <p:cNvPr id="3074" name="Picture 2" descr="Centris Sym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0232" y="753075"/>
            <a:ext cx="7943850" cy="4633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0" name="표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654443"/>
              </p:ext>
            </p:extLst>
          </p:nvPr>
        </p:nvGraphicFramePr>
        <p:xfrm>
          <a:off x="184150" y="6685463"/>
          <a:ext cx="23971250" cy="6878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4250">
                  <a:extLst>
                    <a:ext uri="{9D8B030D-6E8A-4147-A177-3AD203B41FA5}">
                      <a16:colId xmlns:a16="http://schemas.microsoft.com/office/drawing/2014/main" val="1833534582"/>
                    </a:ext>
                  </a:extLst>
                </a:gridCol>
                <a:gridCol w="4794250">
                  <a:extLst>
                    <a:ext uri="{9D8B030D-6E8A-4147-A177-3AD203B41FA5}">
                      <a16:colId xmlns:a16="http://schemas.microsoft.com/office/drawing/2014/main" val="3412357194"/>
                    </a:ext>
                  </a:extLst>
                </a:gridCol>
                <a:gridCol w="4794250">
                  <a:extLst>
                    <a:ext uri="{9D8B030D-6E8A-4147-A177-3AD203B41FA5}">
                      <a16:colId xmlns:a16="http://schemas.microsoft.com/office/drawing/2014/main" val="334921732"/>
                    </a:ext>
                  </a:extLst>
                </a:gridCol>
                <a:gridCol w="4794250">
                  <a:extLst>
                    <a:ext uri="{9D8B030D-6E8A-4147-A177-3AD203B41FA5}">
                      <a16:colId xmlns:a16="http://schemas.microsoft.com/office/drawing/2014/main" val="2446035970"/>
                    </a:ext>
                  </a:extLst>
                </a:gridCol>
                <a:gridCol w="4794250">
                  <a:extLst>
                    <a:ext uri="{9D8B030D-6E8A-4147-A177-3AD203B41FA5}">
                      <a16:colId xmlns:a16="http://schemas.microsoft.com/office/drawing/2014/main" val="2341105297"/>
                    </a:ext>
                  </a:extLst>
                </a:gridCol>
              </a:tblGrid>
              <a:tr h="529088">
                <a:tc>
                  <a:txBody>
                    <a:bodyPr/>
                    <a:lstStyle/>
                    <a:p>
                      <a:r>
                        <a:rPr lang="ko-KR" altLang="en-US" b="1" dirty="0">
                          <a:effectLst/>
                          <a:latin typeface="Google Sans Text"/>
                        </a:rPr>
                        <a:t>분류</a:t>
                      </a:r>
                      <a:endParaRPr lang="ko-KR" altLang="en-US" dirty="0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 smtClean="0"/>
                        <a:t>파라미터명</a:t>
                      </a:r>
                      <a:r>
                        <a:rPr lang="ko-KR" altLang="en-US" dirty="0" smtClean="0"/>
                        <a:t> </a:t>
                      </a:r>
                      <a:r>
                        <a:rPr lang="en-US" altLang="ko-KR" dirty="0" smtClean="0"/>
                        <a:t>(</a:t>
                      </a:r>
                      <a:r>
                        <a:rPr lang="ko-KR" altLang="en-US" dirty="0" smtClean="0"/>
                        <a:t>센서</a:t>
                      </a:r>
                      <a:r>
                        <a:rPr lang="en-US" altLang="ko-KR" dirty="0" smtClean="0"/>
                        <a:t>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 smtClean="0"/>
                        <a:t>기준값</a:t>
                      </a:r>
                      <a:r>
                        <a:rPr lang="ko-KR" altLang="en-US" dirty="0" smtClean="0"/>
                        <a:t> </a:t>
                      </a:r>
                      <a:r>
                        <a:rPr lang="en-US" altLang="ko-KR" dirty="0" smtClean="0"/>
                        <a:t>(Baseline)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정상 가동 범위 </a:t>
                      </a:r>
                      <a:r>
                        <a:rPr lang="en-US" altLang="ko-KR" dirty="0" smtClean="0"/>
                        <a:t>(Margin)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물리적 의미 및 분석 목적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7690724"/>
                  </a:ext>
                </a:extLst>
              </a:tr>
              <a:tr h="79363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공정 제어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RF Top Power (Source)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800 W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795 ~ 805 W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 smtClean="0"/>
                        <a:t>플라즈마</a:t>
                      </a:r>
                      <a:r>
                        <a:rPr lang="ko-KR" altLang="en-US" dirty="0" smtClean="0"/>
                        <a:t> 밀도 형성 </a:t>
                      </a:r>
                      <a:r>
                        <a:rPr lang="en-US" altLang="ko-KR" dirty="0" smtClean="0"/>
                        <a:t>(</a:t>
                      </a:r>
                      <a:r>
                        <a:rPr lang="ko-KR" altLang="en-US" dirty="0" err="1" smtClean="0"/>
                        <a:t>식각</a:t>
                      </a:r>
                      <a:r>
                        <a:rPr lang="ko-KR" altLang="en-US" dirty="0" smtClean="0"/>
                        <a:t> 속도 제어</a:t>
                      </a:r>
                      <a:r>
                        <a:rPr lang="en-US" altLang="ko-KR" dirty="0" smtClean="0"/>
                        <a:t>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2052650"/>
                  </a:ext>
                </a:extLst>
              </a:tr>
              <a:tr h="79363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공정 제어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RF Bottom Power (Bias)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150 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dirty="0" smtClean="0"/>
                        <a:t>147 ~ 153 W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이온 </a:t>
                      </a:r>
                      <a:r>
                        <a:rPr lang="ko-KR" altLang="en-US" dirty="0" err="1" smtClean="0"/>
                        <a:t>직진성</a:t>
                      </a:r>
                      <a:r>
                        <a:rPr lang="ko-KR" altLang="en-US" dirty="0" smtClean="0"/>
                        <a:t> 부여 </a:t>
                      </a:r>
                      <a:r>
                        <a:rPr lang="en-US" altLang="ko-KR" dirty="0" smtClean="0"/>
                        <a:t>(</a:t>
                      </a:r>
                      <a:r>
                        <a:rPr lang="ko-KR" altLang="en-US" dirty="0" smtClean="0"/>
                        <a:t>비등방성 </a:t>
                      </a:r>
                      <a:r>
                        <a:rPr lang="ko-KR" altLang="en-US" dirty="0" err="1" smtClean="0"/>
                        <a:t>식각</a:t>
                      </a:r>
                      <a:r>
                        <a:rPr lang="ko-KR" altLang="en-US" dirty="0" smtClean="0"/>
                        <a:t> 유도</a:t>
                      </a:r>
                      <a:r>
                        <a:rPr lang="en-US" altLang="ko-KR" dirty="0" smtClean="0"/>
                        <a:t>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2645598"/>
                  </a:ext>
                </a:extLst>
              </a:tr>
              <a:tr h="79363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공정 제어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Chamber Pressure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30 </a:t>
                      </a:r>
                      <a:r>
                        <a:rPr lang="en-US" altLang="ko-KR" dirty="0" err="1" smtClean="0"/>
                        <a:t>mTorr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29.5 ~ 30.5 </a:t>
                      </a:r>
                      <a:r>
                        <a:rPr lang="en-US" altLang="ko-KR" dirty="0" err="1" smtClean="0"/>
                        <a:t>mTorr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 smtClean="0"/>
                        <a:t>챔버</a:t>
                      </a:r>
                      <a:r>
                        <a:rPr lang="ko-KR" altLang="en-US" dirty="0" smtClean="0"/>
                        <a:t> 내 압력 </a:t>
                      </a:r>
                      <a:r>
                        <a:rPr lang="en-US" altLang="ko-KR" dirty="0" smtClean="0"/>
                        <a:t>(</a:t>
                      </a:r>
                      <a:r>
                        <a:rPr lang="ko-KR" altLang="en-US" dirty="0" smtClean="0"/>
                        <a:t>이온 평균자유행정 제어</a:t>
                      </a:r>
                      <a:r>
                        <a:rPr lang="en-US" altLang="ko-KR" dirty="0" smtClean="0"/>
                        <a:t>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1269282"/>
                  </a:ext>
                </a:extLst>
              </a:tr>
              <a:tr h="79363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공정 제어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ESC Temperature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60 °C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59.8 ~ 60.2 °C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 smtClean="0"/>
                        <a:t>정전척</a:t>
                      </a:r>
                      <a:r>
                        <a:rPr lang="ko-KR" altLang="en-US" dirty="0" smtClean="0"/>
                        <a:t> 온도 </a:t>
                      </a:r>
                      <a:r>
                        <a:rPr lang="en-US" altLang="ko-KR" dirty="0" smtClean="0"/>
                        <a:t>(</a:t>
                      </a:r>
                      <a:r>
                        <a:rPr lang="ko-KR" altLang="en-US" dirty="0" smtClean="0"/>
                        <a:t>웨이퍼 냉각 및 과열 방지</a:t>
                      </a:r>
                      <a:r>
                        <a:rPr lang="en-US" altLang="ko-KR" dirty="0" smtClean="0"/>
                        <a:t>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6760268"/>
                  </a:ext>
                </a:extLst>
              </a:tr>
              <a:tr h="79363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공정 제어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Main Gas Flow Rate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200 </a:t>
                      </a:r>
                      <a:r>
                        <a:rPr lang="en-US" altLang="ko-KR" dirty="0" err="1" smtClean="0"/>
                        <a:t>sccm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198 ~ 202 </a:t>
                      </a:r>
                      <a:r>
                        <a:rPr lang="en-US" altLang="ko-KR" dirty="0" err="1" smtClean="0"/>
                        <a:t>sccm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메인 </a:t>
                      </a:r>
                      <a:r>
                        <a:rPr lang="ko-KR" altLang="en-US" dirty="0" err="1" smtClean="0"/>
                        <a:t>식각</a:t>
                      </a:r>
                      <a:r>
                        <a:rPr lang="ko-KR" altLang="en-US" dirty="0" smtClean="0"/>
                        <a:t> 가스 유량 </a:t>
                      </a:r>
                      <a:r>
                        <a:rPr lang="en-US" altLang="ko-KR" dirty="0" smtClean="0"/>
                        <a:t>(</a:t>
                      </a:r>
                      <a:r>
                        <a:rPr lang="en-US" altLang="ko-KR" dirty="0" err="1" smtClean="0"/>
                        <a:t>Ar</a:t>
                      </a:r>
                      <a:r>
                        <a:rPr lang="en-US" altLang="ko-KR" dirty="0" smtClean="0"/>
                        <a:t> / CF₄ </a:t>
                      </a:r>
                      <a:r>
                        <a:rPr lang="ko-KR" altLang="en-US" dirty="0" smtClean="0"/>
                        <a:t>기반</a:t>
                      </a:r>
                      <a:r>
                        <a:rPr lang="en-US" altLang="ko-KR" dirty="0" smtClean="0"/>
                        <a:t>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764931"/>
                  </a:ext>
                </a:extLst>
              </a:tr>
              <a:tr h="79363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계측</a:t>
                      </a:r>
                      <a:r>
                        <a:rPr lang="en-US" altLang="ko-KR" dirty="0" smtClean="0"/>
                        <a:t>/</a:t>
                      </a:r>
                      <a:r>
                        <a:rPr lang="ko-KR" altLang="en-US" dirty="0" err="1" smtClean="0"/>
                        <a:t>알람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OES Baseline Intensity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dirty="0" smtClean="0"/>
                        <a:t>4,500 </a:t>
                      </a:r>
                      <a:r>
                        <a:rPr lang="en-US" altLang="ko-KR" dirty="0" err="1" smtClean="0"/>
                        <a:t>a.u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정상 </a:t>
                      </a:r>
                      <a:r>
                        <a:rPr lang="ko-KR" altLang="en-US" dirty="0" err="1" smtClean="0"/>
                        <a:t>식각</a:t>
                      </a:r>
                      <a:r>
                        <a:rPr lang="ko-KR" altLang="en-US" dirty="0" smtClean="0"/>
                        <a:t> 중 유지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 smtClean="0"/>
                        <a:t>플라즈마</a:t>
                      </a:r>
                      <a:r>
                        <a:rPr lang="ko-KR" altLang="en-US" dirty="0" smtClean="0"/>
                        <a:t> 빛 강도 </a:t>
                      </a:r>
                      <a:r>
                        <a:rPr lang="en-US" altLang="ko-KR" dirty="0" smtClean="0"/>
                        <a:t>(</a:t>
                      </a:r>
                      <a:r>
                        <a:rPr lang="ko-KR" altLang="en-US" dirty="0" smtClean="0"/>
                        <a:t>정상 공정 모니터링</a:t>
                      </a:r>
                      <a:r>
                        <a:rPr lang="en-US" altLang="ko-KR" dirty="0" smtClean="0"/>
                        <a:t>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8871769"/>
                  </a:ext>
                </a:extLst>
              </a:tr>
              <a:tr h="79363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계측</a:t>
                      </a:r>
                      <a:r>
                        <a:rPr lang="en-US" altLang="ko-KR" dirty="0" smtClean="0"/>
                        <a:t>/</a:t>
                      </a:r>
                      <a:r>
                        <a:rPr lang="ko-KR" altLang="en-US" dirty="0" err="1" smtClean="0"/>
                        <a:t>알람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OES EPD Drop Intensity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800 </a:t>
                      </a:r>
                      <a:r>
                        <a:rPr lang="en-US" altLang="ko-KR" dirty="0" err="1" smtClean="0"/>
                        <a:t>a.u</a:t>
                      </a:r>
                      <a:r>
                        <a:rPr lang="en-US" altLang="ko-KR" dirty="0" smtClean="0"/>
                        <a:t>.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 smtClean="0"/>
                        <a:t>식각</a:t>
                      </a:r>
                      <a:r>
                        <a:rPr lang="ko-KR" altLang="en-US" dirty="0" smtClean="0"/>
                        <a:t> 완료 시 급감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하부 박막 노출 시점 포착 </a:t>
                      </a:r>
                      <a:r>
                        <a:rPr lang="en-US" altLang="ko-KR" dirty="0" smtClean="0"/>
                        <a:t>(EPD </a:t>
                      </a:r>
                      <a:r>
                        <a:rPr lang="ko-KR" altLang="en-US" dirty="0" err="1" smtClean="0"/>
                        <a:t>알람</a:t>
                      </a:r>
                      <a:r>
                        <a:rPr lang="en-US" altLang="ko-KR" dirty="0" smtClean="0"/>
                        <a:t>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5688644"/>
                  </a:ext>
                </a:extLst>
              </a:tr>
              <a:tr h="79363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계측</a:t>
                      </a:r>
                      <a:r>
                        <a:rPr lang="en-US" altLang="ko-KR" dirty="0" smtClean="0"/>
                        <a:t>/</a:t>
                      </a:r>
                      <a:r>
                        <a:rPr lang="ko-KR" altLang="en-US" dirty="0" err="1" smtClean="0"/>
                        <a:t>알람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Target Etch Rate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dirty="0" smtClean="0"/>
                        <a:t>5 nm/sec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dirty="0" smtClean="0"/>
                        <a:t>60</a:t>
                      </a:r>
                      <a:r>
                        <a:rPr lang="ko-KR" altLang="en-US" dirty="0" smtClean="0"/>
                        <a:t>초 공정 기준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가상 계측</a:t>
                      </a:r>
                      <a:r>
                        <a:rPr lang="en-US" altLang="ko-KR" dirty="0" smtClean="0"/>
                        <a:t>(VM) </a:t>
                      </a:r>
                      <a:r>
                        <a:rPr lang="ko-KR" altLang="en-US" dirty="0" smtClean="0"/>
                        <a:t>모델의 예측 타겟 변수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42376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3577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254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3190200" y="355600"/>
            <a:ext cx="774700" cy="5207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r">
              <a:lnSpc>
                <a:spcPct val="95449"/>
              </a:lnSpc>
            </a:pPr>
            <a:r>
              <a:rPr lang="en-US" altLang="ko-KR" sz="2133" b="0" i="0" u="none" strike="noStrike" dirty="0" smtClean="0">
                <a:solidFill>
                  <a:srgbClr val="001CA0"/>
                </a:solidFill>
                <a:latin typeface="Anek Bangla Expanded SemiBold"/>
                <a:ea typeface="Anek Bangla Expanded SemiBold"/>
                <a:cs typeface="Anek Bangla Expanded SemiBold"/>
              </a:rPr>
              <a:t>6</a:t>
            </a:r>
            <a:endParaRPr lang="en-US" sz="2133" b="0" i="0" u="none" strike="noStrike" dirty="0">
              <a:solidFill>
                <a:srgbClr val="001CA0"/>
              </a:solidFill>
              <a:latin typeface="Anek Bangla Expanded SemiBold"/>
              <a:ea typeface="Anek Bangla Expanded SemiBold"/>
              <a:cs typeface="Anek Bangla Expanded Semi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295400" y="2616200"/>
            <a:ext cx="11963400" cy="1308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ko-KR" altLang="en-US" sz="7333" dirty="0">
                <a:solidFill>
                  <a:srgbClr val="091C78"/>
                </a:solidFill>
                <a:latin typeface="+mj-ea"/>
                <a:ea typeface="+mj-ea"/>
                <a:cs typeface="Gmarket Sans Bold"/>
              </a:rPr>
              <a:t>데이터 시뮬레이션 시나리오</a:t>
            </a:r>
            <a:endParaRPr lang="en-US" altLang="ko-KR" sz="7333" dirty="0">
              <a:solidFill>
                <a:srgbClr val="091C78"/>
              </a:solidFill>
              <a:latin typeface="+mj-ea"/>
              <a:ea typeface="+mj-ea"/>
              <a:cs typeface="Gmarket Sans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295400" y="5029200"/>
            <a:ext cx="18592800" cy="563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r>
              <a:rPr lang="en-US" altLang="ko-KR" sz="2800" b="1" dirty="0">
                <a:latin typeface="+mj-ea"/>
                <a:ea typeface="+mj-ea"/>
              </a:rPr>
              <a:t>1. </a:t>
            </a:r>
            <a:r>
              <a:rPr lang="ko-KR" altLang="en-US" sz="2800" b="1" dirty="0">
                <a:latin typeface="+mj-ea"/>
                <a:ea typeface="+mj-ea"/>
              </a:rPr>
              <a:t>시스템 구축 아키텍처 </a:t>
            </a:r>
            <a:r>
              <a:rPr lang="en-US" altLang="ko-KR" sz="2800" b="1" dirty="0">
                <a:latin typeface="+mj-ea"/>
                <a:ea typeface="+mj-ea"/>
              </a:rPr>
              <a:t>(Python </a:t>
            </a:r>
            <a:r>
              <a:rPr lang="ko-KR" altLang="en-US" sz="2800" b="1" dirty="0">
                <a:latin typeface="+mj-ea"/>
                <a:ea typeface="+mj-ea"/>
              </a:rPr>
              <a:t>기반</a:t>
            </a:r>
            <a:r>
              <a:rPr lang="en-US" altLang="ko-KR" sz="2800" b="1" dirty="0">
                <a:latin typeface="+mj-ea"/>
                <a:ea typeface="+mj-ea"/>
              </a:rPr>
              <a:t>)</a:t>
            </a:r>
            <a:endParaRPr lang="ko-KR" altLang="en-US" sz="2800" dirty="0">
              <a:latin typeface="+mj-ea"/>
              <a:ea typeface="+mj-ea"/>
            </a:endParaRPr>
          </a:p>
          <a:p>
            <a:r>
              <a:rPr lang="en-US" altLang="ko-KR" sz="2800" b="1" dirty="0">
                <a:latin typeface="+mj-ea"/>
                <a:ea typeface="+mj-ea"/>
              </a:rPr>
              <a:t>Data Layer</a:t>
            </a:r>
            <a:r>
              <a:rPr lang="ko-KR" altLang="en-US" sz="2800" dirty="0">
                <a:latin typeface="+mj-ea"/>
                <a:ea typeface="+mj-ea"/>
              </a:rPr>
              <a:t> </a:t>
            </a:r>
            <a:r>
              <a:rPr lang="en-US" altLang="ko-KR" sz="2800" dirty="0">
                <a:latin typeface="+mj-ea"/>
                <a:ea typeface="+mj-ea"/>
              </a:rPr>
              <a:t>: </a:t>
            </a:r>
            <a:r>
              <a:rPr lang="en-US" altLang="ko-KR" sz="2800" dirty="0" err="1">
                <a:latin typeface="+mj-ea"/>
                <a:ea typeface="+mj-ea"/>
              </a:rPr>
              <a:t>Numpy</a:t>
            </a:r>
            <a:r>
              <a:rPr lang="en-US" altLang="ko-KR" sz="2800" dirty="0">
                <a:latin typeface="+mj-ea"/>
                <a:ea typeface="+mj-ea"/>
              </a:rPr>
              <a:t> / Pandas </a:t>
            </a:r>
            <a:r>
              <a:rPr lang="ko-KR" altLang="en-US" sz="2800" dirty="0">
                <a:latin typeface="+mj-ea"/>
                <a:ea typeface="+mj-ea"/>
              </a:rPr>
              <a:t>활용 반도체 센서 데이터 시뮬레이션 수행 </a:t>
            </a:r>
          </a:p>
          <a:p>
            <a:r>
              <a:rPr lang="en-US" altLang="ko-KR" sz="2800" b="1" dirty="0">
                <a:latin typeface="+mj-ea"/>
                <a:ea typeface="+mj-ea"/>
              </a:rPr>
              <a:t>Logic Layer</a:t>
            </a:r>
            <a:r>
              <a:rPr lang="ko-KR" altLang="en-US" sz="2800" dirty="0">
                <a:latin typeface="+mj-ea"/>
                <a:ea typeface="+mj-ea"/>
              </a:rPr>
              <a:t> </a:t>
            </a:r>
            <a:r>
              <a:rPr lang="en-US" altLang="ko-KR" sz="2800" dirty="0">
                <a:latin typeface="+mj-ea"/>
                <a:ea typeface="+mj-ea"/>
              </a:rPr>
              <a:t>: </a:t>
            </a:r>
            <a:r>
              <a:rPr lang="en-US" altLang="ko-KR" sz="2800" dirty="0" err="1">
                <a:latin typeface="+mj-ea"/>
                <a:ea typeface="+mj-ea"/>
              </a:rPr>
              <a:t>Scikit</a:t>
            </a:r>
            <a:r>
              <a:rPr lang="en-US" altLang="ko-KR" sz="2800" dirty="0">
                <a:latin typeface="+mj-ea"/>
                <a:ea typeface="+mj-ea"/>
              </a:rPr>
              <a:t>-learn </a:t>
            </a:r>
            <a:r>
              <a:rPr lang="ko-KR" altLang="en-US" sz="2800" dirty="0">
                <a:latin typeface="+mj-ea"/>
                <a:ea typeface="+mj-ea"/>
              </a:rPr>
              <a:t>라이브러리 기반의 데이터 전처리 및 </a:t>
            </a:r>
            <a:r>
              <a:rPr lang="en-US" altLang="ko-KR" sz="2800" dirty="0">
                <a:latin typeface="+mj-ea"/>
                <a:ea typeface="+mj-ea"/>
              </a:rPr>
              <a:t>ML </a:t>
            </a:r>
            <a:r>
              <a:rPr lang="ko-KR" altLang="en-US" sz="2800" dirty="0">
                <a:latin typeface="+mj-ea"/>
                <a:ea typeface="+mj-ea"/>
              </a:rPr>
              <a:t>모델링 </a:t>
            </a:r>
          </a:p>
          <a:p>
            <a:r>
              <a:rPr lang="en-US" altLang="ko-KR" sz="2800" b="1" dirty="0">
                <a:latin typeface="+mj-ea"/>
                <a:ea typeface="+mj-ea"/>
              </a:rPr>
              <a:t>Presentation Layer</a:t>
            </a:r>
            <a:r>
              <a:rPr lang="ko-KR" altLang="en-US" sz="2800" dirty="0">
                <a:latin typeface="+mj-ea"/>
                <a:ea typeface="+mj-ea"/>
              </a:rPr>
              <a:t> </a:t>
            </a:r>
            <a:r>
              <a:rPr lang="en-US" altLang="ko-KR" sz="2800" dirty="0">
                <a:latin typeface="+mj-ea"/>
                <a:ea typeface="+mj-ea"/>
              </a:rPr>
              <a:t>: </a:t>
            </a:r>
            <a:r>
              <a:rPr lang="en-US" altLang="ko-KR" sz="2800" dirty="0" err="1">
                <a:latin typeface="+mj-ea"/>
                <a:ea typeface="+mj-ea"/>
              </a:rPr>
              <a:t>Streamlit</a:t>
            </a:r>
            <a:r>
              <a:rPr lang="en-US" altLang="ko-KR" sz="2800" dirty="0">
                <a:latin typeface="+mj-ea"/>
                <a:ea typeface="+mj-ea"/>
              </a:rPr>
              <a:t> </a:t>
            </a:r>
            <a:r>
              <a:rPr lang="ko-KR" altLang="en-US" sz="2800" dirty="0">
                <a:latin typeface="+mj-ea"/>
                <a:ea typeface="+mj-ea"/>
              </a:rPr>
              <a:t>웹 프레임워크를 활용한 실시간 대시보드 시각화 </a:t>
            </a:r>
            <a:endParaRPr lang="en-US" altLang="ko-KR" sz="2800" dirty="0">
              <a:latin typeface="+mj-ea"/>
              <a:ea typeface="+mj-ea"/>
            </a:endParaRPr>
          </a:p>
          <a:p>
            <a:endParaRPr lang="ko-KR" altLang="en-US" sz="2800" dirty="0">
              <a:latin typeface="+mj-ea"/>
              <a:ea typeface="+mj-ea"/>
            </a:endParaRPr>
          </a:p>
          <a:p>
            <a:r>
              <a:rPr lang="en-US" altLang="ko-KR" sz="2800" b="1" dirty="0">
                <a:latin typeface="+mj-ea"/>
                <a:ea typeface="+mj-ea"/>
              </a:rPr>
              <a:t>2. 10,000</a:t>
            </a:r>
            <a:r>
              <a:rPr lang="ko-KR" altLang="en-US" sz="2800" b="1" dirty="0">
                <a:latin typeface="+mj-ea"/>
                <a:ea typeface="+mj-ea"/>
              </a:rPr>
              <a:t>개 </a:t>
            </a:r>
            <a:r>
              <a:rPr lang="ko-KR" altLang="en-US" sz="2800" b="1" dirty="0" err="1">
                <a:latin typeface="+mj-ea"/>
                <a:ea typeface="+mj-ea"/>
              </a:rPr>
              <a:t>시계열</a:t>
            </a:r>
            <a:r>
              <a:rPr lang="ko-KR" altLang="en-US" sz="2800" b="1" dirty="0">
                <a:latin typeface="+mj-ea"/>
                <a:ea typeface="+mj-ea"/>
              </a:rPr>
              <a:t> 데이터 시나리오 모델링</a:t>
            </a:r>
            <a:endParaRPr lang="ko-KR" altLang="en-US" sz="2800" dirty="0">
              <a:latin typeface="+mj-ea"/>
              <a:ea typeface="+mj-ea"/>
            </a:endParaRPr>
          </a:p>
          <a:p>
            <a:r>
              <a:rPr lang="en-US" altLang="ko-KR" sz="2800" b="1" dirty="0">
                <a:latin typeface="+mj-ea"/>
                <a:ea typeface="+mj-ea"/>
              </a:rPr>
              <a:t>0 ~ 6,000 Step (</a:t>
            </a:r>
            <a:r>
              <a:rPr lang="ko-KR" altLang="en-US" sz="2800" b="1" dirty="0">
                <a:latin typeface="+mj-ea"/>
                <a:ea typeface="+mj-ea"/>
              </a:rPr>
              <a:t>정상 공정</a:t>
            </a:r>
            <a:r>
              <a:rPr lang="en-US" altLang="ko-KR" sz="2800" b="1" dirty="0">
                <a:latin typeface="+mj-ea"/>
                <a:ea typeface="+mj-ea"/>
              </a:rPr>
              <a:t>)</a:t>
            </a:r>
            <a:r>
              <a:rPr lang="ko-KR" altLang="en-US" sz="2800" dirty="0">
                <a:latin typeface="+mj-ea"/>
                <a:ea typeface="+mj-ea"/>
              </a:rPr>
              <a:t> </a:t>
            </a:r>
            <a:r>
              <a:rPr lang="en-US" altLang="ko-KR" sz="2800" dirty="0">
                <a:latin typeface="+mj-ea"/>
                <a:ea typeface="+mj-ea"/>
              </a:rPr>
              <a:t>: </a:t>
            </a:r>
            <a:r>
              <a:rPr lang="ko-KR" altLang="en-US" sz="2800" dirty="0">
                <a:latin typeface="+mj-ea"/>
                <a:ea typeface="+mj-ea"/>
              </a:rPr>
              <a:t>장비 정상 작동 범위의 센서 데이터 출력 </a:t>
            </a:r>
            <a:r>
              <a:rPr lang="en-US" altLang="ko-KR" sz="2800" dirty="0">
                <a:latin typeface="+mj-ea"/>
                <a:ea typeface="+mj-ea"/>
              </a:rPr>
              <a:t>(</a:t>
            </a:r>
            <a:r>
              <a:rPr lang="ko-KR" altLang="en-US" sz="2800" dirty="0" err="1">
                <a:latin typeface="+mj-ea"/>
                <a:ea typeface="+mj-ea"/>
              </a:rPr>
              <a:t>가우시안</a:t>
            </a:r>
            <a:r>
              <a:rPr lang="ko-KR" altLang="en-US" sz="2800" dirty="0">
                <a:latin typeface="+mj-ea"/>
                <a:ea typeface="+mj-ea"/>
              </a:rPr>
              <a:t> 노이즈 포함</a:t>
            </a:r>
            <a:r>
              <a:rPr lang="en-US" altLang="ko-KR" sz="2800" dirty="0">
                <a:latin typeface="+mj-ea"/>
                <a:ea typeface="+mj-ea"/>
              </a:rPr>
              <a:t>) </a:t>
            </a:r>
          </a:p>
          <a:p>
            <a:r>
              <a:rPr lang="en-US" altLang="ko-KR" sz="2800" b="1" dirty="0">
                <a:latin typeface="+mj-ea"/>
                <a:ea typeface="+mj-ea"/>
              </a:rPr>
              <a:t>6,001 ~ 8,000 Step (</a:t>
            </a:r>
            <a:r>
              <a:rPr lang="ko-KR" altLang="en-US" sz="2800" b="1" dirty="0">
                <a:latin typeface="+mj-ea"/>
                <a:ea typeface="+mj-ea"/>
              </a:rPr>
              <a:t>장비 이상</a:t>
            </a:r>
            <a:r>
              <a:rPr lang="en-US" altLang="ko-KR" sz="2800" b="1" dirty="0">
                <a:latin typeface="+mj-ea"/>
                <a:ea typeface="+mj-ea"/>
              </a:rPr>
              <a:t>)</a:t>
            </a:r>
            <a:r>
              <a:rPr lang="ko-KR" altLang="en-US" sz="2800" dirty="0">
                <a:latin typeface="+mj-ea"/>
                <a:ea typeface="+mj-ea"/>
              </a:rPr>
              <a:t> </a:t>
            </a:r>
            <a:r>
              <a:rPr lang="en-US" altLang="ko-KR" sz="2800" dirty="0">
                <a:latin typeface="+mj-ea"/>
                <a:ea typeface="+mj-ea"/>
              </a:rPr>
              <a:t>: </a:t>
            </a:r>
            <a:r>
              <a:rPr lang="ko-KR" altLang="en-US" sz="2800" dirty="0">
                <a:latin typeface="+mj-ea"/>
                <a:ea typeface="+mj-ea"/>
              </a:rPr>
              <a:t>가스 밸브 미세 막힘 결함 주입 </a:t>
            </a:r>
            <a:r>
              <a:rPr lang="en-US" altLang="ko-KR" sz="2800" dirty="0">
                <a:latin typeface="+mj-ea"/>
                <a:ea typeface="+mj-ea"/>
              </a:rPr>
              <a:t>(</a:t>
            </a:r>
            <a:r>
              <a:rPr lang="ko-KR" altLang="en-US" sz="2800" dirty="0">
                <a:latin typeface="+mj-ea"/>
                <a:ea typeface="+mj-ea"/>
              </a:rPr>
              <a:t>유량 및 압력의 점진적 하락 변동 패턴</a:t>
            </a:r>
            <a:r>
              <a:rPr lang="en-US" altLang="ko-KR" sz="2800" dirty="0">
                <a:latin typeface="+mj-ea"/>
                <a:ea typeface="+mj-ea"/>
              </a:rPr>
              <a:t>) </a:t>
            </a:r>
          </a:p>
          <a:p>
            <a:r>
              <a:rPr lang="en-US" altLang="ko-KR" sz="2800" b="1" dirty="0">
                <a:latin typeface="+mj-ea"/>
                <a:ea typeface="+mj-ea"/>
              </a:rPr>
              <a:t>8,001 ~ 10,000 Step (</a:t>
            </a:r>
            <a:r>
              <a:rPr lang="ko-KR" altLang="en-US" sz="2800" b="1" dirty="0">
                <a:latin typeface="+mj-ea"/>
                <a:ea typeface="+mj-ea"/>
              </a:rPr>
              <a:t>공정 완료</a:t>
            </a:r>
            <a:r>
              <a:rPr lang="en-US" altLang="ko-KR" sz="2800" b="1" dirty="0">
                <a:latin typeface="+mj-ea"/>
                <a:ea typeface="+mj-ea"/>
              </a:rPr>
              <a:t>)</a:t>
            </a:r>
            <a:r>
              <a:rPr lang="ko-KR" altLang="en-US" sz="2800" dirty="0">
                <a:latin typeface="+mj-ea"/>
                <a:ea typeface="+mj-ea"/>
              </a:rPr>
              <a:t> </a:t>
            </a:r>
            <a:r>
              <a:rPr lang="en-US" altLang="ko-KR" sz="2800" dirty="0">
                <a:latin typeface="+mj-ea"/>
                <a:ea typeface="+mj-ea"/>
              </a:rPr>
              <a:t>: Target </a:t>
            </a:r>
            <a:r>
              <a:rPr lang="ko-KR" altLang="en-US" sz="2800" dirty="0">
                <a:latin typeface="+mj-ea"/>
                <a:ea typeface="+mj-ea"/>
              </a:rPr>
              <a:t>박막 제거 완료에 따른 </a:t>
            </a:r>
            <a:r>
              <a:rPr lang="en-US" altLang="ko-KR" sz="2800" dirty="0">
                <a:latin typeface="+mj-ea"/>
                <a:ea typeface="+mj-ea"/>
              </a:rPr>
              <a:t>OES </a:t>
            </a:r>
            <a:r>
              <a:rPr lang="ko-KR" altLang="en-US" sz="2800" dirty="0">
                <a:latin typeface="+mj-ea"/>
                <a:ea typeface="+mj-ea"/>
              </a:rPr>
              <a:t>파장 강도의 급격한 감소 </a:t>
            </a:r>
            <a:r>
              <a:rPr lang="en-US" altLang="ko-KR" sz="2800" dirty="0">
                <a:latin typeface="+mj-ea"/>
                <a:ea typeface="+mj-ea"/>
              </a:rPr>
              <a:t>(S-Curve </a:t>
            </a:r>
            <a:r>
              <a:rPr lang="ko-KR" altLang="en-US" sz="2800" dirty="0">
                <a:latin typeface="+mj-ea"/>
                <a:ea typeface="+mj-ea"/>
              </a:rPr>
              <a:t>형태</a:t>
            </a:r>
            <a:r>
              <a:rPr lang="en-US" altLang="ko-KR" sz="2800" dirty="0">
                <a:latin typeface="+mj-ea"/>
                <a:ea typeface="+mj-ea"/>
              </a:rPr>
              <a:t>)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31900" y="5302250"/>
            <a:ext cx="9982200" cy="67500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endParaRPr lang="en-US" sz="2666" b="0" i="0" u="none" strike="noStrike" dirty="0">
              <a:solidFill>
                <a:srgbClr val="323232"/>
              </a:solidFill>
              <a:latin typeface="+mj-ea"/>
              <a:ea typeface="+mj-ea"/>
              <a:cs typeface="Gmarket Sans Medium"/>
            </a:endParaRPr>
          </a:p>
        </p:txBody>
      </p:sp>
    </p:spTree>
    <p:extLst>
      <p:ext uri="{BB962C8B-B14F-4D97-AF65-F5344CB8AC3E}">
        <p14:creationId xmlns:p14="http://schemas.microsoft.com/office/powerpoint/2010/main" val="2089662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254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3190200" y="355600"/>
            <a:ext cx="774700" cy="5207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r">
              <a:lnSpc>
                <a:spcPct val="95449"/>
              </a:lnSpc>
            </a:pPr>
            <a:r>
              <a:rPr lang="en-US" altLang="ko-KR" sz="2133" b="0" i="0" u="none" strike="noStrike" dirty="0" smtClean="0">
                <a:solidFill>
                  <a:srgbClr val="001CA0"/>
                </a:solidFill>
                <a:latin typeface="Anek Bangla Expanded SemiBold"/>
                <a:ea typeface="Anek Bangla Expanded SemiBold"/>
                <a:cs typeface="Anek Bangla Expanded SemiBold"/>
              </a:rPr>
              <a:t>7</a:t>
            </a:r>
            <a:endParaRPr lang="en-US" sz="2133" b="0" i="0" u="none" strike="noStrike" dirty="0">
              <a:solidFill>
                <a:srgbClr val="001CA0"/>
              </a:solidFill>
              <a:latin typeface="Anek Bangla Expanded SemiBold"/>
              <a:ea typeface="Anek Bangla Expanded SemiBold"/>
              <a:cs typeface="Anek Bangla Expanded Semi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295400" y="2616200"/>
            <a:ext cx="11963400" cy="1308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7333" b="0" i="0" u="none" strike="noStrike" dirty="0" err="1" smtClean="0">
                <a:solidFill>
                  <a:srgbClr val="091C78"/>
                </a:solidFill>
                <a:latin typeface="+mj-ea"/>
                <a:ea typeface="+mj-ea"/>
                <a:cs typeface="Gmarket Sans Bold"/>
              </a:rPr>
              <a:t>핵심데이터</a:t>
            </a:r>
            <a:r>
              <a:rPr lang="ko-KR" altLang="en-US" sz="7333" b="0" i="0" u="none" strike="noStrike" dirty="0" smtClean="0">
                <a:solidFill>
                  <a:srgbClr val="091C78"/>
                </a:solidFill>
                <a:latin typeface="+mj-ea"/>
                <a:ea typeface="+mj-ea"/>
                <a:cs typeface="Gmarket Sans Bold"/>
              </a:rPr>
              <a:t> 분석 알고리즘</a:t>
            </a:r>
            <a:endParaRPr lang="en-US" sz="7333" b="0" i="0" u="none" strike="noStrike" dirty="0">
              <a:solidFill>
                <a:srgbClr val="091C78"/>
              </a:solidFill>
              <a:latin typeface="+mj-ea"/>
              <a:ea typeface="+mj-ea"/>
              <a:cs typeface="Gmarket Sans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295400" y="5029200"/>
            <a:ext cx="18592800" cy="563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r>
              <a:rPr lang="en-US" altLang="ko-KR" sz="2800" b="1" dirty="0">
                <a:latin typeface="+mj-ea"/>
                <a:ea typeface="+mj-ea"/>
              </a:rPr>
              <a:t>1. </a:t>
            </a:r>
            <a:r>
              <a:rPr lang="ko-KR" altLang="en-US" sz="2800" b="1" dirty="0">
                <a:latin typeface="+mj-ea"/>
                <a:ea typeface="+mj-ea"/>
              </a:rPr>
              <a:t>공정 종점 검출 </a:t>
            </a:r>
            <a:r>
              <a:rPr lang="en-US" altLang="ko-KR" sz="2800" b="1" dirty="0">
                <a:latin typeface="+mj-ea"/>
                <a:ea typeface="+mj-ea"/>
              </a:rPr>
              <a:t>(EPD, End Point Detection)</a:t>
            </a:r>
            <a:endParaRPr lang="ko-KR" altLang="en-US" sz="2800" dirty="0">
              <a:latin typeface="+mj-ea"/>
              <a:ea typeface="+mj-ea"/>
            </a:endParaRPr>
          </a:p>
          <a:p>
            <a:r>
              <a:rPr lang="en-US" altLang="ko-KR" sz="2800" dirty="0">
                <a:latin typeface="+mj-ea"/>
                <a:ea typeface="+mj-ea"/>
              </a:rPr>
              <a:t>OES(</a:t>
            </a:r>
            <a:r>
              <a:rPr lang="ko-KR" altLang="en-US" sz="2800" dirty="0" err="1">
                <a:latin typeface="+mj-ea"/>
                <a:ea typeface="+mj-ea"/>
              </a:rPr>
              <a:t>광방출분광</a:t>
            </a:r>
            <a:r>
              <a:rPr lang="en-US" altLang="ko-KR" sz="2800" dirty="0">
                <a:latin typeface="+mj-ea"/>
                <a:ea typeface="+mj-ea"/>
              </a:rPr>
              <a:t>) </a:t>
            </a:r>
            <a:r>
              <a:rPr lang="ko-KR" altLang="en-US" sz="2800" dirty="0">
                <a:latin typeface="+mj-ea"/>
                <a:ea typeface="+mj-ea"/>
              </a:rPr>
              <a:t>데이터의 </a:t>
            </a:r>
            <a:r>
              <a:rPr lang="en-US" altLang="ko-KR" sz="2800" dirty="0">
                <a:latin typeface="+mj-ea"/>
                <a:ea typeface="+mj-ea"/>
              </a:rPr>
              <a:t>1</a:t>
            </a:r>
            <a:r>
              <a:rPr lang="ko-KR" altLang="en-US" sz="2800" dirty="0">
                <a:latin typeface="+mj-ea"/>
                <a:ea typeface="+mj-ea"/>
              </a:rPr>
              <a:t>차</a:t>
            </a:r>
            <a:r>
              <a:rPr lang="en-US" altLang="ko-KR" sz="2800" dirty="0">
                <a:latin typeface="+mj-ea"/>
                <a:ea typeface="+mj-ea"/>
              </a:rPr>
              <a:t>/2</a:t>
            </a:r>
            <a:r>
              <a:rPr lang="ko-KR" altLang="en-US" sz="2800" dirty="0">
                <a:latin typeface="+mj-ea"/>
                <a:ea typeface="+mj-ea"/>
              </a:rPr>
              <a:t>차 </a:t>
            </a:r>
            <a:r>
              <a:rPr lang="ko-KR" altLang="en-US" sz="2800" dirty="0" err="1">
                <a:latin typeface="+mj-ea"/>
                <a:ea typeface="+mj-ea"/>
              </a:rPr>
              <a:t>미분값</a:t>
            </a:r>
            <a:r>
              <a:rPr lang="ko-KR" altLang="en-US" sz="2800" dirty="0">
                <a:latin typeface="+mj-ea"/>
                <a:ea typeface="+mj-ea"/>
              </a:rPr>
              <a:t> 변곡점을 실시간 계산 </a:t>
            </a:r>
          </a:p>
          <a:p>
            <a:r>
              <a:rPr lang="ko-KR" altLang="en-US" sz="2800" dirty="0">
                <a:latin typeface="+mj-ea"/>
                <a:ea typeface="+mj-ea"/>
              </a:rPr>
              <a:t>하부 박막이 드러나는 정확한 시점을 포착하여 자동 </a:t>
            </a:r>
            <a:r>
              <a:rPr lang="ko-KR" altLang="en-US" sz="2800" dirty="0" err="1">
                <a:latin typeface="+mj-ea"/>
                <a:ea typeface="+mj-ea"/>
              </a:rPr>
              <a:t>챔버</a:t>
            </a:r>
            <a:r>
              <a:rPr lang="ko-KR" altLang="en-US" sz="2800" dirty="0">
                <a:latin typeface="+mj-ea"/>
                <a:ea typeface="+mj-ea"/>
              </a:rPr>
              <a:t> 가동 중단</a:t>
            </a:r>
            <a:r>
              <a:rPr lang="en-US" altLang="ko-KR" sz="2800" dirty="0">
                <a:latin typeface="+mj-ea"/>
                <a:ea typeface="+mj-ea"/>
              </a:rPr>
              <a:t>(Shutdown) </a:t>
            </a:r>
            <a:r>
              <a:rPr lang="ko-KR" altLang="en-US" sz="2800" dirty="0" err="1">
                <a:latin typeface="+mj-ea"/>
                <a:ea typeface="+mj-ea"/>
              </a:rPr>
              <a:t>알람</a:t>
            </a:r>
            <a:r>
              <a:rPr lang="ko-KR" altLang="en-US" sz="2800" dirty="0">
                <a:latin typeface="+mj-ea"/>
                <a:ea typeface="+mj-ea"/>
              </a:rPr>
              <a:t> 구현 </a:t>
            </a:r>
            <a:endParaRPr lang="en-US" altLang="ko-KR" sz="2800" dirty="0" smtClean="0">
              <a:latin typeface="+mj-ea"/>
              <a:ea typeface="+mj-ea"/>
            </a:endParaRPr>
          </a:p>
          <a:p>
            <a:endParaRPr lang="ko-KR" altLang="en-US" sz="2800" dirty="0">
              <a:latin typeface="+mj-ea"/>
              <a:ea typeface="+mj-ea"/>
            </a:endParaRPr>
          </a:p>
          <a:p>
            <a:r>
              <a:rPr lang="en-US" altLang="ko-KR" sz="2800" b="1" dirty="0">
                <a:latin typeface="+mj-ea"/>
                <a:ea typeface="+mj-ea"/>
              </a:rPr>
              <a:t>2. </a:t>
            </a:r>
            <a:r>
              <a:rPr lang="ko-KR" altLang="en-US" sz="2800" b="1" dirty="0">
                <a:latin typeface="+mj-ea"/>
                <a:ea typeface="+mj-ea"/>
              </a:rPr>
              <a:t>가상 계측 </a:t>
            </a:r>
            <a:r>
              <a:rPr lang="en-US" altLang="ko-KR" sz="2800" b="1" dirty="0">
                <a:latin typeface="+mj-ea"/>
                <a:ea typeface="+mj-ea"/>
              </a:rPr>
              <a:t>(VM, Virtual Metrology)</a:t>
            </a:r>
            <a:endParaRPr lang="ko-KR" altLang="en-US" sz="2800" dirty="0">
              <a:latin typeface="+mj-ea"/>
              <a:ea typeface="+mj-ea"/>
            </a:endParaRPr>
          </a:p>
          <a:p>
            <a:r>
              <a:rPr lang="ko-KR" altLang="en-US" sz="2800" dirty="0">
                <a:latin typeface="+mj-ea"/>
                <a:ea typeface="+mj-ea"/>
              </a:rPr>
              <a:t>물리적 두께 측정 장비 없이</a:t>
            </a:r>
            <a:r>
              <a:rPr lang="en-US" altLang="ko-KR" sz="2800" dirty="0">
                <a:latin typeface="+mj-ea"/>
                <a:ea typeface="+mj-ea"/>
              </a:rPr>
              <a:t>, </a:t>
            </a:r>
            <a:r>
              <a:rPr lang="ko-KR" altLang="en-US" sz="2800" dirty="0">
                <a:latin typeface="+mj-ea"/>
                <a:ea typeface="+mj-ea"/>
              </a:rPr>
              <a:t>공정 센서 </a:t>
            </a:r>
            <a:r>
              <a:rPr lang="ko-KR" altLang="en-US" sz="2800" dirty="0" err="1">
                <a:latin typeface="+mj-ea"/>
                <a:ea typeface="+mj-ea"/>
              </a:rPr>
              <a:t>파라미터</a:t>
            </a:r>
            <a:r>
              <a:rPr lang="en-US" altLang="ko-KR" sz="2800" dirty="0">
                <a:latin typeface="+mj-ea"/>
                <a:ea typeface="+mj-ea"/>
              </a:rPr>
              <a:t>(X) </a:t>
            </a:r>
            <a:r>
              <a:rPr lang="ko-KR" altLang="en-US" sz="2800" dirty="0">
                <a:latin typeface="+mj-ea"/>
                <a:ea typeface="+mj-ea"/>
              </a:rPr>
              <a:t>데이터 활용 </a:t>
            </a:r>
          </a:p>
          <a:p>
            <a:r>
              <a:rPr lang="ko-KR" altLang="en-US" sz="2800" dirty="0" err="1">
                <a:latin typeface="+mj-ea"/>
                <a:ea typeface="+mj-ea"/>
              </a:rPr>
              <a:t>머신러닝</a:t>
            </a:r>
            <a:r>
              <a:rPr lang="en-US" altLang="ko-KR" sz="2800" dirty="0">
                <a:latin typeface="+mj-ea"/>
                <a:ea typeface="+mj-ea"/>
              </a:rPr>
              <a:t>(ML) </a:t>
            </a:r>
            <a:r>
              <a:rPr lang="ko-KR" altLang="en-US" sz="2800" dirty="0">
                <a:latin typeface="+mj-ea"/>
                <a:ea typeface="+mj-ea"/>
              </a:rPr>
              <a:t>회귀 모델을 구축하여 웨이퍼의 </a:t>
            </a:r>
            <a:r>
              <a:rPr lang="ko-KR" altLang="en-US" sz="2800" dirty="0" err="1">
                <a:latin typeface="+mj-ea"/>
                <a:ea typeface="+mj-ea"/>
              </a:rPr>
              <a:t>식각</a:t>
            </a:r>
            <a:r>
              <a:rPr lang="ko-KR" altLang="en-US" sz="2800" dirty="0">
                <a:latin typeface="+mj-ea"/>
                <a:ea typeface="+mj-ea"/>
              </a:rPr>
              <a:t> 깊이</a:t>
            </a:r>
            <a:r>
              <a:rPr lang="en-US" altLang="ko-KR" sz="2800" dirty="0">
                <a:latin typeface="+mj-ea"/>
                <a:ea typeface="+mj-ea"/>
              </a:rPr>
              <a:t>(Y)</a:t>
            </a:r>
            <a:r>
              <a:rPr lang="ko-KR" altLang="en-US" sz="2800" dirty="0">
                <a:latin typeface="+mj-ea"/>
                <a:ea typeface="+mj-ea"/>
              </a:rPr>
              <a:t>를 실시간 선제 예측 </a:t>
            </a:r>
            <a:endParaRPr lang="en-US" altLang="ko-KR" sz="2800" dirty="0" smtClean="0">
              <a:latin typeface="+mj-ea"/>
              <a:ea typeface="+mj-ea"/>
            </a:endParaRPr>
          </a:p>
          <a:p>
            <a:endParaRPr lang="ko-KR" altLang="en-US" sz="2800" dirty="0">
              <a:latin typeface="+mj-ea"/>
              <a:ea typeface="+mj-ea"/>
            </a:endParaRPr>
          </a:p>
          <a:p>
            <a:r>
              <a:rPr lang="en-US" altLang="ko-KR" sz="2800" b="1" dirty="0">
                <a:latin typeface="+mj-ea"/>
                <a:ea typeface="+mj-ea"/>
              </a:rPr>
              <a:t>3. </a:t>
            </a:r>
            <a:r>
              <a:rPr lang="ko-KR" altLang="en-US" sz="2800" b="1" dirty="0">
                <a:latin typeface="+mj-ea"/>
                <a:ea typeface="+mj-ea"/>
              </a:rPr>
              <a:t>장비 이상 탐지 및 분류 </a:t>
            </a:r>
            <a:r>
              <a:rPr lang="en-US" altLang="ko-KR" sz="2800" b="1" dirty="0">
                <a:latin typeface="+mj-ea"/>
                <a:ea typeface="+mj-ea"/>
              </a:rPr>
              <a:t>(FDC, Fault Detection &amp; Classification)</a:t>
            </a:r>
            <a:endParaRPr lang="ko-KR" altLang="en-US" sz="2800" dirty="0">
              <a:latin typeface="+mj-ea"/>
              <a:ea typeface="+mj-ea"/>
            </a:endParaRPr>
          </a:p>
          <a:p>
            <a:r>
              <a:rPr lang="ko-KR" altLang="en-US" sz="2800" dirty="0">
                <a:latin typeface="+mj-ea"/>
                <a:ea typeface="+mj-ea"/>
              </a:rPr>
              <a:t>정상 구간 데이터</a:t>
            </a:r>
            <a:r>
              <a:rPr lang="en-US" altLang="ko-KR" sz="2800" dirty="0">
                <a:latin typeface="+mj-ea"/>
                <a:ea typeface="+mj-ea"/>
              </a:rPr>
              <a:t>(0 ~ 6,000 Step)</a:t>
            </a:r>
            <a:r>
              <a:rPr lang="ko-KR" altLang="en-US" sz="2800" dirty="0">
                <a:latin typeface="+mj-ea"/>
                <a:ea typeface="+mj-ea"/>
              </a:rPr>
              <a:t>를 기반으로 비지도 학습 알고리즘 수행 </a:t>
            </a:r>
          </a:p>
          <a:p>
            <a:r>
              <a:rPr lang="en-US" altLang="ko-KR" sz="2800" dirty="0">
                <a:latin typeface="+mj-ea"/>
                <a:ea typeface="+mj-ea"/>
              </a:rPr>
              <a:t>Isolation Forest </a:t>
            </a:r>
            <a:r>
              <a:rPr lang="ko-KR" altLang="en-US" sz="2800" dirty="0">
                <a:latin typeface="+mj-ea"/>
                <a:ea typeface="+mj-ea"/>
              </a:rPr>
              <a:t>모델을 적용하여 가스 밸브 막힘 등 미세한 초기 결함 징후를 실시간 감지 및 경고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31900" y="5302250"/>
            <a:ext cx="9982200" cy="67500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endParaRPr lang="en-US" sz="2666" b="0" i="0" u="none" strike="noStrike" dirty="0">
              <a:solidFill>
                <a:srgbClr val="323232"/>
              </a:solidFill>
              <a:latin typeface="+mj-ea"/>
              <a:ea typeface="+mj-ea"/>
              <a:cs typeface="Gmarket Sans Medium"/>
            </a:endParaRPr>
          </a:p>
        </p:txBody>
      </p:sp>
    </p:spTree>
    <p:extLst>
      <p:ext uri="{BB962C8B-B14F-4D97-AF65-F5344CB8AC3E}">
        <p14:creationId xmlns:p14="http://schemas.microsoft.com/office/powerpoint/2010/main" val="1033998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832</Words>
  <Application>Microsoft Office PowerPoint</Application>
  <PresentationFormat>사용자 지정</PresentationFormat>
  <Paragraphs>157</Paragraphs>
  <Slides>8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7" baseType="lpstr">
      <vt:lpstr>Anek Bangla Expanded Medium</vt:lpstr>
      <vt:lpstr>Anek Bangla Expanded SemiBold</vt:lpstr>
      <vt:lpstr>Gmarket Sans Bold</vt:lpstr>
      <vt:lpstr>Gmarket Sans Medium</vt:lpstr>
      <vt:lpstr>Google Sans Text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user</cp:lastModifiedBy>
  <cp:revision>21</cp:revision>
  <dcterms:created xsi:type="dcterms:W3CDTF">2006-08-16T00:00:00Z</dcterms:created>
  <dcterms:modified xsi:type="dcterms:W3CDTF">2026-06-29T08:10:08Z</dcterms:modified>
</cp:coreProperties>
</file>