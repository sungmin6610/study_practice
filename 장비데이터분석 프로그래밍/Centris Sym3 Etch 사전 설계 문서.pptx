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2BC13E-8641-4E9C-B183-DB57528F2008}">
  <a:tblStyle styleId="{8F2BC13E-8641-4E9C-B183-DB57528F20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20" y="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08952cd1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08952cd1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08952cd1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08952cd1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08952cd1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08952cd1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8952cd1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08952cd1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08952cd1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08952cd1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8952cd1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08952cd1e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08952cd1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08952cd1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ko" sz="5400" b="1">
                <a:solidFill>
                  <a:schemeClr val="accent1"/>
                </a:solidFill>
              </a:rPr>
              <a:t>Centris Sym3 Etch</a:t>
            </a:r>
            <a:endParaRPr sz="54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64975" y="2175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ko" sz="2200">
                <a:solidFill>
                  <a:schemeClr val="dk1"/>
                </a:solidFill>
              </a:rPr>
              <a:t>장비 데이터 시뮬레이터 개발 전 설계 문서</a:t>
            </a:r>
            <a:endParaRPr sz="2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28000" y="268350"/>
            <a:ext cx="27531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바이브코딩 사전 설계 문서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56375" y="4293700"/>
            <a:ext cx="5029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 b="1">
                <a:solidFill>
                  <a:schemeClr val="dk1"/>
                </a:solidFill>
              </a:rPr>
              <a:t>반도체 장비소프트웨어과 하이테크 송성민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>
                <a:solidFill>
                  <a:srgbClr val="13202B"/>
                </a:solidFill>
              </a:rPr>
              <a:t>장비 기획서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장비명:</a:t>
            </a:r>
            <a:r>
              <a:rPr lang="ko"/>
              <a:t> </a:t>
            </a:r>
            <a:r>
              <a:rPr lang="ko" sz="1100">
                <a:solidFill>
                  <a:srgbClr val="13202B"/>
                </a:solidFill>
              </a:rPr>
              <a:t>Applied Materials Centris® Sym3® Etch (Conductor/Silicon Etch Chamber)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공정역할: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rgbClr val="13202B"/>
                </a:solidFill>
              </a:rPr>
              <a:t>FinFET / GAA / 3D NAND Channel Hole 등 고종횡비 구조 형성을 위한 이방성 플라즈마 식각 (Cl2/HBr/O2 기반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개발 목적: </a:t>
            </a:r>
            <a:r>
              <a:rPr lang="ko" sz="1100">
                <a:solidFill>
                  <a:srgbClr val="13202B"/>
                </a:solidFill>
              </a:rPr>
              <a:t>RF Power, Bias Power, Pressure, Gas Flow를 입력하면 Etch Rate·Etch Depth·Uniformity·OES 신호를 계산하고, 공정 상태를 판정하여 CSV로 로깅하는 시뮬레이터 개발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사용자: </a:t>
            </a:r>
            <a:r>
              <a:rPr lang="ko" sz="1100">
                <a:solidFill>
                  <a:srgbClr val="13202B"/>
                </a:solidFill>
              </a:rPr>
              <a:t>장비데이터분석 포트폴리오 제작자, 공정/장비 엔지니어, 데이터 분석가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최종 결과물: </a:t>
            </a:r>
            <a:r>
              <a:rPr lang="ko" sz="1100">
                <a:solidFill>
                  <a:srgbClr val="13202B"/>
                </a:solidFill>
              </a:rPr>
              <a:t>Streamlit 기반 UI 시뮬레이터 + equipment_log.csv + 분석 노트북(Jupyter</a:t>
            </a:r>
            <a:r>
              <a:rPr lang="ko" sz="1100">
                <a:solidFill>
                  <a:schemeClr val="dk1"/>
                </a:solidFill>
              </a:rPr>
              <a:t>)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핵심기능 5가지: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장비 입력값 설정 (</a:t>
            </a:r>
            <a:r>
              <a:rPr lang="ko" sz="1050">
                <a:solidFill>
                  <a:schemeClr val="dk1"/>
                </a:solidFill>
              </a:rPr>
              <a:t>RF Power / Pressure / Gas Flow / Bias)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공정 시작/정지 (</a:t>
            </a:r>
            <a:r>
              <a:rPr lang="ko" sz="1050">
                <a:solidFill>
                  <a:schemeClr val="dk1"/>
                </a:solidFill>
              </a:rPr>
              <a:t>Start · Stop 제어)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실시간 그래프 (</a:t>
            </a:r>
            <a:r>
              <a:rPr lang="ko" sz="1050">
                <a:solidFill>
                  <a:schemeClr val="dk1"/>
                </a:solidFill>
              </a:rPr>
              <a:t>Etch Depth, OES Intensity 추이)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정상/주의/위험 판정 (</a:t>
            </a:r>
            <a:r>
              <a:rPr lang="ko" sz="1050">
                <a:solidFill>
                  <a:schemeClr val="dk1"/>
                </a:solidFill>
              </a:rPr>
              <a:t>NORMAL · WARNING · FAULT)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csv 로그 저장 (</a:t>
            </a:r>
            <a:r>
              <a:rPr lang="ko" sz="1050">
                <a:solidFill>
                  <a:schemeClr val="dk1"/>
                </a:solidFill>
              </a:rPr>
              <a:t>equipment_log.csv 자동 기록)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1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입출력 데이터 정의서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2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71" name="Google Shape;71;p15"/>
          <p:cNvGraphicFramePr/>
          <p:nvPr>
            <p:extLst>
              <p:ext uri="{D42A27DB-BD31-4B8C-83A1-F6EECF244321}">
                <p14:modId xmlns:p14="http://schemas.microsoft.com/office/powerpoint/2010/main" val="2492595805"/>
              </p:ext>
            </p:extLst>
          </p:nvPr>
        </p:nvGraphicFramePr>
        <p:xfrm>
          <a:off x="397575" y="1147111"/>
          <a:ext cx="7998690" cy="3827067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15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1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구분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데이터명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단위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정상범위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UI표시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RF Source Power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W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800~1000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RF Bias Power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W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100~200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Chamber Pressure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mTorr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10~30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입력칸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Cl₂ / HBr Gas Flow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sccm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80 ~ 150 / 60 ~ 120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Electrode Temp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℃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40 ~ 80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입력칸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Etch Rate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nm/min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목표±5%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결과카드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Etch Depth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nm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목표값 도달 시 정지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 그래프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Uniformity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%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95 이상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게이지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OES Intensity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a.u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Endpoint 급감 감지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 그래프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Selectivity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ratio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20 이상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/>
                        <a:t>결과 카드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697350" y="546650"/>
            <a:ext cx="26340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>
                <a:solidFill>
                  <a:schemeClr val="dk1"/>
                </a:solidFill>
              </a:rPr>
              <a:t>입력 → 장비 동작 → 출력 구조 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정상/이상 시나리오 설계서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20062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정상식각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RF Source 900W ± 근처 유지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Pressure 20mTorr 근처 유지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Etch Depth 선형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NORMAL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3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242037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가스유량저하 이상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Cl₂ Flow 120 → 95sccm 감소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Pressure 불안정 (±3mTorr)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Etch Rate 편차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WARNING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64012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RF불안정/고장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RF Bias 급변, 반사파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Uniformity 95% 미만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OES 신호 노이즈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FAULT / 알람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685987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Endpoint Detection 완료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OES Intensity 급감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Target Depth 도달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장비 자동 정지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COMPLETE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442800" y="626175"/>
            <a:ext cx="4343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공정 흐름 - 정상식각부터 Endpoint 완료까지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UI 화면 설계서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4</a:t>
            </a:r>
            <a:endParaRPr sz="150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15" y="1017725"/>
            <a:ext cx="8400970" cy="3435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기능명세서    </a:t>
            </a:r>
            <a:r>
              <a:rPr lang="ko" sz="1556" b="1">
                <a:solidFill>
                  <a:srgbClr val="13202B"/>
                </a:solidFill>
              </a:rPr>
              <a:t>버튼을 누르면 어떤일이 일어나는가를 정의</a:t>
            </a:r>
            <a:endParaRPr sz="1556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5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97" name="Google Shape;97;p18"/>
          <p:cNvGraphicFramePr/>
          <p:nvPr>
            <p:extLst>
              <p:ext uri="{D42A27DB-BD31-4B8C-83A1-F6EECF244321}">
                <p14:modId xmlns:p14="http://schemas.microsoft.com/office/powerpoint/2010/main" val="4292273122"/>
              </p:ext>
            </p:extLst>
          </p:nvPr>
        </p:nvGraphicFramePr>
        <p:xfrm>
          <a:off x="198788" y="1352747"/>
          <a:ext cx="8746424" cy="3163871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218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기능명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사용자 동작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처리 내용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출력 / 화면 변화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공정 시작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start 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입력값 읽기, 타이머시작, 상태 Running 전환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실시간그래프, 로그 생성시작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공정 정지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Stop버튼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타이머 중지, 현재까지 데이터 확정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상태 Stopped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이상 주입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Fault Injection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Cl₂ 유량 저하 또는 RF 불안정 시나리오 적용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상태 WARNING / FAULT 전환, 알람 표시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로그 저장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Save CSV버튼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현재 로그 DataFrame을 CSV로 저장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equipment_log_csv생성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리셋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Reset 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입력값/그래프/로그 초기화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/>
                        <a:t>상태 IDLE 복귀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13202B"/>
                </a:solidFill>
              </a:rPr>
              <a:t>데이터 로그 &amp; 판정 로직 설계서   </a:t>
            </a:r>
            <a:r>
              <a:rPr lang="ko" sz="1000" b="1" dirty="0">
                <a:solidFill>
                  <a:srgbClr val="13202B"/>
                </a:solidFill>
              </a:rPr>
              <a:t>csv컬럼구조와 </a:t>
            </a:r>
            <a:r>
              <a:rPr lang="ko" sz="1000" i="1" dirty="0">
                <a:solidFill>
                  <a:srgbClr val="5C7789"/>
                </a:solidFill>
              </a:rPr>
              <a:t> </a:t>
            </a:r>
            <a:r>
              <a:rPr lang="ko" sz="1000" b="1" dirty="0"/>
              <a:t>NORMAL / WARNING / FAULT 판정 기준</a:t>
            </a:r>
            <a:endParaRPr sz="10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13202B"/>
                </a:solidFill>
              </a:rPr>
              <a:t> </a:t>
            </a:r>
            <a:endParaRPr sz="1556" b="1" dirty="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19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6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104" name="Google Shape;104;p19"/>
          <p:cNvGraphicFramePr/>
          <p:nvPr>
            <p:extLst>
              <p:ext uri="{D42A27DB-BD31-4B8C-83A1-F6EECF244321}">
                <p14:modId xmlns:p14="http://schemas.microsoft.com/office/powerpoint/2010/main" val="1449439391"/>
              </p:ext>
            </p:extLst>
          </p:nvPr>
        </p:nvGraphicFramePr>
        <p:xfrm>
          <a:off x="56561" y="1170125"/>
          <a:ext cx="6132375" cy="3436609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204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4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컬럼명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예시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설명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timestamp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2026-07-03 10:01:05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데이터 생성 시각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equipment_id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SYM3-ETCH-01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장비 ID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rf_source_power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900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 Source Power (W)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rf_bias_power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150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 Bias Power (W)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pressure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20.5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챔버 압력 (mTorr)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cl2_flow / hbr_flow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120 / 90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가스 유량 (sccm)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etch_rate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48.2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식각 속도 (nm/min)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etch_depth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121.3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누적 식각 깊이 (nm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oes_intensity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0.62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Endpoint 신호 세기 (a.u.)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status / result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WARNING / NG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rgbClr val="13202B"/>
                          </a:solidFill>
                        </a:rPr>
                        <a:t>장비 상태 판정 / 최종 품질 판정</a:t>
                      </a:r>
                      <a:endParaRPr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775" y="1170125"/>
            <a:ext cx="2706825" cy="259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바이브 코딩 프롬프트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너는 Python Streamlit 기반 반도체 식각(Etch) 장비 시뮬레이터 개발자다.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초보자가 VS Code에서 가상환경 설정 후 바로 실행할 수 있도록 '전체 소스 코드', '상세한 한글 주석', '실행 방법 안내'를 포함하여 작성해줘.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[장비 및 목적]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장비명: Applied Materials Centris Sym3 Etch (Conductor Plasma Etch)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목적: 핵심 공정 파라미터(Input)의 변화에 따른 물리적 식각 특성(Output) 변화를 실시간 시뮬레이션하고, 공정 시계열 로그를 CSV로 저장하여 추후 데이터 분석(EDA/이상탐지)에 활용한다.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[입력 데이터 (Input Parameter)]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rf_source_power (W, 정상범위: 800 ~ 1000, 기본값: 900)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rf_bias_power (W, 정상범위: 100 ~ 200, 기본값: 150)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pressure (mTorr, 정상범위: 10 ~ 30, 기본값: 20)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cl2_flow (sccm, 정상범위: 80 ~ 150, 기본값: 120)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hbr_flow (sccm, 정상범위: 60 ~ 120, 기본값: 90)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[출력 데이터 및 물리 연산 로직 (Output Parameter)]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1초 단위(Timer Loop)로 데이터가 갱신되며 아래 수식에 기반하여 물리적인 경향성을 모사해줘. (약간의 가우시안 노이즈(정규분포) 추가 필수)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etch_rate (nm/min) = (rf_source_power * 0.4) + (rf_bias_power * 0.2) - (pressure * 0.5)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uniformity (%) = 100 - abs(pressure - 20) * 0.5 - abs(cl2_flow - 120) * 0.05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oes_intensity (a.u.) = 기본값 1000 유지 (단, 공정 완료 시점이나 가스 유량 부족 시 급감)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etch_depth (nm) = 공정 시작 후 1초마다 (etch_rate / 60)만큼 누적 증가 (초기값 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[공정 시나리오 및 판정 로직]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목표 식각 깊이(Target Depth)는 300nm로 고정한다.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NORMAL: 모든 입력 데이터가 정상 범위 내에 있고, uniformity &gt;= 95% 일 때. (결과: OK)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WARNING: 입력 데이터 중 하나라도 정상 범위를 벗어나거나, 90% &lt;= uniformity &lt; 95% 일 때. (결과: OK)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FAULT: uniformity &lt; 90% 이거나 사용자가 'Fault Injection' 버튼을 눌렀을 때. (결과: NG)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COMPLETE: etch_depth가 300nm 이상에 도달하면 oes_intensity가 1000에서 100 부근으로 급감하며, 장비 상태가 'COMPLETE'로 바뀌고 타이머가 자동 정지됨 (EPD 모사).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[UI 화면 레이아웃 요구사항 (AMAT Centris HMI 구조 반영)]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실제 양산 장비의 운영 인터페이스 사상을 반영하여 다음과 같이 화면 레이아웃을 구성해줘.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1. 최상단: [글로벌 스테이터스 바 (Global Status Bar)]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현재 장비 상태(STATUS: NORMAL/WARNING/FAULT/COMPLETE)와 품질 판정(RESULT: OK/NG)을 대형 컬러 카드(녹색/황색/적색/파란색)로 직관적으로 표시.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우측에 가상 가동 정보(Recipe 명: Poly_Si_Gate_Etch, 가상 Wafer ID: W26-0703)를 텍스트로 고정 표기.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2. 좌측 영역: [사이드바 컨트롤 패널]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- 5가지 입력 파라미터(rf_source_power, rf_bias_power, pressure, cl2_flow, hbr_flow)를 개별적으로 조절할 수 있는 슬라이더(Slider) 및 수치 입력 창 배치.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하단에 가로로 나열된 제어 버튼 그룹 배치: [Start], [Stop], [Fault Injection], [Reset]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  * Fault Injection 버튼 클릭 시: 즉시 cl2_flow 슬라이더 값이 50sccm으로 강제 전하 조절되며, 장비 상태는 시스템에서 FAULT/NG로 고장 처리됨.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3. 중앙 메인 영역: [모니터링 &amp; 트렌드 뷰]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상단: Centris Sym3 장비의 클러스터 챔버 구조를 모사하기 위해 6개의 에칭 챔버(Chamber A~F) 레이아웃을 텍스트/이모지 혹은 UI 블록 형태로 시각화. (현재 가동 중인 챔버에 불이 들어오는 연출 포함).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- 하단: 실시간 트렌드 그래프 영역 구성. 1초마다 누적 증가하는 Etch Depth 차트와 EPD 종점 검출을 모니터링하기 위한 OES Intensity 실시간 선형 차트(시간축 공유 혹은 2개 분리 차트)를 동적으로 드로잉.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4. 하단 영역: [데이터 로그 그리드]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실시간으로 축적되는 시계열 데이터 원시 로그를 깔끔한 테이블(Dataframe Grid) 형태로 노출.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테이블 상단 또는 하단에 누적된 전체 데이터를 로컬 PC나 웹브라우저 상에서 즉시 저장할 수 있는 [Save CSV (Export)] 버튼 배치.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[데이터 저장 (Save) 스펙]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'Save CSV' 버튼을 누르면 현재까지 누적된 데이터를 `equipment_log.csv` 파일로 다운로드하거나 지정 파일로 저장함.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컬럼 구조: timestamp, rf_source_power, rf_bias_power, pressure, cl2_flow, hbr_flow, etch_rate, etch_depth, uniformity, oes_intensity, status, result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[제약 조건 및 기술 요구사항]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Streamlit의 실시간 Loop 내부(time.sleep(1) 기반)에서 사용자가 슬라이더를 움직이거나 버튼을 눌렀을 때 화면 전체가 새로고침되어 기존 데이터가 날아가지(State 초기화) 않도록, `st.session_state`를 완벽하고 견고하게 활용하여 코드를 작성해줘.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400" b="1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7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1453</Words>
  <Application>Microsoft Office PowerPoint</Application>
  <PresentationFormat>화면 슬라이드 쇼(16:9)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Centris Sym3 Etch </vt:lpstr>
      <vt:lpstr>장비 기획서 </vt:lpstr>
      <vt:lpstr>입출력 데이터 정의서 </vt:lpstr>
      <vt:lpstr>정상/이상 시나리오 설계서 </vt:lpstr>
      <vt:lpstr>UI 화면 설계서 </vt:lpstr>
      <vt:lpstr>기능명세서    버튼을 누르면 어떤일이 일어나는가를 정의 </vt:lpstr>
      <vt:lpstr>데이터 로그 &amp; 판정 로직 설계서   csv컬럼구조와  NORMAL / WARNING / FAULT 판정 기준   </vt:lpstr>
      <vt:lpstr>바이브 코딩 프롬프트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 </dc:title>
  <cp:lastModifiedBy>user</cp:lastModifiedBy>
  <cp:revision>4</cp:revision>
  <dcterms:modified xsi:type="dcterms:W3CDTF">2026-07-03T06:04:17Z</dcterms:modified>
</cp:coreProperties>
</file>