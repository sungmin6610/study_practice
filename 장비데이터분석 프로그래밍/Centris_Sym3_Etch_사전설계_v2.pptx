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Source (W)</c:v>
                </c:pt>
              </c:strCache>
            </c:strRef>
          </c:tx>
          <c:spPr>
            <a:solidFill>
              <a:srgbClr val="2C4A66"/>
            </a:solidFill>
            <a:ln w="25400" cap="flat">
              <a:solidFill>
                <a:srgbClr val="2C4A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4A66"/>
              </a:solidFill>
              <a:ln w="9525" cap="flat">
                <a:solidFill>
                  <a:srgbClr val="2C4A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0s</c:v>
                  </c:pt>
                  <c:pt idx="1">
                    <c:v>15s</c:v>
                  </c:pt>
                  <c:pt idx="2">
                    <c:v>30s</c:v>
                  </c:pt>
                  <c:pt idx="3">
                    <c:v>45s</c:v>
                  </c:pt>
                  <c:pt idx="4">
                    <c:v>60s</c:v>
                  </c:pt>
                  <c:pt idx="5">
                    <c:v>75s</c:v>
                  </c:pt>
                  <c:pt idx="6">
                    <c:v>90s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300</c:v>
                </c:pt>
                <c:pt idx="2">
                  <c:v>600</c:v>
                </c:pt>
                <c:pt idx="3">
                  <c:v>900</c:v>
                </c:pt>
                <c:pt idx="4">
                  <c:v>900</c:v>
                </c:pt>
                <c:pt idx="5">
                  <c:v>900</c:v>
                </c:pt>
                <c:pt idx="6">
                  <c:v>850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Pressure (mTorr)</c:v>
                </c:pt>
              </c:strCache>
            </c:strRef>
          </c:tx>
          <c:spPr>
            <a:solidFill>
              <a:srgbClr val="8A6212"/>
            </a:solidFill>
            <a:ln w="25400" cap="flat">
              <a:solidFill>
                <a:srgbClr val="8A62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6212"/>
              </a:solidFill>
              <a:ln w="9525" cap="flat">
                <a:solidFill>
                  <a:srgbClr val="8A62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0s</c:v>
                  </c:pt>
                  <c:pt idx="1">
                    <c:v>15s</c:v>
                  </c:pt>
                  <c:pt idx="2">
                    <c:v>30s</c:v>
                  </c:pt>
                  <c:pt idx="3">
                    <c:v>45s</c:v>
                  </c:pt>
                  <c:pt idx="4">
                    <c:v>60s</c:v>
                  </c:pt>
                  <c:pt idx="5">
                    <c:v>75s</c:v>
                  </c:pt>
                  <c:pt idx="6">
                    <c:v>90s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Etch Depth (nm)</c:v>
                </c:pt>
              </c:strCache>
            </c:strRef>
          </c:tx>
          <c:spPr>
            <a:solidFill>
              <a:srgbClr val="2E6B3E"/>
            </a:solidFill>
            <a:ln w="25400" cap="flat">
              <a:solidFill>
                <a:srgbClr val="2E6B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B3E"/>
              </a:solidFill>
              <a:ln w="9525" cap="flat">
                <a:solidFill>
                  <a:srgbClr val="2E6B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0s</c:v>
                  </c:pt>
                  <c:pt idx="1">
                    <c:v>15s</c:v>
                  </c:pt>
                  <c:pt idx="2">
                    <c:v>30s</c:v>
                  </c:pt>
                  <c:pt idx="3">
                    <c:v>45s</c:v>
                  </c:pt>
                  <c:pt idx="4">
                    <c:v>60s</c:v>
                  </c:pt>
                  <c:pt idx="5">
                    <c:v>75s</c:v>
                  </c:pt>
                  <c:pt idx="6">
                    <c:v>90s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22</c:v>
                </c:pt>
                <c:pt idx="3">
                  <c:v>55</c:v>
                </c:pt>
                <c:pt idx="4">
                  <c:v>90</c:v>
                </c:pt>
                <c:pt idx="5">
                  <c:v>121</c:v>
                </c:pt>
                <c:pt idx="6">
                  <c:v>140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7C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EQP-DES-2026-014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2194560" cy="0"/>
          </a:xfrm>
          <a:prstGeom prst="line">
            <a:avLst/>
          </a:prstGeom>
          <a:noFill/>
          <a:ln w="12700">
            <a:solidFill>
              <a:srgbClr val="4560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F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사전설계 문서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Centris Sym3 Etch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데이터 시뮬레이터 개발 전 설계 문서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Materials Centris® Sym3® Etch — Conductor/Silicon Plasma Etch Chamber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 · 입출력 데이터 정의서 · 시나리오 설계서 · UI 설계서(실제 장비 HMI 관례) · 기능명세서 · 데이터 로그 설계서 · Antigravity 프롬프트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617720"/>
            <a:ext cx="10972800" cy="0"/>
          </a:xfrm>
          <a:prstGeom prst="line">
            <a:avLst/>
          </a:prstGeom>
          <a:noFill/>
          <a:ln w="12700">
            <a:solidFill>
              <a:srgbClr val="3C56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782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문서번호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37560" y="4782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80760" y="4782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23960" y="4782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5166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5166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0760" y="5166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장비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23960" y="5166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5550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5550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제어 시뮬레이터 사전설계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80760" y="5550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23960" y="5550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구현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1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 것인가 — 장비명 · 공정 역할 · 개발 목적을 확정한다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9281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Materials Centris® Sym3® Etch (Conductor / Silicon Etch Chamber)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249424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40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역할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9281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FinFET · GAA(Gate-All-Around) · 3D NAND Channel Hole 등 고종횡비 구조 형성을 위한 이방성(anisotropic) 플라즈마 식각 (Cl₂/HBr/O₂ 계열)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76148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5292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목적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852928"/>
            <a:ext cx="9281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Source/Bias Power, Chamber Pressure, Gas Flow를 입력하면 Etch Rate · Etch Depth · Uniformity · OES 신호를 계산하고 공정 상태를 판정하여 CSV로 기록하는 시뮬레이터를 개발한다.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529584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210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621024"/>
            <a:ext cx="9281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 포트폴리오 제작자 · 공정/장비 엔지니어 · 데이터 분석가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04164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3308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결과물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133088"/>
            <a:ext cx="9281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기반 UI 시뮬레이터 + equipment_log.csv 로그 파일 + 분석 노트북(Jupyter)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681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956048"/>
            <a:ext cx="2084832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9926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" y="52303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입력값 설정(RF/Pressure/Flow)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16352" y="4956048"/>
            <a:ext cx="2084832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49926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9504" y="52303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시작 · 정지(Start/Stop)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38344" y="4956048"/>
            <a:ext cx="2084832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49926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11496" y="52303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그래프(Etch Depth, OES)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60336" y="4956048"/>
            <a:ext cx="2084832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3488" y="49926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33488" y="52303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정상/주의/위험 판정(NORMAL/WARNING/FAULT)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482328" y="4956048"/>
            <a:ext cx="2084832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55480" y="49926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55480" y="52303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로그 저장(equipment_log.csv)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2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입출력 데이터 정의서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“입력 → 장비 동작 → 출력” 구조 — Input 5 / Output 5 정의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83280"/>
                <a:gridCol w="1188720"/>
                <a:gridCol w="2834640"/>
                <a:gridCol w="2331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범위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표시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Source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~ 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Bias 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~ 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Chamber Pressure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mTorr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~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숫자 입력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Cl₂ / HBr Gas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80~150 / 60~120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Electrode Temp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~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숫자 입력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nm/min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목표값 ± 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텍스트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 도달 시 정지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그래프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이상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게이지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OES Intensity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a.u.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급감 시 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그래프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이상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텍스트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 Log Data(timestamp, equipment_id, status, result 등)는 문서 6 데이터 로그 설계서에서 별도 정의한다. 출력 데이터가 없으면 이후 데이터 분석 수업과 연결되기 어렵다.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3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정상 / 이상 시나리오 설계서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Etcher 공정 흐름 예시 — 정상 식각부터 Endpoint 완료까지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48840"/>
            <a:ext cx="10058400" cy="0"/>
          </a:xfrm>
          <a:prstGeom prst="line">
            <a:avLst/>
          </a:prstGeom>
          <a:noFill/>
          <a:ln w="15875">
            <a:solidFill>
              <a:srgbClr val="1A22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066544"/>
            <a:ext cx="0" cy="164592"/>
          </a:xfrm>
          <a:prstGeom prst="line">
            <a:avLst/>
          </a:prstGeom>
          <a:noFill/>
          <a:ln w="19050">
            <a:solidFill>
              <a:srgbClr val="1A22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412" y="2107692"/>
            <a:ext cx="82296" cy="82296"/>
          </a:xfrm>
          <a:prstGeom prst="ellipse">
            <a:avLst/>
          </a:prstGeom>
          <a:solidFill>
            <a:srgbClr val="2E6B3E"/>
          </a:solidFill>
          <a:ln w="9525">
            <a:solidFill>
              <a:srgbClr val="1A22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0–60s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2231136"/>
            <a:ext cx="0" cy="283464"/>
          </a:xfrm>
          <a:prstGeom prst="line">
            <a:avLst/>
          </a:prstGeom>
          <a:noFill/>
          <a:ln w="12700">
            <a:solidFill>
              <a:srgbClr val="C7CED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4360" y="25146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14600"/>
            <a:ext cx="2468880" cy="54864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" y="27157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정상 식각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0664" y="32004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NORMAL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" y="3520440"/>
            <a:ext cx="2176272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685032"/>
            <a:ext cx="21762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Source 900W ± 근처 유지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20mTorr 근처 유지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Depth 선형 증가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04360" y="2066544"/>
            <a:ext cx="0" cy="164592"/>
          </a:xfrm>
          <a:prstGeom prst="line">
            <a:avLst/>
          </a:prstGeom>
          <a:noFill/>
          <a:ln w="19050">
            <a:solidFill>
              <a:srgbClr val="1A22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3212" y="2107692"/>
            <a:ext cx="82296" cy="82296"/>
          </a:xfrm>
          <a:prstGeom prst="ellipse">
            <a:avLst/>
          </a:prstGeom>
          <a:solidFill>
            <a:srgbClr val="8A6212"/>
          </a:solidFill>
          <a:ln w="9525">
            <a:solidFill>
              <a:srgbClr val="1A22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0000" y="1819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61–80s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04360" y="2231136"/>
            <a:ext cx="0" cy="283464"/>
          </a:xfrm>
          <a:prstGeom prst="line">
            <a:avLst/>
          </a:prstGeom>
          <a:noFill/>
          <a:ln w="12700">
            <a:solidFill>
              <a:srgbClr val="C7CED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169920" y="25146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9920" y="2514600"/>
            <a:ext cx="2468880" cy="54864"/>
          </a:xfrm>
          <a:prstGeom prst="rect">
            <a:avLst/>
          </a:prstGeom>
          <a:solidFill>
            <a:srgbClr val="8A6212"/>
          </a:solidFill>
          <a:ln/>
        </p:spPr>
      </p:sp>
      <p:sp>
        <p:nvSpPr>
          <p:cNvPr id="25" name="Text 23"/>
          <p:cNvSpPr/>
          <p:nvPr/>
        </p:nvSpPr>
        <p:spPr>
          <a:xfrm>
            <a:off x="3316224" y="27157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가스 유량 저하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316224" y="32004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WARNING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6224" y="3520440"/>
            <a:ext cx="2176272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6224" y="3685032"/>
            <a:ext cx="21762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Cl₂ Flow 120→95sccm 감소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±3mTorr 변동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Rate 편차 증가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57160" y="2066544"/>
            <a:ext cx="0" cy="164592"/>
          </a:xfrm>
          <a:prstGeom prst="line">
            <a:avLst/>
          </a:prstGeom>
          <a:noFill/>
          <a:ln w="19050">
            <a:solidFill>
              <a:srgbClr val="1A22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16012" y="2107692"/>
            <a:ext cx="82296" cy="82296"/>
          </a:xfrm>
          <a:prstGeom prst="ellipse">
            <a:avLst/>
          </a:prstGeom>
          <a:solidFill>
            <a:srgbClr val="8C2F2F"/>
          </a:solidFill>
          <a:ln w="9525">
            <a:solidFill>
              <a:srgbClr val="1A22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2800" y="1819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81–95s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57160" y="2231136"/>
            <a:ext cx="0" cy="283464"/>
          </a:xfrm>
          <a:prstGeom prst="line">
            <a:avLst/>
          </a:prstGeom>
          <a:noFill/>
          <a:ln w="12700">
            <a:solidFill>
              <a:srgbClr val="C7CED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522720" y="25146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22720" y="2514600"/>
            <a:ext cx="2468880" cy="54864"/>
          </a:xfrm>
          <a:prstGeom prst="rect">
            <a:avLst/>
          </a:prstGeom>
          <a:solidFill>
            <a:srgbClr val="8C2F2F"/>
          </a:solidFill>
          <a:ln/>
        </p:spPr>
      </p:sp>
      <p:sp>
        <p:nvSpPr>
          <p:cNvPr id="35" name="Text 33"/>
          <p:cNvSpPr/>
          <p:nvPr/>
        </p:nvSpPr>
        <p:spPr>
          <a:xfrm>
            <a:off x="6669024" y="27157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불안정 / 고장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669024" y="32004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FAULT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69024" y="3520440"/>
            <a:ext cx="2176272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69024" y="3685032"/>
            <a:ext cx="21762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Bias 급변, 반사파 증가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 95% 미만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 노이즈 증가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1109960" y="2066544"/>
            <a:ext cx="0" cy="164592"/>
          </a:xfrm>
          <a:prstGeom prst="line">
            <a:avLst/>
          </a:prstGeom>
          <a:noFill/>
          <a:ln w="19050">
            <a:solidFill>
              <a:srgbClr val="1A222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68812" y="2107692"/>
            <a:ext cx="82296" cy="82296"/>
          </a:xfrm>
          <a:prstGeom prst="ellipse">
            <a:avLst/>
          </a:prstGeom>
          <a:solidFill>
            <a:srgbClr val="2C4A66"/>
          </a:solidFill>
          <a:ln w="9525">
            <a:solidFill>
              <a:srgbClr val="1A22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0" y="1819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96–100s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1109960" y="2231136"/>
            <a:ext cx="0" cy="283464"/>
          </a:xfrm>
          <a:prstGeom prst="line">
            <a:avLst/>
          </a:prstGeom>
          <a:noFill/>
          <a:ln w="12700">
            <a:solidFill>
              <a:srgbClr val="C7CED4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098280" y="25146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98280" y="2514600"/>
            <a:ext cx="2468880" cy="54864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45" name="Text 43"/>
          <p:cNvSpPr/>
          <p:nvPr/>
        </p:nvSpPr>
        <p:spPr>
          <a:xfrm>
            <a:off x="9244584" y="271576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완료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9244584" y="32004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COMPLETE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244584" y="3520440"/>
            <a:ext cx="2176272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44584" y="3685032"/>
            <a:ext cx="21762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OES Intensity 급감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Depth 도달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100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자동 정지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4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화면 설계서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E30(GEM) 상태모델 기반 실제 Etch 장비 HMI 구성 — 챔버 미믹 · 레시피 스텝 · 트렌드 · 알람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10972800" cy="457200"/>
          </a:xfrm>
          <a:prstGeom prst="rect">
            <a:avLst/>
          </a:prstGeom>
          <a:solidFill>
            <a:srgbClr val="223A50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883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58952" y="2048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SYM3-ETCH-01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97480" y="18836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97480" y="20482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GAA_MAIN_ETCH_R3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18836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/ WAFER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0" y="2048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LOT2603 · W12/25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18836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 STATE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06440" y="20482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18836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5200" y="2048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06840" y="1883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006840" y="20482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332720" y="18836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332720" y="2048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8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2395728"/>
            <a:ext cx="3063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395728"/>
            <a:ext cx="30632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239572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챔버 미믹 다이어그램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" y="239572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MIMIC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5840" y="2990088"/>
            <a:ext cx="2240280" cy="1554480"/>
          </a:xfrm>
          <a:prstGeom prst="rect">
            <a:avLst/>
          </a:prstGeom>
          <a:solidFill>
            <a:srgbClr val="F4F6F8"/>
          </a:solidFill>
          <a:ln w="15875">
            <a:solidFill>
              <a:srgbClr val="1A22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3099816"/>
            <a:ext cx="1874520" cy="91440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27706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Source Coil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41932" y="3845052"/>
            <a:ext cx="768096" cy="146304"/>
          </a:xfrm>
          <a:prstGeom prst="ellipse">
            <a:avLst/>
          </a:prstGeom>
          <a:solidFill>
            <a:srgbClr val="D8E3EA"/>
          </a:solidFill>
          <a:ln w="12700">
            <a:solidFill>
              <a:srgbClr val="1A22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0279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/ ESC (Bias)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264408"/>
            <a:ext cx="365760" cy="0"/>
          </a:xfrm>
          <a:prstGeom prst="line">
            <a:avLst/>
          </a:prstGeom>
          <a:noFill/>
          <a:ln w="15875">
            <a:solidFill>
              <a:srgbClr val="1A2229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9436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In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(Cl₂/HBr/O₂)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25980" y="4544568"/>
            <a:ext cx="0" cy="256032"/>
          </a:xfrm>
          <a:prstGeom prst="line">
            <a:avLst/>
          </a:prstGeom>
          <a:noFill/>
          <a:ln w="15875">
            <a:solidFill>
              <a:srgbClr val="1A2229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94360" y="46542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 → Turbo Pump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840480" y="2395728"/>
            <a:ext cx="3840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2395728"/>
            <a:ext cx="384048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239572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레시피 스텝 테이블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950208" y="239572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 STEPS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2779776"/>
          <a:ext cx="3621024" cy="914400"/>
        </p:xfrm>
        <a:graphic>
          <a:graphicData uri="http://schemas.openxmlformats.org/drawingml/2006/table">
            <a:tbl>
              <a:tblPr/>
              <a:tblGrid>
                <a:gridCol w="869046"/>
                <a:gridCol w="579364"/>
                <a:gridCol w="796625"/>
                <a:gridCol w="724205"/>
                <a:gridCol w="65178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Time(s)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RF/Bias(W)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Press.(mTorr)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Gas(sccm)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1 Strike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300 / 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Ar 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2 Break-thru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600 / 100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25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Cl₂ 80/HBr 40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3 Main Etch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60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900 / 150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Cl₂ 120/HBr 90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4 Over-Etch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850 / 140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22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229"/>
                          </a:solidFill>
                        </a:rPr>
                        <a:t>Cl₂ 100/HBr 80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950208" y="442569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3번째 행(강조): 현재 실행 중인 스텝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63840" y="2395728"/>
            <a:ext cx="37033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63840" y="2395728"/>
            <a:ext cx="370332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73568" y="239572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트렌드 차트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973568" y="239572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· SPC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7973568" y="2761488"/>
          <a:ext cx="3483864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Shape 43"/>
          <p:cNvSpPr/>
          <p:nvPr/>
        </p:nvSpPr>
        <p:spPr>
          <a:xfrm>
            <a:off x="594360" y="5367528"/>
            <a:ext cx="10972800" cy="256032"/>
          </a:xfrm>
          <a:prstGeom prst="rect">
            <a:avLst/>
          </a:prstGeom>
          <a:solidFill>
            <a:srgbClr val="2C1F1F"/>
          </a:solidFill>
          <a:ln/>
        </p:spPr>
      </p:sp>
      <p:sp>
        <p:nvSpPr>
          <p:cNvPr id="48" name="Text 44"/>
          <p:cNvSpPr/>
          <p:nvPr/>
        </p:nvSpPr>
        <p:spPr>
          <a:xfrm>
            <a:off x="722376" y="5367528"/>
            <a:ext cx="10716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0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[10:02:15] WARNING — Cl₂ Flow Low (95 sccm, Step 3)     ·     [09:58:02] INFO — Recipe Step 3 (Main Etch) Started     ·     [09:57:40] INFO — Chamber Pressure Stabilized (20.1 mTorr)</a:t>
            </a:r>
            <a:endParaRPr lang="en-US" sz="780" dirty="0"/>
          </a:p>
        </p:txBody>
      </p:sp>
      <p:sp>
        <p:nvSpPr>
          <p:cNvPr id="49" name="Shape 45"/>
          <p:cNvSpPr/>
          <p:nvPr/>
        </p:nvSpPr>
        <p:spPr>
          <a:xfrm>
            <a:off x="594360" y="5678424"/>
            <a:ext cx="172212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94360" y="5678424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2444496" y="5678424"/>
            <a:ext cx="172212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444496" y="5678424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4294632" y="5678424"/>
            <a:ext cx="172212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294632" y="5678424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6144768" y="5678424"/>
            <a:ext cx="1722120" cy="402336"/>
          </a:xfrm>
          <a:prstGeom prst="rect">
            <a:avLst/>
          </a:prstGeom>
          <a:solidFill>
            <a:srgbClr val="F5E7E7"/>
          </a:solidFill>
          <a:ln w="12700">
            <a:solidFill>
              <a:srgbClr val="8C2F2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144768" y="5678424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7994904" y="5678424"/>
            <a:ext cx="172212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7994904" y="5678424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Recipe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9845040" y="5678424"/>
            <a:ext cx="1722120" cy="402336"/>
          </a:xfrm>
          <a:prstGeom prst="rect">
            <a:avLst/>
          </a:prstGeom>
          <a:solidFill>
            <a:srgbClr val="F4F6F8"/>
          </a:solidFill>
          <a:ln w="12700">
            <a:solidFill>
              <a:srgbClr val="C7CED4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9845040" y="5678424"/>
            <a:ext cx="172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Log</a:t>
            </a:r>
            <a:endParaRPr lang="en-US" sz="950" dirty="0"/>
          </a:p>
        </p:txBody>
      </p:sp>
      <p:sp>
        <p:nvSpPr>
          <p:cNvPr id="61" name="Text 57"/>
          <p:cNvSpPr/>
          <p:nvPr/>
        </p:nvSpPr>
        <p:spPr>
          <a:xfrm>
            <a:off x="59436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Applied Materials의 실제 내부 HMI 화면은 비공개이며, 위 레이아웃은 SEMI E30(GEM) 표준 상태모델과 업계 표준 Etch 장비 HMI 관례(챔버 미믹 · 레시피 스텝 제어 · 트렌드 모니터 · 알람 로그)를 참고해 재구성한 것이다.</a:t>
            </a:r>
            <a:endParaRPr lang="en-US" sz="760" dirty="0"/>
          </a:p>
        </p:txBody>
      </p:sp>
      <p:sp>
        <p:nvSpPr>
          <p:cNvPr id="62" name="Shape 58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64" name="Text 60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5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기능명세서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버튼을 누르면 어떤 일이 일어나는가를 먼저 글로 정의한다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420624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동작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처리 내용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출력 / 화면 변화 (SEMI E30 상태)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로드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드롭다운 선택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Strike→Break-thru→Main Etch→Over-Etch 4스텝 파라미터 로드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STATE: IDLE → READY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시작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버튼 클릭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스텝 시퀀스 실행, 스텝별 타이머·RF·Gas 순차 적용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STATE: READY → EXECUTING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일시정지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버튼 클릭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스텝 파라미터 유지, 타이머 정지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STATE: EXECUTING → PAUSE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 감지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(자동) 임계값 초과 감지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Cl₂ 유량 저하 · RF 반사파 급증 등 감지, 알람 로그 기록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HEALTH: NORMAL → WARNING / 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공정 중단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Abort 버튼 클릭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 정지 및 안전 시퀀스(가스 차단, RF Off)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STATE: → ABORTED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레시피/로그 저장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Recipe / Export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레시피 JSON 저장, 로그 DataFrame을 CSV로 저장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recipe.json, equipment_log.csv 생성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2852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PROCESS STATE(OFFLINE/LOCAL/REMOTE, IDLE/READY/EXECUTING/PAUSE/COMPLETE/ABORTED)는 SEMI E30(GEM) 표준 장비 상태모델을 따른다. HEALTH(NORMAL/WARNING/FAULT)는 이와 별도로 공정 품질을 판정하는 상위 레이어다.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6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로그 &amp; 판정 로직 설계서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분석 가능한 CSV 컬럼 구조와 NORMAL / WARNING / FAULT 판정 기준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63093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828800"/>
                <a:gridCol w="251460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6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2026-07-03 10:01:05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생성 시각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SYM3-ETCH-01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장비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rf_source_power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Source Power (W)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rf_bias_power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Bias Power (W)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챔버 압력 (mTorr)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cl2_flow / hbr_flow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/ 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가스 유량 (sccm)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etch_rate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식각 속도 (nm/min)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etch_depth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누적 식각 깊이 (nm)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oes_intensity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신호 세기 (a.u.)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/ 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장비 상태 판정 / 최종 품질 판정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26948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로직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269480" y="2130552"/>
            <a:ext cx="429768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69480" y="25420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900±50W · Pressure 20±3mTorr · Uniformity ≥ 95%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726948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6948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Cl₂ Flow &lt; 100sccm 또는 Uniformity 90~95%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7269480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C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FAULT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69480" y="40416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반사파 급증 또는 Uniformity &lt; 90%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7269480" y="4535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판정: 핵심 Output 전부 만족 → OK, 하나라도 이탈 → NG</a:t>
            </a:r>
            <a:endParaRPr lang="en-US" sz="970" dirty="0"/>
          </a:p>
        </p:txBody>
      </p:sp>
      <p:sp>
        <p:nvSpPr>
          <p:cNvPr id="18" name="Shape 15"/>
          <p:cNvSpPr/>
          <p:nvPr/>
        </p:nvSpPr>
        <p:spPr>
          <a:xfrm>
            <a:off x="7269480" y="5102352"/>
            <a:ext cx="429768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5212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Rate 계산식 예시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269480" y="5486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20 + (RF-800)*0.05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− (Pressure-20)*0.3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  ·  Rev.B  ·  문서 7 / 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Antigravity 프롬프트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· 컨텍스트 · 완료조건 중심의 task-oriented 프롬프트 구조 (전문은 별도 제공)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2286000" cy="438912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28800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(Goal)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0360" y="1828800"/>
            <a:ext cx="8686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1828800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동작을 모사하는 웹 시뮬레이터를 만들고, 로컬에서 실행 → 브라우저로 직접 검증 → 스크린샷과 함께 결과 보고까지 에이전트가 end-to-end로 수행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340864"/>
            <a:ext cx="2286000" cy="438912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340864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(Context)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80360" y="2340864"/>
            <a:ext cx="8686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6664" y="2340864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특성(이방성 Cl₂/HBr/O₂ 식각), SEMI E30(GEM) 상태모델, Strike→Break-through→Main Etch→Over-Etch 4스텝 레시피 구조를 설명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852928"/>
            <a:ext cx="2286000" cy="438912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285292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80360" y="2852928"/>
            <a:ext cx="8686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2852928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 기본 지정, 더 적합한 대안이 있으면 에이전트가 제안하도록 여지를 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364992"/>
            <a:ext cx="2286000" cy="512064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36499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 (5영역)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80360" y="3364992"/>
            <a:ext cx="8686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6664" y="3364992"/>
            <a:ext cx="8394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바 · 챔버 미믹 다이어그램 · 레시피 스텝 테이블 · 실시간 트렌드 차트 · 알람 로그+제어 버튼을 문서 4 와이어프레임 기준으로 명시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950208"/>
            <a:ext cx="2286000" cy="438912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3950208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로직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80360" y="3950208"/>
            <a:ext cx="8686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6664" y="3950208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Uniformity/Cl₂ Flow 기준의 NORMAL/WARNING/FAULT 및 OK/NG 규칙을 조건식 형태로 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4462272"/>
            <a:ext cx="2286000" cy="438912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" y="4462272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80360" y="4462272"/>
            <a:ext cx="8686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6664" y="4462272"/>
            <a:ext cx="8394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스텝/틱마다 timestamp–process_state–health까지 포함한 14개 컬럼을 equipment_log.csv에 append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4974336"/>
            <a:ext cx="2286000" cy="640080"/>
          </a:xfrm>
          <a:prstGeom prst="rect">
            <a:avLst/>
          </a:prstGeom>
          <a:solidFill>
            <a:srgbClr val="2C4A66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" y="4974336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조건 (DoD)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80360" y="4974336"/>
            <a:ext cx="86868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7CE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664" y="4974336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5영역 렌더링 확인, Start→Pause→Stop / Start→Abort 전이 확인, Cl₂ 저하 시 알람 발생 확인, CSV 컬럼 검증, README 작성까지를 “완료” 기준으로 명시 — Antigravity가 스스로 검증하도록 유도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4360" y="57241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Antigravity는 대괄호식 스펙보다 “목표 → 컨텍스트 → 완료조건”을 자연어로 서술할 때 에이전트가 스스로 계획 · 실행 · 브라우저 검증까지 수행한다. 복사해 바로 붙여넣을 수 있는 프롬프트 전문은 채팅 답변에 별도로 제공했다.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Centris Sym3 Etch · 사전설계문서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52360" y="256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EQP-DES-2026-014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</a:t>
            </a:r>
            <a:pPr indent="0" marL="0">
              <a:buNone/>
            </a:pPr>
            <a:r>
              <a:rPr lang="en-US" sz="2600" b="1" dirty="0">
                <a:solidFill>
                  <a:srgbClr val="1A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체크리스트 &amp; 다음 단계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항목이 모두 충족되면 바이브코딩으로 넘어갈 준비가 끝난 것이다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10972800" cy="0"/>
          </a:xfrm>
          <a:prstGeom prst="line">
            <a:avLst/>
          </a:prstGeom>
          <a:noFill/>
          <a:ln w="12700">
            <a:solidFill>
              <a:srgbClr val="C7C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[ 01 ]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장비명과 공정 역할이 명확하다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5개, Output 5개가 구체적으로 정의되어 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7157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08760" y="27889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/ 주의 / 위험 / OK / NG 판정 기준이 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1729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32461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4영역(제어 · 상태 · 그래프 · 로그)이 구체적이다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6301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03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3703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버튼별 기능(Start/Stop/Fault/Save/Reset)이 명확하다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0873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60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08760" y="4160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로그 컬럼이 통일되어 있고 분석 가능하다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45445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17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4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[ 07 ]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08760" y="4617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 프롬프트가 AI가 바로 개발 가능할 만큼 구체적이다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5001768"/>
            <a:ext cx="10972800" cy="0"/>
          </a:xfrm>
          <a:prstGeom prst="line">
            <a:avLst/>
          </a:prstGeom>
          <a:noFill/>
          <a:ln w="6350">
            <a:solidFill>
              <a:srgbClr val="C7CE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56327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설계 문서(특히 문서 4 UI 설계서, 문서 7 Antigravity 프롬프트)를 그대로 Antigravity에 입력해 시뮬레이터를 구현하고, 생성된 CSV 로그로 데이터 분석 포트폴리오까지 연결한다.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C7CE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장비데이터분석프로그래밍 · 포트폴리오 사전설계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65276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Centris Sym3 Etch 시뮬레이터 사전설계 문서</dc:title>
  <dc:subject>PptxGenJS Presentation</dc:subject>
  <dc:creator>Equipment Data Analytics Portfolio</dc:creator>
  <cp:lastModifiedBy>Equipment Data Analytics Portfolio</cp:lastModifiedBy>
  <cp:revision>1</cp:revision>
  <dcterms:created xsi:type="dcterms:W3CDTF">2026-07-03T06:01:43Z</dcterms:created>
  <dcterms:modified xsi:type="dcterms:W3CDTF">2026-07-03T06:01:43Z</dcterms:modified>
</cp:coreProperties>
</file>