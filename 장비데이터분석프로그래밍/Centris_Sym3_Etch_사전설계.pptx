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2" y="19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Etch Depth</c:v>
                </c:pt>
              </c:strCache>
            </c:strRef>
          </c:tx>
          <c:spPr>
            <a:ln w="31750" cap="flat">
              <a:solidFill>
                <a:srgbClr val="0A8C9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A8C99"/>
              </a:solidFill>
              <a:ln w="9525" cap="flat">
                <a:solidFill>
                  <a:srgbClr val="0A8C9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0s</c:v>
                </c:pt>
                <c:pt idx="1">
                  <c:v>20s</c:v>
                </c:pt>
                <c:pt idx="2">
                  <c:v>40s</c:v>
                </c:pt>
                <c:pt idx="3">
                  <c:v>60s</c:v>
                </c:pt>
                <c:pt idx="4">
                  <c:v>80s</c:v>
                </c:pt>
                <c:pt idx="5">
                  <c:v>100s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40</c:v>
                </c:pt>
                <c:pt idx="2">
                  <c:v>85</c:v>
                </c:pt>
                <c:pt idx="3">
                  <c:v>130</c:v>
                </c:pt>
                <c:pt idx="4">
                  <c:v>165</c:v>
                </c:pt>
                <c:pt idx="5">
                  <c:v>180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E32-430D-98D7-DA95A12F1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E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7130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685800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142C42"/>
          </a:solidFill>
          <a:ln w="12700">
            <a:solidFill>
              <a:srgbClr val="1D3A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858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3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바이브코딩 사전설계 문서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Centris Sym3 Etch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데이터 시뮬레이터 개발 전 설계 문서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Materials Centris® Sym3® Etch · Conductor/Silicon Plasma Etch Simulator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기획서 · 입출력 데이터 정의서 · 시나리오 설계서 · UI 설계서 · 기능명세서 · 데이터 로그 설계서 · 바이브코딩 프롬프트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257800"/>
            <a:ext cx="3246120" cy="777240"/>
          </a:xfrm>
          <a:prstGeom prst="roundRect">
            <a:avLst>
              <a:gd name="adj" fmla="val 10588"/>
            </a:avLst>
          </a:prstGeom>
          <a:solidFill>
            <a:srgbClr val="142C42"/>
          </a:solidFill>
          <a:ln w="12700">
            <a:solidFill>
              <a:srgbClr val="1D3A54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477256"/>
            <a:ext cx="329184" cy="329184"/>
          </a:xfrm>
          <a:prstGeom prst="rect">
            <a:avLst/>
          </a:prstGeom>
          <a:solidFill>
            <a:srgbClr val="FFFF00"/>
          </a:solidFill>
        </p:spPr>
      </p:pic>
      <p:sp>
        <p:nvSpPr>
          <p:cNvPr id="11" name="Text 8"/>
          <p:cNvSpPr/>
          <p:nvPr/>
        </p:nvSpPr>
        <p:spPr>
          <a:xfrm>
            <a:off x="1188720" y="5257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장비: Centris Sym3 Etch (Conductor Etch)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23360" y="5257800"/>
            <a:ext cx="3246120" cy="777240"/>
          </a:xfrm>
          <a:prstGeom prst="roundRect">
            <a:avLst>
              <a:gd name="adj" fmla="val 10588"/>
            </a:avLst>
          </a:prstGeom>
          <a:solidFill>
            <a:srgbClr val="142C42"/>
          </a:solidFill>
          <a:ln w="12700">
            <a:solidFill>
              <a:srgbClr val="1D3A54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5477256"/>
            <a:ext cx="329184" cy="329184"/>
          </a:xfrm>
          <a:prstGeom prst="rect">
            <a:avLst/>
          </a:prstGeom>
          <a:solidFill>
            <a:srgbClr val="FFFF00"/>
          </a:solidFill>
        </p:spPr>
      </p:pic>
      <p:sp>
        <p:nvSpPr>
          <p:cNvPr id="14" name="Text 10"/>
          <p:cNvSpPr/>
          <p:nvPr/>
        </p:nvSpPr>
        <p:spPr>
          <a:xfrm>
            <a:off x="4663440" y="5257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산출물: 설계 PPTX 7종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498080" y="5257800"/>
            <a:ext cx="3246120" cy="777240"/>
          </a:xfrm>
          <a:prstGeom prst="roundRect">
            <a:avLst>
              <a:gd name="adj" fmla="val 10588"/>
            </a:avLst>
          </a:prstGeom>
          <a:solidFill>
            <a:srgbClr val="142C42"/>
          </a:solidFill>
          <a:ln w="12700">
            <a:solidFill>
              <a:srgbClr val="1D3A54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9248" y="547725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5257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단계: Streamlit 바이브코딩 구현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장비데이터분석프로그래밍 · 포트폴리오 사전설계 실습</a:t>
            </a:r>
            <a:endParaRPr lang="en-US" sz="1000" dirty="0"/>
          </a:p>
        </p:txBody>
      </p:sp>
      <p:sp>
        <p:nvSpPr>
          <p:cNvPr id="2" name="TextBox 1"/>
          <p:cNvSpPr txBox="1"/>
          <p:nvPr/>
        </p:nvSpPr>
        <p:spPr>
          <a:xfrm>
            <a:off x="4788518" y="4468642"/>
            <a:ext cx="7403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dirty="0" smtClean="0">
                <a:solidFill>
                  <a:schemeClr val="bg1"/>
                </a:solidFill>
              </a:rPr>
              <a:t>반도체 장비소프트웨어과 하이테크 송성민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B1E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3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786384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장비 기획서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316736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만들 것인가 — 장비명, 공정 역할, 개발 목적을 한 문장으로 확정한다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1700784"/>
            <a:ext cx="11064240" cy="0"/>
          </a:xfrm>
          <a:prstGeom prst="line">
            <a:avLst/>
          </a:prstGeom>
          <a:noFill/>
          <a:ln w="12700">
            <a:solidFill>
              <a:srgbClr val="DEE7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965960"/>
            <a:ext cx="59893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EE7EC"/>
            </a:solidFill>
            <a:prstDash val="solid"/>
          </a:ln>
          <a:effectLst>
            <a:outerShdw blurRad="101600" dist="25400" dir="5400000" algn="bl" rotWithShape="0">
              <a:srgbClr val="1B2B38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093976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0B1E33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20939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장비명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920240" y="1965960"/>
            <a:ext cx="4453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Materials Centris® Sym3® Etch (Conductor/Silicon Etch Chamber)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615184"/>
            <a:ext cx="59893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EE7EC"/>
            </a:solidFill>
            <a:prstDash val="solid"/>
          </a:ln>
          <a:effectLst>
            <a:outerShdw blurRad="101600" dist="25400" dir="5400000" algn="bl" rotWithShape="0">
              <a:srgbClr val="1B2B38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3232" y="2779776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0B1E33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" y="27797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역할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920240" y="2615184"/>
            <a:ext cx="4453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FinFET / GAA / 3D NAND Channel Hole 등 고종횡비 구조 형성을 위한 이방성 플라즈마 식각 (Cl2/HBr/O2 기반)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337560"/>
            <a:ext cx="59893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EE7EC"/>
            </a:solidFill>
            <a:prstDash val="solid"/>
          </a:ln>
          <a:effectLst>
            <a:outerShdw blurRad="101600" dist="25400" dir="5400000" algn="bl" rotWithShape="0">
              <a:srgbClr val="1B2B38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13232" y="3593592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0B1E33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35935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목적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920240" y="3337560"/>
            <a:ext cx="4453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Power, Bias Power, Pressure, Gas Flow를 입력하면 Etch Rate·Etch Depth·Uniformity·OES 신호를 계산하고, 공정 상태를 판정하여 CSV로 로깅하는 시뮬레이터 개발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4242816"/>
            <a:ext cx="59893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EE7EC"/>
            </a:solidFill>
            <a:prstDash val="solid"/>
          </a:ln>
          <a:effectLst>
            <a:outerShdw blurRad="101600" dist="25400" dir="5400000" algn="bl" rotWithShape="0">
              <a:srgbClr val="1B2B38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13232" y="4370832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0B1E33"/>
          </a:solidFill>
          <a:ln/>
        </p:spPr>
      </p:sp>
      <p:sp>
        <p:nvSpPr>
          <p:cNvPr id="23" name="Text 20"/>
          <p:cNvSpPr/>
          <p:nvPr/>
        </p:nvSpPr>
        <p:spPr>
          <a:xfrm>
            <a:off x="713232" y="43708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920240" y="4242816"/>
            <a:ext cx="4453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 포트폴리오 제작자, 공정/장비 엔지니어, 데이터 분석가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892040"/>
            <a:ext cx="59893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EE7EC"/>
            </a:solidFill>
            <a:prstDash val="solid"/>
          </a:ln>
          <a:effectLst>
            <a:outerShdw blurRad="101600" dist="25400" dir="5400000" algn="bl" rotWithShape="0">
              <a:srgbClr val="1B2B38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13232" y="5020056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0B1E33"/>
          </a:solidFill>
          <a:ln/>
        </p:spPr>
      </p:sp>
      <p:sp>
        <p:nvSpPr>
          <p:cNvPr id="27" name="Text 24"/>
          <p:cNvSpPr/>
          <p:nvPr/>
        </p:nvSpPr>
        <p:spPr>
          <a:xfrm>
            <a:off x="713232" y="50200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결과물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920240" y="4892040"/>
            <a:ext cx="4453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기반 UI 시뮬레이터 + equipment_log.csv + 분석 노트북(Jupyter)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702552" y="1965960"/>
            <a:ext cx="4754880" cy="4160520"/>
          </a:xfrm>
          <a:prstGeom prst="roundRect">
            <a:avLst>
              <a:gd name="adj" fmla="val 2198"/>
            </a:avLst>
          </a:prstGeom>
          <a:solidFill>
            <a:srgbClr val="0B1E33"/>
          </a:solidFill>
          <a:ln/>
        </p:spPr>
      </p:sp>
      <p:sp>
        <p:nvSpPr>
          <p:cNvPr id="30" name="Text 27"/>
          <p:cNvSpPr/>
          <p:nvPr/>
        </p:nvSpPr>
        <p:spPr>
          <a:xfrm>
            <a:off x="7114032" y="2167128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기능 5가지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114032" y="267919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C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7571232" y="267919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입력값 설정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Power / Pressure / Gas Flow / Bias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114032" y="333756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C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7571232" y="333756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시작 / 정지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· Stop 제어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7114032" y="399592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C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7571232" y="399592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그래프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Etch Depth, OES Intensity 추이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7114032" y="465429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C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7571232" y="465429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정상/주의/위험 판정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· WARNING · FAULT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7114032" y="5312664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C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7571232" y="531266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로그 저장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equipment_log.csv 자동 기록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장비데이터분석프로그래밍 · Centris Sym3 Etch 시뮬레이터 사전설계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B1E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3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786384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입출력 데이터 정의서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316736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“입력 → 장비 동작 → 출력” 구조 — Input 5 / Output 5 정의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1700784"/>
            <a:ext cx="11064240" cy="0"/>
          </a:xfrm>
          <a:prstGeom prst="line">
            <a:avLst/>
          </a:prstGeom>
          <a:noFill/>
          <a:ln w="12700">
            <a:solidFill>
              <a:srgbClr val="DEE7E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01952"/>
          <a:ext cx="11064240" cy="402336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정상 범위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표시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Source Power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~ 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슬라이더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Bias Power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~ 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슬라이더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Chamber Pressure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mTorr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~ 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입력칸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Cl₂ / HBr Gas 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~ 150 / 60 ~ 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슬라이더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Electrode Temp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~ 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입력칸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Etch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nm/min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목표±5%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 카드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Etch 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목표값 도달 시 정지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실시간 그래프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이상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게이지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OES Intensity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a.u.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급감 감지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실시간 그래프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이상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 카드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장비데이터분석프로그래밍 · Centris Sym3 Etch 시뮬레이터 사전설계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B1E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3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786384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정상 / 이상 시나리오 설계서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316736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Etcher 공정 흐름 예시 — 정상 식각부터 Endpoint 완료까지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1700784"/>
            <a:ext cx="11064240" cy="0"/>
          </a:xfrm>
          <a:prstGeom prst="line">
            <a:avLst/>
          </a:prstGeom>
          <a:noFill/>
          <a:ln w="12700">
            <a:solidFill>
              <a:srgbClr val="DEE7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96596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EE7EC"/>
            </a:solidFill>
            <a:prstDash val="solid"/>
          </a:ln>
          <a:effectLst>
            <a:outerShdw blurRad="101600" dist="25400" dir="5400000" algn="bl" rotWithShape="0">
              <a:srgbClr val="1B2B38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965960"/>
            <a:ext cx="2606040" cy="566928"/>
          </a:xfrm>
          <a:prstGeom prst="rect">
            <a:avLst/>
          </a:prstGeom>
          <a:solidFill>
            <a:srgbClr val="0B1E33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197253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~ 60초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559052" y="2679192"/>
            <a:ext cx="585216" cy="585216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947" y="2802087"/>
            <a:ext cx="339425" cy="3394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8368" y="339242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정상 식각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49808" y="3904488"/>
            <a:ext cx="2203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Source 900W ± 근처 유지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20mTorr 근처 유지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Etch Depth 선형 증가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NORMAL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355848" y="196596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EE7EC"/>
            </a:solidFill>
            <a:prstDash val="solid"/>
          </a:ln>
          <a:effectLst>
            <a:outerShdw blurRad="101600" dist="25400" dir="5400000" algn="bl" rotWithShape="0">
              <a:srgbClr val="1B2B38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355848" y="1965960"/>
            <a:ext cx="2606040" cy="566928"/>
          </a:xfrm>
          <a:prstGeom prst="rect">
            <a:avLst/>
          </a:prstGeom>
          <a:solidFill>
            <a:srgbClr val="0B1E33"/>
          </a:solidFill>
          <a:ln/>
        </p:spPr>
      </p:sp>
      <p:sp>
        <p:nvSpPr>
          <p:cNvPr id="18" name="Text 14"/>
          <p:cNvSpPr/>
          <p:nvPr/>
        </p:nvSpPr>
        <p:spPr>
          <a:xfrm>
            <a:off x="3429000" y="19659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~ 80초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366260" y="2679192"/>
            <a:ext cx="585216" cy="585216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155" y="2802087"/>
            <a:ext cx="339425" cy="3394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465576" y="339242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가스 유량 저하 이상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3557016" y="3904488"/>
            <a:ext cx="2203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Cl₂ Flow 120 → 95sccm 감소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불안정 (±3mTorr)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Etch Rate 편차 증가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WARNING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163056" y="196596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EE7EC"/>
            </a:solidFill>
            <a:prstDash val="solid"/>
          </a:ln>
          <a:effectLst>
            <a:outerShdw blurRad="101600" dist="25400" dir="5400000" algn="bl" rotWithShape="0">
              <a:srgbClr val="1B2B38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163056" y="1965960"/>
            <a:ext cx="2606040" cy="566928"/>
          </a:xfrm>
          <a:prstGeom prst="rect">
            <a:avLst/>
          </a:prstGeom>
          <a:solidFill>
            <a:srgbClr val="0B1E33"/>
          </a:solidFill>
          <a:ln/>
        </p:spPr>
      </p:sp>
      <p:sp>
        <p:nvSpPr>
          <p:cNvPr id="25" name="Text 20"/>
          <p:cNvSpPr/>
          <p:nvPr/>
        </p:nvSpPr>
        <p:spPr>
          <a:xfrm>
            <a:off x="6300215" y="19659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~ 95초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7173468" y="2679192"/>
            <a:ext cx="585216" cy="585216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363" y="2802087"/>
            <a:ext cx="339425" cy="33942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272784" y="339242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 불안정 / 고장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6364224" y="3904488"/>
            <a:ext cx="2203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Bias 급변, 반사파 증가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Uniformity 95% 미만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OES 신호 노이즈 증가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FAULT / 알람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8970264" y="1965960"/>
            <a:ext cx="2606040" cy="3977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EE7EC"/>
            </a:solidFill>
            <a:prstDash val="solid"/>
          </a:ln>
          <a:effectLst>
            <a:outerShdw blurRad="101600" dist="25400" dir="5400000" algn="bl" rotWithShape="0">
              <a:srgbClr val="1B2B38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8970264" y="1965960"/>
            <a:ext cx="2606040" cy="566928"/>
          </a:xfrm>
          <a:prstGeom prst="rect">
            <a:avLst/>
          </a:prstGeom>
          <a:solidFill>
            <a:srgbClr val="0B1E33"/>
          </a:solidFill>
          <a:ln/>
        </p:spPr>
      </p:sp>
      <p:sp>
        <p:nvSpPr>
          <p:cNvPr id="32" name="Text 26"/>
          <p:cNvSpPr/>
          <p:nvPr/>
        </p:nvSpPr>
        <p:spPr>
          <a:xfrm>
            <a:off x="9043416" y="1960829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~ 100초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9980676" y="2679192"/>
            <a:ext cx="585216" cy="585216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3571" y="2802087"/>
            <a:ext cx="339425" cy="33942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079992" y="3392424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 Detection 완료</a:t>
            </a:r>
            <a:endParaRPr lang="en-US" sz="1450" dirty="0"/>
          </a:p>
        </p:txBody>
      </p:sp>
      <p:sp>
        <p:nvSpPr>
          <p:cNvPr id="36" name="Text 29"/>
          <p:cNvSpPr/>
          <p:nvPr/>
        </p:nvSpPr>
        <p:spPr>
          <a:xfrm>
            <a:off x="9171432" y="3904488"/>
            <a:ext cx="2203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OES Intensity 급감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Depth 도달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자동 정지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COMPLETE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장비데이터분석프로그래밍 · Centris Sym3 Etch 시뮬레이터 사전설계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B1E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3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786384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화면 설계서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316736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 · 상태 · 그래프 · 로그 4영역으로 구성된 Streamlit 화면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1700784"/>
            <a:ext cx="11064240" cy="0"/>
          </a:xfrm>
          <a:prstGeom prst="line">
            <a:avLst/>
          </a:prstGeom>
          <a:noFill/>
          <a:ln w="12700">
            <a:solidFill>
              <a:srgbClr val="DEE7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965960"/>
            <a:ext cx="11064240" cy="4160520"/>
          </a:xfrm>
          <a:prstGeom prst="roundRect">
            <a:avLst>
              <a:gd name="adj" fmla="val 1758"/>
            </a:avLst>
          </a:prstGeom>
          <a:solidFill>
            <a:srgbClr val="EDF3F6"/>
          </a:solidFill>
          <a:ln w="12700">
            <a:solidFill>
              <a:srgbClr val="DEE7EC"/>
            </a:solidFill>
            <a:prstDash val="solid"/>
          </a:ln>
          <a:effectLst>
            <a:outerShdw blurRad="101600" dist="25400" dir="5400000" algn="bl" rotWithShape="0">
              <a:srgbClr val="1B2B38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130552"/>
            <a:ext cx="2468880" cy="3831336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EE7EC"/>
            </a:solidFill>
            <a:prstDash val="solid"/>
          </a:ln>
          <a:effectLst>
            <a:outerShdw blurRad="101600" dist="25400" dir="5400000" algn="bl" rotWithShape="0">
              <a:srgbClr val="1B2B38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691640" y="2313432"/>
            <a:ext cx="512064" cy="512064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173" y="2420965"/>
            <a:ext cx="296997" cy="29699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" y="28986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입력 제어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932688" y="3264408"/>
            <a:ext cx="2011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Source Power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Bias Power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Pressure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Cl₂ / HBr / O₂ Flow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Electrode Temp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346704" y="2130552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EE7EC"/>
            </a:solidFill>
            <a:prstDash val="solid"/>
          </a:ln>
          <a:effectLst>
            <a:outerShdw blurRad="101600" dist="25400" dir="5400000" algn="bl" rotWithShape="0">
              <a:srgbClr val="1B2B38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529584" y="2331720"/>
            <a:ext cx="457200" cy="457200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596" y="2427732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123944" y="2240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상태 카드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123944" y="25420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/ WARNING / FAULT / COMPLETE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346704" y="3694176"/>
            <a:ext cx="3657600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E7EC"/>
            </a:solidFill>
            <a:prstDash val="solid"/>
          </a:ln>
          <a:effectLst>
            <a:outerShdw blurRad="101600" dist="25400" dir="5400000" algn="bl" rotWithShape="0">
              <a:srgbClr val="1B2B38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529584" y="3877056"/>
            <a:ext cx="457200" cy="457200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596" y="3973068"/>
            <a:ext cx="265176" cy="2651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123944" y="38039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실시간 그래프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123944" y="40965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Etch Depth / OES Intensity 시간축 추이</a:t>
            </a:r>
            <a:endParaRPr lang="en-US" sz="10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3529584" y="4471416"/>
          <a:ext cx="3291840" cy="1353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6" name="Shape 19"/>
          <p:cNvSpPr/>
          <p:nvPr/>
        </p:nvSpPr>
        <p:spPr>
          <a:xfrm>
            <a:off x="7168896" y="2130552"/>
            <a:ext cx="4279392" cy="3831336"/>
          </a:xfrm>
          <a:prstGeom prst="roundRect">
            <a:avLst>
              <a:gd name="adj" fmla="val 1909"/>
            </a:avLst>
          </a:prstGeom>
          <a:solidFill>
            <a:srgbClr val="FFFFFF"/>
          </a:solidFill>
          <a:ln w="12700">
            <a:solidFill>
              <a:srgbClr val="DEE7EC"/>
            </a:solidFill>
            <a:prstDash val="solid"/>
          </a:ln>
          <a:effectLst>
            <a:outerShdw blurRad="101600" dist="25400" dir="5400000" algn="bl" rotWithShape="0">
              <a:srgbClr val="1B2B38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351776" y="2313432"/>
            <a:ext cx="457200" cy="457200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7788" y="2409444"/>
            <a:ext cx="265176" cy="26517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946136" y="224028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로그 테이블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7946136" y="2532888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input, output, status 누적 표시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51776" y="2971800"/>
          <a:ext cx="3913632" cy="1170432"/>
        </p:xfrm>
        <a:graphic>
          <a:graphicData uri="http://schemas.openxmlformats.org/drawingml/2006/table">
            <a:tbl>
              <a:tblPr/>
              <a:tblGrid>
                <a:gridCol w="1252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0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rf_w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depth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202B"/>
                          </a:solidFill>
                        </a:rPr>
                        <a:t>10:01:05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202B"/>
                          </a:solidFill>
                        </a:rPr>
                        <a:t>900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202B"/>
                          </a:solidFill>
                        </a:rPr>
                        <a:t>42.1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202B"/>
                          </a:solidFill>
                        </a:rPr>
                        <a:t>NORMAL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202B"/>
                          </a:solidFill>
                        </a:rPr>
                        <a:t>10:01:35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202B"/>
                          </a:solidFill>
                        </a:rPr>
                        <a:t>905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202B"/>
                          </a:solidFill>
                        </a:rPr>
                        <a:t>84.6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202B"/>
                          </a:solidFill>
                        </a:rPr>
                        <a:t>NORMAL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202B"/>
                          </a:solidFill>
                        </a:rPr>
                        <a:t>10:02:15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202B"/>
                          </a:solidFill>
                        </a:rPr>
                        <a:t>880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202B"/>
                          </a:solidFill>
                        </a:rPr>
                        <a:t>121.3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3202B"/>
                          </a:solidFill>
                        </a:rPr>
                        <a:t>WARNING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Text 23"/>
          <p:cNvSpPr/>
          <p:nvPr/>
        </p:nvSpPr>
        <p:spPr>
          <a:xfrm>
            <a:off x="7351776" y="5468112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  ·   Stop   ·   Fault Injection   ·   Save CSV   ·   Reset</a:t>
            </a:r>
            <a:endParaRPr lang="en-US" sz="950" dirty="0"/>
          </a:p>
        </p:txBody>
      </p:sp>
      <p:sp>
        <p:nvSpPr>
          <p:cNvPr id="33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장비데이터분석프로그래밍 · Centris Sym3 Etch 시뮬레이터 사전설계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B1E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3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786384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기능명세서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316736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버튼을 누르면 어떤 일이 일어나는가를 먼저 글로 정의한다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1700784"/>
            <a:ext cx="11064240" cy="0"/>
          </a:xfrm>
          <a:prstGeom prst="line">
            <a:avLst/>
          </a:prstGeom>
          <a:noFill/>
          <a:ln w="12700">
            <a:solidFill>
              <a:srgbClr val="DEE7E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340156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기능명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 동작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처리 내용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출력 / 화면 변화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공정 시작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버튼 클릭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입력값 읽기, 타이머 시작, 상태 RUNNING 전환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실시간 그래프·로그 생성 시작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공정 정지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버튼 클릭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타이머 중지, 현재까지 데이터 확정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상태 STOPPED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이상 주입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Injection 클릭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Cl₂ 유량 저하 또는 RF 불안정 시나리오 적용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상태 WARNING / FAULT 전환, 알람 표시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 저장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CSV 버튼 클릭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로그 DataFrame을 CSV로 저장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equipment_log.csv 생성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버튼 클릭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입력값 / 그래프 / 로그 초기화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상태 IDLE 복귀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장비데이터분석프로그래밍 · Centris Sym3 Etch 시뮬레이터 사전설계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B1E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3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786384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로그 &amp; 판정 로직 설계서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1316736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추후 분석 가능한 CSV 컬럼 구조와 NORMAL / WARNING / FAULT 판정 기준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1700784"/>
            <a:ext cx="11064240" cy="0"/>
          </a:xfrm>
          <a:prstGeom prst="line">
            <a:avLst/>
          </a:prstGeom>
          <a:noFill/>
          <a:ln w="12700">
            <a:solidFill>
              <a:srgbClr val="DEE7E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309360" cy="341985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컬럼명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2026-07-03 10:01:05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생성 시각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SYM3-ETCH-01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장비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rf_source_power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Source Power (W)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rf_bias_power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Bias Power (W)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챔버 압력 (mTorr)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cl2_flow / hbr_flow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/ 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가스 유량 (sccm)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etch_rate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식각 속도 (nm/min)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etch_depth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누적 식각 깊이 (nm)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oes_intensity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신호 세기 (a.u.)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/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/ 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장비 상태 판정 / 최종 품질 판정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E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178040" y="1920240"/>
            <a:ext cx="4434840" cy="4251960"/>
          </a:xfrm>
          <a:prstGeom prst="roundRect">
            <a:avLst>
              <a:gd name="adj" fmla="val 2151"/>
            </a:avLst>
          </a:prstGeom>
          <a:solidFill>
            <a:srgbClr val="0B1E33"/>
          </a:solidFill>
          <a:ln/>
        </p:spPr>
      </p:sp>
      <p:sp>
        <p:nvSpPr>
          <p:cNvPr id="11" name="Text 7"/>
          <p:cNvSpPr/>
          <p:nvPr/>
        </p:nvSpPr>
        <p:spPr>
          <a:xfrm>
            <a:off x="7434072" y="2103120"/>
            <a:ext cx="3922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판정 로직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7434072" y="2633472"/>
            <a:ext cx="128016" cy="128016"/>
          </a:xfrm>
          <a:prstGeom prst="ellipse">
            <a:avLst/>
          </a:prstGeom>
          <a:solidFill>
            <a:srgbClr val="1FAE5A"/>
          </a:solidFill>
          <a:ln/>
        </p:spPr>
      </p:sp>
      <p:sp>
        <p:nvSpPr>
          <p:cNvPr id="13" name="Text 9"/>
          <p:cNvSpPr/>
          <p:nvPr/>
        </p:nvSpPr>
        <p:spPr>
          <a:xfrm>
            <a:off x="7680960" y="253288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(NORMAL)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680960" y="28163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9A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900±50W, Pressure 20±3mTorr, Uniformity ≥ 95%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7434072" y="3502152"/>
            <a:ext cx="128016" cy="12801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2"/>
          <p:cNvSpPr/>
          <p:nvPr/>
        </p:nvSpPr>
        <p:spPr>
          <a:xfrm>
            <a:off x="7680960" y="34015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 (WARNING)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680960" y="36850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9A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Cl₂ Flow &lt; 100sccm 또는 Uniformity 90~95%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7434072" y="4370832"/>
            <a:ext cx="128016" cy="128016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9" name="Text 15"/>
          <p:cNvSpPr/>
          <p:nvPr/>
        </p:nvSpPr>
        <p:spPr>
          <a:xfrm>
            <a:off x="7680960" y="42702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(FAULT)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680960" y="45537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9A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반사파 급증 또는 Uniformity &lt; 90%</a:t>
            </a:r>
            <a:endParaRPr lang="en-US" sz="980" dirty="0"/>
          </a:p>
        </p:txBody>
      </p:sp>
      <p:sp>
        <p:nvSpPr>
          <p:cNvPr id="21" name="Shape 17"/>
          <p:cNvSpPr/>
          <p:nvPr/>
        </p:nvSpPr>
        <p:spPr>
          <a:xfrm>
            <a:off x="7434072" y="5239512"/>
            <a:ext cx="128016" cy="128016"/>
          </a:xfrm>
          <a:prstGeom prst="ellipse">
            <a:avLst/>
          </a:prstGeom>
          <a:solidFill>
            <a:srgbClr val="13C4D6"/>
          </a:solidFill>
          <a:ln/>
        </p:spPr>
      </p:sp>
      <p:sp>
        <p:nvSpPr>
          <p:cNvPr id="22" name="Text 18"/>
          <p:cNvSpPr/>
          <p:nvPr/>
        </p:nvSpPr>
        <p:spPr>
          <a:xfrm>
            <a:off x="7680960" y="51389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판정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680960" y="54223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9A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Output 전부 만족 → OK, 하나라도 이탈 → NG</a:t>
            </a:r>
            <a:endParaRPr lang="en-US" sz="980" dirty="0"/>
          </a:p>
        </p:txBody>
      </p:sp>
      <p:sp>
        <p:nvSpPr>
          <p:cNvPr id="24" name="Shape 20"/>
          <p:cNvSpPr/>
          <p:nvPr/>
        </p:nvSpPr>
        <p:spPr>
          <a:xfrm>
            <a:off x="7434072" y="6053328"/>
            <a:ext cx="3922776" cy="0"/>
          </a:xfrm>
          <a:prstGeom prst="line">
            <a:avLst/>
          </a:prstGeom>
          <a:noFill/>
          <a:ln w="12700">
            <a:solidFill>
              <a:srgbClr val="1D3A5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434072" y="6181344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Etch Rate = f(RF, Pressure) 예시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434072" y="6473952"/>
            <a:ext cx="3922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= 20 + (RF-800)*0.05 − (Pressure-20)*0.3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장비데이터분석프로그래밍 · Centris Sym3 Etch 시뮬레이터 사전설계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4572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42C42"/>
          </a:solidFill>
          <a:ln w="12700">
            <a:solidFill>
              <a:srgbClr val="1D3A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3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7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바이브코딩 프롬프트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548640" y="1426464"/>
            <a:ext cx="11064240" cy="4608576"/>
          </a:xfrm>
          <a:prstGeom prst="roundRect">
            <a:avLst>
              <a:gd name="adj" fmla="val 1739"/>
            </a:avLst>
          </a:prstGeom>
          <a:solidFill>
            <a:srgbClr val="0F2233"/>
          </a:solidFill>
          <a:ln w="12700">
            <a:solidFill>
              <a:srgbClr val="1D3A5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435608"/>
            <a:ext cx="11064240" cy="365760"/>
          </a:xfrm>
          <a:prstGeom prst="rect">
            <a:avLst/>
          </a:prstGeom>
          <a:solidFill>
            <a:srgbClr val="0A1A28"/>
          </a:solidFill>
          <a:ln/>
        </p:spPr>
      </p:sp>
      <p:sp>
        <p:nvSpPr>
          <p:cNvPr id="14" name="Text 11"/>
          <p:cNvSpPr/>
          <p:nvPr/>
        </p:nvSpPr>
        <p:spPr>
          <a:xfrm>
            <a:off x="1280160" y="14264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B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prompt.txt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" y="2331720"/>
            <a:ext cx="1049191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12000"/>
              </a:lnSpc>
              <a:buFontTx/>
              <a:buChar char="-"/>
            </a:pPr>
            <a:endParaRPr lang="en-US" sz="800" dirty="0"/>
          </a:p>
          <a:p>
            <a:pPr marL="0" indent="0">
              <a:lnSpc>
                <a:spcPct val="112000"/>
              </a:lnSpc>
              <a:buNone/>
            </a:pP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장비데이터분석프로그래밍 · Centris Sym3 Etch 시뮬레이터 사전설계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2" name="TextBox 1"/>
          <p:cNvSpPr txBox="1"/>
          <p:nvPr/>
        </p:nvSpPr>
        <p:spPr>
          <a:xfrm>
            <a:off x="548640" y="1801368"/>
            <a:ext cx="1101621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solidFill>
                  <a:schemeClr val="bg1"/>
                </a:solidFill>
              </a:rPr>
              <a:t>너는 </a:t>
            </a:r>
            <a:r>
              <a:rPr lang="en-US" altLang="ko-KR" sz="500" dirty="0">
                <a:solidFill>
                  <a:schemeClr val="bg1"/>
                </a:solidFill>
              </a:rPr>
              <a:t>Python </a:t>
            </a:r>
            <a:r>
              <a:rPr lang="en-US" altLang="ko-KR" sz="500" dirty="0" err="1">
                <a:solidFill>
                  <a:schemeClr val="bg1"/>
                </a:solidFill>
              </a:rPr>
              <a:t>Streamlit</a:t>
            </a:r>
            <a:r>
              <a:rPr lang="en-US" altLang="ko-KR" sz="500" dirty="0">
                <a:solidFill>
                  <a:schemeClr val="bg1"/>
                </a:solidFill>
              </a:rPr>
              <a:t> </a:t>
            </a:r>
            <a:r>
              <a:rPr lang="ko-KR" altLang="en-US" sz="500" dirty="0">
                <a:solidFill>
                  <a:schemeClr val="bg1"/>
                </a:solidFill>
              </a:rPr>
              <a:t>기반 반도체 </a:t>
            </a:r>
            <a:r>
              <a:rPr lang="ko-KR" altLang="en-US" sz="500" dirty="0" err="1">
                <a:solidFill>
                  <a:schemeClr val="bg1"/>
                </a:solidFill>
              </a:rPr>
              <a:t>식각</a:t>
            </a:r>
            <a:r>
              <a:rPr lang="en-US" altLang="ko-KR" sz="500" dirty="0">
                <a:solidFill>
                  <a:schemeClr val="bg1"/>
                </a:solidFill>
              </a:rPr>
              <a:t>(Etch) </a:t>
            </a:r>
            <a:r>
              <a:rPr lang="ko-KR" altLang="en-US" sz="500" dirty="0">
                <a:solidFill>
                  <a:schemeClr val="bg1"/>
                </a:solidFill>
              </a:rPr>
              <a:t>장비 시뮬레이터 개발자다</a:t>
            </a:r>
            <a:r>
              <a:rPr lang="en-US" altLang="ko-KR" sz="500" dirty="0">
                <a:solidFill>
                  <a:schemeClr val="bg1"/>
                </a:solidFill>
              </a:rPr>
              <a:t>. </a:t>
            </a:r>
          </a:p>
          <a:p>
            <a:r>
              <a:rPr lang="ko-KR" altLang="en-US" sz="500" dirty="0">
                <a:solidFill>
                  <a:schemeClr val="bg1"/>
                </a:solidFill>
              </a:rPr>
              <a:t>초보자가 </a:t>
            </a:r>
            <a:r>
              <a:rPr lang="en-US" altLang="ko-KR" sz="500" dirty="0">
                <a:solidFill>
                  <a:schemeClr val="bg1"/>
                </a:solidFill>
              </a:rPr>
              <a:t>VS Code</a:t>
            </a:r>
            <a:r>
              <a:rPr lang="ko-KR" altLang="en-US" sz="500" dirty="0">
                <a:solidFill>
                  <a:schemeClr val="bg1"/>
                </a:solidFill>
              </a:rPr>
              <a:t>에서 가상환경 설정 후 바로 실행할 수 있도록 </a:t>
            </a:r>
            <a:r>
              <a:rPr lang="en-US" altLang="ko-KR" sz="500" dirty="0">
                <a:solidFill>
                  <a:schemeClr val="bg1"/>
                </a:solidFill>
              </a:rPr>
              <a:t>'</a:t>
            </a:r>
            <a:r>
              <a:rPr lang="ko-KR" altLang="en-US" sz="500" dirty="0">
                <a:solidFill>
                  <a:schemeClr val="bg1"/>
                </a:solidFill>
              </a:rPr>
              <a:t>전체 소스 코드</a:t>
            </a:r>
            <a:r>
              <a:rPr lang="en-US" altLang="ko-KR" sz="500" dirty="0">
                <a:solidFill>
                  <a:schemeClr val="bg1"/>
                </a:solidFill>
              </a:rPr>
              <a:t>', '</a:t>
            </a:r>
            <a:r>
              <a:rPr lang="ko-KR" altLang="en-US" sz="500" dirty="0">
                <a:solidFill>
                  <a:schemeClr val="bg1"/>
                </a:solidFill>
              </a:rPr>
              <a:t>상세한 한글 주석</a:t>
            </a:r>
            <a:r>
              <a:rPr lang="en-US" altLang="ko-KR" sz="500" dirty="0">
                <a:solidFill>
                  <a:schemeClr val="bg1"/>
                </a:solidFill>
              </a:rPr>
              <a:t>', '</a:t>
            </a:r>
            <a:r>
              <a:rPr lang="ko-KR" altLang="en-US" sz="500" dirty="0">
                <a:solidFill>
                  <a:schemeClr val="bg1"/>
                </a:solidFill>
              </a:rPr>
              <a:t>실행 방법 안내</a:t>
            </a:r>
            <a:r>
              <a:rPr lang="en-US" altLang="ko-KR" sz="500" dirty="0">
                <a:solidFill>
                  <a:schemeClr val="bg1"/>
                </a:solidFill>
              </a:rPr>
              <a:t>'</a:t>
            </a:r>
            <a:r>
              <a:rPr lang="ko-KR" altLang="en-US" sz="500" dirty="0">
                <a:solidFill>
                  <a:schemeClr val="bg1"/>
                </a:solidFill>
              </a:rPr>
              <a:t>를 포함하여 작성해줘</a:t>
            </a:r>
            <a:r>
              <a:rPr lang="en-US" altLang="ko-KR" sz="500" dirty="0">
                <a:solidFill>
                  <a:schemeClr val="bg1"/>
                </a:solidFill>
              </a:rPr>
              <a:t>.</a:t>
            </a:r>
          </a:p>
          <a:p>
            <a:endParaRPr lang="en-US" altLang="ko-KR" sz="500" dirty="0">
              <a:solidFill>
                <a:schemeClr val="bg1"/>
              </a:solidFill>
            </a:endParaRPr>
          </a:p>
          <a:p>
            <a:r>
              <a:rPr lang="en-US" altLang="ko-KR" sz="500" dirty="0">
                <a:solidFill>
                  <a:schemeClr val="bg1"/>
                </a:solidFill>
              </a:rPr>
              <a:t>[</a:t>
            </a:r>
            <a:r>
              <a:rPr lang="ko-KR" altLang="en-US" sz="500" dirty="0">
                <a:solidFill>
                  <a:schemeClr val="bg1"/>
                </a:solidFill>
              </a:rPr>
              <a:t>장비 및 목적</a:t>
            </a:r>
            <a:r>
              <a:rPr lang="en-US" altLang="ko-KR" sz="500" dirty="0">
                <a:solidFill>
                  <a:schemeClr val="bg1"/>
                </a:solidFill>
              </a:rPr>
              <a:t>]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- </a:t>
            </a:r>
            <a:r>
              <a:rPr lang="ko-KR" altLang="en-US" sz="500" dirty="0" err="1">
                <a:solidFill>
                  <a:schemeClr val="bg1"/>
                </a:solidFill>
              </a:rPr>
              <a:t>장비명</a:t>
            </a:r>
            <a:r>
              <a:rPr lang="en-US" altLang="ko-KR" sz="500" dirty="0">
                <a:solidFill>
                  <a:schemeClr val="bg1"/>
                </a:solidFill>
              </a:rPr>
              <a:t>: Applied Materials </a:t>
            </a:r>
            <a:r>
              <a:rPr lang="en-US" altLang="ko-KR" sz="500" dirty="0" err="1">
                <a:solidFill>
                  <a:schemeClr val="bg1"/>
                </a:solidFill>
              </a:rPr>
              <a:t>Centris</a:t>
            </a:r>
            <a:r>
              <a:rPr lang="en-US" altLang="ko-KR" sz="500" dirty="0">
                <a:solidFill>
                  <a:schemeClr val="bg1"/>
                </a:solidFill>
              </a:rPr>
              <a:t> Sym3 Etch (Conductor Plasma Etch)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- </a:t>
            </a:r>
            <a:r>
              <a:rPr lang="ko-KR" altLang="en-US" sz="500" dirty="0">
                <a:solidFill>
                  <a:schemeClr val="bg1"/>
                </a:solidFill>
              </a:rPr>
              <a:t>목적</a:t>
            </a:r>
            <a:r>
              <a:rPr lang="en-US" altLang="ko-KR" sz="500" dirty="0">
                <a:solidFill>
                  <a:schemeClr val="bg1"/>
                </a:solidFill>
              </a:rPr>
              <a:t>: </a:t>
            </a:r>
            <a:r>
              <a:rPr lang="ko-KR" altLang="en-US" sz="500" dirty="0">
                <a:solidFill>
                  <a:schemeClr val="bg1"/>
                </a:solidFill>
              </a:rPr>
              <a:t>핵심 공정 </a:t>
            </a:r>
            <a:r>
              <a:rPr lang="ko-KR" altLang="en-US" sz="500" dirty="0" err="1">
                <a:solidFill>
                  <a:schemeClr val="bg1"/>
                </a:solidFill>
              </a:rPr>
              <a:t>파라미터</a:t>
            </a:r>
            <a:r>
              <a:rPr lang="en-US" altLang="ko-KR" sz="500" dirty="0">
                <a:solidFill>
                  <a:schemeClr val="bg1"/>
                </a:solidFill>
              </a:rPr>
              <a:t>(Input)</a:t>
            </a:r>
            <a:r>
              <a:rPr lang="ko-KR" altLang="en-US" sz="500" dirty="0">
                <a:solidFill>
                  <a:schemeClr val="bg1"/>
                </a:solidFill>
              </a:rPr>
              <a:t>의 변화에 따른 물리적 </a:t>
            </a:r>
            <a:r>
              <a:rPr lang="ko-KR" altLang="en-US" sz="500" dirty="0" err="1">
                <a:solidFill>
                  <a:schemeClr val="bg1"/>
                </a:solidFill>
              </a:rPr>
              <a:t>식각</a:t>
            </a:r>
            <a:r>
              <a:rPr lang="ko-KR" altLang="en-US" sz="500" dirty="0">
                <a:solidFill>
                  <a:schemeClr val="bg1"/>
                </a:solidFill>
              </a:rPr>
              <a:t> 특성</a:t>
            </a:r>
            <a:r>
              <a:rPr lang="en-US" altLang="ko-KR" sz="500" dirty="0">
                <a:solidFill>
                  <a:schemeClr val="bg1"/>
                </a:solidFill>
              </a:rPr>
              <a:t>(Output) </a:t>
            </a:r>
            <a:r>
              <a:rPr lang="ko-KR" altLang="en-US" sz="500" dirty="0">
                <a:solidFill>
                  <a:schemeClr val="bg1"/>
                </a:solidFill>
              </a:rPr>
              <a:t>변화를 실시간 시뮬레이션하고</a:t>
            </a:r>
            <a:r>
              <a:rPr lang="en-US" altLang="ko-KR" sz="500" dirty="0">
                <a:solidFill>
                  <a:schemeClr val="bg1"/>
                </a:solidFill>
              </a:rPr>
              <a:t>, </a:t>
            </a:r>
            <a:r>
              <a:rPr lang="ko-KR" altLang="en-US" sz="500" dirty="0">
                <a:solidFill>
                  <a:schemeClr val="bg1"/>
                </a:solidFill>
              </a:rPr>
              <a:t>공정 </a:t>
            </a:r>
            <a:r>
              <a:rPr lang="ko-KR" altLang="en-US" sz="500" dirty="0" err="1">
                <a:solidFill>
                  <a:schemeClr val="bg1"/>
                </a:solidFill>
              </a:rPr>
              <a:t>시계열</a:t>
            </a:r>
            <a:r>
              <a:rPr lang="ko-KR" altLang="en-US" sz="500" dirty="0">
                <a:solidFill>
                  <a:schemeClr val="bg1"/>
                </a:solidFill>
              </a:rPr>
              <a:t> 로그를 </a:t>
            </a:r>
            <a:r>
              <a:rPr lang="en-US" altLang="ko-KR" sz="500" dirty="0">
                <a:solidFill>
                  <a:schemeClr val="bg1"/>
                </a:solidFill>
              </a:rPr>
              <a:t>CSV</a:t>
            </a:r>
            <a:r>
              <a:rPr lang="ko-KR" altLang="en-US" sz="500" dirty="0">
                <a:solidFill>
                  <a:schemeClr val="bg1"/>
                </a:solidFill>
              </a:rPr>
              <a:t>로 저장하여 추후 데이터 분석</a:t>
            </a:r>
            <a:r>
              <a:rPr lang="en-US" altLang="ko-KR" sz="500" dirty="0">
                <a:solidFill>
                  <a:schemeClr val="bg1"/>
                </a:solidFill>
              </a:rPr>
              <a:t>(EDA/</a:t>
            </a:r>
            <a:r>
              <a:rPr lang="ko-KR" altLang="en-US" sz="500" dirty="0" err="1">
                <a:solidFill>
                  <a:schemeClr val="bg1"/>
                </a:solidFill>
              </a:rPr>
              <a:t>이상탐지</a:t>
            </a:r>
            <a:r>
              <a:rPr lang="en-US" altLang="ko-KR" sz="500" dirty="0">
                <a:solidFill>
                  <a:schemeClr val="bg1"/>
                </a:solidFill>
              </a:rPr>
              <a:t>)</a:t>
            </a:r>
            <a:r>
              <a:rPr lang="ko-KR" altLang="en-US" sz="500" dirty="0">
                <a:solidFill>
                  <a:schemeClr val="bg1"/>
                </a:solidFill>
              </a:rPr>
              <a:t>에 활용한다</a:t>
            </a:r>
            <a:r>
              <a:rPr lang="en-US" altLang="ko-KR" sz="500" dirty="0">
                <a:solidFill>
                  <a:schemeClr val="bg1"/>
                </a:solidFill>
              </a:rPr>
              <a:t>.</a:t>
            </a:r>
          </a:p>
          <a:p>
            <a:endParaRPr lang="en-US" altLang="ko-KR" sz="500" dirty="0">
              <a:solidFill>
                <a:schemeClr val="bg1"/>
              </a:solidFill>
            </a:endParaRPr>
          </a:p>
          <a:p>
            <a:r>
              <a:rPr lang="en-US" altLang="ko-KR" sz="500" dirty="0">
                <a:solidFill>
                  <a:schemeClr val="bg1"/>
                </a:solidFill>
              </a:rPr>
              <a:t>[</a:t>
            </a:r>
            <a:r>
              <a:rPr lang="ko-KR" altLang="en-US" sz="500" dirty="0">
                <a:solidFill>
                  <a:schemeClr val="bg1"/>
                </a:solidFill>
              </a:rPr>
              <a:t>입력 데이터 </a:t>
            </a:r>
            <a:r>
              <a:rPr lang="en-US" altLang="ko-KR" sz="500" dirty="0">
                <a:solidFill>
                  <a:schemeClr val="bg1"/>
                </a:solidFill>
              </a:rPr>
              <a:t>(Input Parameter)]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- </a:t>
            </a:r>
            <a:r>
              <a:rPr lang="en-US" altLang="ko-KR" sz="500" dirty="0" err="1">
                <a:solidFill>
                  <a:schemeClr val="bg1"/>
                </a:solidFill>
              </a:rPr>
              <a:t>rf_source_power</a:t>
            </a:r>
            <a:r>
              <a:rPr lang="en-US" altLang="ko-KR" sz="500" dirty="0">
                <a:solidFill>
                  <a:schemeClr val="bg1"/>
                </a:solidFill>
              </a:rPr>
              <a:t> (W, </a:t>
            </a:r>
            <a:r>
              <a:rPr lang="ko-KR" altLang="en-US" sz="500" dirty="0">
                <a:solidFill>
                  <a:schemeClr val="bg1"/>
                </a:solidFill>
              </a:rPr>
              <a:t>정상범위</a:t>
            </a:r>
            <a:r>
              <a:rPr lang="en-US" altLang="ko-KR" sz="500" dirty="0">
                <a:solidFill>
                  <a:schemeClr val="bg1"/>
                </a:solidFill>
              </a:rPr>
              <a:t>: 800 ~ 1000, </a:t>
            </a:r>
            <a:r>
              <a:rPr lang="ko-KR" altLang="en-US" sz="500" dirty="0">
                <a:solidFill>
                  <a:schemeClr val="bg1"/>
                </a:solidFill>
              </a:rPr>
              <a:t>기본값</a:t>
            </a:r>
            <a:r>
              <a:rPr lang="en-US" altLang="ko-KR" sz="500" dirty="0">
                <a:solidFill>
                  <a:schemeClr val="bg1"/>
                </a:solidFill>
              </a:rPr>
              <a:t>: 900)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- </a:t>
            </a:r>
            <a:r>
              <a:rPr lang="en-US" altLang="ko-KR" sz="500" dirty="0" err="1">
                <a:solidFill>
                  <a:schemeClr val="bg1"/>
                </a:solidFill>
              </a:rPr>
              <a:t>rf_bias_power</a:t>
            </a:r>
            <a:r>
              <a:rPr lang="en-US" altLang="ko-KR" sz="500" dirty="0">
                <a:solidFill>
                  <a:schemeClr val="bg1"/>
                </a:solidFill>
              </a:rPr>
              <a:t> (W, </a:t>
            </a:r>
            <a:r>
              <a:rPr lang="ko-KR" altLang="en-US" sz="500" dirty="0">
                <a:solidFill>
                  <a:schemeClr val="bg1"/>
                </a:solidFill>
              </a:rPr>
              <a:t>정상범위</a:t>
            </a:r>
            <a:r>
              <a:rPr lang="en-US" altLang="ko-KR" sz="500" dirty="0">
                <a:solidFill>
                  <a:schemeClr val="bg1"/>
                </a:solidFill>
              </a:rPr>
              <a:t>: 100 ~ 200, </a:t>
            </a:r>
            <a:r>
              <a:rPr lang="ko-KR" altLang="en-US" sz="500" dirty="0">
                <a:solidFill>
                  <a:schemeClr val="bg1"/>
                </a:solidFill>
              </a:rPr>
              <a:t>기본값</a:t>
            </a:r>
            <a:r>
              <a:rPr lang="en-US" altLang="ko-KR" sz="500" dirty="0">
                <a:solidFill>
                  <a:schemeClr val="bg1"/>
                </a:solidFill>
              </a:rPr>
              <a:t>: 150)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- pressure (</a:t>
            </a:r>
            <a:r>
              <a:rPr lang="en-US" altLang="ko-KR" sz="500" dirty="0" err="1">
                <a:solidFill>
                  <a:schemeClr val="bg1"/>
                </a:solidFill>
              </a:rPr>
              <a:t>mTorr</a:t>
            </a:r>
            <a:r>
              <a:rPr lang="en-US" altLang="ko-KR" sz="500" dirty="0">
                <a:solidFill>
                  <a:schemeClr val="bg1"/>
                </a:solidFill>
              </a:rPr>
              <a:t>, </a:t>
            </a:r>
            <a:r>
              <a:rPr lang="ko-KR" altLang="en-US" sz="500" dirty="0">
                <a:solidFill>
                  <a:schemeClr val="bg1"/>
                </a:solidFill>
              </a:rPr>
              <a:t>정상범위</a:t>
            </a:r>
            <a:r>
              <a:rPr lang="en-US" altLang="ko-KR" sz="500" dirty="0">
                <a:solidFill>
                  <a:schemeClr val="bg1"/>
                </a:solidFill>
              </a:rPr>
              <a:t>: 10 ~ 30, </a:t>
            </a:r>
            <a:r>
              <a:rPr lang="ko-KR" altLang="en-US" sz="500" dirty="0">
                <a:solidFill>
                  <a:schemeClr val="bg1"/>
                </a:solidFill>
              </a:rPr>
              <a:t>기본값</a:t>
            </a:r>
            <a:r>
              <a:rPr lang="en-US" altLang="ko-KR" sz="500" dirty="0">
                <a:solidFill>
                  <a:schemeClr val="bg1"/>
                </a:solidFill>
              </a:rPr>
              <a:t>: 20)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- cl2_flow (</a:t>
            </a:r>
            <a:r>
              <a:rPr lang="en-US" altLang="ko-KR" sz="500" dirty="0" err="1">
                <a:solidFill>
                  <a:schemeClr val="bg1"/>
                </a:solidFill>
              </a:rPr>
              <a:t>sccm</a:t>
            </a:r>
            <a:r>
              <a:rPr lang="en-US" altLang="ko-KR" sz="500" dirty="0">
                <a:solidFill>
                  <a:schemeClr val="bg1"/>
                </a:solidFill>
              </a:rPr>
              <a:t>, </a:t>
            </a:r>
            <a:r>
              <a:rPr lang="ko-KR" altLang="en-US" sz="500" dirty="0">
                <a:solidFill>
                  <a:schemeClr val="bg1"/>
                </a:solidFill>
              </a:rPr>
              <a:t>정상범위</a:t>
            </a:r>
            <a:r>
              <a:rPr lang="en-US" altLang="ko-KR" sz="500" dirty="0">
                <a:solidFill>
                  <a:schemeClr val="bg1"/>
                </a:solidFill>
              </a:rPr>
              <a:t>: 80 ~ 150, </a:t>
            </a:r>
            <a:r>
              <a:rPr lang="ko-KR" altLang="en-US" sz="500" dirty="0">
                <a:solidFill>
                  <a:schemeClr val="bg1"/>
                </a:solidFill>
              </a:rPr>
              <a:t>기본값</a:t>
            </a:r>
            <a:r>
              <a:rPr lang="en-US" altLang="ko-KR" sz="500" dirty="0">
                <a:solidFill>
                  <a:schemeClr val="bg1"/>
                </a:solidFill>
              </a:rPr>
              <a:t>: 120)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- </a:t>
            </a:r>
            <a:r>
              <a:rPr lang="en-US" altLang="ko-KR" sz="500" dirty="0" err="1">
                <a:solidFill>
                  <a:schemeClr val="bg1"/>
                </a:solidFill>
              </a:rPr>
              <a:t>hbr_flow</a:t>
            </a:r>
            <a:r>
              <a:rPr lang="en-US" altLang="ko-KR" sz="500" dirty="0">
                <a:solidFill>
                  <a:schemeClr val="bg1"/>
                </a:solidFill>
              </a:rPr>
              <a:t> (</a:t>
            </a:r>
            <a:r>
              <a:rPr lang="en-US" altLang="ko-KR" sz="500" dirty="0" err="1">
                <a:solidFill>
                  <a:schemeClr val="bg1"/>
                </a:solidFill>
              </a:rPr>
              <a:t>sccm</a:t>
            </a:r>
            <a:r>
              <a:rPr lang="en-US" altLang="ko-KR" sz="500" dirty="0">
                <a:solidFill>
                  <a:schemeClr val="bg1"/>
                </a:solidFill>
              </a:rPr>
              <a:t>, </a:t>
            </a:r>
            <a:r>
              <a:rPr lang="ko-KR" altLang="en-US" sz="500" dirty="0">
                <a:solidFill>
                  <a:schemeClr val="bg1"/>
                </a:solidFill>
              </a:rPr>
              <a:t>정상범위</a:t>
            </a:r>
            <a:r>
              <a:rPr lang="en-US" altLang="ko-KR" sz="500" dirty="0">
                <a:solidFill>
                  <a:schemeClr val="bg1"/>
                </a:solidFill>
              </a:rPr>
              <a:t>: 60 ~ 120, </a:t>
            </a:r>
            <a:r>
              <a:rPr lang="ko-KR" altLang="en-US" sz="500" dirty="0">
                <a:solidFill>
                  <a:schemeClr val="bg1"/>
                </a:solidFill>
              </a:rPr>
              <a:t>기본값</a:t>
            </a:r>
            <a:r>
              <a:rPr lang="en-US" altLang="ko-KR" sz="500" dirty="0">
                <a:solidFill>
                  <a:schemeClr val="bg1"/>
                </a:solidFill>
              </a:rPr>
              <a:t>: 90)</a:t>
            </a:r>
          </a:p>
          <a:p>
            <a:endParaRPr lang="en-US" altLang="ko-KR" sz="500" dirty="0">
              <a:solidFill>
                <a:schemeClr val="bg1"/>
              </a:solidFill>
            </a:endParaRPr>
          </a:p>
          <a:p>
            <a:r>
              <a:rPr lang="en-US" altLang="ko-KR" sz="500" dirty="0">
                <a:solidFill>
                  <a:schemeClr val="bg1"/>
                </a:solidFill>
              </a:rPr>
              <a:t>[</a:t>
            </a:r>
            <a:r>
              <a:rPr lang="ko-KR" altLang="en-US" sz="500" dirty="0">
                <a:solidFill>
                  <a:schemeClr val="bg1"/>
                </a:solidFill>
              </a:rPr>
              <a:t>출력 데이터 및 물리 연산 </a:t>
            </a:r>
            <a:r>
              <a:rPr lang="ko-KR" altLang="en-US" sz="500" dirty="0" err="1">
                <a:solidFill>
                  <a:schemeClr val="bg1"/>
                </a:solidFill>
              </a:rPr>
              <a:t>로직</a:t>
            </a:r>
            <a:r>
              <a:rPr lang="ko-KR" altLang="en-US" sz="500" dirty="0">
                <a:solidFill>
                  <a:schemeClr val="bg1"/>
                </a:solidFill>
              </a:rPr>
              <a:t> </a:t>
            </a:r>
            <a:r>
              <a:rPr lang="en-US" altLang="ko-KR" sz="500" dirty="0">
                <a:solidFill>
                  <a:schemeClr val="bg1"/>
                </a:solidFill>
              </a:rPr>
              <a:t>(Output Parameter)]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1</a:t>
            </a:r>
            <a:r>
              <a:rPr lang="ko-KR" altLang="en-US" sz="500" dirty="0">
                <a:solidFill>
                  <a:schemeClr val="bg1"/>
                </a:solidFill>
              </a:rPr>
              <a:t>초 단위</a:t>
            </a:r>
            <a:r>
              <a:rPr lang="en-US" altLang="ko-KR" sz="500" dirty="0">
                <a:solidFill>
                  <a:schemeClr val="bg1"/>
                </a:solidFill>
              </a:rPr>
              <a:t>(Timer Loop)</a:t>
            </a:r>
            <a:r>
              <a:rPr lang="ko-KR" altLang="en-US" sz="500" dirty="0">
                <a:solidFill>
                  <a:schemeClr val="bg1"/>
                </a:solidFill>
              </a:rPr>
              <a:t>로 데이터가 갱신되며 아래 수식에 기반하여 물리적인 경향성을 모사해줘</a:t>
            </a:r>
            <a:r>
              <a:rPr lang="en-US" altLang="ko-KR" sz="500" dirty="0">
                <a:solidFill>
                  <a:schemeClr val="bg1"/>
                </a:solidFill>
              </a:rPr>
              <a:t>. (</a:t>
            </a:r>
            <a:r>
              <a:rPr lang="ko-KR" altLang="en-US" sz="500" dirty="0">
                <a:solidFill>
                  <a:schemeClr val="bg1"/>
                </a:solidFill>
              </a:rPr>
              <a:t>약간의 </a:t>
            </a:r>
            <a:r>
              <a:rPr lang="ko-KR" altLang="en-US" sz="500" dirty="0" err="1">
                <a:solidFill>
                  <a:schemeClr val="bg1"/>
                </a:solidFill>
              </a:rPr>
              <a:t>가우시안</a:t>
            </a:r>
            <a:r>
              <a:rPr lang="ko-KR" altLang="en-US" sz="500" dirty="0">
                <a:solidFill>
                  <a:schemeClr val="bg1"/>
                </a:solidFill>
              </a:rPr>
              <a:t> 노이즈</a:t>
            </a:r>
            <a:r>
              <a:rPr lang="en-US" altLang="ko-KR" sz="500" dirty="0">
                <a:solidFill>
                  <a:schemeClr val="bg1"/>
                </a:solidFill>
              </a:rPr>
              <a:t>(</a:t>
            </a:r>
            <a:r>
              <a:rPr lang="ko-KR" altLang="en-US" sz="500" dirty="0">
                <a:solidFill>
                  <a:schemeClr val="bg1"/>
                </a:solidFill>
              </a:rPr>
              <a:t>정규분포</a:t>
            </a:r>
            <a:r>
              <a:rPr lang="en-US" altLang="ko-KR" sz="500" dirty="0">
                <a:solidFill>
                  <a:schemeClr val="bg1"/>
                </a:solidFill>
              </a:rPr>
              <a:t>) </a:t>
            </a:r>
            <a:r>
              <a:rPr lang="ko-KR" altLang="en-US" sz="500" dirty="0">
                <a:solidFill>
                  <a:schemeClr val="bg1"/>
                </a:solidFill>
              </a:rPr>
              <a:t>추가 필수</a:t>
            </a:r>
            <a:r>
              <a:rPr lang="en-US" altLang="ko-KR" sz="500" dirty="0">
                <a:solidFill>
                  <a:schemeClr val="bg1"/>
                </a:solidFill>
              </a:rPr>
              <a:t>)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- </a:t>
            </a:r>
            <a:r>
              <a:rPr lang="en-US" altLang="ko-KR" sz="500" dirty="0" err="1">
                <a:solidFill>
                  <a:schemeClr val="bg1"/>
                </a:solidFill>
              </a:rPr>
              <a:t>etch_rate</a:t>
            </a:r>
            <a:r>
              <a:rPr lang="en-US" altLang="ko-KR" sz="500" dirty="0">
                <a:solidFill>
                  <a:schemeClr val="bg1"/>
                </a:solidFill>
              </a:rPr>
              <a:t> (nm/min) = (</a:t>
            </a:r>
            <a:r>
              <a:rPr lang="en-US" altLang="ko-KR" sz="500" dirty="0" err="1">
                <a:solidFill>
                  <a:schemeClr val="bg1"/>
                </a:solidFill>
              </a:rPr>
              <a:t>rf_source_power</a:t>
            </a:r>
            <a:r>
              <a:rPr lang="en-US" altLang="ko-KR" sz="500" dirty="0">
                <a:solidFill>
                  <a:schemeClr val="bg1"/>
                </a:solidFill>
              </a:rPr>
              <a:t> * 0.4) + (</a:t>
            </a:r>
            <a:r>
              <a:rPr lang="en-US" altLang="ko-KR" sz="500" dirty="0" err="1">
                <a:solidFill>
                  <a:schemeClr val="bg1"/>
                </a:solidFill>
              </a:rPr>
              <a:t>rf_bias_power</a:t>
            </a:r>
            <a:r>
              <a:rPr lang="en-US" altLang="ko-KR" sz="500" dirty="0">
                <a:solidFill>
                  <a:schemeClr val="bg1"/>
                </a:solidFill>
              </a:rPr>
              <a:t> * 0.2) - (pressure * 0.5)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- uniformity (%) = 100 - abs(pressure - 20) * 0.5 - abs(cl2_flow - 120) * 0.05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- </a:t>
            </a:r>
            <a:r>
              <a:rPr lang="en-US" altLang="ko-KR" sz="500" dirty="0" err="1">
                <a:solidFill>
                  <a:schemeClr val="bg1"/>
                </a:solidFill>
              </a:rPr>
              <a:t>oes_intensity</a:t>
            </a:r>
            <a:r>
              <a:rPr lang="en-US" altLang="ko-KR" sz="500" dirty="0">
                <a:solidFill>
                  <a:schemeClr val="bg1"/>
                </a:solidFill>
              </a:rPr>
              <a:t> (</a:t>
            </a:r>
            <a:r>
              <a:rPr lang="en-US" altLang="ko-KR" sz="500" dirty="0" err="1">
                <a:solidFill>
                  <a:schemeClr val="bg1"/>
                </a:solidFill>
              </a:rPr>
              <a:t>a.u</a:t>
            </a:r>
            <a:r>
              <a:rPr lang="en-US" altLang="ko-KR" sz="500" dirty="0">
                <a:solidFill>
                  <a:schemeClr val="bg1"/>
                </a:solidFill>
              </a:rPr>
              <a:t>.) = </a:t>
            </a:r>
            <a:r>
              <a:rPr lang="ko-KR" altLang="en-US" sz="500" dirty="0">
                <a:solidFill>
                  <a:schemeClr val="bg1"/>
                </a:solidFill>
              </a:rPr>
              <a:t>기본값 </a:t>
            </a:r>
            <a:r>
              <a:rPr lang="en-US" altLang="ko-KR" sz="500" dirty="0">
                <a:solidFill>
                  <a:schemeClr val="bg1"/>
                </a:solidFill>
              </a:rPr>
              <a:t>1000 </a:t>
            </a:r>
            <a:r>
              <a:rPr lang="ko-KR" altLang="en-US" sz="500" dirty="0">
                <a:solidFill>
                  <a:schemeClr val="bg1"/>
                </a:solidFill>
              </a:rPr>
              <a:t>유지 </a:t>
            </a:r>
            <a:r>
              <a:rPr lang="en-US" altLang="ko-KR" sz="500" dirty="0">
                <a:solidFill>
                  <a:schemeClr val="bg1"/>
                </a:solidFill>
              </a:rPr>
              <a:t>(</a:t>
            </a:r>
            <a:r>
              <a:rPr lang="ko-KR" altLang="en-US" sz="500" dirty="0">
                <a:solidFill>
                  <a:schemeClr val="bg1"/>
                </a:solidFill>
              </a:rPr>
              <a:t>단</a:t>
            </a:r>
            <a:r>
              <a:rPr lang="en-US" altLang="ko-KR" sz="500" dirty="0">
                <a:solidFill>
                  <a:schemeClr val="bg1"/>
                </a:solidFill>
              </a:rPr>
              <a:t>, </a:t>
            </a:r>
            <a:r>
              <a:rPr lang="ko-KR" altLang="en-US" sz="500" dirty="0">
                <a:solidFill>
                  <a:schemeClr val="bg1"/>
                </a:solidFill>
              </a:rPr>
              <a:t>공정 완료 시점이나 가스 유량 부족 시 급감</a:t>
            </a:r>
            <a:r>
              <a:rPr lang="en-US" altLang="ko-KR" sz="500" dirty="0">
                <a:solidFill>
                  <a:schemeClr val="bg1"/>
                </a:solidFill>
              </a:rPr>
              <a:t>)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- </a:t>
            </a:r>
            <a:r>
              <a:rPr lang="en-US" altLang="ko-KR" sz="500" dirty="0" err="1">
                <a:solidFill>
                  <a:schemeClr val="bg1"/>
                </a:solidFill>
              </a:rPr>
              <a:t>etch_depth</a:t>
            </a:r>
            <a:r>
              <a:rPr lang="en-US" altLang="ko-KR" sz="500" dirty="0">
                <a:solidFill>
                  <a:schemeClr val="bg1"/>
                </a:solidFill>
              </a:rPr>
              <a:t> (nm) = </a:t>
            </a:r>
            <a:r>
              <a:rPr lang="ko-KR" altLang="en-US" sz="500" dirty="0">
                <a:solidFill>
                  <a:schemeClr val="bg1"/>
                </a:solidFill>
              </a:rPr>
              <a:t>공정 시작 후 </a:t>
            </a:r>
            <a:r>
              <a:rPr lang="en-US" altLang="ko-KR" sz="500" dirty="0">
                <a:solidFill>
                  <a:schemeClr val="bg1"/>
                </a:solidFill>
              </a:rPr>
              <a:t>1</a:t>
            </a:r>
            <a:r>
              <a:rPr lang="ko-KR" altLang="en-US" sz="500" dirty="0">
                <a:solidFill>
                  <a:schemeClr val="bg1"/>
                </a:solidFill>
              </a:rPr>
              <a:t>초마다 </a:t>
            </a:r>
            <a:r>
              <a:rPr lang="en-US" altLang="ko-KR" sz="500" dirty="0">
                <a:solidFill>
                  <a:schemeClr val="bg1"/>
                </a:solidFill>
              </a:rPr>
              <a:t>(</a:t>
            </a:r>
            <a:r>
              <a:rPr lang="en-US" altLang="ko-KR" sz="500" dirty="0" err="1">
                <a:solidFill>
                  <a:schemeClr val="bg1"/>
                </a:solidFill>
              </a:rPr>
              <a:t>etch_rate</a:t>
            </a:r>
            <a:r>
              <a:rPr lang="en-US" altLang="ko-KR" sz="500" dirty="0">
                <a:solidFill>
                  <a:schemeClr val="bg1"/>
                </a:solidFill>
              </a:rPr>
              <a:t> / 60)</a:t>
            </a:r>
            <a:r>
              <a:rPr lang="ko-KR" altLang="en-US" sz="500" dirty="0">
                <a:solidFill>
                  <a:schemeClr val="bg1"/>
                </a:solidFill>
              </a:rPr>
              <a:t>만큼 누적 증가 </a:t>
            </a:r>
            <a:r>
              <a:rPr lang="en-US" altLang="ko-KR" sz="500" dirty="0">
                <a:solidFill>
                  <a:schemeClr val="bg1"/>
                </a:solidFill>
              </a:rPr>
              <a:t>(</a:t>
            </a:r>
            <a:r>
              <a:rPr lang="ko-KR" altLang="en-US" sz="500" dirty="0">
                <a:solidFill>
                  <a:schemeClr val="bg1"/>
                </a:solidFill>
              </a:rPr>
              <a:t>초기값 </a:t>
            </a:r>
            <a:r>
              <a:rPr lang="en-US" altLang="ko-KR" sz="500" dirty="0">
                <a:solidFill>
                  <a:schemeClr val="bg1"/>
                </a:solidFill>
              </a:rPr>
              <a:t>0)</a:t>
            </a:r>
          </a:p>
          <a:p>
            <a:endParaRPr lang="en-US" altLang="ko-KR" sz="500" dirty="0">
              <a:solidFill>
                <a:schemeClr val="bg1"/>
              </a:solidFill>
            </a:endParaRPr>
          </a:p>
          <a:p>
            <a:r>
              <a:rPr lang="en-US" altLang="ko-KR" sz="500" dirty="0">
                <a:solidFill>
                  <a:schemeClr val="bg1"/>
                </a:solidFill>
              </a:rPr>
              <a:t>[</a:t>
            </a:r>
            <a:r>
              <a:rPr lang="ko-KR" altLang="en-US" sz="500" dirty="0">
                <a:solidFill>
                  <a:schemeClr val="bg1"/>
                </a:solidFill>
              </a:rPr>
              <a:t>공정 시나리오 및 판정 </a:t>
            </a:r>
            <a:r>
              <a:rPr lang="ko-KR" altLang="en-US" sz="500" dirty="0" err="1">
                <a:solidFill>
                  <a:schemeClr val="bg1"/>
                </a:solidFill>
              </a:rPr>
              <a:t>로직</a:t>
            </a:r>
            <a:r>
              <a:rPr lang="en-US" altLang="ko-KR" sz="500" dirty="0">
                <a:solidFill>
                  <a:schemeClr val="bg1"/>
                </a:solidFill>
              </a:rPr>
              <a:t>]</a:t>
            </a:r>
          </a:p>
          <a:p>
            <a:r>
              <a:rPr lang="ko-KR" altLang="en-US" sz="500" dirty="0">
                <a:solidFill>
                  <a:schemeClr val="bg1"/>
                </a:solidFill>
              </a:rPr>
              <a:t>목표 </a:t>
            </a:r>
            <a:r>
              <a:rPr lang="ko-KR" altLang="en-US" sz="500" dirty="0" err="1">
                <a:solidFill>
                  <a:schemeClr val="bg1"/>
                </a:solidFill>
              </a:rPr>
              <a:t>식각</a:t>
            </a:r>
            <a:r>
              <a:rPr lang="ko-KR" altLang="en-US" sz="500" dirty="0">
                <a:solidFill>
                  <a:schemeClr val="bg1"/>
                </a:solidFill>
              </a:rPr>
              <a:t> 깊이</a:t>
            </a:r>
            <a:r>
              <a:rPr lang="en-US" altLang="ko-KR" sz="500" dirty="0">
                <a:solidFill>
                  <a:schemeClr val="bg1"/>
                </a:solidFill>
              </a:rPr>
              <a:t>(Target Depth)</a:t>
            </a:r>
            <a:r>
              <a:rPr lang="ko-KR" altLang="en-US" sz="500" dirty="0">
                <a:solidFill>
                  <a:schemeClr val="bg1"/>
                </a:solidFill>
              </a:rPr>
              <a:t>는 </a:t>
            </a:r>
            <a:r>
              <a:rPr lang="en-US" altLang="ko-KR" sz="500" dirty="0">
                <a:solidFill>
                  <a:schemeClr val="bg1"/>
                </a:solidFill>
              </a:rPr>
              <a:t>300nm</a:t>
            </a:r>
            <a:r>
              <a:rPr lang="ko-KR" altLang="en-US" sz="500" dirty="0">
                <a:solidFill>
                  <a:schemeClr val="bg1"/>
                </a:solidFill>
              </a:rPr>
              <a:t>로 고정한다</a:t>
            </a:r>
            <a:r>
              <a:rPr lang="en-US" altLang="ko-KR" sz="500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- NORMAL: </a:t>
            </a:r>
            <a:r>
              <a:rPr lang="ko-KR" altLang="en-US" sz="500" dirty="0">
                <a:solidFill>
                  <a:schemeClr val="bg1"/>
                </a:solidFill>
              </a:rPr>
              <a:t>모든 입력 데이터가 정상 범위 내에 있고</a:t>
            </a:r>
            <a:r>
              <a:rPr lang="en-US" altLang="ko-KR" sz="500" dirty="0">
                <a:solidFill>
                  <a:schemeClr val="bg1"/>
                </a:solidFill>
              </a:rPr>
              <a:t>, uniformity &gt;= 95% </a:t>
            </a:r>
            <a:r>
              <a:rPr lang="ko-KR" altLang="en-US" sz="500" dirty="0">
                <a:solidFill>
                  <a:schemeClr val="bg1"/>
                </a:solidFill>
              </a:rPr>
              <a:t>일 때</a:t>
            </a:r>
            <a:r>
              <a:rPr lang="en-US" altLang="ko-KR" sz="500" dirty="0">
                <a:solidFill>
                  <a:schemeClr val="bg1"/>
                </a:solidFill>
              </a:rPr>
              <a:t>. (</a:t>
            </a:r>
            <a:r>
              <a:rPr lang="ko-KR" altLang="en-US" sz="500" dirty="0">
                <a:solidFill>
                  <a:schemeClr val="bg1"/>
                </a:solidFill>
              </a:rPr>
              <a:t>결과</a:t>
            </a:r>
            <a:r>
              <a:rPr lang="en-US" altLang="ko-KR" sz="500" dirty="0">
                <a:solidFill>
                  <a:schemeClr val="bg1"/>
                </a:solidFill>
              </a:rPr>
              <a:t>: OK)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- WARNING: </a:t>
            </a:r>
            <a:r>
              <a:rPr lang="ko-KR" altLang="en-US" sz="500" dirty="0">
                <a:solidFill>
                  <a:schemeClr val="bg1"/>
                </a:solidFill>
              </a:rPr>
              <a:t>입력 데이터 중 하나라도 정상 범위를 벗어나거나</a:t>
            </a:r>
            <a:r>
              <a:rPr lang="en-US" altLang="ko-KR" sz="500" dirty="0">
                <a:solidFill>
                  <a:schemeClr val="bg1"/>
                </a:solidFill>
              </a:rPr>
              <a:t>, 90% &lt;= uniformity &lt; 95% </a:t>
            </a:r>
            <a:r>
              <a:rPr lang="ko-KR" altLang="en-US" sz="500" dirty="0">
                <a:solidFill>
                  <a:schemeClr val="bg1"/>
                </a:solidFill>
              </a:rPr>
              <a:t>일 때</a:t>
            </a:r>
            <a:r>
              <a:rPr lang="en-US" altLang="ko-KR" sz="500" dirty="0">
                <a:solidFill>
                  <a:schemeClr val="bg1"/>
                </a:solidFill>
              </a:rPr>
              <a:t>. (</a:t>
            </a:r>
            <a:r>
              <a:rPr lang="ko-KR" altLang="en-US" sz="500" dirty="0">
                <a:solidFill>
                  <a:schemeClr val="bg1"/>
                </a:solidFill>
              </a:rPr>
              <a:t>결과</a:t>
            </a:r>
            <a:r>
              <a:rPr lang="en-US" altLang="ko-KR" sz="500" dirty="0">
                <a:solidFill>
                  <a:schemeClr val="bg1"/>
                </a:solidFill>
              </a:rPr>
              <a:t>: OK)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- FAULT: uniformity &lt; 90% </a:t>
            </a:r>
            <a:r>
              <a:rPr lang="ko-KR" altLang="en-US" sz="500" dirty="0">
                <a:solidFill>
                  <a:schemeClr val="bg1"/>
                </a:solidFill>
              </a:rPr>
              <a:t>이거나 사용자가 </a:t>
            </a:r>
            <a:r>
              <a:rPr lang="en-US" altLang="ko-KR" sz="500" dirty="0">
                <a:solidFill>
                  <a:schemeClr val="bg1"/>
                </a:solidFill>
              </a:rPr>
              <a:t>'Fault Injection' </a:t>
            </a:r>
            <a:r>
              <a:rPr lang="ko-KR" altLang="en-US" sz="500" dirty="0">
                <a:solidFill>
                  <a:schemeClr val="bg1"/>
                </a:solidFill>
              </a:rPr>
              <a:t>버튼을 눌렀을 때</a:t>
            </a:r>
            <a:r>
              <a:rPr lang="en-US" altLang="ko-KR" sz="500" dirty="0">
                <a:solidFill>
                  <a:schemeClr val="bg1"/>
                </a:solidFill>
              </a:rPr>
              <a:t>. (</a:t>
            </a:r>
            <a:r>
              <a:rPr lang="ko-KR" altLang="en-US" sz="500" dirty="0">
                <a:solidFill>
                  <a:schemeClr val="bg1"/>
                </a:solidFill>
              </a:rPr>
              <a:t>결과</a:t>
            </a:r>
            <a:r>
              <a:rPr lang="en-US" altLang="ko-KR" sz="500" dirty="0">
                <a:solidFill>
                  <a:schemeClr val="bg1"/>
                </a:solidFill>
              </a:rPr>
              <a:t>: NG)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- COMPLETE: </a:t>
            </a:r>
            <a:r>
              <a:rPr lang="en-US" altLang="ko-KR" sz="500" dirty="0" err="1">
                <a:solidFill>
                  <a:schemeClr val="bg1"/>
                </a:solidFill>
              </a:rPr>
              <a:t>etch_depth</a:t>
            </a:r>
            <a:r>
              <a:rPr lang="ko-KR" altLang="en-US" sz="500" dirty="0">
                <a:solidFill>
                  <a:schemeClr val="bg1"/>
                </a:solidFill>
              </a:rPr>
              <a:t>가 </a:t>
            </a:r>
            <a:r>
              <a:rPr lang="en-US" altLang="ko-KR" sz="500" dirty="0">
                <a:solidFill>
                  <a:schemeClr val="bg1"/>
                </a:solidFill>
              </a:rPr>
              <a:t>300nm </a:t>
            </a:r>
            <a:r>
              <a:rPr lang="ko-KR" altLang="en-US" sz="500" dirty="0">
                <a:solidFill>
                  <a:schemeClr val="bg1"/>
                </a:solidFill>
              </a:rPr>
              <a:t>이상에 도달하면 </a:t>
            </a:r>
            <a:r>
              <a:rPr lang="en-US" altLang="ko-KR" sz="500" dirty="0" err="1">
                <a:solidFill>
                  <a:schemeClr val="bg1"/>
                </a:solidFill>
              </a:rPr>
              <a:t>oes_intensity</a:t>
            </a:r>
            <a:r>
              <a:rPr lang="ko-KR" altLang="en-US" sz="500" dirty="0">
                <a:solidFill>
                  <a:schemeClr val="bg1"/>
                </a:solidFill>
              </a:rPr>
              <a:t>가 </a:t>
            </a:r>
            <a:r>
              <a:rPr lang="en-US" altLang="ko-KR" sz="500" dirty="0">
                <a:solidFill>
                  <a:schemeClr val="bg1"/>
                </a:solidFill>
              </a:rPr>
              <a:t>1000</a:t>
            </a:r>
            <a:r>
              <a:rPr lang="ko-KR" altLang="en-US" sz="500" dirty="0">
                <a:solidFill>
                  <a:schemeClr val="bg1"/>
                </a:solidFill>
              </a:rPr>
              <a:t>에서 </a:t>
            </a:r>
            <a:r>
              <a:rPr lang="en-US" altLang="ko-KR" sz="500" dirty="0">
                <a:solidFill>
                  <a:schemeClr val="bg1"/>
                </a:solidFill>
              </a:rPr>
              <a:t>100 </a:t>
            </a:r>
            <a:r>
              <a:rPr lang="ko-KR" altLang="en-US" sz="500" dirty="0">
                <a:solidFill>
                  <a:schemeClr val="bg1"/>
                </a:solidFill>
              </a:rPr>
              <a:t>부근으로 급감하며</a:t>
            </a:r>
            <a:r>
              <a:rPr lang="en-US" altLang="ko-KR" sz="500" dirty="0">
                <a:solidFill>
                  <a:schemeClr val="bg1"/>
                </a:solidFill>
              </a:rPr>
              <a:t>, </a:t>
            </a:r>
            <a:r>
              <a:rPr lang="ko-KR" altLang="en-US" sz="500" dirty="0">
                <a:solidFill>
                  <a:schemeClr val="bg1"/>
                </a:solidFill>
              </a:rPr>
              <a:t>장비 상태가 </a:t>
            </a:r>
            <a:r>
              <a:rPr lang="en-US" altLang="ko-KR" sz="500" dirty="0">
                <a:solidFill>
                  <a:schemeClr val="bg1"/>
                </a:solidFill>
              </a:rPr>
              <a:t>'COMPLETE'</a:t>
            </a:r>
            <a:r>
              <a:rPr lang="ko-KR" altLang="en-US" sz="500" dirty="0">
                <a:solidFill>
                  <a:schemeClr val="bg1"/>
                </a:solidFill>
              </a:rPr>
              <a:t>로 바뀌고 타이머가 자동 정지됨 </a:t>
            </a:r>
            <a:r>
              <a:rPr lang="en-US" altLang="ko-KR" sz="500" dirty="0">
                <a:solidFill>
                  <a:schemeClr val="bg1"/>
                </a:solidFill>
              </a:rPr>
              <a:t>(EPD </a:t>
            </a:r>
            <a:r>
              <a:rPr lang="ko-KR" altLang="en-US" sz="500" dirty="0">
                <a:solidFill>
                  <a:schemeClr val="bg1"/>
                </a:solidFill>
              </a:rPr>
              <a:t>모사</a:t>
            </a:r>
            <a:r>
              <a:rPr lang="en-US" altLang="ko-KR" sz="500" dirty="0">
                <a:solidFill>
                  <a:schemeClr val="bg1"/>
                </a:solidFill>
              </a:rPr>
              <a:t>).</a:t>
            </a:r>
          </a:p>
          <a:p>
            <a:endParaRPr lang="en-US" altLang="ko-KR" sz="500" dirty="0">
              <a:solidFill>
                <a:schemeClr val="bg1"/>
              </a:solidFill>
            </a:endParaRPr>
          </a:p>
          <a:p>
            <a:r>
              <a:rPr lang="en-US" altLang="ko-KR" sz="500" dirty="0">
                <a:solidFill>
                  <a:schemeClr val="bg1"/>
                </a:solidFill>
              </a:rPr>
              <a:t>[UI </a:t>
            </a:r>
            <a:r>
              <a:rPr lang="ko-KR" altLang="en-US" sz="500" dirty="0">
                <a:solidFill>
                  <a:schemeClr val="bg1"/>
                </a:solidFill>
              </a:rPr>
              <a:t>화면 레이아웃 요구사항 </a:t>
            </a:r>
            <a:r>
              <a:rPr lang="en-US" altLang="ko-KR" sz="500" dirty="0">
                <a:solidFill>
                  <a:schemeClr val="bg1"/>
                </a:solidFill>
              </a:rPr>
              <a:t>(AMAT </a:t>
            </a:r>
            <a:r>
              <a:rPr lang="en-US" altLang="ko-KR" sz="500" dirty="0" err="1">
                <a:solidFill>
                  <a:schemeClr val="bg1"/>
                </a:solidFill>
              </a:rPr>
              <a:t>Centris</a:t>
            </a:r>
            <a:r>
              <a:rPr lang="en-US" altLang="ko-KR" sz="500" dirty="0">
                <a:solidFill>
                  <a:schemeClr val="bg1"/>
                </a:solidFill>
              </a:rPr>
              <a:t> HMI </a:t>
            </a:r>
            <a:r>
              <a:rPr lang="ko-KR" altLang="en-US" sz="500" dirty="0">
                <a:solidFill>
                  <a:schemeClr val="bg1"/>
                </a:solidFill>
              </a:rPr>
              <a:t>구조 반영</a:t>
            </a:r>
            <a:r>
              <a:rPr lang="en-US" altLang="ko-KR" sz="500" dirty="0">
                <a:solidFill>
                  <a:schemeClr val="bg1"/>
                </a:solidFill>
              </a:rPr>
              <a:t>)]</a:t>
            </a:r>
          </a:p>
          <a:p>
            <a:r>
              <a:rPr lang="ko-KR" altLang="en-US" sz="500" dirty="0">
                <a:solidFill>
                  <a:schemeClr val="bg1"/>
                </a:solidFill>
              </a:rPr>
              <a:t>실제 양산 장비의 운영 인터페이스 사상을 반영하여 다음과 같이 화면 레이아웃을 구성해줘</a:t>
            </a:r>
            <a:r>
              <a:rPr lang="en-US" altLang="ko-KR" sz="500" dirty="0">
                <a:solidFill>
                  <a:schemeClr val="bg1"/>
                </a:solidFill>
              </a:rPr>
              <a:t>.</a:t>
            </a:r>
          </a:p>
          <a:p>
            <a:endParaRPr lang="en-US" altLang="ko-KR" sz="500" dirty="0">
              <a:solidFill>
                <a:schemeClr val="bg1"/>
              </a:solidFill>
            </a:endParaRPr>
          </a:p>
          <a:p>
            <a:r>
              <a:rPr lang="en-US" altLang="ko-KR" sz="500" dirty="0">
                <a:solidFill>
                  <a:schemeClr val="bg1"/>
                </a:solidFill>
              </a:rPr>
              <a:t>1. </a:t>
            </a:r>
            <a:r>
              <a:rPr lang="ko-KR" altLang="en-US" sz="500" dirty="0" err="1">
                <a:solidFill>
                  <a:schemeClr val="bg1"/>
                </a:solidFill>
              </a:rPr>
              <a:t>최상단</a:t>
            </a:r>
            <a:r>
              <a:rPr lang="en-US" altLang="ko-KR" sz="500" dirty="0">
                <a:solidFill>
                  <a:schemeClr val="bg1"/>
                </a:solidFill>
              </a:rPr>
              <a:t>: [</a:t>
            </a:r>
            <a:r>
              <a:rPr lang="ko-KR" altLang="en-US" sz="500" dirty="0">
                <a:solidFill>
                  <a:schemeClr val="bg1"/>
                </a:solidFill>
              </a:rPr>
              <a:t>글로벌 </a:t>
            </a:r>
            <a:r>
              <a:rPr lang="ko-KR" altLang="en-US" sz="500" dirty="0" err="1">
                <a:solidFill>
                  <a:schemeClr val="bg1"/>
                </a:solidFill>
              </a:rPr>
              <a:t>스테이터스</a:t>
            </a:r>
            <a:r>
              <a:rPr lang="ko-KR" altLang="en-US" sz="500" dirty="0">
                <a:solidFill>
                  <a:schemeClr val="bg1"/>
                </a:solidFill>
              </a:rPr>
              <a:t> 바 </a:t>
            </a:r>
            <a:r>
              <a:rPr lang="en-US" altLang="ko-KR" sz="500" dirty="0">
                <a:solidFill>
                  <a:schemeClr val="bg1"/>
                </a:solidFill>
              </a:rPr>
              <a:t>(Global Status Bar)]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   - </a:t>
            </a:r>
            <a:r>
              <a:rPr lang="ko-KR" altLang="en-US" sz="500" dirty="0">
                <a:solidFill>
                  <a:schemeClr val="bg1"/>
                </a:solidFill>
              </a:rPr>
              <a:t>현재 장비 상태</a:t>
            </a:r>
            <a:r>
              <a:rPr lang="en-US" altLang="ko-KR" sz="500" dirty="0">
                <a:solidFill>
                  <a:schemeClr val="bg1"/>
                </a:solidFill>
              </a:rPr>
              <a:t>(STATUS: NORMAL/WARNING/FAULT/COMPLETE)</a:t>
            </a:r>
            <a:r>
              <a:rPr lang="ko-KR" altLang="en-US" sz="500" dirty="0">
                <a:solidFill>
                  <a:schemeClr val="bg1"/>
                </a:solidFill>
              </a:rPr>
              <a:t>와 품질 판정</a:t>
            </a:r>
            <a:r>
              <a:rPr lang="en-US" altLang="ko-KR" sz="500" dirty="0">
                <a:solidFill>
                  <a:schemeClr val="bg1"/>
                </a:solidFill>
              </a:rPr>
              <a:t>(RESULT: OK/NG)</a:t>
            </a:r>
            <a:r>
              <a:rPr lang="ko-KR" altLang="en-US" sz="500" dirty="0">
                <a:solidFill>
                  <a:schemeClr val="bg1"/>
                </a:solidFill>
              </a:rPr>
              <a:t>을 대형 컬러 카드</a:t>
            </a:r>
            <a:r>
              <a:rPr lang="en-US" altLang="ko-KR" sz="500" dirty="0">
                <a:solidFill>
                  <a:schemeClr val="bg1"/>
                </a:solidFill>
              </a:rPr>
              <a:t>(</a:t>
            </a:r>
            <a:r>
              <a:rPr lang="ko-KR" altLang="en-US" sz="500" dirty="0">
                <a:solidFill>
                  <a:schemeClr val="bg1"/>
                </a:solidFill>
              </a:rPr>
              <a:t>녹색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>
                <a:solidFill>
                  <a:schemeClr val="bg1"/>
                </a:solidFill>
              </a:rPr>
              <a:t>황색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>
                <a:solidFill>
                  <a:schemeClr val="bg1"/>
                </a:solidFill>
              </a:rPr>
              <a:t>적색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>
                <a:solidFill>
                  <a:schemeClr val="bg1"/>
                </a:solidFill>
              </a:rPr>
              <a:t>파란색</a:t>
            </a:r>
            <a:r>
              <a:rPr lang="en-US" altLang="ko-KR" sz="500" dirty="0">
                <a:solidFill>
                  <a:schemeClr val="bg1"/>
                </a:solidFill>
              </a:rPr>
              <a:t>)</a:t>
            </a:r>
            <a:r>
              <a:rPr lang="ko-KR" altLang="en-US" sz="500" dirty="0">
                <a:solidFill>
                  <a:schemeClr val="bg1"/>
                </a:solidFill>
              </a:rPr>
              <a:t>로 직관적으로 표시</a:t>
            </a:r>
            <a:r>
              <a:rPr lang="en-US" altLang="ko-KR" sz="500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   - </a:t>
            </a:r>
            <a:r>
              <a:rPr lang="ko-KR" altLang="en-US" sz="500" dirty="0">
                <a:solidFill>
                  <a:schemeClr val="bg1"/>
                </a:solidFill>
              </a:rPr>
              <a:t>우측에 가상 가동 정보</a:t>
            </a:r>
            <a:r>
              <a:rPr lang="en-US" altLang="ko-KR" sz="500" dirty="0">
                <a:solidFill>
                  <a:schemeClr val="bg1"/>
                </a:solidFill>
              </a:rPr>
              <a:t>(Recipe </a:t>
            </a:r>
            <a:r>
              <a:rPr lang="ko-KR" altLang="en-US" sz="500" dirty="0">
                <a:solidFill>
                  <a:schemeClr val="bg1"/>
                </a:solidFill>
              </a:rPr>
              <a:t>명</a:t>
            </a:r>
            <a:r>
              <a:rPr lang="en-US" altLang="ko-KR" sz="500" dirty="0">
                <a:solidFill>
                  <a:schemeClr val="bg1"/>
                </a:solidFill>
              </a:rPr>
              <a:t>: </a:t>
            </a:r>
            <a:r>
              <a:rPr lang="en-US" altLang="ko-KR" sz="500" dirty="0" err="1">
                <a:solidFill>
                  <a:schemeClr val="bg1"/>
                </a:solidFill>
              </a:rPr>
              <a:t>Poly_Si_Gate_Etch</a:t>
            </a:r>
            <a:r>
              <a:rPr lang="en-US" altLang="ko-KR" sz="500" dirty="0">
                <a:solidFill>
                  <a:schemeClr val="bg1"/>
                </a:solidFill>
              </a:rPr>
              <a:t>, </a:t>
            </a:r>
            <a:r>
              <a:rPr lang="ko-KR" altLang="en-US" sz="500" dirty="0">
                <a:solidFill>
                  <a:schemeClr val="bg1"/>
                </a:solidFill>
              </a:rPr>
              <a:t>가상 </a:t>
            </a:r>
            <a:r>
              <a:rPr lang="en-US" altLang="ko-KR" sz="500" dirty="0">
                <a:solidFill>
                  <a:schemeClr val="bg1"/>
                </a:solidFill>
              </a:rPr>
              <a:t>Wafer ID: W26-0703)</a:t>
            </a:r>
            <a:r>
              <a:rPr lang="ko-KR" altLang="en-US" sz="500" dirty="0">
                <a:solidFill>
                  <a:schemeClr val="bg1"/>
                </a:solidFill>
              </a:rPr>
              <a:t>를 텍스트로 고정 표기</a:t>
            </a:r>
            <a:r>
              <a:rPr lang="en-US" altLang="ko-KR" sz="500" dirty="0">
                <a:solidFill>
                  <a:schemeClr val="bg1"/>
                </a:solidFill>
              </a:rPr>
              <a:t>.</a:t>
            </a:r>
          </a:p>
          <a:p>
            <a:endParaRPr lang="en-US" altLang="ko-KR" sz="500" dirty="0">
              <a:solidFill>
                <a:schemeClr val="bg1"/>
              </a:solidFill>
            </a:endParaRPr>
          </a:p>
          <a:p>
            <a:r>
              <a:rPr lang="en-US" altLang="ko-KR" sz="500" dirty="0">
                <a:solidFill>
                  <a:schemeClr val="bg1"/>
                </a:solidFill>
              </a:rPr>
              <a:t>2. </a:t>
            </a:r>
            <a:r>
              <a:rPr lang="ko-KR" altLang="en-US" sz="500" dirty="0">
                <a:solidFill>
                  <a:schemeClr val="bg1"/>
                </a:solidFill>
              </a:rPr>
              <a:t>좌측 영역</a:t>
            </a:r>
            <a:r>
              <a:rPr lang="en-US" altLang="ko-KR" sz="500" dirty="0">
                <a:solidFill>
                  <a:schemeClr val="bg1"/>
                </a:solidFill>
              </a:rPr>
              <a:t>: [</a:t>
            </a:r>
            <a:r>
              <a:rPr lang="ko-KR" altLang="en-US" sz="500" dirty="0" err="1">
                <a:solidFill>
                  <a:schemeClr val="bg1"/>
                </a:solidFill>
              </a:rPr>
              <a:t>사이드바</a:t>
            </a:r>
            <a:r>
              <a:rPr lang="ko-KR" altLang="en-US" sz="500" dirty="0">
                <a:solidFill>
                  <a:schemeClr val="bg1"/>
                </a:solidFill>
              </a:rPr>
              <a:t> 컨트롤 패널</a:t>
            </a:r>
            <a:r>
              <a:rPr lang="en-US" altLang="ko-KR" sz="500" dirty="0">
                <a:solidFill>
                  <a:schemeClr val="bg1"/>
                </a:solidFill>
              </a:rPr>
              <a:t>]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   - 5</a:t>
            </a:r>
            <a:r>
              <a:rPr lang="ko-KR" altLang="en-US" sz="500" dirty="0">
                <a:solidFill>
                  <a:schemeClr val="bg1"/>
                </a:solidFill>
              </a:rPr>
              <a:t>가지 입력 </a:t>
            </a:r>
            <a:r>
              <a:rPr lang="ko-KR" altLang="en-US" sz="500" dirty="0" err="1">
                <a:solidFill>
                  <a:schemeClr val="bg1"/>
                </a:solidFill>
              </a:rPr>
              <a:t>파라미터</a:t>
            </a:r>
            <a:r>
              <a:rPr lang="en-US" altLang="ko-KR" sz="500" dirty="0">
                <a:solidFill>
                  <a:schemeClr val="bg1"/>
                </a:solidFill>
              </a:rPr>
              <a:t>(</a:t>
            </a:r>
            <a:r>
              <a:rPr lang="en-US" altLang="ko-KR" sz="500" dirty="0" err="1">
                <a:solidFill>
                  <a:schemeClr val="bg1"/>
                </a:solidFill>
              </a:rPr>
              <a:t>rf_source_power</a:t>
            </a:r>
            <a:r>
              <a:rPr lang="en-US" altLang="ko-KR" sz="500" dirty="0">
                <a:solidFill>
                  <a:schemeClr val="bg1"/>
                </a:solidFill>
              </a:rPr>
              <a:t>, </a:t>
            </a:r>
            <a:r>
              <a:rPr lang="en-US" altLang="ko-KR" sz="500" dirty="0" err="1">
                <a:solidFill>
                  <a:schemeClr val="bg1"/>
                </a:solidFill>
              </a:rPr>
              <a:t>rf_bias_power</a:t>
            </a:r>
            <a:r>
              <a:rPr lang="en-US" altLang="ko-KR" sz="500" dirty="0">
                <a:solidFill>
                  <a:schemeClr val="bg1"/>
                </a:solidFill>
              </a:rPr>
              <a:t>, pressure, cl2_flow, </a:t>
            </a:r>
            <a:r>
              <a:rPr lang="en-US" altLang="ko-KR" sz="500" dirty="0" err="1">
                <a:solidFill>
                  <a:schemeClr val="bg1"/>
                </a:solidFill>
              </a:rPr>
              <a:t>hbr_flow</a:t>
            </a:r>
            <a:r>
              <a:rPr lang="en-US" altLang="ko-KR" sz="500" dirty="0">
                <a:solidFill>
                  <a:schemeClr val="bg1"/>
                </a:solidFill>
              </a:rPr>
              <a:t>)</a:t>
            </a:r>
            <a:r>
              <a:rPr lang="ko-KR" altLang="en-US" sz="500" dirty="0">
                <a:solidFill>
                  <a:schemeClr val="bg1"/>
                </a:solidFill>
              </a:rPr>
              <a:t>를 개별적으로 조절할 수 있는 슬라이더</a:t>
            </a:r>
            <a:r>
              <a:rPr lang="en-US" altLang="ko-KR" sz="500" dirty="0">
                <a:solidFill>
                  <a:schemeClr val="bg1"/>
                </a:solidFill>
              </a:rPr>
              <a:t>(Slider) </a:t>
            </a:r>
            <a:r>
              <a:rPr lang="ko-KR" altLang="en-US" sz="500" dirty="0">
                <a:solidFill>
                  <a:schemeClr val="bg1"/>
                </a:solidFill>
              </a:rPr>
              <a:t>및 수치 입력 창 배치</a:t>
            </a:r>
            <a:r>
              <a:rPr lang="en-US" altLang="ko-KR" sz="500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   - </a:t>
            </a:r>
            <a:r>
              <a:rPr lang="ko-KR" altLang="en-US" sz="500" dirty="0">
                <a:solidFill>
                  <a:schemeClr val="bg1"/>
                </a:solidFill>
              </a:rPr>
              <a:t>하단에 가로로 나열된 제어 버튼 그룹 배치</a:t>
            </a:r>
            <a:r>
              <a:rPr lang="en-US" altLang="ko-KR" sz="500" dirty="0">
                <a:solidFill>
                  <a:schemeClr val="bg1"/>
                </a:solidFill>
              </a:rPr>
              <a:t>: [Start], [Stop], [Fault Injection], [Reset]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     * Fault Injection </a:t>
            </a:r>
            <a:r>
              <a:rPr lang="ko-KR" altLang="en-US" sz="500" dirty="0">
                <a:solidFill>
                  <a:schemeClr val="bg1"/>
                </a:solidFill>
              </a:rPr>
              <a:t>버튼 클릭 시</a:t>
            </a:r>
            <a:r>
              <a:rPr lang="en-US" altLang="ko-KR" sz="500" dirty="0">
                <a:solidFill>
                  <a:schemeClr val="bg1"/>
                </a:solidFill>
              </a:rPr>
              <a:t>: </a:t>
            </a:r>
            <a:r>
              <a:rPr lang="ko-KR" altLang="en-US" sz="500" dirty="0">
                <a:solidFill>
                  <a:schemeClr val="bg1"/>
                </a:solidFill>
              </a:rPr>
              <a:t>즉시 </a:t>
            </a:r>
            <a:r>
              <a:rPr lang="en-US" altLang="ko-KR" sz="500" dirty="0">
                <a:solidFill>
                  <a:schemeClr val="bg1"/>
                </a:solidFill>
              </a:rPr>
              <a:t>cl2_flow </a:t>
            </a:r>
            <a:r>
              <a:rPr lang="ko-KR" altLang="en-US" sz="500" dirty="0">
                <a:solidFill>
                  <a:schemeClr val="bg1"/>
                </a:solidFill>
              </a:rPr>
              <a:t>슬라이더 값이 </a:t>
            </a:r>
            <a:r>
              <a:rPr lang="en-US" altLang="ko-KR" sz="500" dirty="0">
                <a:solidFill>
                  <a:schemeClr val="bg1"/>
                </a:solidFill>
              </a:rPr>
              <a:t>50sccm</a:t>
            </a:r>
            <a:r>
              <a:rPr lang="ko-KR" altLang="en-US" sz="500" dirty="0">
                <a:solidFill>
                  <a:schemeClr val="bg1"/>
                </a:solidFill>
              </a:rPr>
              <a:t>으로 강제 전하 조절되며</a:t>
            </a:r>
            <a:r>
              <a:rPr lang="en-US" altLang="ko-KR" sz="500" dirty="0">
                <a:solidFill>
                  <a:schemeClr val="bg1"/>
                </a:solidFill>
              </a:rPr>
              <a:t>, </a:t>
            </a:r>
            <a:r>
              <a:rPr lang="ko-KR" altLang="en-US" sz="500" dirty="0">
                <a:solidFill>
                  <a:schemeClr val="bg1"/>
                </a:solidFill>
              </a:rPr>
              <a:t>장비 상태는 시스템에서 </a:t>
            </a:r>
            <a:r>
              <a:rPr lang="en-US" altLang="ko-KR" sz="500" dirty="0">
                <a:solidFill>
                  <a:schemeClr val="bg1"/>
                </a:solidFill>
              </a:rPr>
              <a:t>FAULT/NG</a:t>
            </a:r>
            <a:r>
              <a:rPr lang="ko-KR" altLang="en-US" sz="500" dirty="0">
                <a:solidFill>
                  <a:schemeClr val="bg1"/>
                </a:solidFill>
              </a:rPr>
              <a:t>로 고장 처리됨</a:t>
            </a:r>
            <a:r>
              <a:rPr lang="en-US" altLang="ko-KR" sz="500" dirty="0">
                <a:solidFill>
                  <a:schemeClr val="bg1"/>
                </a:solidFill>
              </a:rPr>
              <a:t>.</a:t>
            </a:r>
          </a:p>
          <a:p>
            <a:endParaRPr lang="en-US" altLang="ko-KR" sz="500" dirty="0">
              <a:solidFill>
                <a:schemeClr val="bg1"/>
              </a:solidFill>
            </a:endParaRPr>
          </a:p>
          <a:p>
            <a:r>
              <a:rPr lang="en-US" altLang="ko-KR" sz="500" dirty="0">
                <a:solidFill>
                  <a:schemeClr val="bg1"/>
                </a:solidFill>
              </a:rPr>
              <a:t>3. </a:t>
            </a:r>
            <a:r>
              <a:rPr lang="ko-KR" altLang="en-US" sz="500" dirty="0">
                <a:solidFill>
                  <a:schemeClr val="bg1"/>
                </a:solidFill>
              </a:rPr>
              <a:t>중앙 메인 영역</a:t>
            </a:r>
            <a:r>
              <a:rPr lang="en-US" altLang="ko-KR" sz="500" dirty="0">
                <a:solidFill>
                  <a:schemeClr val="bg1"/>
                </a:solidFill>
              </a:rPr>
              <a:t>: [</a:t>
            </a:r>
            <a:r>
              <a:rPr lang="ko-KR" altLang="en-US" sz="500" dirty="0">
                <a:solidFill>
                  <a:schemeClr val="bg1"/>
                </a:solidFill>
              </a:rPr>
              <a:t>모니터링 </a:t>
            </a:r>
            <a:r>
              <a:rPr lang="en-US" altLang="ko-KR" sz="500" dirty="0">
                <a:solidFill>
                  <a:schemeClr val="bg1"/>
                </a:solidFill>
              </a:rPr>
              <a:t>&amp; </a:t>
            </a:r>
            <a:r>
              <a:rPr lang="ko-KR" altLang="en-US" sz="500" dirty="0">
                <a:solidFill>
                  <a:schemeClr val="bg1"/>
                </a:solidFill>
              </a:rPr>
              <a:t>트렌드 뷰</a:t>
            </a:r>
            <a:r>
              <a:rPr lang="en-US" altLang="ko-KR" sz="500" dirty="0">
                <a:solidFill>
                  <a:schemeClr val="bg1"/>
                </a:solidFill>
              </a:rPr>
              <a:t>]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   - </a:t>
            </a:r>
            <a:r>
              <a:rPr lang="ko-KR" altLang="en-US" sz="500" dirty="0">
                <a:solidFill>
                  <a:schemeClr val="bg1"/>
                </a:solidFill>
              </a:rPr>
              <a:t>상단</a:t>
            </a:r>
            <a:r>
              <a:rPr lang="en-US" altLang="ko-KR" sz="500" dirty="0">
                <a:solidFill>
                  <a:schemeClr val="bg1"/>
                </a:solidFill>
              </a:rPr>
              <a:t>: </a:t>
            </a:r>
            <a:r>
              <a:rPr lang="en-US" altLang="ko-KR" sz="500" dirty="0" err="1">
                <a:solidFill>
                  <a:schemeClr val="bg1"/>
                </a:solidFill>
              </a:rPr>
              <a:t>Centris</a:t>
            </a:r>
            <a:r>
              <a:rPr lang="en-US" altLang="ko-KR" sz="500" dirty="0">
                <a:solidFill>
                  <a:schemeClr val="bg1"/>
                </a:solidFill>
              </a:rPr>
              <a:t> Sym3 </a:t>
            </a:r>
            <a:r>
              <a:rPr lang="ko-KR" altLang="en-US" sz="500" dirty="0">
                <a:solidFill>
                  <a:schemeClr val="bg1"/>
                </a:solidFill>
              </a:rPr>
              <a:t>장비의 클러스터 </a:t>
            </a:r>
            <a:r>
              <a:rPr lang="ko-KR" altLang="en-US" sz="500" dirty="0" err="1">
                <a:solidFill>
                  <a:schemeClr val="bg1"/>
                </a:solidFill>
              </a:rPr>
              <a:t>챔버</a:t>
            </a:r>
            <a:r>
              <a:rPr lang="ko-KR" altLang="en-US" sz="500" dirty="0">
                <a:solidFill>
                  <a:schemeClr val="bg1"/>
                </a:solidFill>
              </a:rPr>
              <a:t> 구조를 모사하기 위해 </a:t>
            </a:r>
            <a:r>
              <a:rPr lang="en-US" altLang="ko-KR" sz="500" dirty="0">
                <a:solidFill>
                  <a:schemeClr val="bg1"/>
                </a:solidFill>
              </a:rPr>
              <a:t>6</a:t>
            </a:r>
            <a:r>
              <a:rPr lang="ko-KR" altLang="en-US" sz="500" dirty="0">
                <a:solidFill>
                  <a:schemeClr val="bg1"/>
                </a:solidFill>
              </a:rPr>
              <a:t>개의 </a:t>
            </a:r>
            <a:r>
              <a:rPr lang="ko-KR" altLang="en-US" sz="500" dirty="0" err="1">
                <a:solidFill>
                  <a:schemeClr val="bg1"/>
                </a:solidFill>
              </a:rPr>
              <a:t>에칭</a:t>
            </a:r>
            <a:r>
              <a:rPr lang="ko-KR" altLang="en-US" sz="500" dirty="0">
                <a:solidFill>
                  <a:schemeClr val="bg1"/>
                </a:solidFill>
              </a:rPr>
              <a:t> </a:t>
            </a:r>
            <a:r>
              <a:rPr lang="ko-KR" altLang="en-US" sz="500" dirty="0" err="1">
                <a:solidFill>
                  <a:schemeClr val="bg1"/>
                </a:solidFill>
              </a:rPr>
              <a:t>챔버</a:t>
            </a:r>
            <a:r>
              <a:rPr lang="en-US" altLang="ko-KR" sz="500" dirty="0">
                <a:solidFill>
                  <a:schemeClr val="bg1"/>
                </a:solidFill>
              </a:rPr>
              <a:t>(Chamber A~F) </a:t>
            </a:r>
            <a:r>
              <a:rPr lang="ko-KR" altLang="en-US" sz="500" dirty="0">
                <a:solidFill>
                  <a:schemeClr val="bg1"/>
                </a:solidFill>
              </a:rPr>
              <a:t>레이아웃을 텍스트</a:t>
            </a:r>
            <a:r>
              <a:rPr lang="en-US" altLang="ko-KR" sz="500" dirty="0">
                <a:solidFill>
                  <a:schemeClr val="bg1"/>
                </a:solidFill>
              </a:rPr>
              <a:t>/</a:t>
            </a:r>
            <a:r>
              <a:rPr lang="ko-KR" altLang="en-US" sz="500" dirty="0" err="1">
                <a:solidFill>
                  <a:schemeClr val="bg1"/>
                </a:solidFill>
              </a:rPr>
              <a:t>이모지</a:t>
            </a:r>
            <a:r>
              <a:rPr lang="ko-KR" altLang="en-US" sz="500" dirty="0">
                <a:solidFill>
                  <a:schemeClr val="bg1"/>
                </a:solidFill>
              </a:rPr>
              <a:t> 혹은 </a:t>
            </a:r>
            <a:r>
              <a:rPr lang="en-US" altLang="ko-KR" sz="500" dirty="0">
                <a:solidFill>
                  <a:schemeClr val="bg1"/>
                </a:solidFill>
              </a:rPr>
              <a:t>UI </a:t>
            </a:r>
            <a:r>
              <a:rPr lang="ko-KR" altLang="en-US" sz="500" dirty="0">
                <a:solidFill>
                  <a:schemeClr val="bg1"/>
                </a:solidFill>
              </a:rPr>
              <a:t>블록 형태로 시각화</a:t>
            </a:r>
            <a:r>
              <a:rPr lang="en-US" altLang="ko-KR" sz="500" dirty="0">
                <a:solidFill>
                  <a:schemeClr val="bg1"/>
                </a:solidFill>
              </a:rPr>
              <a:t>. (</a:t>
            </a:r>
            <a:r>
              <a:rPr lang="ko-KR" altLang="en-US" sz="500" dirty="0">
                <a:solidFill>
                  <a:schemeClr val="bg1"/>
                </a:solidFill>
              </a:rPr>
              <a:t>현재 가동 중인 </a:t>
            </a:r>
            <a:r>
              <a:rPr lang="ko-KR" altLang="en-US" sz="500" dirty="0" err="1">
                <a:solidFill>
                  <a:schemeClr val="bg1"/>
                </a:solidFill>
              </a:rPr>
              <a:t>챔버에</a:t>
            </a:r>
            <a:r>
              <a:rPr lang="ko-KR" altLang="en-US" sz="500" dirty="0">
                <a:solidFill>
                  <a:schemeClr val="bg1"/>
                </a:solidFill>
              </a:rPr>
              <a:t> 불이 들어오는 연출 포함</a:t>
            </a:r>
            <a:r>
              <a:rPr lang="en-US" altLang="ko-KR" sz="500" dirty="0">
                <a:solidFill>
                  <a:schemeClr val="bg1"/>
                </a:solidFill>
              </a:rPr>
              <a:t>).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   - </a:t>
            </a:r>
            <a:r>
              <a:rPr lang="ko-KR" altLang="en-US" sz="500" dirty="0">
                <a:solidFill>
                  <a:schemeClr val="bg1"/>
                </a:solidFill>
              </a:rPr>
              <a:t>하단</a:t>
            </a:r>
            <a:r>
              <a:rPr lang="en-US" altLang="ko-KR" sz="500" dirty="0">
                <a:solidFill>
                  <a:schemeClr val="bg1"/>
                </a:solidFill>
              </a:rPr>
              <a:t>: </a:t>
            </a:r>
            <a:r>
              <a:rPr lang="ko-KR" altLang="en-US" sz="500" dirty="0">
                <a:solidFill>
                  <a:schemeClr val="bg1"/>
                </a:solidFill>
              </a:rPr>
              <a:t>실시간 트렌드 그래프 영역 구성</a:t>
            </a:r>
            <a:r>
              <a:rPr lang="en-US" altLang="ko-KR" sz="500" dirty="0">
                <a:solidFill>
                  <a:schemeClr val="bg1"/>
                </a:solidFill>
              </a:rPr>
              <a:t>. 1</a:t>
            </a:r>
            <a:r>
              <a:rPr lang="ko-KR" altLang="en-US" sz="500" dirty="0">
                <a:solidFill>
                  <a:schemeClr val="bg1"/>
                </a:solidFill>
              </a:rPr>
              <a:t>초마다 누적 증가하는 </a:t>
            </a:r>
            <a:r>
              <a:rPr lang="en-US" altLang="ko-KR" sz="500" dirty="0">
                <a:solidFill>
                  <a:schemeClr val="bg1"/>
                </a:solidFill>
              </a:rPr>
              <a:t>Etch Depth </a:t>
            </a:r>
            <a:r>
              <a:rPr lang="ko-KR" altLang="en-US" sz="500" dirty="0">
                <a:solidFill>
                  <a:schemeClr val="bg1"/>
                </a:solidFill>
              </a:rPr>
              <a:t>차트와 </a:t>
            </a:r>
            <a:r>
              <a:rPr lang="en-US" altLang="ko-KR" sz="500" dirty="0">
                <a:solidFill>
                  <a:schemeClr val="bg1"/>
                </a:solidFill>
              </a:rPr>
              <a:t>EPD </a:t>
            </a:r>
            <a:r>
              <a:rPr lang="ko-KR" altLang="en-US" sz="500" dirty="0">
                <a:solidFill>
                  <a:schemeClr val="bg1"/>
                </a:solidFill>
              </a:rPr>
              <a:t>종점 검출을 모니터링하기 위한 </a:t>
            </a:r>
            <a:r>
              <a:rPr lang="en-US" altLang="ko-KR" sz="500" dirty="0">
                <a:solidFill>
                  <a:schemeClr val="bg1"/>
                </a:solidFill>
              </a:rPr>
              <a:t>OES Intensity </a:t>
            </a:r>
            <a:r>
              <a:rPr lang="ko-KR" altLang="en-US" sz="500" dirty="0">
                <a:solidFill>
                  <a:schemeClr val="bg1"/>
                </a:solidFill>
              </a:rPr>
              <a:t>실시간 선형 차트</a:t>
            </a:r>
            <a:r>
              <a:rPr lang="en-US" altLang="ko-KR" sz="500" dirty="0">
                <a:solidFill>
                  <a:schemeClr val="bg1"/>
                </a:solidFill>
              </a:rPr>
              <a:t>(</a:t>
            </a:r>
            <a:r>
              <a:rPr lang="ko-KR" altLang="en-US" sz="500" dirty="0" err="1">
                <a:solidFill>
                  <a:schemeClr val="bg1"/>
                </a:solidFill>
              </a:rPr>
              <a:t>시간축</a:t>
            </a:r>
            <a:r>
              <a:rPr lang="ko-KR" altLang="en-US" sz="500" dirty="0">
                <a:solidFill>
                  <a:schemeClr val="bg1"/>
                </a:solidFill>
              </a:rPr>
              <a:t> 공유 혹은 </a:t>
            </a:r>
            <a:r>
              <a:rPr lang="en-US" altLang="ko-KR" sz="500" dirty="0">
                <a:solidFill>
                  <a:schemeClr val="bg1"/>
                </a:solidFill>
              </a:rPr>
              <a:t>2</a:t>
            </a:r>
            <a:r>
              <a:rPr lang="ko-KR" altLang="en-US" sz="500" dirty="0">
                <a:solidFill>
                  <a:schemeClr val="bg1"/>
                </a:solidFill>
              </a:rPr>
              <a:t>개 분리 차트</a:t>
            </a:r>
            <a:r>
              <a:rPr lang="en-US" altLang="ko-KR" sz="500" dirty="0">
                <a:solidFill>
                  <a:schemeClr val="bg1"/>
                </a:solidFill>
              </a:rPr>
              <a:t>)</a:t>
            </a:r>
            <a:r>
              <a:rPr lang="ko-KR" altLang="en-US" sz="500" dirty="0">
                <a:solidFill>
                  <a:schemeClr val="bg1"/>
                </a:solidFill>
              </a:rPr>
              <a:t>를 동적으로 드로잉</a:t>
            </a:r>
            <a:r>
              <a:rPr lang="en-US" altLang="ko-KR" sz="500" dirty="0">
                <a:solidFill>
                  <a:schemeClr val="bg1"/>
                </a:solidFill>
              </a:rPr>
              <a:t>.</a:t>
            </a:r>
          </a:p>
          <a:p>
            <a:endParaRPr lang="en-US" altLang="ko-KR" sz="500" dirty="0">
              <a:solidFill>
                <a:schemeClr val="bg1"/>
              </a:solidFill>
            </a:endParaRPr>
          </a:p>
          <a:p>
            <a:r>
              <a:rPr lang="en-US" altLang="ko-KR" sz="500" dirty="0">
                <a:solidFill>
                  <a:schemeClr val="bg1"/>
                </a:solidFill>
              </a:rPr>
              <a:t>4. </a:t>
            </a:r>
            <a:r>
              <a:rPr lang="ko-KR" altLang="en-US" sz="500" dirty="0">
                <a:solidFill>
                  <a:schemeClr val="bg1"/>
                </a:solidFill>
              </a:rPr>
              <a:t>하단 영역</a:t>
            </a:r>
            <a:r>
              <a:rPr lang="en-US" altLang="ko-KR" sz="500" dirty="0">
                <a:solidFill>
                  <a:schemeClr val="bg1"/>
                </a:solidFill>
              </a:rPr>
              <a:t>: [</a:t>
            </a:r>
            <a:r>
              <a:rPr lang="ko-KR" altLang="en-US" sz="500" dirty="0">
                <a:solidFill>
                  <a:schemeClr val="bg1"/>
                </a:solidFill>
              </a:rPr>
              <a:t>데이터 로그 그리드</a:t>
            </a:r>
            <a:r>
              <a:rPr lang="en-US" altLang="ko-KR" sz="500" dirty="0">
                <a:solidFill>
                  <a:schemeClr val="bg1"/>
                </a:solidFill>
              </a:rPr>
              <a:t>]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   - </a:t>
            </a:r>
            <a:r>
              <a:rPr lang="ko-KR" altLang="en-US" sz="500" dirty="0">
                <a:solidFill>
                  <a:schemeClr val="bg1"/>
                </a:solidFill>
              </a:rPr>
              <a:t>실시간으로 축적되는 </a:t>
            </a:r>
            <a:r>
              <a:rPr lang="ko-KR" altLang="en-US" sz="500" dirty="0" err="1">
                <a:solidFill>
                  <a:schemeClr val="bg1"/>
                </a:solidFill>
              </a:rPr>
              <a:t>시계열</a:t>
            </a:r>
            <a:r>
              <a:rPr lang="ko-KR" altLang="en-US" sz="500" dirty="0">
                <a:solidFill>
                  <a:schemeClr val="bg1"/>
                </a:solidFill>
              </a:rPr>
              <a:t> 데이터 원시 로그를 깔끔한 테이블</a:t>
            </a:r>
            <a:r>
              <a:rPr lang="en-US" altLang="ko-KR" sz="500" dirty="0">
                <a:solidFill>
                  <a:schemeClr val="bg1"/>
                </a:solidFill>
              </a:rPr>
              <a:t>(</a:t>
            </a:r>
            <a:r>
              <a:rPr lang="en-US" altLang="ko-KR" sz="500" dirty="0" err="1">
                <a:solidFill>
                  <a:schemeClr val="bg1"/>
                </a:solidFill>
              </a:rPr>
              <a:t>Dataframe</a:t>
            </a:r>
            <a:r>
              <a:rPr lang="en-US" altLang="ko-KR" sz="500" dirty="0">
                <a:solidFill>
                  <a:schemeClr val="bg1"/>
                </a:solidFill>
              </a:rPr>
              <a:t> Grid) </a:t>
            </a:r>
            <a:r>
              <a:rPr lang="ko-KR" altLang="en-US" sz="500" dirty="0">
                <a:solidFill>
                  <a:schemeClr val="bg1"/>
                </a:solidFill>
              </a:rPr>
              <a:t>형태로 노출</a:t>
            </a:r>
            <a:r>
              <a:rPr lang="en-US" altLang="ko-KR" sz="500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   - </a:t>
            </a:r>
            <a:r>
              <a:rPr lang="ko-KR" altLang="en-US" sz="500" dirty="0">
                <a:solidFill>
                  <a:schemeClr val="bg1"/>
                </a:solidFill>
              </a:rPr>
              <a:t>테이블 상단 또는 하단에 누적된 전체 데이터를 로컬 </a:t>
            </a:r>
            <a:r>
              <a:rPr lang="en-US" altLang="ko-KR" sz="500" dirty="0">
                <a:solidFill>
                  <a:schemeClr val="bg1"/>
                </a:solidFill>
              </a:rPr>
              <a:t>PC</a:t>
            </a:r>
            <a:r>
              <a:rPr lang="ko-KR" altLang="en-US" sz="500" dirty="0">
                <a:solidFill>
                  <a:schemeClr val="bg1"/>
                </a:solidFill>
              </a:rPr>
              <a:t>나 </a:t>
            </a:r>
            <a:r>
              <a:rPr lang="ko-KR" altLang="en-US" sz="500" dirty="0" err="1">
                <a:solidFill>
                  <a:schemeClr val="bg1"/>
                </a:solidFill>
              </a:rPr>
              <a:t>웹브라우저</a:t>
            </a:r>
            <a:r>
              <a:rPr lang="ko-KR" altLang="en-US" sz="500" dirty="0">
                <a:solidFill>
                  <a:schemeClr val="bg1"/>
                </a:solidFill>
              </a:rPr>
              <a:t> 상에서 즉시 저장할 수 있는 </a:t>
            </a:r>
            <a:r>
              <a:rPr lang="en-US" altLang="ko-KR" sz="500" dirty="0">
                <a:solidFill>
                  <a:schemeClr val="bg1"/>
                </a:solidFill>
              </a:rPr>
              <a:t>[Save CSV (Export)] </a:t>
            </a:r>
            <a:r>
              <a:rPr lang="ko-KR" altLang="en-US" sz="500" dirty="0">
                <a:solidFill>
                  <a:schemeClr val="bg1"/>
                </a:solidFill>
              </a:rPr>
              <a:t>버튼 배치</a:t>
            </a:r>
            <a:r>
              <a:rPr lang="en-US" altLang="ko-KR" sz="500" dirty="0">
                <a:solidFill>
                  <a:schemeClr val="bg1"/>
                </a:solidFill>
              </a:rPr>
              <a:t>.</a:t>
            </a:r>
          </a:p>
          <a:p>
            <a:endParaRPr lang="en-US" altLang="ko-KR" sz="500" dirty="0">
              <a:solidFill>
                <a:schemeClr val="bg1"/>
              </a:solidFill>
            </a:endParaRPr>
          </a:p>
          <a:p>
            <a:r>
              <a:rPr lang="en-US" altLang="ko-KR" sz="500" dirty="0">
                <a:solidFill>
                  <a:schemeClr val="bg1"/>
                </a:solidFill>
              </a:rPr>
              <a:t>[</a:t>
            </a:r>
            <a:r>
              <a:rPr lang="ko-KR" altLang="en-US" sz="500" dirty="0">
                <a:solidFill>
                  <a:schemeClr val="bg1"/>
                </a:solidFill>
              </a:rPr>
              <a:t>데이터 저장 </a:t>
            </a:r>
            <a:r>
              <a:rPr lang="en-US" altLang="ko-KR" sz="500" dirty="0">
                <a:solidFill>
                  <a:schemeClr val="bg1"/>
                </a:solidFill>
              </a:rPr>
              <a:t>(Save) </a:t>
            </a:r>
            <a:r>
              <a:rPr lang="ko-KR" altLang="en-US" sz="500" dirty="0">
                <a:solidFill>
                  <a:schemeClr val="bg1"/>
                </a:solidFill>
              </a:rPr>
              <a:t>스펙</a:t>
            </a:r>
            <a:r>
              <a:rPr lang="en-US" altLang="ko-KR" sz="500" dirty="0">
                <a:solidFill>
                  <a:schemeClr val="bg1"/>
                </a:solidFill>
              </a:rPr>
              <a:t>]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- 'Save CSV' </a:t>
            </a:r>
            <a:r>
              <a:rPr lang="ko-KR" altLang="en-US" sz="500" dirty="0">
                <a:solidFill>
                  <a:schemeClr val="bg1"/>
                </a:solidFill>
              </a:rPr>
              <a:t>버튼을 누르면 현재까지 누적된 데이터를 </a:t>
            </a:r>
            <a:r>
              <a:rPr lang="en-US" altLang="ko-KR" sz="500" dirty="0">
                <a:solidFill>
                  <a:schemeClr val="bg1"/>
                </a:solidFill>
              </a:rPr>
              <a:t>`equipment_log.csv` </a:t>
            </a:r>
            <a:r>
              <a:rPr lang="ko-KR" altLang="en-US" sz="500" dirty="0">
                <a:solidFill>
                  <a:schemeClr val="bg1"/>
                </a:solidFill>
              </a:rPr>
              <a:t>파일로 다운로드하거나 지정 파일로 저장함</a:t>
            </a:r>
            <a:r>
              <a:rPr lang="en-US" altLang="ko-KR" sz="500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- </a:t>
            </a:r>
            <a:r>
              <a:rPr lang="ko-KR" altLang="en-US" sz="500" dirty="0">
                <a:solidFill>
                  <a:schemeClr val="bg1"/>
                </a:solidFill>
              </a:rPr>
              <a:t>컬럼 구조</a:t>
            </a:r>
            <a:r>
              <a:rPr lang="en-US" altLang="ko-KR" sz="500" dirty="0">
                <a:solidFill>
                  <a:schemeClr val="bg1"/>
                </a:solidFill>
              </a:rPr>
              <a:t>: timestamp, </a:t>
            </a:r>
            <a:r>
              <a:rPr lang="en-US" altLang="ko-KR" sz="500" dirty="0" err="1">
                <a:solidFill>
                  <a:schemeClr val="bg1"/>
                </a:solidFill>
              </a:rPr>
              <a:t>rf_source_power</a:t>
            </a:r>
            <a:r>
              <a:rPr lang="en-US" altLang="ko-KR" sz="500" dirty="0">
                <a:solidFill>
                  <a:schemeClr val="bg1"/>
                </a:solidFill>
              </a:rPr>
              <a:t>, </a:t>
            </a:r>
            <a:r>
              <a:rPr lang="en-US" altLang="ko-KR" sz="500" dirty="0" err="1">
                <a:solidFill>
                  <a:schemeClr val="bg1"/>
                </a:solidFill>
              </a:rPr>
              <a:t>rf_bias_power</a:t>
            </a:r>
            <a:r>
              <a:rPr lang="en-US" altLang="ko-KR" sz="500" dirty="0">
                <a:solidFill>
                  <a:schemeClr val="bg1"/>
                </a:solidFill>
              </a:rPr>
              <a:t>, pressure, cl2_flow, </a:t>
            </a:r>
            <a:r>
              <a:rPr lang="en-US" altLang="ko-KR" sz="500" dirty="0" err="1">
                <a:solidFill>
                  <a:schemeClr val="bg1"/>
                </a:solidFill>
              </a:rPr>
              <a:t>hbr_flow</a:t>
            </a:r>
            <a:r>
              <a:rPr lang="en-US" altLang="ko-KR" sz="500" dirty="0">
                <a:solidFill>
                  <a:schemeClr val="bg1"/>
                </a:solidFill>
              </a:rPr>
              <a:t>, </a:t>
            </a:r>
            <a:r>
              <a:rPr lang="en-US" altLang="ko-KR" sz="500" dirty="0" err="1">
                <a:solidFill>
                  <a:schemeClr val="bg1"/>
                </a:solidFill>
              </a:rPr>
              <a:t>etch_rate</a:t>
            </a:r>
            <a:r>
              <a:rPr lang="en-US" altLang="ko-KR" sz="500" dirty="0">
                <a:solidFill>
                  <a:schemeClr val="bg1"/>
                </a:solidFill>
              </a:rPr>
              <a:t>, </a:t>
            </a:r>
            <a:r>
              <a:rPr lang="en-US" altLang="ko-KR" sz="500" dirty="0" err="1">
                <a:solidFill>
                  <a:schemeClr val="bg1"/>
                </a:solidFill>
              </a:rPr>
              <a:t>etch_depth</a:t>
            </a:r>
            <a:r>
              <a:rPr lang="en-US" altLang="ko-KR" sz="500" dirty="0">
                <a:solidFill>
                  <a:schemeClr val="bg1"/>
                </a:solidFill>
              </a:rPr>
              <a:t>, uniformity, </a:t>
            </a:r>
            <a:r>
              <a:rPr lang="en-US" altLang="ko-KR" sz="500" dirty="0" err="1">
                <a:solidFill>
                  <a:schemeClr val="bg1"/>
                </a:solidFill>
              </a:rPr>
              <a:t>oes_intensity</a:t>
            </a:r>
            <a:r>
              <a:rPr lang="en-US" altLang="ko-KR" sz="500" dirty="0">
                <a:solidFill>
                  <a:schemeClr val="bg1"/>
                </a:solidFill>
              </a:rPr>
              <a:t>, status, result</a:t>
            </a:r>
          </a:p>
          <a:p>
            <a:endParaRPr lang="en-US" altLang="ko-KR" sz="500" dirty="0">
              <a:solidFill>
                <a:schemeClr val="bg1"/>
              </a:solidFill>
            </a:endParaRPr>
          </a:p>
          <a:p>
            <a:r>
              <a:rPr lang="en-US" altLang="ko-KR" sz="500" dirty="0">
                <a:solidFill>
                  <a:schemeClr val="bg1"/>
                </a:solidFill>
              </a:rPr>
              <a:t>[</a:t>
            </a:r>
            <a:r>
              <a:rPr lang="ko-KR" altLang="en-US" sz="500" dirty="0">
                <a:solidFill>
                  <a:schemeClr val="bg1"/>
                </a:solidFill>
              </a:rPr>
              <a:t>제약 조건 및 기술 요구사항</a:t>
            </a:r>
            <a:r>
              <a:rPr lang="en-US" altLang="ko-KR" sz="500" dirty="0">
                <a:solidFill>
                  <a:schemeClr val="bg1"/>
                </a:solidFill>
              </a:rPr>
              <a:t>]</a:t>
            </a:r>
          </a:p>
          <a:p>
            <a:r>
              <a:rPr lang="en-US" altLang="ko-KR" sz="500" dirty="0">
                <a:solidFill>
                  <a:schemeClr val="bg1"/>
                </a:solidFill>
              </a:rPr>
              <a:t>- </a:t>
            </a:r>
            <a:r>
              <a:rPr lang="en-US" altLang="ko-KR" sz="500" dirty="0" err="1">
                <a:solidFill>
                  <a:schemeClr val="bg1"/>
                </a:solidFill>
              </a:rPr>
              <a:t>Streamlit</a:t>
            </a:r>
            <a:r>
              <a:rPr lang="ko-KR" altLang="en-US" sz="500" dirty="0">
                <a:solidFill>
                  <a:schemeClr val="bg1"/>
                </a:solidFill>
              </a:rPr>
              <a:t>의 실시간 </a:t>
            </a:r>
            <a:r>
              <a:rPr lang="en-US" altLang="ko-KR" sz="500" dirty="0">
                <a:solidFill>
                  <a:schemeClr val="bg1"/>
                </a:solidFill>
              </a:rPr>
              <a:t>Loop </a:t>
            </a:r>
            <a:r>
              <a:rPr lang="ko-KR" altLang="en-US" sz="500" dirty="0">
                <a:solidFill>
                  <a:schemeClr val="bg1"/>
                </a:solidFill>
              </a:rPr>
              <a:t>내부</a:t>
            </a:r>
            <a:r>
              <a:rPr lang="en-US" altLang="ko-KR" sz="500" dirty="0">
                <a:solidFill>
                  <a:schemeClr val="bg1"/>
                </a:solidFill>
              </a:rPr>
              <a:t>(</a:t>
            </a:r>
            <a:r>
              <a:rPr lang="en-US" altLang="ko-KR" sz="500" dirty="0" err="1">
                <a:solidFill>
                  <a:schemeClr val="bg1"/>
                </a:solidFill>
              </a:rPr>
              <a:t>time.sleep</a:t>
            </a:r>
            <a:r>
              <a:rPr lang="en-US" altLang="ko-KR" sz="500" dirty="0">
                <a:solidFill>
                  <a:schemeClr val="bg1"/>
                </a:solidFill>
              </a:rPr>
              <a:t>(1) </a:t>
            </a:r>
            <a:r>
              <a:rPr lang="ko-KR" altLang="en-US" sz="500" dirty="0">
                <a:solidFill>
                  <a:schemeClr val="bg1"/>
                </a:solidFill>
              </a:rPr>
              <a:t>기반</a:t>
            </a:r>
            <a:r>
              <a:rPr lang="en-US" altLang="ko-KR" sz="500" dirty="0">
                <a:solidFill>
                  <a:schemeClr val="bg1"/>
                </a:solidFill>
              </a:rPr>
              <a:t>)</a:t>
            </a:r>
            <a:r>
              <a:rPr lang="ko-KR" altLang="en-US" sz="500" dirty="0">
                <a:solidFill>
                  <a:schemeClr val="bg1"/>
                </a:solidFill>
              </a:rPr>
              <a:t>에서 사용자가 슬라이더를 움직이거나 버튼을 눌렀을 때 화면 전체가 </a:t>
            </a:r>
            <a:r>
              <a:rPr lang="ko-KR" altLang="en-US" sz="500" dirty="0" err="1">
                <a:solidFill>
                  <a:schemeClr val="bg1"/>
                </a:solidFill>
              </a:rPr>
              <a:t>새로고침되어</a:t>
            </a:r>
            <a:r>
              <a:rPr lang="ko-KR" altLang="en-US" sz="500" dirty="0">
                <a:solidFill>
                  <a:schemeClr val="bg1"/>
                </a:solidFill>
              </a:rPr>
              <a:t> 기존 데이터가 날아가지</a:t>
            </a:r>
            <a:r>
              <a:rPr lang="en-US" altLang="ko-KR" sz="500" dirty="0">
                <a:solidFill>
                  <a:schemeClr val="bg1"/>
                </a:solidFill>
              </a:rPr>
              <a:t>(State </a:t>
            </a:r>
            <a:r>
              <a:rPr lang="ko-KR" altLang="en-US" sz="500" dirty="0">
                <a:solidFill>
                  <a:schemeClr val="bg1"/>
                </a:solidFill>
              </a:rPr>
              <a:t>초기화</a:t>
            </a:r>
            <a:r>
              <a:rPr lang="en-US" altLang="ko-KR" sz="500" dirty="0">
                <a:solidFill>
                  <a:schemeClr val="bg1"/>
                </a:solidFill>
              </a:rPr>
              <a:t>) </a:t>
            </a:r>
            <a:r>
              <a:rPr lang="ko-KR" altLang="en-US" sz="500" dirty="0">
                <a:solidFill>
                  <a:schemeClr val="bg1"/>
                </a:solidFill>
              </a:rPr>
              <a:t>않도록</a:t>
            </a:r>
            <a:r>
              <a:rPr lang="en-US" altLang="ko-KR" sz="500" dirty="0">
                <a:solidFill>
                  <a:schemeClr val="bg1"/>
                </a:solidFill>
              </a:rPr>
              <a:t>, `</a:t>
            </a:r>
            <a:r>
              <a:rPr lang="en-US" altLang="ko-KR" sz="500" dirty="0" err="1">
                <a:solidFill>
                  <a:schemeClr val="bg1"/>
                </a:solidFill>
              </a:rPr>
              <a:t>st.session_state</a:t>
            </a:r>
            <a:r>
              <a:rPr lang="en-US" altLang="ko-KR" sz="500" dirty="0">
                <a:solidFill>
                  <a:schemeClr val="bg1"/>
                </a:solidFill>
              </a:rPr>
              <a:t>`</a:t>
            </a:r>
            <a:r>
              <a:rPr lang="ko-KR" altLang="en-US" sz="500" dirty="0">
                <a:solidFill>
                  <a:schemeClr val="bg1"/>
                </a:solidFill>
              </a:rPr>
              <a:t>를 완벽하고 견고하게 활용하여 코드를 작성해줘</a:t>
            </a:r>
            <a:r>
              <a:rPr lang="en-US" altLang="ko-KR" sz="500" dirty="0"/>
              <a:t>.</a:t>
            </a:r>
            <a:endParaRPr lang="ko-KR" altLang="en-US" sz="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0B1E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3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점검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최종 체크리스트 &amp; 다음 단계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DEE7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013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7830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장비명과 공정 역할이 명확하다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013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29400" y="17830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5개, Output 5개가 구체적으로 정의되어 있다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6829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35000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정상/주의/위험/OK/NG 판정 기준이 있다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68296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29400" y="235000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4영역(제어·상태·그래프·로그)이 구체적이다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35224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291693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버튼별 기능(Start/Stop/Fault/Save/Reset)이 명확하다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935224"/>
            <a:ext cx="237744" cy="23774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629400" y="291693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로그 컬럼이 통일되어 있고 분석 가능하다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02152"/>
            <a:ext cx="237744" cy="23774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14400" y="348386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바이브코딩 프롬프트가 AI가 바로 개발 가능할 만큼 구체적이다</a:t>
            </a:r>
            <a:endParaRPr lang="en-US" sz="1200" dirty="0"/>
          </a:p>
        </p:txBody>
      </p:sp>
      <p:sp>
        <p:nvSpPr>
          <p:cNvPr id="20" name="Shape 11"/>
          <p:cNvSpPr/>
          <p:nvPr/>
        </p:nvSpPr>
        <p:spPr>
          <a:xfrm>
            <a:off x="548640" y="50292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0B1E33"/>
          </a:solidFill>
          <a:ln/>
        </p:spPr>
      </p:sp>
      <p:sp>
        <p:nvSpPr>
          <p:cNvPr id="21" name="Shape 12"/>
          <p:cNvSpPr/>
          <p:nvPr/>
        </p:nvSpPr>
        <p:spPr>
          <a:xfrm>
            <a:off x="822960" y="5417820"/>
            <a:ext cx="640080" cy="640080"/>
          </a:xfrm>
          <a:prstGeom prst="ellipse">
            <a:avLst/>
          </a:prstGeom>
          <a:solidFill>
            <a:srgbClr val="142C42"/>
          </a:solidFill>
          <a:ln/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78" y="5561838"/>
            <a:ext cx="352044" cy="352044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645920" y="5029200"/>
            <a:ext cx="9692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— 바이브코딩 구현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설계 문서를 프롬프트로 하여 Streamlit 시뮬레이터를 구현하고, 생성된 CSV 로그로 데이터 분석 포트폴리오까지 연결한다.</a:t>
            </a:r>
            <a:endParaRPr lang="en-US" sz="1500" dirty="0"/>
          </a:p>
        </p:txBody>
      </p:sp>
      <p:sp>
        <p:nvSpPr>
          <p:cNvPr id="24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장비데이터분석프로그래밍 · Centris Sym3 Etch 시뮬레이터 사전설계</a:t>
            </a:r>
            <a:endParaRPr lang="en-US" sz="900" dirty="0"/>
          </a:p>
        </p:txBody>
      </p:sp>
      <p:sp>
        <p:nvSpPr>
          <p:cNvPr id="25" name="Text 15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1870</Words>
  <Application>Microsoft Office PowerPoint</Application>
  <PresentationFormat>와이드스크린</PresentationFormat>
  <Paragraphs>323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맑은 고딕</vt:lpstr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Centris Sym3 Etch 시뮬레이터 사전설계 문서</dc:title>
  <dc:subject>PptxGenJS Presentation</dc:subject>
  <dc:creator>Equipment Data Analytics Portfolio</dc:creator>
  <cp:lastModifiedBy>user</cp:lastModifiedBy>
  <cp:revision>13</cp:revision>
  <dcterms:created xsi:type="dcterms:W3CDTF">2026-07-03T01:03:21Z</dcterms:created>
  <dcterms:modified xsi:type="dcterms:W3CDTF">2026-07-03T06:03:35Z</dcterms:modified>
</cp:coreProperties>
</file>