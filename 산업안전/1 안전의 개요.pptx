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</p:sldMasterIdLst>
  <p:notesMasterIdLst>
    <p:notesMasterId r:id="rId23"/>
  </p:notes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78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7" r:id="rId22"/>
  </p:sldIdLst>
  <p:sldSz cx="9144000" cy="6858000" type="screen4x3"/>
  <p:notesSz cx="6858000" cy="9144000"/>
  <p:embeddedFontLst>
    <p:embeddedFont>
      <p:font typeface="Arial" panose="020B0604020202020204" pitchFamily="34" charset="0"/>
      <p:regular r:id="rId24"/>
    </p:embeddedFont>
    <p:embeddedFont>
      <p:font typeface="맑은 고딕 2"/>
      <p:bold r:id="rId25"/>
    </p:embeddedFont>
    <p:embeddedFont>
      <p:font typeface="나눔고딕 2"/>
      <p:bold r:id="rId26"/>
    </p:embeddedFont>
    <p:embeddedFont>
      <p:font typeface="굴림" panose="020B0600000101010101" pitchFamily="50" charset="-127"/>
      <p:regular r:id="rId27"/>
    </p:embeddedFont>
    <p:embeddedFont>
      <p:font typeface="Calibri" panose="020F0502020204030204" pitchFamily="34" charset="0"/>
      <p:regular r:id="rId28"/>
      <p:bold r:id="rId29"/>
      <p:italic r:id="rId30"/>
      <p:boldItalic r:id="rId31"/>
    </p:embeddedFont>
    <p:embeddedFont>
      <p:font typeface="맑은 고딕" panose="020B0503020000020004" pitchFamily="50" charset="-127"/>
      <p:regular r:id="rId32"/>
      <p:bold r:id="rId33"/>
    </p:embeddedFont>
    <p:embeddedFont>
      <p:font typeface="Wingdings" panose="05000000000000000000" pitchFamily="2" charset="2"/>
      <p:regular r:id="rId34"/>
    </p:embeddedFont>
    <p:embeddedFont>
      <p:font typeface="나눔고딕 ExtraBold"/>
      <p:regular r:id="rId35"/>
    </p:embeddedFont>
    <p:embeddedFont>
      <p:font typeface="나눔고딕" panose="020D0604000000000000" pitchFamily="50" charset="-127"/>
      <p:regular r:id="rId36"/>
      <p:bold r:id="rId37"/>
    </p:embeddedFont>
  </p:embeddedFontLst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howGuides="1">
      <p:cViewPr varScale="1">
        <p:scale>
          <a:sx n="84" d="100"/>
          <a:sy n="84" d="100"/>
        </p:scale>
        <p:origin x="1354" y="8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howGuides="1">
      <p:cViewPr varScale="1">
        <p:scale>
          <a:sx n="68" d="100"/>
          <a:sy n="68" d="100"/>
        </p:scale>
        <p:origin x="3024" y="62"/>
      </p:cViewPr>
      <p:guideLst/>
    </p:cSldViewPr>
  </p:notesViewPr>
  <p:gridSpacing cx="72000" cy="720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3.fntdata"/><Relationship Id="rId39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font" Target="fonts/font11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2.fntdata"/><Relationship Id="rId33" Type="http://schemas.openxmlformats.org/officeDocument/2006/relationships/font" Target="fonts/font10.fntdata"/><Relationship Id="rId38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6.fntdata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.fntdata"/><Relationship Id="rId32" Type="http://schemas.openxmlformats.org/officeDocument/2006/relationships/font" Target="fonts/font9.fntdata"/><Relationship Id="rId37" Type="http://schemas.openxmlformats.org/officeDocument/2006/relationships/font" Target="fonts/font14.fntdata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openxmlformats.org/officeDocument/2006/relationships/font" Target="fonts/font5.fntdata"/><Relationship Id="rId36" Type="http://schemas.openxmlformats.org/officeDocument/2006/relationships/font" Target="fonts/font13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8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4.fntdata"/><Relationship Id="rId30" Type="http://schemas.openxmlformats.org/officeDocument/2006/relationships/font" Target="fonts/font7.fntdata"/><Relationship Id="rId35" Type="http://schemas.openxmlformats.org/officeDocument/2006/relationships/font" Target="fonts/font1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415A8B4-58E7-484B-B94D-008707242CD5}" type="datetimeFigureOut">
              <a:rPr lang="ko-KR" altLang="en-US" smtClean="0"/>
              <a:t>2026-08-30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4F2EA40-CB40-4DFA-AA4F-0467D3D1B50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360214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4F2EA40-CB40-4DFA-AA4F-0467D3D1B503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7585606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4F2EA40-CB40-4DFA-AA4F-0467D3D1B503}" type="slidenum">
              <a:rPr lang="ko-KR" altLang="en-US" smtClean="0"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7965057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3"/>
          <p:cNvSpPr/>
          <p:nvPr/>
        </p:nvSpPr>
        <p:spPr>
          <a:xfrm>
            <a:off x="0" y="6525349"/>
            <a:ext cx="9144000" cy="1"/>
          </a:xfrm>
          <a:custGeom>
            <a:avLst/>
            <a:gdLst/>
            <a:ahLst/>
            <a:cxnLst/>
            <a:rect l="0" t="0" r="9144000" b="1"/>
            <a:pathLst>
              <a:path w="9144000" h="1" fill="none">
                <a:moveTo>
                  <a:pt x="0" y="0"/>
                </a:moveTo>
                <a:lnTo>
                  <a:pt x="9144000" y="0"/>
                </a:lnTo>
              </a:path>
            </a:pathLst>
          </a:custGeom>
          <a:noFill/>
          <a:ln w="19050">
            <a:solidFill>
              <a:srgbClr val="5B9BD5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6" name="TextBox 6"/>
          <p:cNvSpPr txBox="1"/>
          <p:nvPr/>
        </p:nvSpPr>
        <p:spPr>
          <a:xfrm>
            <a:off x="2492375" y="2683043"/>
            <a:ext cx="2581183" cy="94305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5304" b="1" dirty="0">
                <a:solidFill>
                  <a:srgbClr val="000000"/>
                </a:solidFill>
                <a:latin typeface="나눔고딕"/>
                <a:cs typeface="나눔고딕"/>
              </a:rPr>
              <a:t>산업안전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5022469" y="2629154"/>
            <a:ext cx="404165" cy="94305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5304" b="1" dirty="0">
                <a:solidFill>
                  <a:srgbClr val="000000"/>
                </a:solidFill>
                <a:latin typeface="맑은 고딕"/>
                <a:cs typeface="맑은 고딕"/>
              </a:rPr>
              <a:t>(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5263261" y="2683043"/>
            <a:ext cx="1291276" cy="94305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5304" b="1" dirty="0">
                <a:solidFill>
                  <a:srgbClr val="000000"/>
                </a:solidFill>
                <a:latin typeface="나눔고딕"/>
                <a:cs typeface="나눔고딕"/>
              </a:rPr>
              <a:t>일반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6528562" y="2629154"/>
            <a:ext cx="404165" cy="94305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5304" b="1" dirty="0">
                <a:solidFill>
                  <a:srgbClr val="000000"/>
                </a:solidFill>
                <a:latin typeface="맑은 고딕"/>
                <a:cs typeface="맑은 고딕"/>
              </a:rPr>
              <a:t>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ackground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5" name="TextBox 5"/>
          <p:cNvSpPr txBox="1"/>
          <p:nvPr/>
        </p:nvSpPr>
        <p:spPr>
          <a:xfrm>
            <a:off x="3341243" y="1225880"/>
            <a:ext cx="3230580" cy="853867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4802" b="1" spc="432" dirty="0">
                <a:solidFill>
                  <a:srgbClr val="000000"/>
                </a:solidFill>
                <a:latin typeface="맑은 고딕"/>
                <a:cs typeface="맑은 고딕"/>
              </a:rPr>
              <a:t>CONTENTS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2560320" y="2523195"/>
            <a:ext cx="967229" cy="390449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196" b="1" dirty="0">
                <a:solidFill>
                  <a:srgbClr val="000000"/>
                </a:solidFill>
                <a:latin typeface="나눔고딕"/>
                <a:cs typeface="나눔고딕"/>
              </a:rPr>
              <a:t>Ⅰ. 학습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3508502" y="2523195"/>
            <a:ext cx="167335" cy="390449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196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586226" y="2523195"/>
            <a:ext cx="802143" cy="390449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196" b="1" dirty="0">
                <a:solidFill>
                  <a:srgbClr val="000000"/>
                </a:solidFill>
                <a:latin typeface="나눔고딕"/>
                <a:cs typeface="나눔고딕"/>
              </a:rPr>
              <a:t>로드맵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2560320" y="3188548"/>
            <a:ext cx="1234910" cy="390449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196" b="1" dirty="0">
                <a:solidFill>
                  <a:srgbClr val="000000"/>
                </a:solidFill>
                <a:latin typeface="나눔고딕"/>
                <a:cs typeface="나눔고딕"/>
              </a:rPr>
              <a:t>Ⅱ. 안전의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3770630" y="3188548"/>
            <a:ext cx="167335" cy="390449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196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3848354" y="3188548"/>
            <a:ext cx="534772" cy="390449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196" b="1" dirty="0">
                <a:solidFill>
                  <a:srgbClr val="000000"/>
                </a:solidFill>
                <a:latin typeface="나눔고딕"/>
                <a:cs typeface="나눔고딕"/>
              </a:rPr>
              <a:t>개요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3"/>
          <p:cNvSpPr/>
          <p:nvPr/>
        </p:nvSpPr>
        <p:spPr>
          <a:xfrm>
            <a:off x="0" y="6525349"/>
            <a:ext cx="9144000" cy="1"/>
          </a:xfrm>
          <a:custGeom>
            <a:avLst/>
            <a:gdLst/>
            <a:ahLst/>
            <a:cxnLst/>
            <a:rect l="0" t="0" r="9144000" b="1"/>
            <a:pathLst>
              <a:path w="9144000" h="1" fill="none">
                <a:moveTo>
                  <a:pt x="0" y="0"/>
                </a:moveTo>
                <a:lnTo>
                  <a:pt x="9144000" y="0"/>
                </a:lnTo>
              </a:path>
            </a:pathLst>
          </a:custGeom>
          <a:noFill/>
          <a:ln w="19050">
            <a:solidFill>
              <a:srgbClr val="5B9BD5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6" name="Shape 6"/>
          <p:cNvSpPr/>
          <p:nvPr/>
        </p:nvSpPr>
        <p:spPr>
          <a:xfrm>
            <a:off x="21900" y="476640"/>
            <a:ext cx="1331595" cy="97400"/>
          </a:xfrm>
          <a:prstGeom prst="rect">
            <a:avLst/>
          </a:prstGeom>
          <a:solidFill>
            <a:srgbClr val="92D050"/>
          </a:solidFill>
        </p:spPr>
        <p:txBody>
          <a:bodyPr/>
          <a:lstStyle/>
          <a:p>
            <a:endParaRPr/>
          </a:p>
        </p:txBody>
      </p:sp>
      <p:sp>
        <p:nvSpPr>
          <p:cNvPr id="7" name="Shape 7"/>
          <p:cNvSpPr/>
          <p:nvPr/>
        </p:nvSpPr>
        <p:spPr>
          <a:xfrm>
            <a:off x="1353566" y="476640"/>
            <a:ext cx="7776845" cy="97400"/>
          </a:xfrm>
          <a:prstGeom prst="rect">
            <a:avLst/>
          </a:prstGeom>
          <a:solidFill>
            <a:srgbClr val="5B9BD5"/>
          </a:solidFill>
        </p:spPr>
        <p:txBody>
          <a:bodyPr/>
          <a:lstStyle/>
          <a:p>
            <a:endParaRPr/>
          </a:p>
        </p:txBody>
      </p:sp>
      <p:sp>
        <p:nvSpPr>
          <p:cNvPr id="8" name="Shape 8"/>
          <p:cNvSpPr/>
          <p:nvPr/>
        </p:nvSpPr>
        <p:spPr>
          <a:xfrm>
            <a:off x="1353566" y="470281"/>
            <a:ext cx="1" cy="122809"/>
          </a:xfrm>
          <a:custGeom>
            <a:avLst/>
            <a:gdLst/>
            <a:ahLst/>
            <a:cxnLst/>
            <a:rect l="0" t="0" r="1" b="122809"/>
            <a:pathLst>
              <a:path w="1" h="122809" fill="none">
                <a:moveTo>
                  <a:pt x="0" y="0"/>
                </a:moveTo>
                <a:lnTo>
                  <a:pt x="0" y="122809"/>
                </a:lnTo>
              </a:path>
            </a:pathLst>
          </a:custGeom>
          <a:noFill/>
          <a:ln w="12700">
            <a:solidFill>
              <a:srgbClr val="FFFFF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9" name="Shape 9"/>
          <p:cNvSpPr/>
          <p:nvPr/>
        </p:nvSpPr>
        <p:spPr>
          <a:xfrm>
            <a:off x="21900" y="470281"/>
            <a:ext cx="1" cy="122809"/>
          </a:xfrm>
          <a:custGeom>
            <a:avLst/>
            <a:gdLst/>
            <a:ahLst/>
            <a:cxnLst/>
            <a:rect l="0" t="0" r="1" b="122809"/>
            <a:pathLst>
              <a:path w="1" h="122809" fill="none">
                <a:moveTo>
                  <a:pt x="0" y="0"/>
                </a:moveTo>
                <a:lnTo>
                  <a:pt x="0" y="122809"/>
                </a:lnTo>
              </a:path>
            </a:pathLst>
          </a:custGeom>
          <a:noFill/>
          <a:ln w="12700">
            <a:solidFill>
              <a:srgbClr val="FFFFF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0" name="Shape 10"/>
          <p:cNvSpPr/>
          <p:nvPr/>
        </p:nvSpPr>
        <p:spPr>
          <a:xfrm>
            <a:off x="9130411" y="470281"/>
            <a:ext cx="1" cy="122809"/>
          </a:xfrm>
          <a:custGeom>
            <a:avLst/>
            <a:gdLst/>
            <a:ahLst/>
            <a:cxnLst/>
            <a:rect l="0" t="0" r="1" b="122809"/>
            <a:pathLst>
              <a:path w="1" h="122809" fill="none">
                <a:moveTo>
                  <a:pt x="0" y="0"/>
                </a:moveTo>
                <a:lnTo>
                  <a:pt x="0" y="122809"/>
                </a:lnTo>
              </a:path>
            </a:pathLst>
          </a:custGeom>
          <a:noFill/>
          <a:ln w="12700">
            <a:solidFill>
              <a:srgbClr val="FFFFF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1" name="Shape 11"/>
          <p:cNvSpPr/>
          <p:nvPr/>
        </p:nvSpPr>
        <p:spPr>
          <a:xfrm>
            <a:off x="15550" y="476631"/>
            <a:ext cx="9121211" cy="1"/>
          </a:xfrm>
          <a:custGeom>
            <a:avLst/>
            <a:gdLst/>
            <a:ahLst/>
            <a:cxnLst/>
            <a:rect l="0" t="0" r="9121211" b="1"/>
            <a:pathLst>
              <a:path w="9121211" h="1" fill="none">
                <a:moveTo>
                  <a:pt x="0" y="0"/>
                </a:moveTo>
                <a:lnTo>
                  <a:pt x="9121211" y="0"/>
                </a:lnTo>
              </a:path>
            </a:pathLst>
          </a:custGeom>
          <a:noFill/>
          <a:ln w="12700">
            <a:solidFill>
              <a:srgbClr val="FFFFF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2" name="Shape 12"/>
          <p:cNvSpPr/>
          <p:nvPr/>
        </p:nvSpPr>
        <p:spPr>
          <a:xfrm>
            <a:off x="15550" y="574040"/>
            <a:ext cx="9121211" cy="1"/>
          </a:xfrm>
          <a:custGeom>
            <a:avLst/>
            <a:gdLst/>
            <a:ahLst/>
            <a:cxnLst/>
            <a:rect l="0" t="0" r="9121211" b="1"/>
            <a:pathLst>
              <a:path w="9121211" h="1" fill="none">
                <a:moveTo>
                  <a:pt x="0" y="0"/>
                </a:moveTo>
                <a:lnTo>
                  <a:pt x="9121211" y="0"/>
                </a:lnTo>
              </a:path>
            </a:pathLst>
          </a:custGeom>
          <a:noFill/>
          <a:ln w="38100">
            <a:solidFill>
              <a:srgbClr val="FFFFF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3" name="TextBox 13"/>
          <p:cNvSpPr txBox="1"/>
          <p:nvPr/>
        </p:nvSpPr>
        <p:spPr>
          <a:xfrm>
            <a:off x="487070" y="679170"/>
            <a:ext cx="370025" cy="427147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402" b="1" spc="151" dirty="0">
                <a:solidFill>
                  <a:srgbClr val="967754"/>
                </a:solidFill>
                <a:latin typeface="나눔고딕 2"/>
                <a:cs typeface="나눔고딕 2"/>
              </a:rPr>
              <a:t>1. 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848258" y="679170"/>
            <a:ext cx="1461501" cy="427147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402" b="1" dirty="0">
                <a:solidFill>
                  <a:srgbClr val="967754"/>
                </a:solidFill>
                <a:latin typeface="나눔고딕"/>
                <a:cs typeface="나눔고딕"/>
              </a:rPr>
              <a:t>산업재해란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2281174" y="679170"/>
            <a:ext cx="183063" cy="427147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402" b="1" dirty="0">
                <a:solidFill>
                  <a:srgbClr val="967754"/>
                </a:solidFill>
                <a:latin typeface="나눔고딕 2"/>
                <a:cs typeface="나눔고딕 2"/>
              </a:rPr>
              <a:t>?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628193" y="1425987"/>
            <a:ext cx="152888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dirty="0">
                <a:solidFill>
                  <a:srgbClr val="7F7F7F"/>
                </a:solidFill>
                <a:latin typeface="Wingdings"/>
                <a:cs typeface="Wingdings"/>
              </a:rPr>
              <a:t>▪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844601" y="1420636"/>
            <a:ext cx="732420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70C0"/>
                </a:solidFill>
                <a:latin typeface="나눔고딕"/>
                <a:cs typeface="나눔고딕"/>
              </a:rPr>
              <a:t>일하는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562354" y="1420636"/>
            <a:ext cx="152888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70C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630934" y="1420636"/>
            <a:ext cx="488367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70C0"/>
                </a:solidFill>
                <a:latin typeface="나눔고딕"/>
                <a:cs typeface="나눔고딕"/>
              </a:rPr>
              <a:t>사람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2109470" y="1420636"/>
            <a:ext cx="244315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0000"/>
                </a:solidFill>
                <a:latin typeface="나눔고딕"/>
                <a:cs typeface="나눔고딕"/>
              </a:rPr>
              <a:t>이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2348738" y="1420636"/>
            <a:ext cx="152888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2415794" y="1420636"/>
            <a:ext cx="733043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70C0"/>
                </a:solidFill>
                <a:latin typeface="나눔고딕"/>
                <a:cs typeface="나눔고딕"/>
              </a:rPr>
              <a:t>업무에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3133979" y="1420636"/>
            <a:ext cx="152888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70C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3202559" y="1420636"/>
            <a:ext cx="488367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70C0"/>
                </a:solidFill>
                <a:latin typeface="나눔고딕"/>
                <a:cs typeface="나눔고딕"/>
              </a:rPr>
              <a:t>기인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3681095" y="1420636"/>
            <a:ext cx="488367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0000"/>
                </a:solidFill>
                <a:latin typeface="나눔고딕"/>
                <a:cs typeface="나눔고딕"/>
              </a:rPr>
              <a:t>하여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4159631" y="1420636"/>
            <a:ext cx="152888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4226687" y="1420636"/>
            <a:ext cx="488679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70C0"/>
                </a:solidFill>
                <a:latin typeface="나눔고딕"/>
                <a:cs typeface="나눔고딕"/>
              </a:rPr>
              <a:t>사망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4705477" y="1420636"/>
            <a:ext cx="152888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70C0"/>
                </a:solidFill>
                <a:latin typeface="나눔고딕 2"/>
                <a:cs typeface="나눔고딕 2"/>
              </a:rPr>
              <a:t>, 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4850257" y="1420636"/>
            <a:ext cx="488367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70C0"/>
                </a:solidFill>
                <a:latin typeface="나눔고딕"/>
                <a:cs typeface="나눔고딕"/>
              </a:rPr>
              <a:t>부상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5328793" y="1420636"/>
            <a:ext cx="732420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0000"/>
                </a:solidFill>
                <a:latin typeface="나눔고딕"/>
                <a:cs typeface="나눔고딕"/>
              </a:rPr>
              <a:t>하거나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6045073" y="1420636"/>
            <a:ext cx="152888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6112129" y="1420636"/>
            <a:ext cx="488679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70C0"/>
                </a:solidFill>
                <a:latin typeface="나눔고딕"/>
                <a:cs typeface="나눔고딕"/>
              </a:rPr>
              <a:t>질병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6591046" y="1420636"/>
            <a:ext cx="244315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0000"/>
                </a:solidFill>
                <a:latin typeface="나눔고딕"/>
                <a:cs typeface="나눔고딕"/>
              </a:rPr>
              <a:t>에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6830314" y="1420636"/>
            <a:ext cx="152888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6898894" y="1420636"/>
            <a:ext cx="976473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0000"/>
                </a:solidFill>
                <a:latin typeface="나눔고딕"/>
                <a:cs typeface="나눔고딕"/>
              </a:rPr>
              <a:t>이환되는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7855966" y="1420636"/>
            <a:ext cx="152888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7923022" y="1420636"/>
            <a:ext cx="244315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0000"/>
                </a:solidFill>
                <a:latin typeface="나눔고딕"/>
                <a:cs typeface="나눔고딕"/>
              </a:rPr>
              <a:t>것</a:t>
            </a:r>
          </a:p>
        </p:txBody>
      </p:sp>
      <p:sp>
        <p:nvSpPr>
          <p:cNvPr id="38" name="Shape 38"/>
          <p:cNvSpPr/>
          <p:nvPr/>
        </p:nvSpPr>
        <p:spPr>
          <a:xfrm>
            <a:off x="2092667" y="2969801"/>
            <a:ext cx="360299" cy="1"/>
          </a:xfrm>
          <a:custGeom>
            <a:avLst/>
            <a:gdLst/>
            <a:ahLst/>
            <a:cxnLst/>
            <a:rect l="0" t="0" r="360299" b="1"/>
            <a:pathLst>
              <a:path w="360299" h="1" fill="none">
                <a:moveTo>
                  <a:pt x="0" y="0"/>
                </a:moveTo>
                <a:lnTo>
                  <a:pt x="360299" y="0"/>
                </a:lnTo>
              </a:path>
            </a:pathLst>
          </a:custGeom>
          <a:noFill/>
          <a:ln w="12700">
            <a:solidFill>
              <a:srgbClr val="000000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9" name="Shape 39"/>
          <p:cNvSpPr/>
          <p:nvPr/>
        </p:nvSpPr>
        <p:spPr>
          <a:xfrm>
            <a:off x="2452966" y="2251235"/>
            <a:ext cx="496839" cy="1625778"/>
          </a:xfrm>
          <a:prstGeom prst="rect">
            <a:avLst/>
          </a:prstGeom>
          <a:noFill/>
          <a:ln w="12700">
            <a:solidFill>
              <a:srgbClr val="000000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40" name="Shape 40"/>
          <p:cNvSpPr/>
          <p:nvPr/>
        </p:nvSpPr>
        <p:spPr>
          <a:xfrm>
            <a:off x="2092667" y="2969801"/>
            <a:ext cx="360299" cy="1"/>
          </a:xfrm>
          <a:custGeom>
            <a:avLst/>
            <a:gdLst/>
            <a:ahLst/>
            <a:cxnLst/>
            <a:rect l="0" t="0" r="360299" b="1"/>
            <a:pathLst>
              <a:path w="360299" h="1" fill="none">
                <a:moveTo>
                  <a:pt x="0" y="0"/>
                </a:moveTo>
                <a:lnTo>
                  <a:pt x="360299" y="0"/>
                </a:lnTo>
              </a:path>
            </a:pathLst>
          </a:custGeom>
          <a:noFill/>
          <a:ln w="12700">
            <a:solidFill>
              <a:srgbClr val="000000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41" name="TextBox 41"/>
          <p:cNvSpPr txBox="1"/>
          <p:nvPr/>
        </p:nvSpPr>
        <p:spPr>
          <a:xfrm>
            <a:off x="4727155" y="2115132"/>
            <a:ext cx="488076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베임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5205691" y="2115132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, 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5350471" y="2115132"/>
            <a:ext cx="488076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찔림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5829007" y="2115132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, 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5975311" y="2115132"/>
            <a:ext cx="488387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절단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6454228" y="2115132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, 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6599008" y="2115132"/>
            <a:ext cx="488076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골절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7077544" y="2115132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, 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7223848" y="2115132"/>
            <a:ext cx="488076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화상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7702384" y="2115132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51" name="TextBox 51"/>
          <p:cNvSpPr txBox="1"/>
          <p:nvPr/>
        </p:nvSpPr>
        <p:spPr>
          <a:xfrm>
            <a:off x="7770964" y="2115132"/>
            <a:ext cx="244022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등</a:t>
            </a:r>
          </a:p>
        </p:txBody>
      </p:sp>
      <p:sp>
        <p:nvSpPr>
          <p:cNvPr id="52" name="TextBox 52"/>
          <p:cNvSpPr txBox="1"/>
          <p:nvPr/>
        </p:nvSpPr>
        <p:spPr>
          <a:xfrm>
            <a:off x="4787494" y="3413662"/>
            <a:ext cx="976182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유해물질</a:t>
            </a:r>
          </a:p>
        </p:txBody>
      </p:sp>
      <p:sp>
        <p:nvSpPr>
          <p:cNvPr id="53" name="TextBox 53"/>
          <p:cNvSpPr txBox="1"/>
          <p:nvPr/>
        </p:nvSpPr>
        <p:spPr>
          <a:xfrm>
            <a:off x="5744566" y="3413662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54" name="TextBox 54"/>
          <p:cNvSpPr txBox="1"/>
          <p:nvPr/>
        </p:nvSpPr>
        <p:spPr>
          <a:xfrm>
            <a:off x="5811622" y="3413662"/>
            <a:ext cx="488076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중독</a:t>
            </a:r>
          </a:p>
        </p:txBody>
      </p:sp>
      <p:sp>
        <p:nvSpPr>
          <p:cNvPr id="55" name="TextBox 55"/>
          <p:cNvSpPr txBox="1"/>
          <p:nvPr/>
        </p:nvSpPr>
        <p:spPr>
          <a:xfrm>
            <a:off x="6290158" y="3413662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, </a:t>
            </a:r>
          </a:p>
        </p:txBody>
      </p:sp>
      <p:sp>
        <p:nvSpPr>
          <p:cNvPr id="56" name="TextBox 56"/>
          <p:cNvSpPr txBox="1"/>
          <p:nvPr/>
        </p:nvSpPr>
        <p:spPr>
          <a:xfrm>
            <a:off x="6434938" y="3413662"/>
            <a:ext cx="488387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진폐</a:t>
            </a:r>
          </a:p>
        </p:txBody>
      </p:sp>
      <p:sp>
        <p:nvSpPr>
          <p:cNvPr id="57" name="TextBox 57"/>
          <p:cNvSpPr txBox="1"/>
          <p:nvPr/>
        </p:nvSpPr>
        <p:spPr>
          <a:xfrm>
            <a:off x="6913728" y="3413662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, </a:t>
            </a:r>
          </a:p>
        </p:txBody>
      </p:sp>
      <p:sp>
        <p:nvSpPr>
          <p:cNvPr id="58" name="TextBox 58"/>
          <p:cNvSpPr txBox="1"/>
          <p:nvPr/>
        </p:nvSpPr>
        <p:spPr>
          <a:xfrm>
            <a:off x="7060032" y="3413662"/>
            <a:ext cx="488076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요통</a:t>
            </a:r>
          </a:p>
        </p:txBody>
      </p:sp>
      <p:sp>
        <p:nvSpPr>
          <p:cNvPr id="59" name="TextBox 59"/>
          <p:cNvSpPr txBox="1"/>
          <p:nvPr/>
        </p:nvSpPr>
        <p:spPr>
          <a:xfrm>
            <a:off x="7538568" y="3413662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, </a:t>
            </a:r>
          </a:p>
        </p:txBody>
      </p:sp>
      <p:sp>
        <p:nvSpPr>
          <p:cNvPr id="60" name="TextBox 60"/>
          <p:cNvSpPr txBox="1"/>
          <p:nvPr/>
        </p:nvSpPr>
        <p:spPr>
          <a:xfrm>
            <a:off x="4787494" y="3779141"/>
            <a:ext cx="1220527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0000"/>
                </a:solidFill>
                <a:latin typeface="나눔고딕"/>
                <a:cs typeface="나눔고딕"/>
              </a:rPr>
              <a:t>뇌•심혈관</a:t>
            </a:r>
          </a:p>
        </p:txBody>
      </p:sp>
      <p:sp>
        <p:nvSpPr>
          <p:cNvPr id="61" name="TextBox 61"/>
          <p:cNvSpPr txBox="1"/>
          <p:nvPr/>
        </p:nvSpPr>
        <p:spPr>
          <a:xfrm>
            <a:off x="5982310" y="3779141"/>
            <a:ext cx="152888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62" name="TextBox 62"/>
          <p:cNvSpPr txBox="1"/>
          <p:nvPr/>
        </p:nvSpPr>
        <p:spPr>
          <a:xfrm>
            <a:off x="6049366" y="3779141"/>
            <a:ext cx="488367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0000"/>
                </a:solidFill>
                <a:latin typeface="나눔고딕"/>
                <a:cs typeface="나눔고딕"/>
              </a:rPr>
              <a:t>질환</a:t>
            </a:r>
          </a:p>
        </p:txBody>
      </p:sp>
      <p:sp>
        <p:nvSpPr>
          <p:cNvPr id="63" name="TextBox 63"/>
          <p:cNvSpPr txBox="1"/>
          <p:nvPr/>
        </p:nvSpPr>
        <p:spPr>
          <a:xfrm>
            <a:off x="6527902" y="3779141"/>
            <a:ext cx="152888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0000"/>
                </a:solidFill>
                <a:latin typeface="나눔고딕 2"/>
                <a:cs typeface="나눔고딕 2"/>
              </a:rPr>
              <a:t>, </a:t>
            </a:r>
          </a:p>
        </p:txBody>
      </p:sp>
      <p:sp>
        <p:nvSpPr>
          <p:cNvPr id="64" name="TextBox 64"/>
          <p:cNvSpPr txBox="1"/>
          <p:nvPr/>
        </p:nvSpPr>
        <p:spPr>
          <a:xfrm>
            <a:off x="4787494" y="4145436"/>
            <a:ext cx="732129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직업성</a:t>
            </a:r>
          </a:p>
        </p:txBody>
      </p:sp>
      <p:sp>
        <p:nvSpPr>
          <p:cNvPr id="65" name="TextBox 65"/>
          <p:cNvSpPr txBox="1"/>
          <p:nvPr/>
        </p:nvSpPr>
        <p:spPr>
          <a:xfrm>
            <a:off x="5505298" y="4145436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66" name="TextBox 66"/>
          <p:cNvSpPr txBox="1"/>
          <p:nvPr/>
        </p:nvSpPr>
        <p:spPr>
          <a:xfrm>
            <a:off x="5573878" y="4145436"/>
            <a:ext cx="244022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암</a:t>
            </a:r>
          </a:p>
        </p:txBody>
      </p:sp>
      <p:sp>
        <p:nvSpPr>
          <p:cNvPr id="67" name="TextBox 67"/>
          <p:cNvSpPr txBox="1"/>
          <p:nvPr/>
        </p:nvSpPr>
        <p:spPr>
          <a:xfrm>
            <a:off x="5813146" y="4145436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, </a:t>
            </a:r>
          </a:p>
        </p:txBody>
      </p:sp>
      <p:sp>
        <p:nvSpPr>
          <p:cNvPr id="68" name="TextBox 68"/>
          <p:cNvSpPr txBox="1"/>
          <p:nvPr/>
        </p:nvSpPr>
        <p:spPr>
          <a:xfrm>
            <a:off x="5959450" y="4145436"/>
            <a:ext cx="976183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정신질환</a:t>
            </a:r>
          </a:p>
        </p:txBody>
      </p:sp>
      <p:sp>
        <p:nvSpPr>
          <p:cNvPr id="69" name="TextBox 69"/>
          <p:cNvSpPr txBox="1"/>
          <p:nvPr/>
        </p:nvSpPr>
        <p:spPr>
          <a:xfrm>
            <a:off x="6916776" y="4145436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70" name="TextBox 70"/>
          <p:cNvSpPr txBox="1"/>
          <p:nvPr/>
        </p:nvSpPr>
        <p:spPr>
          <a:xfrm>
            <a:off x="6983832" y="4145436"/>
            <a:ext cx="244022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등</a:t>
            </a:r>
          </a:p>
        </p:txBody>
      </p:sp>
      <p:sp>
        <p:nvSpPr>
          <p:cNvPr id="71" name="Shape 71"/>
          <p:cNvSpPr/>
          <p:nvPr/>
        </p:nvSpPr>
        <p:spPr>
          <a:xfrm>
            <a:off x="2939757" y="1952912"/>
            <a:ext cx="1678686" cy="596519"/>
          </a:xfrm>
          <a:prstGeom prst="rect">
            <a:avLst/>
          </a:prstGeom>
          <a:noFill/>
          <a:ln w="12700">
            <a:solidFill>
              <a:srgbClr val="000000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72" name="TextBox 72"/>
          <p:cNvSpPr txBox="1"/>
          <p:nvPr/>
        </p:nvSpPr>
        <p:spPr>
          <a:xfrm>
            <a:off x="3146767" y="2093515"/>
            <a:ext cx="732420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0000"/>
                </a:solidFill>
                <a:latin typeface="나눔고딕"/>
                <a:cs typeface="나눔고딕"/>
              </a:rPr>
              <a:t>업무상</a:t>
            </a:r>
          </a:p>
        </p:txBody>
      </p:sp>
      <p:sp>
        <p:nvSpPr>
          <p:cNvPr id="73" name="TextBox 73"/>
          <p:cNvSpPr txBox="1"/>
          <p:nvPr/>
        </p:nvSpPr>
        <p:spPr>
          <a:xfrm>
            <a:off x="3864571" y="2093515"/>
            <a:ext cx="152888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74" name="TextBox 74"/>
          <p:cNvSpPr txBox="1"/>
          <p:nvPr/>
        </p:nvSpPr>
        <p:spPr>
          <a:xfrm>
            <a:off x="3933151" y="2093515"/>
            <a:ext cx="488367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0000"/>
                </a:solidFill>
                <a:latin typeface="나눔고딕"/>
                <a:cs typeface="나눔고딕"/>
              </a:rPr>
              <a:t>사고</a:t>
            </a:r>
          </a:p>
        </p:txBody>
      </p:sp>
      <p:sp>
        <p:nvSpPr>
          <p:cNvPr id="75" name="Shape 75"/>
          <p:cNvSpPr/>
          <p:nvPr/>
        </p:nvSpPr>
        <p:spPr>
          <a:xfrm>
            <a:off x="2949804" y="3608566"/>
            <a:ext cx="1678686" cy="596519"/>
          </a:xfrm>
          <a:prstGeom prst="rect">
            <a:avLst/>
          </a:prstGeom>
          <a:noFill/>
          <a:ln w="12700">
            <a:solidFill>
              <a:srgbClr val="000000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76" name="TextBox 76"/>
          <p:cNvSpPr txBox="1"/>
          <p:nvPr/>
        </p:nvSpPr>
        <p:spPr>
          <a:xfrm>
            <a:off x="3156814" y="3765071"/>
            <a:ext cx="732129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업무상</a:t>
            </a:r>
          </a:p>
        </p:txBody>
      </p:sp>
      <p:sp>
        <p:nvSpPr>
          <p:cNvPr id="77" name="TextBox 77"/>
          <p:cNvSpPr txBox="1"/>
          <p:nvPr/>
        </p:nvSpPr>
        <p:spPr>
          <a:xfrm>
            <a:off x="3874618" y="3765071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78" name="TextBox 78"/>
          <p:cNvSpPr txBox="1"/>
          <p:nvPr/>
        </p:nvSpPr>
        <p:spPr>
          <a:xfrm>
            <a:off x="3943452" y="3765071"/>
            <a:ext cx="488076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질병</a:t>
            </a:r>
          </a:p>
        </p:txBody>
      </p:sp>
      <p:sp>
        <p:nvSpPr>
          <p:cNvPr id="79" name="Shape 79"/>
          <p:cNvSpPr/>
          <p:nvPr/>
        </p:nvSpPr>
        <p:spPr>
          <a:xfrm>
            <a:off x="776629" y="2674780"/>
            <a:ext cx="1311275" cy="596519"/>
          </a:xfrm>
          <a:prstGeom prst="rect">
            <a:avLst/>
          </a:prstGeom>
          <a:noFill/>
          <a:ln w="12700">
            <a:solidFill>
              <a:srgbClr val="000000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80" name="TextBox 80"/>
          <p:cNvSpPr txBox="1"/>
          <p:nvPr/>
        </p:nvSpPr>
        <p:spPr>
          <a:xfrm>
            <a:off x="907452" y="2800977"/>
            <a:ext cx="1070446" cy="390449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196" b="1" dirty="0">
                <a:solidFill>
                  <a:srgbClr val="000000"/>
                </a:solidFill>
                <a:latin typeface="나눔고딕"/>
                <a:cs typeface="나눔고딕"/>
              </a:rPr>
              <a:t>산업재해</a:t>
            </a:r>
          </a:p>
        </p:txBody>
      </p:sp>
      <p:sp>
        <p:nvSpPr>
          <p:cNvPr id="81" name="TextBox 81"/>
          <p:cNvSpPr txBox="1"/>
          <p:nvPr/>
        </p:nvSpPr>
        <p:spPr>
          <a:xfrm>
            <a:off x="415138" y="105410"/>
            <a:ext cx="1057046" cy="42672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400" b="1" dirty="0">
                <a:solidFill>
                  <a:srgbClr val="000000"/>
                </a:solidFill>
                <a:latin typeface="나눔고딕"/>
                <a:cs typeface="나눔고딕"/>
              </a:rPr>
              <a:t>Ⅰ. 학습</a:t>
            </a:r>
          </a:p>
        </p:txBody>
      </p:sp>
      <p:sp>
        <p:nvSpPr>
          <p:cNvPr id="82" name="TextBox 82"/>
          <p:cNvSpPr txBox="1"/>
          <p:nvPr/>
        </p:nvSpPr>
        <p:spPr>
          <a:xfrm>
            <a:off x="1451483" y="105410"/>
            <a:ext cx="182880" cy="42672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400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83" name="TextBox 83"/>
          <p:cNvSpPr txBox="1"/>
          <p:nvPr/>
        </p:nvSpPr>
        <p:spPr>
          <a:xfrm>
            <a:off x="1535303" y="105410"/>
            <a:ext cx="876727" cy="42672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400" b="1" dirty="0">
                <a:solidFill>
                  <a:srgbClr val="000000"/>
                </a:solidFill>
                <a:latin typeface="나눔고딕"/>
                <a:cs typeface="나눔고딕"/>
              </a:rPr>
              <a:t>로드맵</a:t>
            </a:r>
          </a:p>
        </p:txBody>
      </p:sp>
      <p:sp>
        <p:nvSpPr>
          <p:cNvPr id="4" name="직사각형 3"/>
          <p:cNvSpPr/>
          <p:nvPr/>
        </p:nvSpPr>
        <p:spPr>
          <a:xfrm>
            <a:off x="2939757" y="4735374"/>
            <a:ext cx="505517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dirty="0"/>
              <a:t>https://www.youtube.com/watch?v=NfhwtcTEVDw</a:t>
            </a:r>
          </a:p>
        </p:txBody>
      </p:sp>
      <p:sp>
        <p:nvSpPr>
          <p:cNvPr id="5" name="직사각형 4"/>
          <p:cNvSpPr/>
          <p:nvPr/>
        </p:nvSpPr>
        <p:spPr>
          <a:xfrm>
            <a:off x="2881314" y="2549433"/>
            <a:ext cx="233830" cy="104214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4" name="직사각형 83"/>
          <p:cNvSpPr/>
          <p:nvPr/>
        </p:nvSpPr>
        <p:spPr>
          <a:xfrm>
            <a:off x="2949803" y="5233708"/>
            <a:ext cx="519869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dirty="0"/>
              <a:t>https://www.youtube.com/shorts/wMY935nM8r4</a:t>
            </a:r>
          </a:p>
        </p:txBody>
      </p:sp>
      <p:sp>
        <p:nvSpPr>
          <p:cNvPr id="85" name="직사각형 84"/>
          <p:cNvSpPr/>
          <p:nvPr/>
        </p:nvSpPr>
        <p:spPr>
          <a:xfrm>
            <a:off x="2881314" y="2798597"/>
            <a:ext cx="504284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dirty="0"/>
              <a:t>https://www.youtube.com/shorts/rVRaHwM1Hb4</a:t>
            </a:r>
          </a:p>
        </p:txBody>
      </p:sp>
      <p:sp>
        <p:nvSpPr>
          <p:cNvPr id="87" name="직사각형 86"/>
          <p:cNvSpPr/>
          <p:nvPr/>
        </p:nvSpPr>
        <p:spPr>
          <a:xfrm>
            <a:off x="2949803" y="5664572"/>
            <a:ext cx="514495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dirty="0"/>
              <a:t>https://www.youtube.com/shorts/3gBpPC0DuvM</a:t>
            </a:r>
          </a:p>
        </p:txBody>
      </p:sp>
      <p:sp>
        <p:nvSpPr>
          <p:cNvPr id="88" name="직사각형 87"/>
          <p:cNvSpPr/>
          <p:nvPr/>
        </p:nvSpPr>
        <p:spPr>
          <a:xfrm>
            <a:off x="2950328" y="6104978"/>
            <a:ext cx="497269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dirty="0"/>
              <a:t>https://www.youtube.com/watch?v=tA5k0_kXl0k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-1"/>
            <a:ext cx="9144000" cy="6858000"/>
          </a:xfrm>
          <a:prstGeom prst="rect">
            <a:avLst/>
          </a:prstGeom>
          <a:solidFill>
            <a:srgbClr val="FFFFFF"/>
          </a:solidFill>
        </p:spPr>
        <p:txBody>
          <a:bodyPr/>
          <a:lstStyle/>
          <a:p>
            <a:endParaRPr/>
          </a:p>
        </p:txBody>
      </p:sp>
      <p:sp>
        <p:nvSpPr>
          <p:cNvPr id="3" name="Shape 3"/>
          <p:cNvSpPr/>
          <p:nvPr/>
        </p:nvSpPr>
        <p:spPr>
          <a:xfrm>
            <a:off x="0" y="6525349"/>
            <a:ext cx="9144000" cy="1"/>
          </a:xfrm>
          <a:custGeom>
            <a:avLst/>
            <a:gdLst/>
            <a:ahLst/>
            <a:cxnLst/>
            <a:rect l="0" t="0" r="9144000" b="1"/>
            <a:pathLst>
              <a:path w="9144000" h="1" fill="none">
                <a:moveTo>
                  <a:pt x="0" y="0"/>
                </a:moveTo>
                <a:lnTo>
                  <a:pt x="9144000" y="0"/>
                </a:lnTo>
              </a:path>
            </a:pathLst>
          </a:custGeom>
          <a:noFill/>
          <a:ln w="19050">
            <a:solidFill>
              <a:srgbClr val="5B9BD5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6" name="Shape 6"/>
          <p:cNvSpPr/>
          <p:nvPr/>
        </p:nvSpPr>
        <p:spPr>
          <a:xfrm>
            <a:off x="21900" y="476640"/>
            <a:ext cx="1331595" cy="97400"/>
          </a:xfrm>
          <a:prstGeom prst="rect">
            <a:avLst/>
          </a:prstGeom>
          <a:solidFill>
            <a:srgbClr val="92D050"/>
          </a:solidFill>
        </p:spPr>
        <p:txBody>
          <a:bodyPr/>
          <a:lstStyle/>
          <a:p>
            <a:endParaRPr/>
          </a:p>
        </p:txBody>
      </p:sp>
      <p:sp>
        <p:nvSpPr>
          <p:cNvPr id="7" name="Shape 7"/>
          <p:cNvSpPr/>
          <p:nvPr/>
        </p:nvSpPr>
        <p:spPr>
          <a:xfrm>
            <a:off x="1353566" y="476640"/>
            <a:ext cx="7776845" cy="97400"/>
          </a:xfrm>
          <a:prstGeom prst="rect">
            <a:avLst/>
          </a:prstGeom>
          <a:solidFill>
            <a:srgbClr val="5B9BD5"/>
          </a:solidFill>
        </p:spPr>
        <p:txBody>
          <a:bodyPr/>
          <a:lstStyle/>
          <a:p>
            <a:endParaRPr/>
          </a:p>
        </p:txBody>
      </p:sp>
      <p:sp>
        <p:nvSpPr>
          <p:cNvPr id="8" name="Shape 8"/>
          <p:cNvSpPr/>
          <p:nvPr/>
        </p:nvSpPr>
        <p:spPr>
          <a:xfrm>
            <a:off x="1353566" y="470281"/>
            <a:ext cx="1" cy="122809"/>
          </a:xfrm>
          <a:custGeom>
            <a:avLst/>
            <a:gdLst/>
            <a:ahLst/>
            <a:cxnLst/>
            <a:rect l="0" t="0" r="1" b="122809"/>
            <a:pathLst>
              <a:path w="1" h="122809" fill="none">
                <a:moveTo>
                  <a:pt x="0" y="0"/>
                </a:moveTo>
                <a:lnTo>
                  <a:pt x="0" y="122809"/>
                </a:lnTo>
              </a:path>
            </a:pathLst>
          </a:custGeom>
          <a:noFill/>
          <a:ln w="12700">
            <a:solidFill>
              <a:srgbClr val="FFFFF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9" name="Shape 9"/>
          <p:cNvSpPr/>
          <p:nvPr/>
        </p:nvSpPr>
        <p:spPr>
          <a:xfrm>
            <a:off x="21900" y="470281"/>
            <a:ext cx="1" cy="122809"/>
          </a:xfrm>
          <a:custGeom>
            <a:avLst/>
            <a:gdLst/>
            <a:ahLst/>
            <a:cxnLst/>
            <a:rect l="0" t="0" r="1" b="122809"/>
            <a:pathLst>
              <a:path w="1" h="122809" fill="none">
                <a:moveTo>
                  <a:pt x="0" y="0"/>
                </a:moveTo>
                <a:lnTo>
                  <a:pt x="0" y="122809"/>
                </a:lnTo>
              </a:path>
            </a:pathLst>
          </a:custGeom>
          <a:noFill/>
          <a:ln w="12700">
            <a:solidFill>
              <a:srgbClr val="FFFFF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0" name="Shape 10"/>
          <p:cNvSpPr/>
          <p:nvPr/>
        </p:nvSpPr>
        <p:spPr>
          <a:xfrm>
            <a:off x="9130411" y="470281"/>
            <a:ext cx="1" cy="122809"/>
          </a:xfrm>
          <a:custGeom>
            <a:avLst/>
            <a:gdLst/>
            <a:ahLst/>
            <a:cxnLst/>
            <a:rect l="0" t="0" r="1" b="122809"/>
            <a:pathLst>
              <a:path w="1" h="122809" fill="none">
                <a:moveTo>
                  <a:pt x="0" y="0"/>
                </a:moveTo>
                <a:lnTo>
                  <a:pt x="0" y="122809"/>
                </a:lnTo>
              </a:path>
            </a:pathLst>
          </a:custGeom>
          <a:noFill/>
          <a:ln w="12700">
            <a:solidFill>
              <a:srgbClr val="FFFFF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1" name="Shape 11"/>
          <p:cNvSpPr/>
          <p:nvPr/>
        </p:nvSpPr>
        <p:spPr>
          <a:xfrm>
            <a:off x="15550" y="476631"/>
            <a:ext cx="9121211" cy="1"/>
          </a:xfrm>
          <a:custGeom>
            <a:avLst/>
            <a:gdLst/>
            <a:ahLst/>
            <a:cxnLst/>
            <a:rect l="0" t="0" r="9121211" b="1"/>
            <a:pathLst>
              <a:path w="9121211" h="1" fill="none">
                <a:moveTo>
                  <a:pt x="0" y="0"/>
                </a:moveTo>
                <a:lnTo>
                  <a:pt x="9121211" y="0"/>
                </a:lnTo>
              </a:path>
            </a:pathLst>
          </a:custGeom>
          <a:noFill/>
          <a:ln w="12700">
            <a:solidFill>
              <a:srgbClr val="FFFFF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2" name="Shape 12"/>
          <p:cNvSpPr/>
          <p:nvPr/>
        </p:nvSpPr>
        <p:spPr>
          <a:xfrm>
            <a:off x="15550" y="574040"/>
            <a:ext cx="9121211" cy="1"/>
          </a:xfrm>
          <a:custGeom>
            <a:avLst/>
            <a:gdLst/>
            <a:ahLst/>
            <a:cxnLst/>
            <a:rect l="0" t="0" r="9121211" b="1"/>
            <a:pathLst>
              <a:path w="9121211" h="1" fill="none">
                <a:moveTo>
                  <a:pt x="0" y="0"/>
                </a:moveTo>
                <a:lnTo>
                  <a:pt x="9121211" y="0"/>
                </a:lnTo>
              </a:path>
            </a:pathLst>
          </a:custGeom>
          <a:noFill/>
          <a:ln w="38100">
            <a:solidFill>
              <a:srgbClr val="FFFFF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3" name="TextBox 13"/>
          <p:cNvSpPr txBox="1"/>
          <p:nvPr/>
        </p:nvSpPr>
        <p:spPr>
          <a:xfrm>
            <a:off x="487070" y="679170"/>
            <a:ext cx="370025" cy="427147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402" b="1" spc="151" dirty="0">
                <a:solidFill>
                  <a:srgbClr val="967754"/>
                </a:solidFill>
                <a:latin typeface="나눔고딕 2"/>
                <a:cs typeface="나눔고딕 2"/>
              </a:rPr>
              <a:t>2. 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848258" y="679170"/>
            <a:ext cx="1169260" cy="427147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402" b="1" dirty="0">
                <a:solidFill>
                  <a:srgbClr val="967754"/>
                </a:solidFill>
                <a:latin typeface="나눔고딕"/>
                <a:cs typeface="나눔고딕"/>
              </a:rPr>
              <a:t>산업재해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994662" y="679170"/>
            <a:ext cx="183063" cy="427147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402" b="1" dirty="0">
                <a:solidFill>
                  <a:srgbClr val="967754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2078482" y="679170"/>
            <a:ext cx="877018" cy="427147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402" b="1" dirty="0">
                <a:solidFill>
                  <a:srgbClr val="967754"/>
                </a:solidFill>
                <a:latin typeface="나눔고딕"/>
                <a:cs typeface="나눔고딕"/>
              </a:rPr>
              <a:t>예방과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2938018" y="679170"/>
            <a:ext cx="183063" cy="427147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402" b="1" dirty="0">
                <a:solidFill>
                  <a:srgbClr val="967754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3021838" y="679170"/>
            <a:ext cx="877018" cy="427147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402" b="1" dirty="0">
                <a:solidFill>
                  <a:srgbClr val="967754"/>
                </a:solidFill>
                <a:latin typeface="나눔고딕"/>
                <a:cs typeface="나눔고딕"/>
              </a:rPr>
              <a:t>재해자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3881628" y="679170"/>
            <a:ext cx="183063" cy="427147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402" b="1" dirty="0">
                <a:solidFill>
                  <a:srgbClr val="967754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3963924" y="679170"/>
            <a:ext cx="1169260" cy="427147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402" b="1" dirty="0">
                <a:solidFill>
                  <a:srgbClr val="967754"/>
                </a:solidFill>
                <a:latin typeface="나눔고딕"/>
                <a:cs typeface="나눔고딕"/>
              </a:rPr>
              <a:t>보호제도</a:t>
            </a:r>
          </a:p>
        </p:txBody>
      </p:sp>
      <p:sp>
        <p:nvSpPr>
          <p:cNvPr id="21" name="Shape 21"/>
          <p:cNvSpPr/>
          <p:nvPr/>
        </p:nvSpPr>
        <p:spPr>
          <a:xfrm>
            <a:off x="971550" y="2838386"/>
            <a:ext cx="1871726" cy="671513"/>
          </a:xfrm>
          <a:prstGeom prst="rect">
            <a:avLst/>
          </a:prstGeom>
          <a:solidFill>
            <a:srgbClr val="D9D9D9"/>
          </a:solidFill>
        </p:spPr>
        <p:txBody>
          <a:bodyPr/>
          <a:lstStyle/>
          <a:p>
            <a:endParaRPr/>
          </a:p>
        </p:txBody>
      </p:sp>
      <p:sp>
        <p:nvSpPr>
          <p:cNvPr id="22" name="Shape 22"/>
          <p:cNvSpPr/>
          <p:nvPr/>
        </p:nvSpPr>
        <p:spPr>
          <a:xfrm>
            <a:off x="971550" y="2838386"/>
            <a:ext cx="1871726" cy="671513"/>
          </a:xfrm>
          <a:prstGeom prst="rect">
            <a:avLst/>
          </a:prstGeom>
          <a:noFill/>
          <a:ln w="12700">
            <a:solidFill>
              <a:srgbClr val="D9D9D9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3" name="TextBox 23"/>
          <p:cNvSpPr txBox="1"/>
          <p:nvPr/>
        </p:nvSpPr>
        <p:spPr>
          <a:xfrm>
            <a:off x="1190854" y="2879358"/>
            <a:ext cx="1463028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0000"/>
                </a:solidFill>
                <a:latin typeface="나눔고딕"/>
                <a:cs typeface="나눔고딕"/>
              </a:rPr>
              <a:t>한국산업안전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428623" y="3154340"/>
            <a:ext cx="976182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보건공단</a:t>
            </a:r>
          </a:p>
        </p:txBody>
      </p:sp>
      <p:sp>
        <p:nvSpPr>
          <p:cNvPr id="25" name="Shape 25"/>
          <p:cNvSpPr/>
          <p:nvPr/>
        </p:nvSpPr>
        <p:spPr>
          <a:xfrm>
            <a:off x="3511550" y="2838386"/>
            <a:ext cx="1871599" cy="652463"/>
          </a:xfrm>
          <a:prstGeom prst="rect">
            <a:avLst/>
          </a:prstGeom>
          <a:solidFill>
            <a:srgbClr val="D9D9D9"/>
          </a:solidFill>
        </p:spPr>
        <p:txBody>
          <a:bodyPr/>
          <a:lstStyle/>
          <a:p>
            <a:endParaRPr/>
          </a:p>
        </p:txBody>
      </p:sp>
      <p:sp>
        <p:nvSpPr>
          <p:cNvPr id="26" name="Shape 26"/>
          <p:cNvSpPr/>
          <p:nvPr/>
        </p:nvSpPr>
        <p:spPr>
          <a:xfrm>
            <a:off x="3511550" y="2838386"/>
            <a:ext cx="1871599" cy="652463"/>
          </a:xfrm>
          <a:prstGeom prst="rect">
            <a:avLst/>
          </a:prstGeom>
          <a:noFill/>
          <a:ln w="12700">
            <a:solidFill>
              <a:srgbClr val="D9D9D9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7" name="TextBox 27"/>
          <p:cNvSpPr txBox="1"/>
          <p:nvPr/>
        </p:nvSpPr>
        <p:spPr>
          <a:xfrm>
            <a:off x="3731387" y="3007401"/>
            <a:ext cx="146283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근로복지공단</a:t>
            </a:r>
          </a:p>
        </p:txBody>
      </p:sp>
      <p:sp>
        <p:nvSpPr>
          <p:cNvPr id="28" name="Shape 28"/>
          <p:cNvSpPr/>
          <p:nvPr/>
        </p:nvSpPr>
        <p:spPr>
          <a:xfrm>
            <a:off x="6156325" y="2846388"/>
            <a:ext cx="1871726" cy="655638"/>
          </a:xfrm>
          <a:prstGeom prst="rect">
            <a:avLst/>
          </a:prstGeom>
          <a:solidFill>
            <a:srgbClr val="D9D9D9"/>
          </a:solidFill>
        </p:spPr>
        <p:txBody>
          <a:bodyPr/>
          <a:lstStyle/>
          <a:p>
            <a:endParaRPr/>
          </a:p>
        </p:txBody>
      </p:sp>
      <p:sp>
        <p:nvSpPr>
          <p:cNvPr id="29" name="Shape 29"/>
          <p:cNvSpPr/>
          <p:nvPr/>
        </p:nvSpPr>
        <p:spPr>
          <a:xfrm>
            <a:off x="6156325" y="2846388"/>
            <a:ext cx="1871726" cy="655638"/>
          </a:xfrm>
          <a:prstGeom prst="rect">
            <a:avLst/>
          </a:prstGeom>
          <a:noFill/>
          <a:ln w="12700">
            <a:solidFill>
              <a:srgbClr val="D9D9D9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0" name="TextBox 30"/>
          <p:cNvSpPr txBox="1"/>
          <p:nvPr/>
        </p:nvSpPr>
        <p:spPr>
          <a:xfrm>
            <a:off x="6376416" y="3017180"/>
            <a:ext cx="1464133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근로복지공단</a:t>
            </a:r>
          </a:p>
        </p:txBody>
      </p:sp>
      <p:sp>
        <p:nvSpPr>
          <p:cNvPr id="31" name="Shape 31"/>
          <p:cNvSpPr/>
          <p:nvPr/>
        </p:nvSpPr>
        <p:spPr>
          <a:xfrm>
            <a:off x="971550" y="3605149"/>
            <a:ext cx="1871599" cy="504825"/>
          </a:xfrm>
          <a:prstGeom prst="rect">
            <a:avLst/>
          </a:prstGeom>
          <a:solidFill>
            <a:srgbClr val="D9D9D9"/>
          </a:solidFill>
        </p:spPr>
        <p:txBody>
          <a:bodyPr/>
          <a:lstStyle/>
          <a:p>
            <a:endParaRPr/>
          </a:p>
        </p:txBody>
      </p:sp>
      <p:sp>
        <p:nvSpPr>
          <p:cNvPr id="32" name="Shape 32"/>
          <p:cNvSpPr/>
          <p:nvPr/>
        </p:nvSpPr>
        <p:spPr>
          <a:xfrm>
            <a:off x="971550" y="3605149"/>
            <a:ext cx="1871599" cy="504825"/>
          </a:xfrm>
          <a:prstGeom prst="rect">
            <a:avLst/>
          </a:prstGeom>
          <a:noFill/>
          <a:ln w="12700">
            <a:solidFill>
              <a:srgbClr val="D9D9D9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3" name="TextBox 33"/>
          <p:cNvSpPr txBox="1"/>
          <p:nvPr/>
        </p:nvSpPr>
        <p:spPr>
          <a:xfrm>
            <a:off x="1071982" y="3700567"/>
            <a:ext cx="1705300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70C0"/>
                </a:solidFill>
                <a:latin typeface="나눔고딕"/>
                <a:cs typeface="나눔고딕"/>
              </a:rPr>
              <a:t>산업안전보건법</a:t>
            </a:r>
          </a:p>
        </p:txBody>
      </p:sp>
      <p:sp>
        <p:nvSpPr>
          <p:cNvPr id="34" name="Shape 34"/>
          <p:cNvSpPr/>
          <p:nvPr/>
        </p:nvSpPr>
        <p:spPr>
          <a:xfrm>
            <a:off x="3511550" y="3603117"/>
            <a:ext cx="1871599" cy="504825"/>
          </a:xfrm>
          <a:prstGeom prst="rect">
            <a:avLst/>
          </a:prstGeom>
          <a:solidFill>
            <a:srgbClr val="D9D9D9"/>
          </a:solidFill>
        </p:spPr>
        <p:txBody>
          <a:bodyPr/>
          <a:lstStyle/>
          <a:p>
            <a:endParaRPr/>
          </a:p>
        </p:txBody>
      </p:sp>
      <p:sp>
        <p:nvSpPr>
          <p:cNvPr id="35" name="Shape 35"/>
          <p:cNvSpPr/>
          <p:nvPr/>
        </p:nvSpPr>
        <p:spPr>
          <a:xfrm>
            <a:off x="3511550" y="3603117"/>
            <a:ext cx="1871599" cy="504825"/>
          </a:xfrm>
          <a:prstGeom prst="rect">
            <a:avLst/>
          </a:prstGeom>
          <a:noFill/>
          <a:ln w="12700">
            <a:solidFill>
              <a:srgbClr val="D9D9D9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6" name="TextBox 36"/>
          <p:cNvSpPr txBox="1"/>
          <p:nvPr/>
        </p:nvSpPr>
        <p:spPr>
          <a:xfrm>
            <a:off x="3612515" y="3698408"/>
            <a:ext cx="1705300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70C0"/>
                </a:solidFill>
                <a:latin typeface="나눔고딕"/>
                <a:cs typeface="나눔고딕"/>
              </a:rPr>
              <a:t>산재보상보험법</a:t>
            </a:r>
          </a:p>
        </p:txBody>
      </p:sp>
      <p:sp>
        <p:nvSpPr>
          <p:cNvPr id="37" name="Shape 37"/>
          <p:cNvSpPr/>
          <p:nvPr/>
        </p:nvSpPr>
        <p:spPr>
          <a:xfrm>
            <a:off x="6156325" y="3603117"/>
            <a:ext cx="1871726" cy="504825"/>
          </a:xfrm>
          <a:prstGeom prst="rect">
            <a:avLst/>
          </a:prstGeom>
          <a:solidFill>
            <a:srgbClr val="D9D9D9"/>
          </a:solidFill>
        </p:spPr>
        <p:txBody>
          <a:bodyPr/>
          <a:lstStyle/>
          <a:p>
            <a:endParaRPr/>
          </a:p>
        </p:txBody>
      </p:sp>
      <p:sp>
        <p:nvSpPr>
          <p:cNvPr id="38" name="Shape 38"/>
          <p:cNvSpPr/>
          <p:nvPr/>
        </p:nvSpPr>
        <p:spPr>
          <a:xfrm>
            <a:off x="6156325" y="3603117"/>
            <a:ext cx="1871726" cy="504825"/>
          </a:xfrm>
          <a:prstGeom prst="rect">
            <a:avLst/>
          </a:prstGeom>
          <a:noFill/>
          <a:ln w="12700">
            <a:solidFill>
              <a:srgbClr val="D9D9D9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9" name="TextBox 39"/>
          <p:cNvSpPr txBox="1"/>
          <p:nvPr/>
        </p:nvSpPr>
        <p:spPr>
          <a:xfrm>
            <a:off x="6257544" y="3698408"/>
            <a:ext cx="1705299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70C0"/>
                </a:solidFill>
                <a:latin typeface="나눔고딕"/>
                <a:cs typeface="나눔고딕"/>
              </a:rPr>
              <a:t>산재보상보험법</a:t>
            </a:r>
          </a:p>
        </p:txBody>
      </p:sp>
      <p:sp>
        <p:nvSpPr>
          <p:cNvPr id="40" name="Shape 40"/>
          <p:cNvSpPr/>
          <p:nvPr/>
        </p:nvSpPr>
        <p:spPr>
          <a:xfrm>
            <a:off x="2973324" y="2168525"/>
            <a:ext cx="408051" cy="431800"/>
          </a:xfrm>
          <a:custGeom>
            <a:avLst/>
            <a:gdLst/>
            <a:ahLst/>
            <a:cxnLst/>
            <a:rect l="0" t="0" r="408051" b="431800"/>
            <a:pathLst>
              <a:path w="408051" h="431800" stroke="0">
                <a:moveTo>
                  <a:pt x="0" y="0"/>
                </a:moveTo>
                <a:lnTo>
                  <a:pt x="224282" y="0"/>
                </a:lnTo>
                <a:lnTo>
                  <a:pt x="408051" y="215900"/>
                </a:lnTo>
                <a:lnTo>
                  <a:pt x="224282" y="431800"/>
                </a:lnTo>
                <a:lnTo>
                  <a:pt x="0" y="431800"/>
                </a:lnTo>
                <a:lnTo>
                  <a:pt x="183896" y="215900"/>
                </a:lnTo>
                <a:close/>
              </a:path>
            </a:pathLst>
          </a:custGeom>
          <a:solidFill>
            <a:srgbClr val="A6A6A6"/>
          </a:solidFill>
        </p:spPr>
        <p:txBody>
          <a:bodyPr/>
          <a:lstStyle/>
          <a:p>
            <a:endParaRPr/>
          </a:p>
        </p:txBody>
      </p:sp>
      <p:sp>
        <p:nvSpPr>
          <p:cNvPr id="41" name="Shape 41"/>
          <p:cNvSpPr/>
          <p:nvPr/>
        </p:nvSpPr>
        <p:spPr>
          <a:xfrm>
            <a:off x="971550" y="2017166"/>
            <a:ext cx="1871726" cy="726034"/>
          </a:xfrm>
          <a:prstGeom prst="rect">
            <a:avLst/>
          </a:prstGeom>
          <a:solidFill>
            <a:srgbClr val="967754"/>
          </a:solidFill>
        </p:spPr>
        <p:txBody>
          <a:bodyPr/>
          <a:lstStyle/>
          <a:p>
            <a:endParaRPr/>
          </a:p>
        </p:txBody>
      </p:sp>
      <p:sp>
        <p:nvSpPr>
          <p:cNvPr id="42" name="Shape 42"/>
          <p:cNvSpPr/>
          <p:nvPr/>
        </p:nvSpPr>
        <p:spPr>
          <a:xfrm>
            <a:off x="971550" y="2017166"/>
            <a:ext cx="1871726" cy="726034"/>
          </a:xfrm>
          <a:prstGeom prst="rect">
            <a:avLst/>
          </a:prstGeom>
          <a:noFill/>
          <a:ln w="12700">
            <a:solidFill>
              <a:srgbClr val="D9D9D9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43" name="TextBox 43"/>
          <p:cNvSpPr txBox="1"/>
          <p:nvPr/>
        </p:nvSpPr>
        <p:spPr>
          <a:xfrm>
            <a:off x="1607185" y="2207981"/>
            <a:ext cx="267402" cy="390449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196" b="1" dirty="0">
                <a:solidFill>
                  <a:srgbClr val="FFFFFF"/>
                </a:solidFill>
                <a:latin typeface="나눔고딕"/>
                <a:cs typeface="나눔고딕"/>
              </a:rPr>
              <a:t>예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1869313" y="2207981"/>
            <a:ext cx="167335" cy="390449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196" b="1" dirty="0">
                <a:solidFill>
                  <a:srgbClr val="FFFFFF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1947037" y="2207981"/>
            <a:ext cx="267402" cy="390449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196" b="1" dirty="0">
                <a:solidFill>
                  <a:srgbClr val="FFFFFF"/>
                </a:solidFill>
                <a:latin typeface="나눔고딕"/>
                <a:cs typeface="나눔고딕"/>
              </a:rPr>
              <a:t>방</a:t>
            </a:r>
          </a:p>
        </p:txBody>
      </p:sp>
      <p:sp>
        <p:nvSpPr>
          <p:cNvPr id="46" name="Shape 46"/>
          <p:cNvSpPr/>
          <p:nvPr/>
        </p:nvSpPr>
        <p:spPr>
          <a:xfrm>
            <a:off x="3511550" y="2000276"/>
            <a:ext cx="1871726" cy="726034"/>
          </a:xfrm>
          <a:prstGeom prst="rect">
            <a:avLst/>
          </a:prstGeom>
          <a:solidFill>
            <a:srgbClr val="967754"/>
          </a:solidFill>
        </p:spPr>
        <p:txBody>
          <a:bodyPr/>
          <a:lstStyle/>
          <a:p>
            <a:endParaRPr/>
          </a:p>
        </p:txBody>
      </p:sp>
      <p:sp>
        <p:nvSpPr>
          <p:cNvPr id="47" name="Shape 47"/>
          <p:cNvSpPr/>
          <p:nvPr/>
        </p:nvSpPr>
        <p:spPr>
          <a:xfrm>
            <a:off x="3511550" y="2000276"/>
            <a:ext cx="1871726" cy="726034"/>
          </a:xfrm>
          <a:prstGeom prst="rect">
            <a:avLst/>
          </a:prstGeom>
          <a:noFill/>
          <a:ln w="12700">
            <a:solidFill>
              <a:srgbClr val="D9D9D9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48" name="TextBox 48"/>
          <p:cNvSpPr txBox="1"/>
          <p:nvPr/>
        </p:nvSpPr>
        <p:spPr>
          <a:xfrm>
            <a:off x="4147439" y="2190683"/>
            <a:ext cx="267694" cy="390876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198" b="1" dirty="0">
                <a:solidFill>
                  <a:srgbClr val="FFFFFF"/>
                </a:solidFill>
                <a:latin typeface="나눔고딕"/>
                <a:cs typeface="나눔고딕"/>
              </a:rPr>
              <a:t>보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4409567" y="2190683"/>
            <a:ext cx="167518" cy="390876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198" b="1" dirty="0">
                <a:solidFill>
                  <a:srgbClr val="FFFFFF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4487291" y="2190683"/>
            <a:ext cx="267694" cy="390876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198" b="1" dirty="0">
                <a:solidFill>
                  <a:srgbClr val="FFFFFF"/>
                </a:solidFill>
                <a:latin typeface="나눔고딕"/>
                <a:cs typeface="나눔고딕"/>
              </a:rPr>
              <a:t>상</a:t>
            </a:r>
          </a:p>
        </p:txBody>
      </p:sp>
      <p:sp>
        <p:nvSpPr>
          <p:cNvPr id="51" name="Shape 51"/>
          <p:cNvSpPr/>
          <p:nvPr/>
        </p:nvSpPr>
        <p:spPr>
          <a:xfrm>
            <a:off x="6156325" y="1998497"/>
            <a:ext cx="1871726" cy="726034"/>
          </a:xfrm>
          <a:prstGeom prst="rect">
            <a:avLst/>
          </a:prstGeom>
          <a:solidFill>
            <a:srgbClr val="967754"/>
          </a:solidFill>
        </p:spPr>
        <p:txBody>
          <a:bodyPr/>
          <a:lstStyle/>
          <a:p>
            <a:endParaRPr/>
          </a:p>
        </p:txBody>
      </p:sp>
      <p:sp>
        <p:nvSpPr>
          <p:cNvPr id="52" name="Shape 52"/>
          <p:cNvSpPr/>
          <p:nvPr/>
        </p:nvSpPr>
        <p:spPr>
          <a:xfrm>
            <a:off x="6156325" y="1998497"/>
            <a:ext cx="1871726" cy="726034"/>
          </a:xfrm>
          <a:prstGeom prst="rect">
            <a:avLst/>
          </a:prstGeom>
          <a:noFill/>
          <a:ln w="12700">
            <a:solidFill>
              <a:srgbClr val="D9D9D9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53" name="TextBox 53"/>
          <p:cNvSpPr txBox="1"/>
          <p:nvPr/>
        </p:nvSpPr>
        <p:spPr>
          <a:xfrm>
            <a:off x="6792722" y="2189439"/>
            <a:ext cx="267402" cy="390449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196" b="1" dirty="0">
                <a:solidFill>
                  <a:srgbClr val="FFFFFF"/>
                </a:solidFill>
                <a:latin typeface="나눔고딕"/>
                <a:cs typeface="나눔고딕"/>
              </a:rPr>
              <a:t>재</a:t>
            </a:r>
          </a:p>
        </p:txBody>
      </p:sp>
      <p:sp>
        <p:nvSpPr>
          <p:cNvPr id="54" name="TextBox 54"/>
          <p:cNvSpPr txBox="1"/>
          <p:nvPr/>
        </p:nvSpPr>
        <p:spPr>
          <a:xfrm>
            <a:off x="7054850" y="2189439"/>
            <a:ext cx="167335" cy="390449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196" b="1" dirty="0">
                <a:solidFill>
                  <a:srgbClr val="FFFFFF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55" name="TextBox 55"/>
          <p:cNvSpPr txBox="1"/>
          <p:nvPr/>
        </p:nvSpPr>
        <p:spPr>
          <a:xfrm>
            <a:off x="7132574" y="2189439"/>
            <a:ext cx="267402" cy="390449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196" b="1" dirty="0">
                <a:solidFill>
                  <a:srgbClr val="FFFFFF"/>
                </a:solidFill>
                <a:latin typeface="나눔고딕"/>
                <a:cs typeface="나눔고딕"/>
              </a:rPr>
              <a:t>활</a:t>
            </a:r>
          </a:p>
        </p:txBody>
      </p:sp>
      <p:sp>
        <p:nvSpPr>
          <p:cNvPr id="56" name="Shape 56"/>
          <p:cNvSpPr/>
          <p:nvPr/>
        </p:nvSpPr>
        <p:spPr>
          <a:xfrm>
            <a:off x="5565775" y="2164334"/>
            <a:ext cx="408051" cy="431800"/>
          </a:xfrm>
          <a:custGeom>
            <a:avLst/>
            <a:gdLst/>
            <a:ahLst/>
            <a:cxnLst/>
            <a:rect l="0" t="0" r="408051" b="431800"/>
            <a:pathLst>
              <a:path w="408051" h="431800" stroke="0">
                <a:moveTo>
                  <a:pt x="0" y="0"/>
                </a:moveTo>
                <a:lnTo>
                  <a:pt x="224155" y="0"/>
                </a:lnTo>
                <a:lnTo>
                  <a:pt x="408051" y="215900"/>
                </a:lnTo>
                <a:lnTo>
                  <a:pt x="224155" y="431800"/>
                </a:lnTo>
                <a:lnTo>
                  <a:pt x="0" y="431800"/>
                </a:lnTo>
                <a:lnTo>
                  <a:pt x="183769" y="215900"/>
                </a:lnTo>
                <a:close/>
              </a:path>
            </a:pathLst>
          </a:custGeom>
          <a:solidFill>
            <a:srgbClr val="A6A6A6"/>
          </a:solidFill>
        </p:spPr>
        <p:txBody>
          <a:bodyPr/>
          <a:lstStyle/>
          <a:p>
            <a:endParaRPr/>
          </a:p>
        </p:txBody>
      </p:sp>
      <p:sp>
        <p:nvSpPr>
          <p:cNvPr id="57" name="TextBox 57"/>
          <p:cNvSpPr txBox="1"/>
          <p:nvPr/>
        </p:nvSpPr>
        <p:spPr>
          <a:xfrm>
            <a:off x="415138" y="105410"/>
            <a:ext cx="1057046" cy="42672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400" b="1" dirty="0">
                <a:solidFill>
                  <a:srgbClr val="000000"/>
                </a:solidFill>
                <a:latin typeface="나눔고딕"/>
                <a:cs typeface="나눔고딕"/>
              </a:rPr>
              <a:t>Ⅰ. 학습</a:t>
            </a:r>
          </a:p>
        </p:txBody>
      </p:sp>
      <p:sp>
        <p:nvSpPr>
          <p:cNvPr id="58" name="TextBox 58"/>
          <p:cNvSpPr txBox="1"/>
          <p:nvPr/>
        </p:nvSpPr>
        <p:spPr>
          <a:xfrm>
            <a:off x="1451483" y="105410"/>
            <a:ext cx="182880" cy="42672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400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59" name="TextBox 59"/>
          <p:cNvSpPr txBox="1"/>
          <p:nvPr/>
        </p:nvSpPr>
        <p:spPr>
          <a:xfrm>
            <a:off x="1535303" y="105410"/>
            <a:ext cx="876727" cy="42672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400" b="1" dirty="0">
                <a:solidFill>
                  <a:srgbClr val="000000"/>
                </a:solidFill>
                <a:latin typeface="나눔고딕"/>
                <a:cs typeface="나눔고딕"/>
              </a:rPr>
              <a:t>로드맵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3"/>
          <p:cNvSpPr/>
          <p:nvPr/>
        </p:nvSpPr>
        <p:spPr>
          <a:xfrm>
            <a:off x="0" y="6525349"/>
            <a:ext cx="9144000" cy="1"/>
          </a:xfrm>
          <a:custGeom>
            <a:avLst/>
            <a:gdLst/>
            <a:ahLst/>
            <a:cxnLst/>
            <a:rect l="0" t="0" r="9144000" b="1"/>
            <a:pathLst>
              <a:path w="9144000" h="1" fill="none">
                <a:moveTo>
                  <a:pt x="0" y="0"/>
                </a:moveTo>
                <a:lnTo>
                  <a:pt x="9144000" y="0"/>
                </a:lnTo>
              </a:path>
            </a:pathLst>
          </a:custGeom>
          <a:noFill/>
          <a:ln w="19050">
            <a:solidFill>
              <a:srgbClr val="5B9BD5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6" name="Shape 6"/>
          <p:cNvSpPr/>
          <p:nvPr/>
        </p:nvSpPr>
        <p:spPr>
          <a:xfrm>
            <a:off x="21900" y="476640"/>
            <a:ext cx="1331595" cy="97400"/>
          </a:xfrm>
          <a:prstGeom prst="rect">
            <a:avLst/>
          </a:prstGeom>
          <a:solidFill>
            <a:srgbClr val="92D050"/>
          </a:solidFill>
        </p:spPr>
        <p:txBody>
          <a:bodyPr/>
          <a:lstStyle/>
          <a:p>
            <a:endParaRPr/>
          </a:p>
        </p:txBody>
      </p:sp>
      <p:sp>
        <p:nvSpPr>
          <p:cNvPr id="7" name="Shape 7"/>
          <p:cNvSpPr/>
          <p:nvPr/>
        </p:nvSpPr>
        <p:spPr>
          <a:xfrm>
            <a:off x="1353566" y="476640"/>
            <a:ext cx="7776845" cy="97400"/>
          </a:xfrm>
          <a:prstGeom prst="rect">
            <a:avLst/>
          </a:prstGeom>
          <a:solidFill>
            <a:srgbClr val="5B9BD5"/>
          </a:solidFill>
        </p:spPr>
        <p:txBody>
          <a:bodyPr/>
          <a:lstStyle/>
          <a:p>
            <a:endParaRPr/>
          </a:p>
        </p:txBody>
      </p:sp>
      <p:sp>
        <p:nvSpPr>
          <p:cNvPr id="8" name="Shape 8"/>
          <p:cNvSpPr/>
          <p:nvPr/>
        </p:nvSpPr>
        <p:spPr>
          <a:xfrm>
            <a:off x="1353566" y="470281"/>
            <a:ext cx="1" cy="122809"/>
          </a:xfrm>
          <a:custGeom>
            <a:avLst/>
            <a:gdLst/>
            <a:ahLst/>
            <a:cxnLst/>
            <a:rect l="0" t="0" r="1" b="122809"/>
            <a:pathLst>
              <a:path w="1" h="122809" fill="none">
                <a:moveTo>
                  <a:pt x="0" y="0"/>
                </a:moveTo>
                <a:lnTo>
                  <a:pt x="0" y="122809"/>
                </a:lnTo>
              </a:path>
            </a:pathLst>
          </a:custGeom>
          <a:noFill/>
          <a:ln w="12700">
            <a:solidFill>
              <a:srgbClr val="FFFFF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9" name="Shape 9"/>
          <p:cNvSpPr/>
          <p:nvPr/>
        </p:nvSpPr>
        <p:spPr>
          <a:xfrm>
            <a:off x="21900" y="470281"/>
            <a:ext cx="1" cy="122809"/>
          </a:xfrm>
          <a:custGeom>
            <a:avLst/>
            <a:gdLst/>
            <a:ahLst/>
            <a:cxnLst/>
            <a:rect l="0" t="0" r="1" b="122809"/>
            <a:pathLst>
              <a:path w="1" h="122809" fill="none">
                <a:moveTo>
                  <a:pt x="0" y="0"/>
                </a:moveTo>
                <a:lnTo>
                  <a:pt x="0" y="122809"/>
                </a:lnTo>
              </a:path>
            </a:pathLst>
          </a:custGeom>
          <a:noFill/>
          <a:ln w="12700">
            <a:solidFill>
              <a:srgbClr val="FFFFF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0" name="Shape 10"/>
          <p:cNvSpPr/>
          <p:nvPr/>
        </p:nvSpPr>
        <p:spPr>
          <a:xfrm>
            <a:off x="9130411" y="470281"/>
            <a:ext cx="1" cy="122809"/>
          </a:xfrm>
          <a:custGeom>
            <a:avLst/>
            <a:gdLst/>
            <a:ahLst/>
            <a:cxnLst/>
            <a:rect l="0" t="0" r="1" b="122809"/>
            <a:pathLst>
              <a:path w="1" h="122809" fill="none">
                <a:moveTo>
                  <a:pt x="0" y="0"/>
                </a:moveTo>
                <a:lnTo>
                  <a:pt x="0" y="122809"/>
                </a:lnTo>
              </a:path>
            </a:pathLst>
          </a:custGeom>
          <a:noFill/>
          <a:ln w="12700">
            <a:solidFill>
              <a:srgbClr val="FFFFF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1" name="Shape 11"/>
          <p:cNvSpPr/>
          <p:nvPr/>
        </p:nvSpPr>
        <p:spPr>
          <a:xfrm>
            <a:off x="15550" y="476631"/>
            <a:ext cx="9121211" cy="1"/>
          </a:xfrm>
          <a:custGeom>
            <a:avLst/>
            <a:gdLst/>
            <a:ahLst/>
            <a:cxnLst/>
            <a:rect l="0" t="0" r="9121211" b="1"/>
            <a:pathLst>
              <a:path w="9121211" h="1" fill="none">
                <a:moveTo>
                  <a:pt x="0" y="0"/>
                </a:moveTo>
                <a:lnTo>
                  <a:pt x="9121211" y="0"/>
                </a:lnTo>
              </a:path>
            </a:pathLst>
          </a:custGeom>
          <a:noFill/>
          <a:ln w="12700">
            <a:solidFill>
              <a:srgbClr val="FFFFF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2" name="Shape 12"/>
          <p:cNvSpPr/>
          <p:nvPr/>
        </p:nvSpPr>
        <p:spPr>
          <a:xfrm>
            <a:off x="15550" y="574040"/>
            <a:ext cx="9121211" cy="1"/>
          </a:xfrm>
          <a:custGeom>
            <a:avLst/>
            <a:gdLst/>
            <a:ahLst/>
            <a:cxnLst/>
            <a:rect l="0" t="0" r="9121211" b="1"/>
            <a:pathLst>
              <a:path w="9121211" h="1" fill="none">
                <a:moveTo>
                  <a:pt x="0" y="0"/>
                </a:moveTo>
                <a:lnTo>
                  <a:pt x="9121211" y="0"/>
                </a:lnTo>
              </a:path>
            </a:pathLst>
          </a:custGeom>
          <a:noFill/>
          <a:ln w="38100">
            <a:solidFill>
              <a:srgbClr val="FFFFF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3" name="TextBox 13"/>
          <p:cNvSpPr txBox="1"/>
          <p:nvPr/>
        </p:nvSpPr>
        <p:spPr>
          <a:xfrm>
            <a:off x="487070" y="679170"/>
            <a:ext cx="370025" cy="427147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402" b="1" spc="151" dirty="0">
                <a:solidFill>
                  <a:srgbClr val="967754"/>
                </a:solidFill>
                <a:latin typeface="나눔고딕 2"/>
                <a:cs typeface="나눔고딕 2"/>
              </a:rPr>
              <a:t>3. 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848258" y="679170"/>
            <a:ext cx="1169260" cy="427147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402" b="1" dirty="0">
                <a:solidFill>
                  <a:srgbClr val="967754"/>
                </a:solidFill>
                <a:latin typeface="나눔고딕"/>
                <a:cs typeface="나눔고딕"/>
              </a:rPr>
              <a:t>산업재해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994662" y="679170"/>
            <a:ext cx="183063" cy="427147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402" b="1" dirty="0">
                <a:solidFill>
                  <a:srgbClr val="967754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2078482" y="679170"/>
            <a:ext cx="1461502" cy="427147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402" b="1" dirty="0">
                <a:solidFill>
                  <a:srgbClr val="967754"/>
                </a:solidFill>
                <a:latin typeface="나눔고딕"/>
                <a:cs typeface="나눔고딕"/>
              </a:rPr>
              <a:t>발생이론과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3511296" y="679170"/>
            <a:ext cx="183063" cy="427147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402" b="1" dirty="0">
                <a:solidFill>
                  <a:srgbClr val="967754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3593592" y="679170"/>
            <a:ext cx="877018" cy="427147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402" b="1" dirty="0">
                <a:solidFill>
                  <a:srgbClr val="967754"/>
                </a:solidFill>
                <a:latin typeface="나눔고딕"/>
                <a:cs typeface="나눔고딕"/>
              </a:rPr>
              <a:t>기업의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4453128" y="679170"/>
            <a:ext cx="183063" cy="427147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402" b="1" dirty="0">
                <a:solidFill>
                  <a:srgbClr val="967754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4535424" y="679170"/>
            <a:ext cx="584776" cy="427147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402" b="1" dirty="0">
                <a:solidFill>
                  <a:srgbClr val="967754"/>
                </a:solidFill>
                <a:latin typeface="나눔고딕"/>
                <a:cs typeface="나눔고딕"/>
              </a:rPr>
              <a:t>예방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5108448" y="679170"/>
            <a:ext cx="183063" cy="427147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402" b="1" dirty="0">
                <a:solidFill>
                  <a:srgbClr val="967754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5193792" y="679170"/>
            <a:ext cx="585088" cy="427147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402" b="1" dirty="0">
                <a:solidFill>
                  <a:srgbClr val="967754"/>
                </a:solidFill>
                <a:latin typeface="나눔고딕"/>
                <a:cs typeface="나눔고딕"/>
              </a:rPr>
              <a:t>활동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553517" y="1254592"/>
            <a:ext cx="355303" cy="390449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196" b="1" spc="150" dirty="0">
                <a:solidFill>
                  <a:srgbClr val="000000"/>
                </a:solidFill>
                <a:latin typeface="나눔고딕 2"/>
                <a:cs typeface="나눔고딕 2"/>
              </a:rPr>
              <a:t>1) 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902513" y="1254592"/>
            <a:ext cx="534772" cy="390449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196" b="1" dirty="0">
                <a:solidFill>
                  <a:srgbClr val="000000"/>
                </a:solidFill>
                <a:latin typeface="나눔고딕"/>
                <a:cs typeface="나눔고딕"/>
              </a:rPr>
              <a:t>사고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426718" y="1254592"/>
            <a:ext cx="167335" cy="390449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196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504442" y="1254592"/>
            <a:ext cx="534772" cy="390449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196" b="1" dirty="0">
                <a:solidFill>
                  <a:srgbClr val="000000"/>
                </a:solidFill>
                <a:latin typeface="나눔고딕"/>
                <a:cs typeface="나눔고딕"/>
              </a:rPr>
              <a:t>발생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2029079" y="1254592"/>
            <a:ext cx="167335" cy="390449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196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2106803" y="1254592"/>
            <a:ext cx="1069513" cy="390449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196" b="1" dirty="0">
                <a:solidFill>
                  <a:srgbClr val="000000"/>
                </a:solidFill>
                <a:latin typeface="나눔고딕"/>
                <a:cs typeface="나눔고딕"/>
              </a:rPr>
              <a:t>메커니즘</a:t>
            </a:r>
          </a:p>
        </p:txBody>
      </p:sp>
      <p:sp>
        <p:nvSpPr>
          <p:cNvPr id="29" name="Shape 29"/>
          <p:cNvSpPr/>
          <p:nvPr/>
        </p:nvSpPr>
        <p:spPr>
          <a:xfrm>
            <a:off x="644703" y="3658032"/>
            <a:ext cx="1531493" cy="663524"/>
          </a:xfrm>
          <a:prstGeom prst="rect">
            <a:avLst/>
          </a:prstGeom>
          <a:solidFill>
            <a:srgbClr val="FFC000"/>
          </a:solidFill>
        </p:spPr>
        <p:txBody>
          <a:bodyPr/>
          <a:lstStyle/>
          <a:p>
            <a:endParaRPr/>
          </a:p>
        </p:txBody>
      </p:sp>
      <p:sp>
        <p:nvSpPr>
          <p:cNvPr id="30" name="Shape 30"/>
          <p:cNvSpPr/>
          <p:nvPr/>
        </p:nvSpPr>
        <p:spPr>
          <a:xfrm>
            <a:off x="644703" y="3651631"/>
            <a:ext cx="1" cy="676275"/>
          </a:xfrm>
          <a:custGeom>
            <a:avLst/>
            <a:gdLst/>
            <a:ahLst/>
            <a:cxnLst/>
            <a:rect l="0" t="0" r="1" b="676275"/>
            <a:pathLst>
              <a:path w="1" h="676275" fill="none">
                <a:moveTo>
                  <a:pt x="0" y="0"/>
                </a:moveTo>
                <a:lnTo>
                  <a:pt x="0" y="676275"/>
                </a:lnTo>
              </a:path>
            </a:pathLst>
          </a:custGeom>
          <a:noFill/>
          <a:ln w="12700">
            <a:solidFill>
              <a:srgbClr val="000000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1" name="Shape 31"/>
          <p:cNvSpPr/>
          <p:nvPr/>
        </p:nvSpPr>
        <p:spPr>
          <a:xfrm>
            <a:off x="2176145" y="3651631"/>
            <a:ext cx="1" cy="676275"/>
          </a:xfrm>
          <a:custGeom>
            <a:avLst/>
            <a:gdLst/>
            <a:ahLst/>
            <a:cxnLst/>
            <a:rect l="0" t="0" r="1" b="676275"/>
            <a:pathLst>
              <a:path w="1" h="676275" fill="none">
                <a:moveTo>
                  <a:pt x="0" y="0"/>
                </a:moveTo>
                <a:lnTo>
                  <a:pt x="0" y="676275"/>
                </a:lnTo>
              </a:path>
            </a:pathLst>
          </a:custGeom>
          <a:noFill/>
          <a:ln w="12700">
            <a:solidFill>
              <a:srgbClr val="000000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2" name="Shape 32"/>
          <p:cNvSpPr/>
          <p:nvPr/>
        </p:nvSpPr>
        <p:spPr>
          <a:xfrm>
            <a:off x="638353" y="3657981"/>
            <a:ext cx="1544142" cy="1"/>
          </a:xfrm>
          <a:custGeom>
            <a:avLst/>
            <a:gdLst/>
            <a:ahLst/>
            <a:cxnLst/>
            <a:rect l="0" t="0" r="1544142" b="1"/>
            <a:pathLst>
              <a:path w="1544142" h="1" fill="none">
                <a:moveTo>
                  <a:pt x="0" y="0"/>
                </a:moveTo>
                <a:lnTo>
                  <a:pt x="1544142" y="0"/>
                </a:lnTo>
              </a:path>
            </a:pathLst>
          </a:custGeom>
          <a:noFill/>
          <a:ln w="12700">
            <a:solidFill>
              <a:srgbClr val="000000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3" name="Shape 33"/>
          <p:cNvSpPr/>
          <p:nvPr/>
        </p:nvSpPr>
        <p:spPr>
          <a:xfrm>
            <a:off x="638353" y="4321556"/>
            <a:ext cx="1544142" cy="1"/>
          </a:xfrm>
          <a:custGeom>
            <a:avLst/>
            <a:gdLst/>
            <a:ahLst/>
            <a:cxnLst/>
            <a:rect l="0" t="0" r="1544142" b="1"/>
            <a:pathLst>
              <a:path w="1544142" h="1" fill="none">
                <a:moveTo>
                  <a:pt x="0" y="0"/>
                </a:moveTo>
                <a:lnTo>
                  <a:pt x="1544142" y="0"/>
                </a:lnTo>
              </a:path>
            </a:pathLst>
          </a:custGeom>
          <a:noFill/>
          <a:ln w="12700">
            <a:solidFill>
              <a:srgbClr val="000000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4" name="TextBox 34"/>
          <p:cNvSpPr txBox="1"/>
          <p:nvPr/>
        </p:nvSpPr>
        <p:spPr>
          <a:xfrm>
            <a:off x="806806" y="3725545"/>
            <a:ext cx="438363" cy="32004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1800" b="1" dirty="0">
                <a:solidFill>
                  <a:srgbClr val="000000"/>
                </a:solidFill>
                <a:latin typeface="나눔고딕"/>
                <a:cs typeface="나눔고딕"/>
              </a:rPr>
              <a:t>조직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1236574" y="3725545"/>
            <a:ext cx="137160" cy="32004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1800" b="1" dirty="0">
                <a:solidFill>
                  <a:srgbClr val="000000"/>
                </a:solidFill>
                <a:latin typeface="나눔고딕 2"/>
                <a:cs typeface="나눔고딕 2"/>
              </a:rPr>
              <a:t>, 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1369187" y="3725545"/>
            <a:ext cx="657545" cy="32004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1800" b="1" dirty="0">
                <a:solidFill>
                  <a:srgbClr val="000000"/>
                </a:solidFill>
                <a:latin typeface="나눔고딕"/>
                <a:cs typeface="나눔고딕"/>
              </a:rPr>
              <a:t>시스템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2014093" y="3725545"/>
            <a:ext cx="137160" cy="32004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1800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1195426" y="3999865"/>
            <a:ext cx="438363" cy="32004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1800" b="1" dirty="0">
                <a:solidFill>
                  <a:srgbClr val="000000"/>
                </a:solidFill>
                <a:latin typeface="나눔고딕"/>
                <a:cs typeface="나눔고딕"/>
              </a:rPr>
              <a:t>결함</a:t>
            </a:r>
          </a:p>
        </p:txBody>
      </p:sp>
      <p:sp>
        <p:nvSpPr>
          <p:cNvPr id="39" name="Shape 39"/>
          <p:cNvSpPr/>
          <p:nvPr/>
        </p:nvSpPr>
        <p:spPr>
          <a:xfrm>
            <a:off x="2463038" y="2860230"/>
            <a:ext cx="1285875" cy="585788"/>
          </a:xfrm>
          <a:prstGeom prst="rect">
            <a:avLst/>
          </a:prstGeom>
          <a:solidFill>
            <a:srgbClr val="D9D9D9"/>
          </a:solidFill>
        </p:spPr>
        <p:txBody>
          <a:bodyPr/>
          <a:lstStyle/>
          <a:p>
            <a:endParaRPr/>
          </a:p>
        </p:txBody>
      </p:sp>
      <p:sp>
        <p:nvSpPr>
          <p:cNvPr id="40" name="Shape 40"/>
          <p:cNvSpPr/>
          <p:nvPr/>
        </p:nvSpPr>
        <p:spPr>
          <a:xfrm>
            <a:off x="2463038" y="2853817"/>
            <a:ext cx="1" cy="598551"/>
          </a:xfrm>
          <a:custGeom>
            <a:avLst/>
            <a:gdLst/>
            <a:ahLst/>
            <a:cxnLst/>
            <a:rect l="0" t="0" r="1" b="598551"/>
            <a:pathLst>
              <a:path w="1" h="598551" fill="none">
                <a:moveTo>
                  <a:pt x="0" y="0"/>
                </a:moveTo>
                <a:lnTo>
                  <a:pt x="0" y="598551"/>
                </a:lnTo>
              </a:path>
            </a:pathLst>
          </a:custGeom>
          <a:noFill/>
          <a:ln w="12700">
            <a:solidFill>
              <a:srgbClr val="000000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41" name="Shape 41"/>
          <p:cNvSpPr/>
          <p:nvPr/>
        </p:nvSpPr>
        <p:spPr>
          <a:xfrm>
            <a:off x="3748913" y="2853817"/>
            <a:ext cx="1" cy="598551"/>
          </a:xfrm>
          <a:custGeom>
            <a:avLst/>
            <a:gdLst/>
            <a:ahLst/>
            <a:cxnLst/>
            <a:rect l="0" t="0" r="1" b="598551"/>
            <a:pathLst>
              <a:path w="1" h="598551" fill="none">
                <a:moveTo>
                  <a:pt x="0" y="0"/>
                </a:moveTo>
                <a:lnTo>
                  <a:pt x="0" y="598551"/>
                </a:lnTo>
              </a:path>
            </a:pathLst>
          </a:custGeom>
          <a:noFill/>
          <a:ln w="12700">
            <a:solidFill>
              <a:srgbClr val="000000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42" name="Shape 42"/>
          <p:cNvSpPr/>
          <p:nvPr/>
        </p:nvSpPr>
        <p:spPr>
          <a:xfrm>
            <a:off x="2456688" y="2860167"/>
            <a:ext cx="1298575" cy="1"/>
          </a:xfrm>
          <a:custGeom>
            <a:avLst/>
            <a:gdLst/>
            <a:ahLst/>
            <a:cxnLst/>
            <a:rect l="0" t="0" r="1298575" b="1"/>
            <a:pathLst>
              <a:path w="1298575" h="1" fill="none">
                <a:moveTo>
                  <a:pt x="0" y="0"/>
                </a:moveTo>
                <a:lnTo>
                  <a:pt x="1298575" y="0"/>
                </a:lnTo>
              </a:path>
            </a:pathLst>
          </a:custGeom>
          <a:noFill/>
          <a:ln w="12700">
            <a:solidFill>
              <a:srgbClr val="000000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43" name="Shape 43"/>
          <p:cNvSpPr/>
          <p:nvPr/>
        </p:nvSpPr>
        <p:spPr>
          <a:xfrm>
            <a:off x="2456688" y="3446018"/>
            <a:ext cx="1298575" cy="1"/>
          </a:xfrm>
          <a:custGeom>
            <a:avLst/>
            <a:gdLst/>
            <a:ahLst/>
            <a:cxnLst/>
            <a:rect l="0" t="0" r="1298575" b="1"/>
            <a:pathLst>
              <a:path w="1298575" h="1" fill="none">
                <a:moveTo>
                  <a:pt x="0" y="0"/>
                </a:moveTo>
                <a:lnTo>
                  <a:pt x="1298575" y="0"/>
                </a:lnTo>
              </a:path>
            </a:pathLst>
          </a:custGeom>
          <a:noFill/>
          <a:ln w="12700">
            <a:solidFill>
              <a:srgbClr val="000000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44" name="TextBox 44"/>
          <p:cNvSpPr txBox="1"/>
          <p:nvPr/>
        </p:nvSpPr>
        <p:spPr>
          <a:xfrm>
            <a:off x="2675890" y="2861183"/>
            <a:ext cx="876727" cy="32004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1800" b="1" dirty="0">
                <a:solidFill>
                  <a:srgbClr val="000000"/>
                </a:solidFill>
                <a:latin typeface="나눔고딕"/>
                <a:cs typeface="나눔고딕"/>
              </a:rPr>
              <a:t>불안전한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2890774" y="3135223"/>
            <a:ext cx="438655" cy="320467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1802" b="1" dirty="0">
                <a:solidFill>
                  <a:srgbClr val="000000"/>
                </a:solidFill>
                <a:latin typeface="나눔고딕"/>
                <a:cs typeface="나눔고딕"/>
              </a:rPr>
              <a:t>상태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3320796" y="3135223"/>
            <a:ext cx="137343" cy="320467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1802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47" name="Shape 47"/>
          <p:cNvSpPr/>
          <p:nvPr/>
        </p:nvSpPr>
        <p:spPr>
          <a:xfrm>
            <a:off x="1410462" y="3047492"/>
            <a:ext cx="1" cy="576326"/>
          </a:xfrm>
          <a:custGeom>
            <a:avLst/>
            <a:gdLst/>
            <a:ahLst/>
            <a:cxnLst/>
            <a:rect l="0" t="0" r="1" b="576326"/>
            <a:pathLst>
              <a:path w="1" h="576326" fill="none">
                <a:moveTo>
                  <a:pt x="0" y="576326"/>
                </a:moveTo>
                <a:lnTo>
                  <a:pt x="0" y="0"/>
                </a:lnTo>
              </a:path>
            </a:pathLst>
          </a:custGeom>
          <a:noFill/>
          <a:ln w="9525">
            <a:solidFill>
              <a:srgbClr val="000000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48" name="Shape 48"/>
          <p:cNvSpPr/>
          <p:nvPr/>
        </p:nvSpPr>
        <p:spPr>
          <a:xfrm>
            <a:off x="1410462" y="2997581"/>
            <a:ext cx="962025" cy="99822"/>
          </a:xfrm>
          <a:custGeom>
            <a:avLst/>
            <a:gdLst/>
            <a:ahLst/>
            <a:cxnLst/>
            <a:rect l="0" t="0" r="962025" b="99822"/>
            <a:pathLst>
              <a:path w="962025" h="99822" stroke="0">
                <a:moveTo>
                  <a:pt x="0" y="45212"/>
                </a:moveTo>
                <a:lnTo>
                  <a:pt x="952627" y="45212"/>
                </a:lnTo>
                <a:lnTo>
                  <a:pt x="952627" y="54737"/>
                </a:lnTo>
                <a:lnTo>
                  <a:pt x="0" y="54737"/>
                </a:lnTo>
                <a:close/>
                <a:moveTo>
                  <a:pt x="878840" y="1397"/>
                </a:moveTo>
                <a:lnTo>
                  <a:pt x="962025" y="49911"/>
                </a:lnTo>
                <a:lnTo>
                  <a:pt x="878840" y="98552"/>
                </a:lnTo>
                <a:cubicBezTo>
                  <a:pt x="876554" y="99822"/>
                  <a:pt x="873633" y="99060"/>
                  <a:pt x="872236" y="96774"/>
                </a:cubicBezTo>
                <a:cubicBezTo>
                  <a:pt x="870966" y="94488"/>
                  <a:pt x="871728" y="91567"/>
                  <a:pt x="874014" y="90297"/>
                </a:cubicBezTo>
                <a:lnTo>
                  <a:pt x="950214" y="45847"/>
                </a:lnTo>
                <a:lnTo>
                  <a:pt x="950214" y="54102"/>
                </a:lnTo>
                <a:lnTo>
                  <a:pt x="874014" y="9652"/>
                </a:lnTo>
                <a:cubicBezTo>
                  <a:pt x="871728" y="8255"/>
                  <a:pt x="870966" y="5334"/>
                  <a:pt x="872236" y="3048"/>
                </a:cubicBezTo>
                <a:cubicBezTo>
                  <a:pt x="873633" y="889"/>
                  <a:pt x="876554" y="0"/>
                  <a:pt x="878840" y="1397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endParaRPr/>
          </a:p>
        </p:txBody>
      </p:sp>
      <p:sp>
        <p:nvSpPr>
          <p:cNvPr id="49" name="Shape 49"/>
          <p:cNvSpPr/>
          <p:nvPr/>
        </p:nvSpPr>
        <p:spPr>
          <a:xfrm>
            <a:off x="3817112" y="3067304"/>
            <a:ext cx="431800" cy="103378"/>
          </a:xfrm>
          <a:custGeom>
            <a:avLst/>
            <a:gdLst/>
            <a:ahLst/>
            <a:cxnLst/>
            <a:rect l="0" t="0" r="431800" b="103378"/>
            <a:pathLst>
              <a:path w="431800" h="103378" stroke="0">
                <a:moveTo>
                  <a:pt x="0" y="45339"/>
                </a:moveTo>
                <a:lnTo>
                  <a:pt x="419227" y="45339"/>
                </a:lnTo>
                <a:lnTo>
                  <a:pt x="419227" y="58039"/>
                </a:lnTo>
                <a:lnTo>
                  <a:pt x="0" y="58039"/>
                </a:lnTo>
                <a:close/>
                <a:moveTo>
                  <a:pt x="346202" y="1778"/>
                </a:moveTo>
                <a:lnTo>
                  <a:pt x="431800" y="51689"/>
                </a:lnTo>
                <a:lnTo>
                  <a:pt x="346202" y="101600"/>
                </a:lnTo>
                <a:lnTo>
                  <a:pt x="346202" y="101600"/>
                </a:lnTo>
                <a:cubicBezTo>
                  <a:pt x="343154" y="103378"/>
                  <a:pt x="339344" y="102362"/>
                  <a:pt x="337566" y="99314"/>
                </a:cubicBezTo>
                <a:cubicBezTo>
                  <a:pt x="335788" y="96266"/>
                  <a:pt x="336804" y="92456"/>
                  <a:pt x="339852" y="90678"/>
                </a:cubicBezTo>
                <a:lnTo>
                  <a:pt x="416052" y="46228"/>
                </a:lnTo>
                <a:lnTo>
                  <a:pt x="416052" y="57150"/>
                </a:lnTo>
                <a:lnTo>
                  <a:pt x="339852" y="12700"/>
                </a:lnTo>
                <a:cubicBezTo>
                  <a:pt x="336804" y="10922"/>
                  <a:pt x="335788" y="6985"/>
                  <a:pt x="337566" y="4064"/>
                </a:cubicBezTo>
                <a:cubicBezTo>
                  <a:pt x="339344" y="1016"/>
                  <a:pt x="343154" y="0"/>
                  <a:pt x="346202" y="1778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endParaRPr/>
          </a:p>
        </p:txBody>
      </p:sp>
      <p:sp>
        <p:nvSpPr>
          <p:cNvPr id="50" name="Shape 50"/>
          <p:cNvSpPr/>
          <p:nvPr/>
        </p:nvSpPr>
        <p:spPr>
          <a:xfrm>
            <a:off x="4248912" y="2412492"/>
            <a:ext cx="3000375" cy="1104900"/>
          </a:xfrm>
          <a:prstGeom prst="rect">
            <a:avLst/>
          </a:prstGeom>
          <a:solidFill>
            <a:srgbClr val="FFFF00">
              <a:alpha val="2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51" name="Shape 51"/>
          <p:cNvSpPr/>
          <p:nvPr/>
        </p:nvSpPr>
        <p:spPr>
          <a:xfrm>
            <a:off x="4248912" y="2412492"/>
            <a:ext cx="3000375" cy="1104900"/>
          </a:xfrm>
          <a:prstGeom prst="rect">
            <a:avLst/>
          </a:prstGeom>
          <a:noFill/>
          <a:ln w="9525">
            <a:solidFill>
              <a:srgbClr val="000000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52" name="Shape 52"/>
          <p:cNvSpPr/>
          <p:nvPr/>
        </p:nvSpPr>
        <p:spPr>
          <a:xfrm>
            <a:off x="4533138" y="2887218"/>
            <a:ext cx="936625" cy="447675"/>
          </a:xfrm>
          <a:prstGeom prst="rect">
            <a:avLst/>
          </a:prstGeom>
          <a:solidFill>
            <a:srgbClr val="F39B8F"/>
          </a:solidFill>
        </p:spPr>
        <p:txBody>
          <a:bodyPr/>
          <a:lstStyle/>
          <a:p>
            <a:endParaRPr/>
          </a:p>
        </p:txBody>
      </p:sp>
      <p:sp>
        <p:nvSpPr>
          <p:cNvPr id="53" name="Shape 53"/>
          <p:cNvSpPr/>
          <p:nvPr/>
        </p:nvSpPr>
        <p:spPr>
          <a:xfrm>
            <a:off x="4533138" y="2880868"/>
            <a:ext cx="1" cy="460375"/>
          </a:xfrm>
          <a:custGeom>
            <a:avLst/>
            <a:gdLst/>
            <a:ahLst/>
            <a:cxnLst/>
            <a:rect l="0" t="0" r="1" b="460375"/>
            <a:pathLst>
              <a:path w="1" h="460375" fill="none">
                <a:moveTo>
                  <a:pt x="0" y="0"/>
                </a:moveTo>
                <a:lnTo>
                  <a:pt x="0" y="460375"/>
                </a:lnTo>
              </a:path>
            </a:pathLst>
          </a:custGeom>
          <a:noFill/>
          <a:ln w="12700">
            <a:solidFill>
              <a:srgbClr val="000000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54" name="Shape 54"/>
          <p:cNvSpPr/>
          <p:nvPr/>
        </p:nvSpPr>
        <p:spPr>
          <a:xfrm>
            <a:off x="5469763" y="2880868"/>
            <a:ext cx="1" cy="460375"/>
          </a:xfrm>
          <a:custGeom>
            <a:avLst/>
            <a:gdLst/>
            <a:ahLst/>
            <a:cxnLst/>
            <a:rect l="0" t="0" r="1" b="460375"/>
            <a:pathLst>
              <a:path w="1" h="460375" fill="none">
                <a:moveTo>
                  <a:pt x="0" y="0"/>
                </a:moveTo>
                <a:lnTo>
                  <a:pt x="0" y="460375"/>
                </a:lnTo>
              </a:path>
            </a:pathLst>
          </a:custGeom>
          <a:noFill/>
          <a:ln w="12700">
            <a:solidFill>
              <a:srgbClr val="000000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55" name="Shape 55"/>
          <p:cNvSpPr/>
          <p:nvPr/>
        </p:nvSpPr>
        <p:spPr>
          <a:xfrm>
            <a:off x="4526788" y="2887218"/>
            <a:ext cx="949325" cy="1"/>
          </a:xfrm>
          <a:custGeom>
            <a:avLst/>
            <a:gdLst/>
            <a:ahLst/>
            <a:cxnLst/>
            <a:rect l="0" t="0" r="949325" b="1"/>
            <a:pathLst>
              <a:path w="949325" h="1" fill="none">
                <a:moveTo>
                  <a:pt x="0" y="0"/>
                </a:moveTo>
                <a:lnTo>
                  <a:pt x="949325" y="0"/>
                </a:lnTo>
              </a:path>
            </a:pathLst>
          </a:custGeom>
          <a:noFill/>
          <a:ln w="12700">
            <a:solidFill>
              <a:srgbClr val="000000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56" name="Shape 56"/>
          <p:cNvSpPr/>
          <p:nvPr/>
        </p:nvSpPr>
        <p:spPr>
          <a:xfrm>
            <a:off x="4526788" y="3334893"/>
            <a:ext cx="949325" cy="1"/>
          </a:xfrm>
          <a:custGeom>
            <a:avLst/>
            <a:gdLst/>
            <a:ahLst/>
            <a:cxnLst/>
            <a:rect l="0" t="0" r="949325" b="1"/>
            <a:pathLst>
              <a:path w="949325" h="1" fill="none">
                <a:moveTo>
                  <a:pt x="0" y="0"/>
                </a:moveTo>
                <a:lnTo>
                  <a:pt x="949325" y="0"/>
                </a:lnTo>
              </a:path>
            </a:pathLst>
          </a:custGeom>
          <a:noFill/>
          <a:ln w="12700">
            <a:solidFill>
              <a:srgbClr val="000000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57" name="TextBox 57"/>
          <p:cNvSpPr txBox="1"/>
          <p:nvPr/>
        </p:nvSpPr>
        <p:spPr>
          <a:xfrm>
            <a:off x="4679315" y="2956306"/>
            <a:ext cx="657545" cy="32004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1800" b="1" dirty="0">
                <a:solidFill>
                  <a:srgbClr val="000000"/>
                </a:solidFill>
                <a:latin typeface="나눔고딕"/>
                <a:cs typeface="나눔고딕"/>
              </a:rPr>
              <a:t>기인물</a:t>
            </a:r>
          </a:p>
        </p:txBody>
      </p:sp>
      <p:sp>
        <p:nvSpPr>
          <p:cNvPr id="58" name="Shape 58"/>
          <p:cNvSpPr/>
          <p:nvPr/>
        </p:nvSpPr>
        <p:spPr>
          <a:xfrm>
            <a:off x="6117463" y="2887218"/>
            <a:ext cx="936625" cy="447675"/>
          </a:xfrm>
          <a:prstGeom prst="rect">
            <a:avLst/>
          </a:prstGeom>
          <a:solidFill>
            <a:srgbClr val="C694AD"/>
          </a:solidFill>
        </p:spPr>
        <p:txBody>
          <a:bodyPr/>
          <a:lstStyle/>
          <a:p>
            <a:endParaRPr/>
          </a:p>
        </p:txBody>
      </p:sp>
      <p:sp>
        <p:nvSpPr>
          <p:cNvPr id="59" name="Shape 59"/>
          <p:cNvSpPr/>
          <p:nvPr/>
        </p:nvSpPr>
        <p:spPr>
          <a:xfrm>
            <a:off x="6117463" y="2880868"/>
            <a:ext cx="1" cy="460375"/>
          </a:xfrm>
          <a:custGeom>
            <a:avLst/>
            <a:gdLst/>
            <a:ahLst/>
            <a:cxnLst/>
            <a:rect l="0" t="0" r="1" b="460375"/>
            <a:pathLst>
              <a:path w="1" h="460375" fill="none">
                <a:moveTo>
                  <a:pt x="0" y="0"/>
                </a:moveTo>
                <a:lnTo>
                  <a:pt x="0" y="460375"/>
                </a:lnTo>
              </a:path>
            </a:pathLst>
          </a:custGeom>
          <a:noFill/>
          <a:ln w="12700">
            <a:solidFill>
              <a:srgbClr val="000000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60" name="Shape 60"/>
          <p:cNvSpPr/>
          <p:nvPr/>
        </p:nvSpPr>
        <p:spPr>
          <a:xfrm>
            <a:off x="7054088" y="2880868"/>
            <a:ext cx="1" cy="460375"/>
          </a:xfrm>
          <a:custGeom>
            <a:avLst/>
            <a:gdLst/>
            <a:ahLst/>
            <a:cxnLst/>
            <a:rect l="0" t="0" r="1" b="460375"/>
            <a:pathLst>
              <a:path w="1" h="460375" fill="none">
                <a:moveTo>
                  <a:pt x="0" y="0"/>
                </a:moveTo>
                <a:lnTo>
                  <a:pt x="0" y="460375"/>
                </a:lnTo>
              </a:path>
            </a:pathLst>
          </a:custGeom>
          <a:noFill/>
          <a:ln w="12700">
            <a:solidFill>
              <a:srgbClr val="000000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61" name="Shape 61"/>
          <p:cNvSpPr/>
          <p:nvPr/>
        </p:nvSpPr>
        <p:spPr>
          <a:xfrm>
            <a:off x="6111113" y="2887218"/>
            <a:ext cx="949325" cy="1"/>
          </a:xfrm>
          <a:custGeom>
            <a:avLst/>
            <a:gdLst/>
            <a:ahLst/>
            <a:cxnLst/>
            <a:rect l="0" t="0" r="949325" b="1"/>
            <a:pathLst>
              <a:path w="949325" h="1" fill="none">
                <a:moveTo>
                  <a:pt x="0" y="0"/>
                </a:moveTo>
                <a:lnTo>
                  <a:pt x="949325" y="0"/>
                </a:lnTo>
              </a:path>
            </a:pathLst>
          </a:custGeom>
          <a:noFill/>
          <a:ln w="12700">
            <a:solidFill>
              <a:srgbClr val="000000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62" name="Shape 62"/>
          <p:cNvSpPr/>
          <p:nvPr/>
        </p:nvSpPr>
        <p:spPr>
          <a:xfrm>
            <a:off x="6111113" y="3334893"/>
            <a:ext cx="949325" cy="1"/>
          </a:xfrm>
          <a:custGeom>
            <a:avLst/>
            <a:gdLst/>
            <a:ahLst/>
            <a:cxnLst/>
            <a:rect l="0" t="0" r="949325" b="1"/>
            <a:pathLst>
              <a:path w="949325" h="1" fill="none">
                <a:moveTo>
                  <a:pt x="0" y="0"/>
                </a:moveTo>
                <a:lnTo>
                  <a:pt x="949325" y="0"/>
                </a:lnTo>
              </a:path>
            </a:pathLst>
          </a:custGeom>
          <a:noFill/>
          <a:ln w="12700">
            <a:solidFill>
              <a:srgbClr val="000000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63" name="TextBox 63"/>
          <p:cNvSpPr txBox="1"/>
          <p:nvPr/>
        </p:nvSpPr>
        <p:spPr>
          <a:xfrm>
            <a:off x="6263894" y="2956306"/>
            <a:ext cx="657545" cy="32004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1800" b="1" dirty="0">
                <a:solidFill>
                  <a:srgbClr val="000000"/>
                </a:solidFill>
                <a:latin typeface="나눔고딕"/>
                <a:cs typeface="나눔고딕"/>
              </a:rPr>
              <a:t>가해물</a:t>
            </a:r>
          </a:p>
        </p:txBody>
      </p:sp>
      <p:sp>
        <p:nvSpPr>
          <p:cNvPr id="64" name="TextBox 64"/>
          <p:cNvSpPr txBox="1"/>
          <p:nvPr/>
        </p:nvSpPr>
        <p:spPr>
          <a:xfrm>
            <a:off x="4337939" y="2508504"/>
            <a:ext cx="219182" cy="32004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1800" b="1" dirty="0">
                <a:solidFill>
                  <a:srgbClr val="000000"/>
                </a:solidFill>
                <a:latin typeface="나눔고딕"/>
                <a:cs typeface="나눔고딕"/>
              </a:rPr>
              <a:t>물</a:t>
            </a:r>
          </a:p>
        </p:txBody>
      </p:sp>
      <p:sp>
        <p:nvSpPr>
          <p:cNvPr id="65" name="TextBox 65"/>
          <p:cNvSpPr txBox="1"/>
          <p:nvPr/>
        </p:nvSpPr>
        <p:spPr>
          <a:xfrm>
            <a:off x="4552823" y="2508504"/>
            <a:ext cx="137160" cy="32004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1800" b="1" dirty="0">
                <a:solidFill>
                  <a:srgbClr val="000000"/>
                </a:solidFill>
                <a:latin typeface="나눔고딕 2"/>
                <a:cs typeface="나눔고딕 2"/>
              </a:rPr>
              <a:t>(</a:t>
            </a:r>
          </a:p>
        </p:txBody>
      </p:sp>
      <p:sp>
        <p:nvSpPr>
          <p:cNvPr id="66" name="TextBox 66"/>
          <p:cNvSpPr txBox="1"/>
          <p:nvPr/>
        </p:nvSpPr>
        <p:spPr>
          <a:xfrm>
            <a:off x="4635119" y="2508504"/>
            <a:ext cx="219182" cy="32004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1800" b="1" dirty="0">
                <a:solidFill>
                  <a:srgbClr val="000000"/>
                </a:solidFill>
                <a:latin typeface="나눔고딕"/>
                <a:cs typeface="나눔고딕"/>
              </a:rPr>
              <a:t>物</a:t>
            </a:r>
          </a:p>
        </p:txBody>
      </p:sp>
      <p:sp>
        <p:nvSpPr>
          <p:cNvPr id="67" name="TextBox 67"/>
          <p:cNvSpPr txBox="1"/>
          <p:nvPr/>
        </p:nvSpPr>
        <p:spPr>
          <a:xfrm>
            <a:off x="4850003" y="2508504"/>
            <a:ext cx="283537" cy="32004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1800" b="1" spc="79" dirty="0">
                <a:solidFill>
                  <a:srgbClr val="000000"/>
                </a:solidFill>
                <a:latin typeface="나눔고딕 2"/>
                <a:cs typeface="나눔고딕 2"/>
              </a:rPr>
              <a:t>) : </a:t>
            </a:r>
          </a:p>
        </p:txBody>
      </p:sp>
      <p:sp>
        <p:nvSpPr>
          <p:cNvPr id="68" name="TextBox 68"/>
          <p:cNvSpPr txBox="1"/>
          <p:nvPr/>
        </p:nvSpPr>
        <p:spPr>
          <a:xfrm>
            <a:off x="5128895" y="2508504"/>
            <a:ext cx="877659" cy="32004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1800" b="1" dirty="0">
                <a:solidFill>
                  <a:srgbClr val="000000"/>
                </a:solidFill>
                <a:latin typeface="나눔고딕"/>
                <a:cs typeface="나눔고딕"/>
              </a:rPr>
              <a:t>기계설비</a:t>
            </a:r>
          </a:p>
        </p:txBody>
      </p:sp>
      <p:sp>
        <p:nvSpPr>
          <p:cNvPr id="69" name="TextBox 69"/>
          <p:cNvSpPr txBox="1"/>
          <p:nvPr/>
        </p:nvSpPr>
        <p:spPr>
          <a:xfrm>
            <a:off x="5988685" y="2508504"/>
            <a:ext cx="137160" cy="32004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1800" b="1" dirty="0">
                <a:solidFill>
                  <a:srgbClr val="000000"/>
                </a:solidFill>
                <a:latin typeface="나눔고딕 2"/>
                <a:cs typeface="나눔고딕 2"/>
              </a:rPr>
              <a:t>, </a:t>
            </a:r>
          </a:p>
        </p:txBody>
      </p:sp>
      <p:sp>
        <p:nvSpPr>
          <p:cNvPr id="70" name="TextBox 70"/>
          <p:cNvSpPr txBox="1"/>
          <p:nvPr/>
        </p:nvSpPr>
        <p:spPr>
          <a:xfrm>
            <a:off x="6119749" y="2508504"/>
            <a:ext cx="876727" cy="32004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1800" b="1" dirty="0">
                <a:solidFill>
                  <a:srgbClr val="000000"/>
                </a:solidFill>
                <a:latin typeface="나눔고딕"/>
                <a:cs typeface="나눔고딕"/>
              </a:rPr>
              <a:t>작업환경</a:t>
            </a:r>
          </a:p>
        </p:txBody>
      </p:sp>
      <p:sp>
        <p:nvSpPr>
          <p:cNvPr id="71" name="Shape 71"/>
          <p:cNvSpPr/>
          <p:nvPr/>
        </p:nvSpPr>
        <p:spPr>
          <a:xfrm>
            <a:off x="5541137" y="3067304"/>
            <a:ext cx="431800" cy="103378"/>
          </a:xfrm>
          <a:custGeom>
            <a:avLst/>
            <a:gdLst/>
            <a:ahLst/>
            <a:cxnLst/>
            <a:rect l="0" t="0" r="431800" b="103378"/>
            <a:pathLst>
              <a:path w="431800" h="103378" stroke="0">
                <a:moveTo>
                  <a:pt x="0" y="45339"/>
                </a:moveTo>
                <a:lnTo>
                  <a:pt x="419227" y="45339"/>
                </a:lnTo>
                <a:lnTo>
                  <a:pt x="419227" y="58039"/>
                </a:lnTo>
                <a:lnTo>
                  <a:pt x="0" y="58039"/>
                </a:lnTo>
                <a:close/>
                <a:moveTo>
                  <a:pt x="346202" y="1778"/>
                </a:moveTo>
                <a:lnTo>
                  <a:pt x="431800" y="51689"/>
                </a:lnTo>
                <a:lnTo>
                  <a:pt x="346202" y="101600"/>
                </a:lnTo>
                <a:lnTo>
                  <a:pt x="346202" y="101600"/>
                </a:lnTo>
                <a:cubicBezTo>
                  <a:pt x="343154" y="103378"/>
                  <a:pt x="339344" y="102362"/>
                  <a:pt x="337566" y="99314"/>
                </a:cubicBezTo>
                <a:cubicBezTo>
                  <a:pt x="335788" y="96266"/>
                  <a:pt x="336804" y="92456"/>
                  <a:pt x="339852" y="90678"/>
                </a:cubicBezTo>
                <a:lnTo>
                  <a:pt x="416052" y="46228"/>
                </a:lnTo>
                <a:lnTo>
                  <a:pt x="416052" y="57150"/>
                </a:lnTo>
                <a:lnTo>
                  <a:pt x="339852" y="12700"/>
                </a:lnTo>
                <a:cubicBezTo>
                  <a:pt x="336804" y="10922"/>
                  <a:pt x="335788" y="6985"/>
                  <a:pt x="337566" y="4064"/>
                </a:cubicBezTo>
                <a:cubicBezTo>
                  <a:pt x="339344" y="1016"/>
                  <a:pt x="343154" y="0"/>
                  <a:pt x="346202" y="1778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endParaRPr/>
          </a:p>
        </p:txBody>
      </p:sp>
      <p:sp>
        <p:nvSpPr>
          <p:cNvPr id="72" name="Shape 72"/>
          <p:cNvSpPr/>
          <p:nvPr/>
        </p:nvSpPr>
        <p:spPr>
          <a:xfrm>
            <a:off x="2463038" y="4879530"/>
            <a:ext cx="1357376" cy="585788"/>
          </a:xfrm>
          <a:prstGeom prst="rect">
            <a:avLst/>
          </a:prstGeom>
          <a:solidFill>
            <a:srgbClr val="D3D3EB"/>
          </a:solidFill>
        </p:spPr>
        <p:txBody>
          <a:bodyPr/>
          <a:lstStyle/>
          <a:p>
            <a:endParaRPr/>
          </a:p>
        </p:txBody>
      </p:sp>
      <p:sp>
        <p:nvSpPr>
          <p:cNvPr id="73" name="Shape 73"/>
          <p:cNvSpPr/>
          <p:nvPr/>
        </p:nvSpPr>
        <p:spPr>
          <a:xfrm>
            <a:off x="2463038" y="4873117"/>
            <a:ext cx="1" cy="598551"/>
          </a:xfrm>
          <a:custGeom>
            <a:avLst/>
            <a:gdLst/>
            <a:ahLst/>
            <a:cxnLst/>
            <a:rect l="0" t="0" r="1" b="598551"/>
            <a:pathLst>
              <a:path w="1" h="598551" fill="none">
                <a:moveTo>
                  <a:pt x="0" y="0"/>
                </a:moveTo>
                <a:lnTo>
                  <a:pt x="0" y="598551"/>
                </a:lnTo>
              </a:path>
            </a:pathLst>
          </a:custGeom>
          <a:noFill/>
          <a:ln w="12700">
            <a:solidFill>
              <a:srgbClr val="000000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74" name="Shape 74"/>
          <p:cNvSpPr/>
          <p:nvPr/>
        </p:nvSpPr>
        <p:spPr>
          <a:xfrm>
            <a:off x="3820287" y="4873117"/>
            <a:ext cx="1" cy="598551"/>
          </a:xfrm>
          <a:custGeom>
            <a:avLst/>
            <a:gdLst/>
            <a:ahLst/>
            <a:cxnLst/>
            <a:rect l="0" t="0" r="1" b="598551"/>
            <a:pathLst>
              <a:path w="1" h="598551" fill="none">
                <a:moveTo>
                  <a:pt x="0" y="0"/>
                </a:moveTo>
                <a:lnTo>
                  <a:pt x="0" y="598551"/>
                </a:lnTo>
              </a:path>
            </a:pathLst>
          </a:custGeom>
          <a:noFill/>
          <a:ln w="12700">
            <a:solidFill>
              <a:srgbClr val="000000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75" name="Shape 75"/>
          <p:cNvSpPr/>
          <p:nvPr/>
        </p:nvSpPr>
        <p:spPr>
          <a:xfrm>
            <a:off x="2456688" y="4879467"/>
            <a:ext cx="1369949" cy="1"/>
          </a:xfrm>
          <a:custGeom>
            <a:avLst/>
            <a:gdLst/>
            <a:ahLst/>
            <a:cxnLst/>
            <a:rect l="0" t="0" r="1369949" b="1"/>
            <a:pathLst>
              <a:path w="1369949" h="1" fill="none">
                <a:moveTo>
                  <a:pt x="0" y="0"/>
                </a:moveTo>
                <a:lnTo>
                  <a:pt x="1369949" y="0"/>
                </a:lnTo>
              </a:path>
            </a:pathLst>
          </a:custGeom>
          <a:noFill/>
          <a:ln w="12700">
            <a:solidFill>
              <a:srgbClr val="000000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76" name="Shape 76"/>
          <p:cNvSpPr/>
          <p:nvPr/>
        </p:nvSpPr>
        <p:spPr>
          <a:xfrm>
            <a:off x="2456688" y="5465318"/>
            <a:ext cx="1369949" cy="1"/>
          </a:xfrm>
          <a:custGeom>
            <a:avLst/>
            <a:gdLst/>
            <a:ahLst/>
            <a:cxnLst/>
            <a:rect l="0" t="0" r="1369949" b="1"/>
            <a:pathLst>
              <a:path w="1369949" h="1" fill="none">
                <a:moveTo>
                  <a:pt x="0" y="0"/>
                </a:moveTo>
                <a:lnTo>
                  <a:pt x="1369949" y="0"/>
                </a:lnTo>
              </a:path>
            </a:pathLst>
          </a:custGeom>
          <a:noFill/>
          <a:ln w="12700">
            <a:solidFill>
              <a:srgbClr val="000000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77" name="TextBox 77"/>
          <p:cNvSpPr txBox="1"/>
          <p:nvPr/>
        </p:nvSpPr>
        <p:spPr>
          <a:xfrm>
            <a:off x="2712466" y="4881118"/>
            <a:ext cx="876727" cy="32004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1800" b="1" dirty="0">
                <a:solidFill>
                  <a:srgbClr val="000000"/>
                </a:solidFill>
                <a:latin typeface="나눔고딕"/>
                <a:cs typeface="나눔고딕"/>
              </a:rPr>
              <a:t>불안전한</a:t>
            </a:r>
          </a:p>
        </p:txBody>
      </p:sp>
      <p:sp>
        <p:nvSpPr>
          <p:cNvPr id="78" name="TextBox 78"/>
          <p:cNvSpPr txBox="1"/>
          <p:nvPr/>
        </p:nvSpPr>
        <p:spPr>
          <a:xfrm>
            <a:off x="3572256" y="4881118"/>
            <a:ext cx="137160" cy="32004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1800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79" name="TextBox 79"/>
          <p:cNvSpPr txBox="1"/>
          <p:nvPr/>
        </p:nvSpPr>
        <p:spPr>
          <a:xfrm>
            <a:off x="2863342" y="5155438"/>
            <a:ext cx="137160" cy="32004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1800" b="1" dirty="0">
                <a:solidFill>
                  <a:srgbClr val="000000"/>
                </a:solidFill>
                <a:latin typeface="나눔고딕 2"/>
                <a:cs typeface="나눔고딕 2"/>
              </a:rPr>
              <a:t>  </a:t>
            </a:r>
          </a:p>
        </p:txBody>
      </p:sp>
      <p:sp>
        <p:nvSpPr>
          <p:cNvPr id="80" name="TextBox 80"/>
          <p:cNvSpPr txBox="1"/>
          <p:nvPr/>
        </p:nvSpPr>
        <p:spPr>
          <a:xfrm>
            <a:off x="2989834" y="5155438"/>
            <a:ext cx="438674" cy="32004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1800" b="1" dirty="0">
                <a:solidFill>
                  <a:srgbClr val="000000"/>
                </a:solidFill>
                <a:latin typeface="나눔고딕"/>
                <a:cs typeface="나눔고딕"/>
              </a:rPr>
              <a:t>행동</a:t>
            </a:r>
          </a:p>
        </p:txBody>
      </p:sp>
      <p:sp>
        <p:nvSpPr>
          <p:cNvPr id="81" name="TextBox 81"/>
          <p:cNvSpPr txBox="1"/>
          <p:nvPr/>
        </p:nvSpPr>
        <p:spPr>
          <a:xfrm>
            <a:off x="3419856" y="5155438"/>
            <a:ext cx="194232" cy="32004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1800" b="1" spc="93" dirty="0">
                <a:solidFill>
                  <a:srgbClr val="000000"/>
                </a:solidFill>
                <a:latin typeface="나눔고딕 2"/>
                <a:cs typeface="나눔고딕 2"/>
              </a:rPr>
              <a:t>   </a:t>
            </a:r>
          </a:p>
        </p:txBody>
      </p:sp>
      <p:sp>
        <p:nvSpPr>
          <p:cNvPr id="82" name="Shape 82"/>
          <p:cNvSpPr/>
          <p:nvPr/>
        </p:nvSpPr>
        <p:spPr>
          <a:xfrm>
            <a:off x="6177788" y="4962017"/>
            <a:ext cx="936625" cy="447675"/>
          </a:xfrm>
          <a:prstGeom prst="rect">
            <a:avLst/>
          </a:prstGeom>
          <a:solidFill>
            <a:srgbClr val="D3D3EB"/>
          </a:solidFill>
        </p:spPr>
        <p:txBody>
          <a:bodyPr/>
          <a:lstStyle/>
          <a:p>
            <a:endParaRPr/>
          </a:p>
        </p:txBody>
      </p:sp>
      <p:sp>
        <p:nvSpPr>
          <p:cNvPr id="83" name="Shape 83"/>
          <p:cNvSpPr/>
          <p:nvPr/>
        </p:nvSpPr>
        <p:spPr>
          <a:xfrm>
            <a:off x="6177788" y="4955667"/>
            <a:ext cx="1" cy="460375"/>
          </a:xfrm>
          <a:custGeom>
            <a:avLst/>
            <a:gdLst/>
            <a:ahLst/>
            <a:cxnLst/>
            <a:rect l="0" t="0" r="1" b="460375"/>
            <a:pathLst>
              <a:path w="1" h="460375" fill="none">
                <a:moveTo>
                  <a:pt x="0" y="0"/>
                </a:moveTo>
                <a:lnTo>
                  <a:pt x="0" y="460375"/>
                </a:lnTo>
              </a:path>
            </a:pathLst>
          </a:custGeom>
          <a:noFill/>
          <a:ln w="12700">
            <a:solidFill>
              <a:srgbClr val="000000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84" name="Shape 84"/>
          <p:cNvSpPr/>
          <p:nvPr/>
        </p:nvSpPr>
        <p:spPr>
          <a:xfrm>
            <a:off x="7114413" y="4955667"/>
            <a:ext cx="1" cy="460375"/>
          </a:xfrm>
          <a:custGeom>
            <a:avLst/>
            <a:gdLst/>
            <a:ahLst/>
            <a:cxnLst/>
            <a:rect l="0" t="0" r="1" b="460375"/>
            <a:pathLst>
              <a:path w="1" h="460375" fill="none">
                <a:moveTo>
                  <a:pt x="0" y="0"/>
                </a:moveTo>
                <a:lnTo>
                  <a:pt x="0" y="460375"/>
                </a:lnTo>
              </a:path>
            </a:pathLst>
          </a:custGeom>
          <a:noFill/>
          <a:ln w="12700">
            <a:solidFill>
              <a:srgbClr val="000000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85" name="Shape 85"/>
          <p:cNvSpPr/>
          <p:nvPr/>
        </p:nvSpPr>
        <p:spPr>
          <a:xfrm>
            <a:off x="6171438" y="4962017"/>
            <a:ext cx="949325" cy="1"/>
          </a:xfrm>
          <a:custGeom>
            <a:avLst/>
            <a:gdLst/>
            <a:ahLst/>
            <a:cxnLst/>
            <a:rect l="0" t="0" r="949325" b="1"/>
            <a:pathLst>
              <a:path w="949325" h="1" fill="none">
                <a:moveTo>
                  <a:pt x="0" y="0"/>
                </a:moveTo>
                <a:lnTo>
                  <a:pt x="949325" y="0"/>
                </a:lnTo>
              </a:path>
            </a:pathLst>
          </a:custGeom>
          <a:noFill/>
          <a:ln w="12700">
            <a:solidFill>
              <a:srgbClr val="000000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86" name="Shape 86"/>
          <p:cNvSpPr/>
          <p:nvPr/>
        </p:nvSpPr>
        <p:spPr>
          <a:xfrm>
            <a:off x="6171438" y="5409692"/>
            <a:ext cx="949325" cy="1"/>
          </a:xfrm>
          <a:custGeom>
            <a:avLst/>
            <a:gdLst/>
            <a:ahLst/>
            <a:cxnLst/>
            <a:rect l="0" t="0" r="949325" b="1"/>
            <a:pathLst>
              <a:path w="949325" h="1" fill="none">
                <a:moveTo>
                  <a:pt x="0" y="0"/>
                </a:moveTo>
                <a:lnTo>
                  <a:pt x="949325" y="0"/>
                </a:lnTo>
              </a:path>
            </a:pathLst>
          </a:custGeom>
          <a:noFill/>
          <a:ln w="12700">
            <a:solidFill>
              <a:srgbClr val="000000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87" name="TextBox 87"/>
          <p:cNvSpPr txBox="1"/>
          <p:nvPr/>
        </p:nvSpPr>
        <p:spPr>
          <a:xfrm>
            <a:off x="6324346" y="5031613"/>
            <a:ext cx="657545" cy="32004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1800" b="1" dirty="0">
                <a:solidFill>
                  <a:srgbClr val="000000"/>
                </a:solidFill>
                <a:latin typeface="나눔고딕"/>
                <a:cs typeface="나눔고딕"/>
              </a:rPr>
              <a:t>작업자</a:t>
            </a:r>
          </a:p>
        </p:txBody>
      </p:sp>
      <p:sp>
        <p:nvSpPr>
          <p:cNvPr id="88" name="TextBox 88"/>
          <p:cNvSpPr txBox="1"/>
          <p:nvPr/>
        </p:nvSpPr>
        <p:spPr>
          <a:xfrm>
            <a:off x="6441694" y="3893185"/>
            <a:ext cx="219182" cy="32004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1800" b="1" dirty="0">
                <a:solidFill>
                  <a:srgbClr val="000000"/>
                </a:solidFill>
                <a:latin typeface="나눔고딕"/>
                <a:cs typeface="나눔고딕"/>
              </a:rPr>
              <a:t>접</a:t>
            </a:r>
          </a:p>
        </p:txBody>
      </p:sp>
      <p:sp>
        <p:nvSpPr>
          <p:cNvPr id="89" name="TextBox 89"/>
          <p:cNvSpPr txBox="1"/>
          <p:nvPr/>
        </p:nvSpPr>
        <p:spPr>
          <a:xfrm>
            <a:off x="6656578" y="3893185"/>
            <a:ext cx="194232" cy="32004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1800" b="1" spc="93" dirty="0">
                <a:solidFill>
                  <a:srgbClr val="000000"/>
                </a:solidFill>
                <a:latin typeface="나눔고딕 2"/>
                <a:cs typeface="나눔고딕 2"/>
              </a:rPr>
              <a:t>   </a:t>
            </a:r>
          </a:p>
        </p:txBody>
      </p:sp>
      <p:sp>
        <p:nvSpPr>
          <p:cNvPr id="90" name="TextBox 90"/>
          <p:cNvSpPr txBox="1"/>
          <p:nvPr/>
        </p:nvSpPr>
        <p:spPr>
          <a:xfrm>
            <a:off x="6847078" y="3893185"/>
            <a:ext cx="219182" cy="32004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1800" b="1" dirty="0">
                <a:solidFill>
                  <a:srgbClr val="000000"/>
                </a:solidFill>
                <a:latin typeface="나눔고딕"/>
                <a:cs typeface="나눔고딕"/>
              </a:rPr>
              <a:t>촉</a:t>
            </a:r>
          </a:p>
        </p:txBody>
      </p:sp>
      <p:sp>
        <p:nvSpPr>
          <p:cNvPr id="91" name="Shape 91"/>
          <p:cNvSpPr/>
          <p:nvPr/>
        </p:nvSpPr>
        <p:spPr>
          <a:xfrm>
            <a:off x="1410462" y="4443095"/>
            <a:ext cx="8763" cy="804672"/>
          </a:xfrm>
          <a:custGeom>
            <a:avLst/>
            <a:gdLst/>
            <a:ahLst/>
            <a:cxnLst/>
            <a:rect l="0" t="0" r="8763" b="804672"/>
            <a:pathLst>
              <a:path w="8763" h="804672" fill="none">
                <a:moveTo>
                  <a:pt x="0" y="0"/>
                </a:moveTo>
                <a:lnTo>
                  <a:pt x="8763" y="804672"/>
                </a:lnTo>
              </a:path>
            </a:pathLst>
          </a:custGeom>
          <a:noFill/>
          <a:ln w="12700">
            <a:solidFill>
              <a:srgbClr val="000000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92" name="Shape 92"/>
          <p:cNvSpPr/>
          <p:nvPr/>
        </p:nvSpPr>
        <p:spPr>
          <a:xfrm>
            <a:off x="1419225" y="5196078"/>
            <a:ext cx="953262" cy="103378"/>
          </a:xfrm>
          <a:custGeom>
            <a:avLst/>
            <a:gdLst/>
            <a:ahLst/>
            <a:cxnLst/>
            <a:rect l="0" t="0" r="953262" b="103378"/>
            <a:pathLst>
              <a:path w="953262" h="103378" stroke="0">
                <a:moveTo>
                  <a:pt x="0" y="45339"/>
                </a:moveTo>
                <a:lnTo>
                  <a:pt x="940689" y="45339"/>
                </a:lnTo>
                <a:lnTo>
                  <a:pt x="940689" y="58039"/>
                </a:lnTo>
                <a:lnTo>
                  <a:pt x="0" y="58039"/>
                </a:lnTo>
                <a:close/>
                <a:moveTo>
                  <a:pt x="867664" y="1778"/>
                </a:moveTo>
                <a:lnTo>
                  <a:pt x="953262" y="51689"/>
                </a:lnTo>
                <a:lnTo>
                  <a:pt x="867664" y="101600"/>
                </a:lnTo>
                <a:cubicBezTo>
                  <a:pt x="864616" y="103378"/>
                  <a:pt x="860806" y="102362"/>
                  <a:pt x="859028" y="99314"/>
                </a:cubicBezTo>
                <a:cubicBezTo>
                  <a:pt x="857250" y="96393"/>
                  <a:pt x="858266" y="92456"/>
                  <a:pt x="861314" y="90678"/>
                </a:cubicBezTo>
                <a:lnTo>
                  <a:pt x="937514" y="46228"/>
                </a:lnTo>
                <a:lnTo>
                  <a:pt x="937514" y="57150"/>
                </a:lnTo>
                <a:lnTo>
                  <a:pt x="861314" y="12700"/>
                </a:lnTo>
                <a:cubicBezTo>
                  <a:pt x="858266" y="11049"/>
                  <a:pt x="857250" y="7112"/>
                  <a:pt x="859028" y="4064"/>
                </a:cubicBezTo>
                <a:cubicBezTo>
                  <a:pt x="860806" y="1016"/>
                  <a:pt x="864616" y="0"/>
                  <a:pt x="867664" y="1778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endParaRPr/>
          </a:p>
        </p:txBody>
      </p:sp>
      <p:sp>
        <p:nvSpPr>
          <p:cNvPr id="93" name="Shape 93"/>
          <p:cNvSpPr/>
          <p:nvPr/>
        </p:nvSpPr>
        <p:spPr>
          <a:xfrm>
            <a:off x="3891788" y="5123053"/>
            <a:ext cx="2159000" cy="103378"/>
          </a:xfrm>
          <a:custGeom>
            <a:avLst/>
            <a:gdLst/>
            <a:ahLst/>
            <a:cxnLst/>
            <a:rect l="0" t="0" r="2159000" b="103378"/>
            <a:pathLst>
              <a:path w="2159000" h="103378" stroke="0">
                <a:moveTo>
                  <a:pt x="0" y="45339"/>
                </a:moveTo>
                <a:lnTo>
                  <a:pt x="2146300" y="45339"/>
                </a:lnTo>
                <a:lnTo>
                  <a:pt x="2146300" y="58039"/>
                </a:lnTo>
                <a:lnTo>
                  <a:pt x="0" y="58039"/>
                </a:lnTo>
                <a:close/>
                <a:moveTo>
                  <a:pt x="2073402" y="1778"/>
                </a:moveTo>
                <a:lnTo>
                  <a:pt x="2159000" y="51689"/>
                </a:lnTo>
                <a:lnTo>
                  <a:pt x="2073402" y="101600"/>
                </a:lnTo>
                <a:cubicBezTo>
                  <a:pt x="2070354" y="103378"/>
                  <a:pt x="2066417" y="102362"/>
                  <a:pt x="2064639" y="99314"/>
                </a:cubicBezTo>
                <a:cubicBezTo>
                  <a:pt x="2062988" y="96393"/>
                  <a:pt x="2064004" y="92456"/>
                  <a:pt x="2066925" y="90678"/>
                </a:cubicBezTo>
                <a:lnTo>
                  <a:pt x="2143125" y="46228"/>
                </a:lnTo>
                <a:lnTo>
                  <a:pt x="2143125" y="57150"/>
                </a:lnTo>
                <a:lnTo>
                  <a:pt x="2066925" y="12700"/>
                </a:lnTo>
                <a:cubicBezTo>
                  <a:pt x="2064004" y="11049"/>
                  <a:pt x="2062988" y="7112"/>
                  <a:pt x="2064639" y="4064"/>
                </a:cubicBezTo>
                <a:cubicBezTo>
                  <a:pt x="2066417" y="1016"/>
                  <a:pt x="2070354" y="0"/>
                  <a:pt x="2073402" y="1778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endParaRPr/>
          </a:p>
        </p:txBody>
      </p:sp>
      <p:sp>
        <p:nvSpPr>
          <p:cNvPr id="94" name="Shape 94"/>
          <p:cNvSpPr/>
          <p:nvPr/>
        </p:nvSpPr>
        <p:spPr>
          <a:xfrm>
            <a:off x="7125462" y="4003929"/>
            <a:ext cx="431800" cy="103378"/>
          </a:xfrm>
          <a:custGeom>
            <a:avLst/>
            <a:gdLst/>
            <a:ahLst/>
            <a:cxnLst/>
            <a:rect l="0" t="0" r="431800" b="103378"/>
            <a:pathLst>
              <a:path w="431800" h="103378" stroke="0">
                <a:moveTo>
                  <a:pt x="0" y="45339"/>
                </a:moveTo>
                <a:lnTo>
                  <a:pt x="419227" y="45339"/>
                </a:lnTo>
                <a:lnTo>
                  <a:pt x="419227" y="58039"/>
                </a:lnTo>
                <a:lnTo>
                  <a:pt x="0" y="58039"/>
                </a:lnTo>
                <a:close/>
                <a:moveTo>
                  <a:pt x="346202" y="1778"/>
                </a:moveTo>
                <a:lnTo>
                  <a:pt x="431800" y="51689"/>
                </a:lnTo>
                <a:lnTo>
                  <a:pt x="346202" y="101600"/>
                </a:lnTo>
                <a:cubicBezTo>
                  <a:pt x="343154" y="103378"/>
                  <a:pt x="339344" y="102362"/>
                  <a:pt x="337566" y="99314"/>
                </a:cubicBezTo>
                <a:cubicBezTo>
                  <a:pt x="335788" y="96266"/>
                  <a:pt x="336804" y="92456"/>
                  <a:pt x="339852" y="90678"/>
                </a:cubicBezTo>
                <a:lnTo>
                  <a:pt x="416052" y="46228"/>
                </a:lnTo>
                <a:lnTo>
                  <a:pt x="416052" y="57150"/>
                </a:lnTo>
                <a:lnTo>
                  <a:pt x="339852" y="12700"/>
                </a:lnTo>
                <a:cubicBezTo>
                  <a:pt x="336804" y="10922"/>
                  <a:pt x="335788" y="6985"/>
                  <a:pt x="337566" y="4064"/>
                </a:cubicBezTo>
                <a:cubicBezTo>
                  <a:pt x="339344" y="1016"/>
                  <a:pt x="343154" y="0"/>
                  <a:pt x="346202" y="1778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endParaRPr/>
          </a:p>
        </p:txBody>
      </p:sp>
      <p:sp>
        <p:nvSpPr>
          <p:cNvPr id="95" name="Shape 95"/>
          <p:cNvSpPr/>
          <p:nvPr/>
        </p:nvSpPr>
        <p:spPr>
          <a:xfrm>
            <a:off x="6697472" y="3519043"/>
            <a:ext cx="103505" cy="1224026"/>
          </a:xfrm>
          <a:custGeom>
            <a:avLst/>
            <a:gdLst/>
            <a:ahLst/>
            <a:cxnLst/>
            <a:rect l="0" t="0" r="103505" b="1224026"/>
            <a:pathLst>
              <a:path w="103505" h="1224026" stroke="0">
                <a:moveTo>
                  <a:pt x="58166" y="12573"/>
                </a:moveTo>
                <a:lnTo>
                  <a:pt x="58166" y="1211326"/>
                </a:lnTo>
                <a:lnTo>
                  <a:pt x="45466" y="1211326"/>
                </a:lnTo>
                <a:lnTo>
                  <a:pt x="45466" y="12573"/>
                </a:lnTo>
                <a:close/>
                <a:moveTo>
                  <a:pt x="1778" y="85598"/>
                </a:moveTo>
                <a:lnTo>
                  <a:pt x="51816" y="0"/>
                </a:lnTo>
                <a:lnTo>
                  <a:pt x="101727" y="85598"/>
                </a:lnTo>
                <a:cubicBezTo>
                  <a:pt x="103505" y="88519"/>
                  <a:pt x="102489" y="92456"/>
                  <a:pt x="99441" y="94234"/>
                </a:cubicBezTo>
                <a:cubicBezTo>
                  <a:pt x="96393" y="96012"/>
                  <a:pt x="92456" y="94996"/>
                  <a:pt x="90678" y="91948"/>
                </a:cubicBezTo>
                <a:lnTo>
                  <a:pt x="46228" y="15748"/>
                </a:lnTo>
                <a:lnTo>
                  <a:pt x="57277" y="15748"/>
                </a:lnTo>
                <a:lnTo>
                  <a:pt x="12827" y="91948"/>
                </a:lnTo>
                <a:cubicBezTo>
                  <a:pt x="11049" y="94996"/>
                  <a:pt x="7112" y="96012"/>
                  <a:pt x="4064" y="94234"/>
                </a:cubicBezTo>
                <a:cubicBezTo>
                  <a:pt x="1143" y="92456"/>
                  <a:pt x="0" y="88519"/>
                  <a:pt x="1778" y="85598"/>
                </a:cubicBezTo>
                <a:close/>
                <a:moveTo>
                  <a:pt x="101727" y="1138301"/>
                </a:moveTo>
                <a:lnTo>
                  <a:pt x="51816" y="1224026"/>
                </a:lnTo>
                <a:lnTo>
                  <a:pt x="1778" y="1138301"/>
                </a:lnTo>
                <a:cubicBezTo>
                  <a:pt x="127" y="1135380"/>
                  <a:pt x="1143" y="1131443"/>
                  <a:pt x="4064" y="1129665"/>
                </a:cubicBezTo>
                <a:cubicBezTo>
                  <a:pt x="7112" y="1127887"/>
                  <a:pt x="11049" y="1128903"/>
                  <a:pt x="12827" y="1131951"/>
                </a:cubicBezTo>
                <a:lnTo>
                  <a:pt x="12827" y="1131951"/>
                </a:lnTo>
                <a:lnTo>
                  <a:pt x="57277" y="1208151"/>
                </a:lnTo>
                <a:lnTo>
                  <a:pt x="46228" y="1208151"/>
                </a:lnTo>
                <a:lnTo>
                  <a:pt x="90678" y="1131951"/>
                </a:lnTo>
                <a:cubicBezTo>
                  <a:pt x="92456" y="1128903"/>
                  <a:pt x="96393" y="1127887"/>
                  <a:pt x="99441" y="1129665"/>
                </a:cubicBezTo>
                <a:cubicBezTo>
                  <a:pt x="102489" y="1131443"/>
                  <a:pt x="103505" y="1135380"/>
                  <a:pt x="101727" y="1138301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endParaRPr/>
          </a:p>
        </p:txBody>
      </p:sp>
      <p:sp>
        <p:nvSpPr>
          <p:cNvPr id="96" name="TextBox 96"/>
          <p:cNvSpPr txBox="1"/>
          <p:nvPr/>
        </p:nvSpPr>
        <p:spPr>
          <a:xfrm>
            <a:off x="2537206" y="3480562"/>
            <a:ext cx="137160" cy="32004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1800" dirty="0">
                <a:solidFill>
                  <a:srgbClr val="000000"/>
                </a:solidFill>
                <a:latin typeface="굴림"/>
                <a:cs typeface="굴림"/>
              </a:rPr>
              <a:t>(</a:t>
            </a:r>
          </a:p>
        </p:txBody>
      </p:sp>
      <p:sp>
        <p:nvSpPr>
          <p:cNvPr id="97" name="TextBox 97"/>
          <p:cNvSpPr txBox="1"/>
          <p:nvPr/>
        </p:nvSpPr>
        <p:spPr>
          <a:xfrm>
            <a:off x="2624074" y="3471418"/>
            <a:ext cx="438363" cy="32004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1800" b="1" dirty="0">
                <a:solidFill>
                  <a:srgbClr val="000000"/>
                </a:solidFill>
                <a:latin typeface="나눔고딕"/>
                <a:cs typeface="나눔고딕"/>
              </a:rPr>
              <a:t>물적</a:t>
            </a:r>
          </a:p>
        </p:txBody>
      </p:sp>
      <p:sp>
        <p:nvSpPr>
          <p:cNvPr id="98" name="TextBox 98"/>
          <p:cNvSpPr txBox="1"/>
          <p:nvPr/>
        </p:nvSpPr>
        <p:spPr>
          <a:xfrm>
            <a:off x="3054096" y="3471418"/>
            <a:ext cx="137160" cy="32004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1800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99" name="TextBox 99"/>
          <p:cNvSpPr txBox="1"/>
          <p:nvPr/>
        </p:nvSpPr>
        <p:spPr>
          <a:xfrm>
            <a:off x="3113532" y="3471418"/>
            <a:ext cx="438364" cy="32004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1800" b="1" dirty="0">
                <a:solidFill>
                  <a:srgbClr val="000000"/>
                </a:solidFill>
                <a:latin typeface="나눔고딕"/>
                <a:cs typeface="나눔고딕"/>
              </a:rPr>
              <a:t>원인</a:t>
            </a:r>
          </a:p>
        </p:txBody>
      </p:sp>
      <p:sp>
        <p:nvSpPr>
          <p:cNvPr id="100" name="TextBox 100"/>
          <p:cNvSpPr txBox="1"/>
          <p:nvPr/>
        </p:nvSpPr>
        <p:spPr>
          <a:xfrm>
            <a:off x="3543300" y="3480562"/>
            <a:ext cx="137160" cy="32004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1800" dirty="0">
                <a:solidFill>
                  <a:srgbClr val="000000"/>
                </a:solidFill>
                <a:latin typeface="굴림"/>
                <a:cs typeface="굴림"/>
              </a:rPr>
              <a:t>)</a:t>
            </a:r>
          </a:p>
        </p:txBody>
      </p:sp>
      <p:sp>
        <p:nvSpPr>
          <p:cNvPr id="101" name="TextBox 101"/>
          <p:cNvSpPr txBox="1"/>
          <p:nvPr/>
        </p:nvSpPr>
        <p:spPr>
          <a:xfrm>
            <a:off x="2571242" y="4556506"/>
            <a:ext cx="137160" cy="32004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1800" dirty="0">
                <a:solidFill>
                  <a:srgbClr val="000000"/>
                </a:solidFill>
                <a:latin typeface="굴림"/>
                <a:cs typeface="굴림"/>
              </a:rPr>
              <a:t>(</a:t>
            </a:r>
          </a:p>
        </p:txBody>
      </p:sp>
      <p:sp>
        <p:nvSpPr>
          <p:cNvPr id="102" name="TextBox 102"/>
          <p:cNvSpPr txBox="1"/>
          <p:nvPr/>
        </p:nvSpPr>
        <p:spPr>
          <a:xfrm>
            <a:off x="2658110" y="4547362"/>
            <a:ext cx="438363" cy="32004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1800" b="1" dirty="0">
                <a:solidFill>
                  <a:srgbClr val="000000"/>
                </a:solidFill>
                <a:latin typeface="나눔고딕"/>
                <a:cs typeface="나눔고딕"/>
              </a:rPr>
              <a:t>인적</a:t>
            </a:r>
          </a:p>
        </p:txBody>
      </p:sp>
      <p:sp>
        <p:nvSpPr>
          <p:cNvPr id="103" name="TextBox 103"/>
          <p:cNvSpPr txBox="1"/>
          <p:nvPr/>
        </p:nvSpPr>
        <p:spPr>
          <a:xfrm>
            <a:off x="3087878" y="4547362"/>
            <a:ext cx="137160" cy="32004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1800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104" name="TextBox 104"/>
          <p:cNvSpPr txBox="1"/>
          <p:nvPr/>
        </p:nvSpPr>
        <p:spPr>
          <a:xfrm>
            <a:off x="3147314" y="4547362"/>
            <a:ext cx="438364" cy="32004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1800" b="1" dirty="0">
                <a:solidFill>
                  <a:srgbClr val="000000"/>
                </a:solidFill>
                <a:latin typeface="나눔고딕"/>
                <a:cs typeface="나눔고딕"/>
              </a:rPr>
              <a:t>원인</a:t>
            </a:r>
          </a:p>
        </p:txBody>
      </p:sp>
      <p:sp>
        <p:nvSpPr>
          <p:cNvPr id="105" name="TextBox 105"/>
          <p:cNvSpPr txBox="1"/>
          <p:nvPr/>
        </p:nvSpPr>
        <p:spPr>
          <a:xfrm>
            <a:off x="3577082" y="4556506"/>
            <a:ext cx="137160" cy="32004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1800" dirty="0">
                <a:solidFill>
                  <a:srgbClr val="000000"/>
                </a:solidFill>
                <a:latin typeface="굴림"/>
                <a:cs typeface="굴림"/>
              </a:rPr>
              <a:t>)</a:t>
            </a:r>
          </a:p>
        </p:txBody>
      </p:sp>
      <p:sp>
        <p:nvSpPr>
          <p:cNvPr id="106" name="Shape 106"/>
          <p:cNvSpPr/>
          <p:nvPr/>
        </p:nvSpPr>
        <p:spPr>
          <a:xfrm>
            <a:off x="7609713" y="3520567"/>
            <a:ext cx="1100074" cy="1081151"/>
          </a:xfrm>
          <a:custGeom>
            <a:avLst/>
            <a:gdLst/>
            <a:ahLst/>
            <a:cxnLst/>
            <a:rect l="0" t="0" r="1100074" b="1081151"/>
            <a:pathLst>
              <a:path w="1100074" h="1081151" stroke="0">
                <a:moveTo>
                  <a:pt x="0" y="540639"/>
                </a:moveTo>
                <a:lnTo>
                  <a:pt x="550037" y="0"/>
                </a:lnTo>
                <a:lnTo>
                  <a:pt x="1100074" y="540639"/>
                </a:lnTo>
                <a:lnTo>
                  <a:pt x="550037" y="1081151"/>
                </a:lnTo>
                <a:close/>
              </a:path>
            </a:pathLst>
          </a:custGeom>
          <a:solidFill>
            <a:srgbClr val="C00000"/>
          </a:solidFill>
        </p:spPr>
        <p:txBody>
          <a:bodyPr/>
          <a:lstStyle/>
          <a:p>
            <a:endParaRPr/>
          </a:p>
        </p:txBody>
      </p:sp>
      <p:sp>
        <p:nvSpPr>
          <p:cNvPr id="107" name="Shape 107"/>
          <p:cNvSpPr/>
          <p:nvPr/>
        </p:nvSpPr>
        <p:spPr>
          <a:xfrm>
            <a:off x="7609713" y="3520567"/>
            <a:ext cx="1100074" cy="1081151"/>
          </a:xfrm>
          <a:custGeom>
            <a:avLst/>
            <a:gdLst/>
            <a:ahLst/>
            <a:cxnLst/>
            <a:rect l="0" t="0" r="1100074" b="1081151"/>
            <a:pathLst>
              <a:path w="1100074" h="1081151" fill="none">
                <a:moveTo>
                  <a:pt x="0" y="540639"/>
                </a:moveTo>
                <a:lnTo>
                  <a:pt x="550037" y="0"/>
                </a:lnTo>
                <a:lnTo>
                  <a:pt x="1100074" y="540639"/>
                </a:lnTo>
                <a:lnTo>
                  <a:pt x="550037" y="1081151"/>
                </a:lnTo>
                <a:close/>
              </a:path>
            </a:pathLst>
          </a:custGeom>
          <a:noFill/>
          <a:ln w="12700">
            <a:solidFill>
              <a:srgbClr val="41719C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08" name="TextBox 108"/>
          <p:cNvSpPr txBox="1"/>
          <p:nvPr/>
        </p:nvSpPr>
        <p:spPr>
          <a:xfrm>
            <a:off x="8041513" y="3766988"/>
            <a:ext cx="244022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FFFFFF"/>
                </a:solidFill>
                <a:latin typeface="나눔고딕"/>
                <a:cs typeface="나눔고딕"/>
              </a:rPr>
              <a:t>재</a:t>
            </a:r>
          </a:p>
        </p:txBody>
      </p:sp>
      <p:sp>
        <p:nvSpPr>
          <p:cNvPr id="109" name="TextBox 109"/>
          <p:cNvSpPr txBox="1"/>
          <p:nvPr/>
        </p:nvSpPr>
        <p:spPr>
          <a:xfrm>
            <a:off x="8041513" y="4071788"/>
            <a:ext cx="244022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FFFFFF"/>
                </a:solidFill>
                <a:latin typeface="나눔고딕"/>
                <a:cs typeface="나눔고딕"/>
              </a:rPr>
              <a:t>해</a:t>
            </a:r>
          </a:p>
        </p:txBody>
      </p:sp>
      <p:sp>
        <p:nvSpPr>
          <p:cNvPr id="110" name="Shape 110"/>
          <p:cNvSpPr/>
          <p:nvPr/>
        </p:nvSpPr>
        <p:spPr>
          <a:xfrm>
            <a:off x="6034913" y="4814418"/>
            <a:ext cx="1225550" cy="1081088"/>
          </a:xfrm>
          <a:prstGeom prst="rect">
            <a:avLst/>
          </a:prstGeom>
          <a:noFill/>
          <a:ln w="9525">
            <a:solidFill>
              <a:srgbClr val="000000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11" name="TextBox 111"/>
          <p:cNvSpPr txBox="1"/>
          <p:nvPr/>
        </p:nvSpPr>
        <p:spPr>
          <a:xfrm>
            <a:off x="6354445" y="5525414"/>
            <a:ext cx="219182" cy="32004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1800" b="1" dirty="0">
                <a:solidFill>
                  <a:srgbClr val="000000"/>
                </a:solidFill>
                <a:latin typeface="나눔고딕"/>
                <a:cs typeface="나눔고딕"/>
              </a:rPr>
              <a:t>인</a:t>
            </a:r>
          </a:p>
        </p:txBody>
      </p:sp>
      <p:sp>
        <p:nvSpPr>
          <p:cNvPr id="112" name="TextBox 112"/>
          <p:cNvSpPr txBox="1"/>
          <p:nvPr/>
        </p:nvSpPr>
        <p:spPr>
          <a:xfrm>
            <a:off x="6569329" y="5525414"/>
            <a:ext cx="137160" cy="32004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1800" b="1" dirty="0">
                <a:solidFill>
                  <a:srgbClr val="000000"/>
                </a:solidFill>
                <a:latin typeface="나눔고딕 2"/>
                <a:cs typeface="나눔고딕 2"/>
              </a:rPr>
              <a:t>(</a:t>
            </a:r>
          </a:p>
        </p:txBody>
      </p:sp>
      <p:sp>
        <p:nvSpPr>
          <p:cNvPr id="113" name="TextBox 113"/>
          <p:cNvSpPr txBox="1"/>
          <p:nvPr/>
        </p:nvSpPr>
        <p:spPr>
          <a:xfrm>
            <a:off x="6651625" y="5525414"/>
            <a:ext cx="219182" cy="32004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1800" b="1" dirty="0">
                <a:solidFill>
                  <a:srgbClr val="000000"/>
                </a:solidFill>
                <a:latin typeface="나눔고딕"/>
                <a:cs typeface="나눔고딕"/>
              </a:rPr>
              <a:t>人</a:t>
            </a:r>
          </a:p>
        </p:txBody>
      </p:sp>
      <p:sp>
        <p:nvSpPr>
          <p:cNvPr id="114" name="TextBox 114"/>
          <p:cNvSpPr txBox="1"/>
          <p:nvPr/>
        </p:nvSpPr>
        <p:spPr>
          <a:xfrm>
            <a:off x="6866509" y="5525414"/>
            <a:ext cx="137160" cy="32004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1800" b="1" dirty="0">
                <a:solidFill>
                  <a:srgbClr val="000000"/>
                </a:solidFill>
                <a:latin typeface="나눔고딕 2"/>
                <a:cs typeface="나눔고딕 2"/>
              </a:rPr>
              <a:t>)</a:t>
            </a:r>
          </a:p>
        </p:txBody>
      </p:sp>
      <p:sp>
        <p:nvSpPr>
          <p:cNvPr id="115" name="TextBox 115"/>
          <p:cNvSpPr txBox="1"/>
          <p:nvPr/>
        </p:nvSpPr>
        <p:spPr>
          <a:xfrm>
            <a:off x="2520442" y="2113448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70C0"/>
                </a:solidFill>
                <a:latin typeface="나눔고딕 2"/>
                <a:cs typeface="나눔고딕 2"/>
              </a:rPr>
              <a:t>[</a:t>
            </a:r>
          </a:p>
        </p:txBody>
      </p:sp>
      <p:sp>
        <p:nvSpPr>
          <p:cNvPr id="116" name="TextBox 116"/>
          <p:cNvSpPr txBox="1"/>
          <p:nvPr/>
        </p:nvSpPr>
        <p:spPr>
          <a:xfrm>
            <a:off x="2613406" y="2113448"/>
            <a:ext cx="971504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70C0"/>
                </a:solidFill>
                <a:latin typeface="나눔고딕"/>
                <a:cs typeface="나눔고딕"/>
              </a:rPr>
              <a:t>직접원인</a:t>
            </a:r>
          </a:p>
        </p:txBody>
      </p:sp>
      <p:sp>
        <p:nvSpPr>
          <p:cNvPr id="117" name="TextBox 117"/>
          <p:cNvSpPr txBox="1"/>
          <p:nvPr/>
        </p:nvSpPr>
        <p:spPr>
          <a:xfrm>
            <a:off x="3566160" y="2113448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70C0"/>
                </a:solidFill>
                <a:latin typeface="나눔고딕 2"/>
                <a:cs typeface="나눔고딕 2"/>
              </a:rPr>
              <a:t>]</a:t>
            </a:r>
          </a:p>
        </p:txBody>
      </p:sp>
      <p:sp>
        <p:nvSpPr>
          <p:cNvPr id="118" name="TextBox 118"/>
          <p:cNvSpPr txBox="1"/>
          <p:nvPr/>
        </p:nvSpPr>
        <p:spPr>
          <a:xfrm>
            <a:off x="842162" y="2115861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70C0"/>
                </a:solidFill>
                <a:latin typeface="나눔고딕 2"/>
                <a:cs typeface="나눔고딕 2"/>
              </a:rPr>
              <a:t>[</a:t>
            </a:r>
          </a:p>
        </p:txBody>
      </p:sp>
      <p:sp>
        <p:nvSpPr>
          <p:cNvPr id="119" name="TextBox 119"/>
          <p:cNvSpPr txBox="1"/>
          <p:nvPr/>
        </p:nvSpPr>
        <p:spPr>
          <a:xfrm>
            <a:off x="935126" y="2115861"/>
            <a:ext cx="972452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70C0"/>
                </a:solidFill>
                <a:latin typeface="나눔고딕"/>
                <a:cs typeface="나눔고딕"/>
              </a:rPr>
              <a:t>근본원인</a:t>
            </a:r>
          </a:p>
        </p:txBody>
      </p:sp>
      <p:sp>
        <p:nvSpPr>
          <p:cNvPr id="120" name="TextBox 120"/>
          <p:cNvSpPr txBox="1"/>
          <p:nvPr/>
        </p:nvSpPr>
        <p:spPr>
          <a:xfrm>
            <a:off x="1887982" y="2115861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70C0"/>
                </a:solidFill>
                <a:latin typeface="나눔고딕 2"/>
                <a:cs typeface="나눔고딕 2"/>
              </a:rPr>
              <a:t>]</a:t>
            </a:r>
          </a:p>
        </p:txBody>
      </p:sp>
      <p:sp>
        <p:nvSpPr>
          <p:cNvPr id="121" name="TextBox 121"/>
          <p:cNvSpPr txBox="1"/>
          <p:nvPr/>
        </p:nvSpPr>
        <p:spPr>
          <a:xfrm>
            <a:off x="415138" y="105410"/>
            <a:ext cx="1057046" cy="42672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400" b="1" dirty="0">
                <a:solidFill>
                  <a:srgbClr val="000000"/>
                </a:solidFill>
                <a:latin typeface="나눔고딕"/>
                <a:cs typeface="나눔고딕"/>
              </a:rPr>
              <a:t>Ⅰ. 학습</a:t>
            </a:r>
          </a:p>
        </p:txBody>
      </p:sp>
      <p:sp>
        <p:nvSpPr>
          <p:cNvPr id="122" name="TextBox 122"/>
          <p:cNvSpPr txBox="1"/>
          <p:nvPr/>
        </p:nvSpPr>
        <p:spPr>
          <a:xfrm>
            <a:off x="1451483" y="105410"/>
            <a:ext cx="182880" cy="42672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400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123" name="TextBox 123"/>
          <p:cNvSpPr txBox="1"/>
          <p:nvPr/>
        </p:nvSpPr>
        <p:spPr>
          <a:xfrm>
            <a:off x="1535303" y="105410"/>
            <a:ext cx="876727" cy="42672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400" b="1" dirty="0">
                <a:solidFill>
                  <a:srgbClr val="000000"/>
                </a:solidFill>
                <a:latin typeface="나눔고딕"/>
                <a:cs typeface="나눔고딕"/>
              </a:rPr>
              <a:t>로드맵</a:t>
            </a:r>
          </a:p>
        </p:txBody>
      </p:sp>
      <p:sp>
        <p:nvSpPr>
          <p:cNvPr id="4" name="직사각형 3"/>
          <p:cNvSpPr/>
          <p:nvPr/>
        </p:nvSpPr>
        <p:spPr>
          <a:xfrm>
            <a:off x="1142508" y="5957111"/>
            <a:ext cx="675272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dirty="0"/>
              <a:t>https://www.youtube.com/watch?v=NBVk94KFAZA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3"/>
          <p:cNvSpPr/>
          <p:nvPr/>
        </p:nvSpPr>
        <p:spPr>
          <a:xfrm>
            <a:off x="0" y="6525349"/>
            <a:ext cx="9144000" cy="1"/>
          </a:xfrm>
          <a:custGeom>
            <a:avLst/>
            <a:gdLst/>
            <a:ahLst/>
            <a:cxnLst/>
            <a:rect l="0" t="0" r="9144000" b="1"/>
            <a:pathLst>
              <a:path w="9144000" h="1" fill="none">
                <a:moveTo>
                  <a:pt x="0" y="0"/>
                </a:moveTo>
                <a:lnTo>
                  <a:pt x="9144000" y="0"/>
                </a:lnTo>
              </a:path>
            </a:pathLst>
          </a:custGeom>
          <a:noFill/>
          <a:ln w="19050">
            <a:solidFill>
              <a:srgbClr val="5B9BD5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6" name="Shape 6"/>
          <p:cNvSpPr/>
          <p:nvPr/>
        </p:nvSpPr>
        <p:spPr>
          <a:xfrm>
            <a:off x="21900" y="476640"/>
            <a:ext cx="1331595" cy="97400"/>
          </a:xfrm>
          <a:prstGeom prst="rect">
            <a:avLst/>
          </a:prstGeom>
          <a:solidFill>
            <a:srgbClr val="92D050"/>
          </a:solidFill>
        </p:spPr>
        <p:txBody>
          <a:bodyPr/>
          <a:lstStyle/>
          <a:p>
            <a:endParaRPr/>
          </a:p>
        </p:txBody>
      </p:sp>
      <p:sp>
        <p:nvSpPr>
          <p:cNvPr id="7" name="Shape 7"/>
          <p:cNvSpPr/>
          <p:nvPr/>
        </p:nvSpPr>
        <p:spPr>
          <a:xfrm>
            <a:off x="1353566" y="476640"/>
            <a:ext cx="7776845" cy="97400"/>
          </a:xfrm>
          <a:prstGeom prst="rect">
            <a:avLst/>
          </a:prstGeom>
          <a:solidFill>
            <a:srgbClr val="5B9BD5"/>
          </a:solidFill>
        </p:spPr>
        <p:txBody>
          <a:bodyPr/>
          <a:lstStyle/>
          <a:p>
            <a:endParaRPr/>
          </a:p>
        </p:txBody>
      </p:sp>
      <p:sp>
        <p:nvSpPr>
          <p:cNvPr id="8" name="Shape 8"/>
          <p:cNvSpPr/>
          <p:nvPr/>
        </p:nvSpPr>
        <p:spPr>
          <a:xfrm>
            <a:off x="1353566" y="470281"/>
            <a:ext cx="1" cy="122809"/>
          </a:xfrm>
          <a:custGeom>
            <a:avLst/>
            <a:gdLst/>
            <a:ahLst/>
            <a:cxnLst/>
            <a:rect l="0" t="0" r="1" b="122809"/>
            <a:pathLst>
              <a:path w="1" h="122809" fill="none">
                <a:moveTo>
                  <a:pt x="0" y="0"/>
                </a:moveTo>
                <a:lnTo>
                  <a:pt x="0" y="122809"/>
                </a:lnTo>
              </a:path>
            </a:pathLst>
          </a:custGeom>
          <a:noFill/>
          <a:ln w="12700">
            <a:solidFill>
              <a:srgbClr val="FFFFF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9" name="Shape 9"/>
          <p:cNvSpPr/>
          <p:nvPr/>
        </p:nvSpPr>
        <p:spPr>
          <a:xfrm>
            <a:off x="21900" y="470281"/>
            <a:ext cx="1" cy="122809"/>
          </a:xfrm>
          <a:custGeom>
            <a:avLst/>
            <a:gdLst/>
            <a:ahLst/>
            <a:cxnLst/>
            <a:rect l="0" t="0" r="1" b="122809"/>
            <a:pathLst>
              <a:path w="1" h="122809" fill="none">
                <a:moveTo>
                  <a:pt x="0" y="0"/>
                </a:moveTo>
                <a:lnTo>
                  <a:pt x="0" y="122809"/>
                </a:lnTo>
              </a:path>
            </a:pathLst>
          </a:custGeom>
          <a:noFill/>
          <a:ln w="12700">
            <a:solidFill>
              <a:srgbClr val="FFFFF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0" name="Shape 10"/>
          <p:cNvSpPr/>
          <p:nvPr/>
        </p:nvSpPr>
        <p:spPr>
          <a:xfrm>
            <a:off x="9130411" y="470281"/>
            <a:ext cx="1" cy="122809"/>
          </a:xfrm>
          <a:custGeom>
            <a:avLst/>
            <a:gdLst/>
            <a:ahLst/>
            <a:cxnLst/>
            <a:rect l="0" t="0" r="1" b="122809"/>
            <a:pathLst>
              <a:path w="1" h="122809" fill="none">
                <a:moveTo>
                  <a:pt x="0" y="0"/>
                </a:moveTo>
                <a:lnTo>
                  <a:pt x="0" y="122809"/>
                </a:lnTo>
              </a:path>
            </a:pathLst>
          </a:custGeom>
          <a:noFill/>
          <a:ln w="12700">
            <a:solidFill>
              <a:srgbClr val="FFFFF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1" name="Shape 11"/>
          <p:cNvSpPr/>
          <p:nvPr/>
        </p:nvSpPr>
        <p:spPr>
          <a:xfrm>
            <a:off x="15550" y="476631"/>
            <a:ext cx="9121211" cy="1"/>
          </a:xfrm>
          <a:custGeom>
            <a:avLst/>
            <a:gdLst/>
            <a:ahLst/>
            <a:cxnLst/>
            <a:rect l="0" t="0" r="9121211" b="1"/>
            <a:pathLst>
              <a:path w="9121211" h="1" fill="none">
                <a:moveTo>
                  <a:pt x="0" y="0"/>
                </a:moveTo>
                <a:lnTo>
                  <a:pt x="9121211" y="0"/>
                </a:lnTo>
              </a:path>
            </a:pathLst>
          </a:custGeom>
          <a:noFill/>
          <a:ln w="12700">
            <a:solidFill>
              <a:srgbClr val="FFFFF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2" name="Shape 12"/>
          <p:cNvSpPr/>
          <p:nvPr/>
        </p:nvSpPr>
        <p:spPr>
          <a:xfrm>
            <a:off x="15550" y="574040"/>
            <a:ext cx="9121211" cy="1"/>
          </a:xfrm>
          <a:custGeom>
            <a:avLst/>
            <a:gdLst/>
            <a:ahLst/>
            <a:cxnLst/>
            <a:rect l="0" t="0" r="9121211" b="1"/>
            <a:pathLst>
              <a:path w="9121211" h="1" fill="none">
                <a:moveTo>
                  <a:pt x="0" y="0"/>
                </a:moveTo>
                <a:lnTo>
                  <a:pt x="9121211" y="0"/>
                </a:lnTo>
              </a:path>
            </a:pathLst>
          </a:custGeom>
          <a:noFill/>
          <a:ln w="38100">
            <a:solidFill>
              <a:srgbClr val="FFFFF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3" name="TextBox 13"/>
          <p:cNvSpPr txBox="1"/>
          <p:nvPr/>
        </p:nvSpPr>
        <p:spPr>
          <a:xfrm>
            <a:off x="487070" y="679170"/>
            <a:ext cx="370025" cy="427147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402" b="1" spc="151" dirty="0">
                <a:solidFill>
                  <a:srgbClr val="967754"/>
                </a:solidFill>
                <a:latin typeface="나눔고딕 2"/>
                <a:cs typeface="나눔고딕 2"/>
              </a:rPr>
              <a:t>3. 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848258" y="679170"/>
            <a:ext cx="1169260" cy="427147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402" b="1" dirty="0">
                <a:solidFill>
                  <a:srgbClr val="967754"/>
                </a:solidFill>
                <a:latin typeface="나눔고딕"/>
                <a:cs typeface="나눔고딕"/>
              </a:rPr>
              <a:t>산업재해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994662" y="679170"/>
            <a:ext cx="183063" cy="427147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402" b="1" dirty="0">
                <a:solidFill>
                  <a:srgbClr val="967754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2078482" y="679170"/>
            <a:ext cx="1461502" cy="427147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402" b="1" dirty="0">
                <a:solidFill>
                  <a:srgbClr val="967754"/>
                </a:solidFill>
                <a:latin typeface="나눔고딕"/>
                <a:cs typeface="나눔고딕"/>
              </a:rPr>
              <a:t>발생이론과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3511296" y="679170"/>
            <a:ext cx="183063" cy="427147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402" b="1" dirty="0">
                <a:solidFill>
                  <a:srgbClr val="967754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3593592" y="679170"/>
            <a:ext cx="877018" cy="427147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402" b="1" dirty="0">
                <a:solidFill>
                  <a:srgbClr val="967754"/>
                </a:solidFill>
                <a:latin typeface="나눔고딕"/>
                <a:cs typeface="나눔고딕"/>
              </a:rPr>
              <a:t>기업의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4453128" y="679170"/>
            <a:ext cx="183063" cy="427147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402" b="1" dirty="0">
                <a:solidFill>
                  <a:srgbClr val="967754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4535424" y="679170"/>
            <a:ext cx="584776" cy="427147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402" b="1" dirty="0">
                <a:solidFill>
                  <a:srgbClr val="967754"/>
                </a:solidFill>
                <a:latin typeface="나눔고딕"/>
                <a:cs typeface="나눔고딕"/>
              </a:rPr>
              <a:t>예방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5108448" y="679170"/>
            <a:ext cx="183063" cy="427147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402" b="1" dirty="0">
                <a:solidFill>
                  <a:srgbClr val="967754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5193792" y="679170"/>
            <a:ext cx="585088" cy="427147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402" b="1" dirty="0">
                <a:solidFill>
                  <a:srgbClr val="967754"/>
                </a:solidFill>
                <a:latin typeface="나눔고딕"/>
                <a:cs typeface="나눔고딕"/>
              </a:rPr>
              <a:t>활동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553517" y="1254592"/>
            <a:ext cx="355303" cy="390449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196" b="1" spc="150" dirty="0">
                <a:solidFill>
                  <a:srgbClr val="000000"/>
                </a:solidFill>
                <a:latin typeface="나눔고딕 2"/>
                <a:cs typeface="나눔고딕 2"/>
              </a:rPr>
              <a:t>2) 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902513" y="1254592"/>
            <a:ext cx="802143" cy="390449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196" b="1" dirty="0">
                <a:solidFill>
                  <a:srgbClr val="000000"/>
                </a:solidFill>
                <a:latin typeface="나눔고딕"/>
                <a:cs typeface="나눔고딕"/>
              </a:rPr>
              <a:t>기업의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688846" y="1254592"/>
            <a:ext cx="167335" cy="390449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196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766570" y="1254592"/>
            <a:ext cx="1070446" cy="390449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196" b="1" dirty="0">
                <a:solidFill>
                  <a:srgbClr val="000000"/>
                </a:solidFill>
                <a:latin typeface="나눔고딕"/>
                <a:cs typeface="나눔고딕"/>
              </a:rPr>
              <a:t>산업재해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2815463" y="1254592"/>
            <a:ext cx="167335" cy="390449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196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2891663" y="1254592"/>
            <a:ext cx="1069513" cy="390449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196" b="1" dirty="0">
                <a:solidFill>
                  <a:srgbClr val="000000"/>
                </a:solidFill>
                <a:latin typeface="나눔고딕"/>
                <a:cs typeface="나눔고딕"/>
              </a:rPr>
              <a:t>예방활동</a:t>
            </a:r>
          </a:p>
        </p:txBody>
      </p:sp>
      <p:sp>
        <p:nvSpPr>
          <p:cNvPr id="29" name="Shape 29"/>
          <p:cNvSpPr/>
          <p:nvPr/>
        </p:nvSpPr>
        <p:spPr>
          <a:xfrm>
            <a:off x="2075734" y="5583418"/>
            <a:ext cx="5841238" cy="76200"/>
          </a:xfrm>
          <a:custGeom>
            <a:avLst/>
            <a:gdLst/>
            <a:ahLst/>
            <a:cxnLst/>
            <a:rect l="0" t="0" r="5841238" b="76200"/>
            <a:pathLst>
              <a:path w="5841238" h="76200" stroke="0">
                <a:moveTo>
                  <a:pt x="0" y="31750"/>
                </a:moveTo>
                <a:lnTo>
                  <a:pt x="5777865" y="31750"/>
                </a:lnTo>
                <a:lnTo>
                  <a:pt x="5777865" y="44450"/>
                </a:lnTo>
                <a:lnTo>
                  <a:pt x="0" y="44450"/>
                </a:lnTo>
                <a:close/>
                <a:moveTo>
                  <a:pt x="5765038" y="0"/>
                </a:moveTo>
                <a:lnTo>
                  <a:pt x="5841238" y="38100"/>
                </a:lnTo>
                <a:lnTo>
                  <a:pt x="5765038" y="76200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endParaRPr/>
          </a:p>
        </p:txBody>
      </p:sp>
      <p:sp>
        <p:nvSpPr>
          <p:cNvPr id="30" name="Shape 30"/>
          <p:cNvSpPr/>
          <p:nvPr/>
        </p:nvSpPr>
        <p:spPr>
          <a:xfrm>
            <a:off x="2037634" y="1858356"/>
            <a:ext cx="76200" cy="3763162"/>
          </a:xfrm>
          <a:custGeom>
            <a:avLst/>
            <a:gdLst/>
            <a:ahLst/>
            <a:cxnLst/>
            <a:rect l="0" t="0" r="76200" b="3763162"/>
            <a:pathLst>
              <a:path w="76200" h="3763162" stroke="0">
                <a:moveTo>
                  <a:pt x="44450" y="3763162"/>
                </a:moveTo>
                <a:lnTo>
                  <a:pt x="44450" y="63627"/>
                </a:lnTo>
                <a:lnTo>
                  <a:pt x="31750" y="63627"/>
                </a:lnTo>
                <a:lnTo>
                  <a:pt x="31750" y="3763162"/>
                </a:lnTo>
                <a:close/>
                <a:moveTo>
                  <a:pt x="76200" y="76200"/>
                </a:moveTo>
                <a:lnTo>
                  <a:pt x="38100" y="0"/>
                </a:lnTo>
                <a:lnTo>
                  <a:pt x="0" y="76200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endParaRPr/>
          </a:p>
        </p:txBody>
      </p:sp>
      <p:sp>
        <p:nvSpPr>
          <p:cNvPr id="31" name="Shape 31"/>
          <p:cNvSpPr/>
          <p:nvPr/>
        </p:nvSpPr>
        <p:spPr>
          <a:xfrm>
            <a:off x="2236770" y="1948653"/>
            <a:ext cx="1724406" cy="1092581"/>
          </a:xfrm>
          <a:custGeom>
            <a:avLst/>
            <a:gdLst/>
            <a:ahLst/>
            <a:cxnLst/>
            <a:rect l="0" t="0" r="1724406" b="1092581"/>
            <a:pathLst>
              <a:path w="1724406" h="1092581" fill="none">
                <a:moveTo>
                  <a:pt x="0" y="0"/>
                </a:moveTo>
                <a:cubicBezTo>
                  <a:pt x="91440" y="371475"/>
                  <a:pt x="182880" y="742950"/>
                  <a:pt x="470281" y="917829"/>
                </a:cubicBezTo>
                <a:cubicBezTo>
                  <a:pt x="757682" y="1092581"/>
                  <a:pt x="1241044" y="1070737"/>
                  <a:pt x="1724406" y="1048893"/>
                </a:cubicBezTo>
              </a:path>
            </a:pathLst>
          </a:custGeom>
          <a:noFill/>
          <a:ln w="19050">
            <a:solidFill>
              <a:srgbClr val="ED7D31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2" name="Shape 32"/>
          <p:cNvSpPr/>
          <p:nvPr/>
        </p:nvSpPr>
        <p:spPr>
          <a:xfrm>
            <a:off x="3958636" y="2997927"/>
            <a:ext cx="1805051" cy="1044956"/>
          </a:xfrm>
          <a:custGeom>
            <a:avLst/>
            <a:gdLst/>
            <a:ahLst/>
            <a:cxnLst/>
            <a:rect l="0" t="0" r="1805051" b="1044956"/>
            <a:pathLst>
              <a:path w="1805051" h="1044956" fill="none">
                <a:moveTo>
                  <a:pt x="0" y="0"/>
                </a:moveTo>
                <a:cubicBezTo>
                  <a:pt x="95758" y="355219"/>
                  <a:pt x="191516" y="710565"/>
                  <a:pt x="492252" y="877824"/>
                </a:cubicBezTo>
                <a:cubicBezTo>
                  <a:pt x="793115" y="1044956"/>
                  <a:pt x="1299083" y="1024128"/>
                  <a:pt x="1805051" y="1003173"/>
                </a:cubicBezTo>
              </a:path>
            </a:pathLst>
          </a:custGeom>
          <a:noFill/>
          <a:ln w="19050">
            <a:solidFill>
              <a:srgbClr val="ED7D31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3" name="TextBox 33"/>
          <p:cNvSpPr txBox="1"/>
          <p:nvPr/>
        </p:nvSpPr>
        <p:spPr>
          <a:xfrm>
            <a:off x="4623989" y="3189230"/>
            <a:ext cx="732129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시스템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2719243" y="1997181"/>
            <a:ext cx="488367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0000"/>
                </a:solidFill>
                <a:latin typeface="나눔고딕"/>
                <a:cs typeface="나눔고딕"/>
              </a:rPr>
              <a:t>감독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3197779" y="1997181"/>
            <a:ext cx="152888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0000"/>
                </a:solidFill>
                <a:latin typeface="나눔고딕 2"/>
                <a:cs typeface="나눔고딕 2"/>
              </a:rPr>
              <a:t>,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2719243" y="2302516"/>
            <a:ext cx="488076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설비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3197779" y="2302516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(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3290743" y="2302516"/>
            <a:ext cx="488387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기술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3768009" y="2302516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)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1172383" y="2126367"/>
            <a:ext cx="732751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사고율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1079419" y="2430886"/>
            <a:ext cx="152888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0000"/>
                </a:solidFill>
                <a:latin typeface="나눔고딕 2"/>
                <a:cs typeface="나눔고딕 2"/>
              </a:rPr>
              <a:t>(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1172383" y="2430886"/>
            <a:ext cx="733043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0000"/>
                </a:solidFill>
                <a:latin typeface="나눔고딕"/>
                <a:cs typeface="나눔고딕"/>
              </a:rPr>
              <a:t>리스크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1890441" y="2430886"/>
            <a:ext cx="152888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0000"/>
                </a:solidFill>
                <a:latin typeface="나눔고딕 2"/>
                <a:cs typeface="나눔고딕 2"/>
              </a:rPr>
              <a:t>)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7329597" y="5775128"/>
            <a:ext cx="488076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시간</a:t>
            </a:r>
          </a:p>
        </p:txBody>
      </p:sp>
      <p:sp>
        <p:nvSpPr>
          <p:cNvPr id="45" name="Shape 45"/>
          <p:cNvSpPr/>
          <p:nvPr/>
        </p:nvSpPr>
        <p:spPr>
          <a:xfrm>
            <a:off x="5773212" y="4007450"/>
            <a:ext cx="1990725" cy="1270178"/>
          </a:xfrm>
          <a:custGeom>
            <a:avLst/>
            <a:gdLst/>
            <a:ahLst/>
            <a:cxnLst/>
            <a:rect l="0" t="0" r="1990725" b="1270178"/>
            <a:pathLst>
              <a:path w="1990725" h="1270178" fill="none">
                <a:moveTo>
                  <a:pt x="0" y="0"/>
                </a:moveTo>
                <a:cubicBezTo>
                  <a:pt x="105537" y="431800"/>
                  <a:pt x="211074" y="863727"/>
                  <a:pt x="542925" y="1066927"/>
                </a:cubicBezTo>
                <a:cubicBezTo>
                  <a:pt x="874649" y="1270178"/>
                  <a:pt x="1432687" y="1244727"/>
                  <a:pt x="1990725" y="1219327"/>
                </a:cubicBezTo>
              </a:path>
            </a:pathLst>
          </a:custGeom>
          <a:noFill/>
          <a:ln w="19050">
            <a:solidFill>
              <a:srgbClr val="BF9000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46" name="TextBox 46"/>
          <p:cNvSpPr txBox="1"/>
          <p:nvPr/>
        </p:nvSpPr>
        <p:spPr>
          <a:xfrm>
            <a:off x="6559723" y="4334389"/>
            <a:ext cx="976183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안전문화</a:t>
            </a:r>
          </a:p>
        </p:txBody>
      </p:sp>
      <p:sp>
        <p:nvSpPr>
          <p:cNvPr id="47" name="Shape 47"/>
          <p:cNvSpPr/>
          <p:nvPr/>
        </p:nvSpPr>
        <p:spPr>
          <a:xfrm>
            <a:off x="2294301" y="3555838"/>
            <a:ext cx="1541399" cy="1554226"/>
          </a:xfrm>
          <a:prstGeom prst="rect">
            <a:avLst/>
          </a:prstGeom>
          <a:noFill/>
          <a:ln w="15875">
            <a:solidFill>
              <a:srgbClr val="5B9BD5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48" name="TextBox 48"/>
          <p:cNvSpPr txBox="1"/>
          <p:nvPr/>
        </p:nvSpPr>
        <p:spPr>
          <a:xfrm>
            <a:off x="2386122" y="3616084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dirty="0">
                <a:solidFill>
                  <a:srgbClr val="7F7F7F"/>
                </a:solidFill>
                <a:latin typeface="Arial"/>
                <a:cs typeface="Arial"/>
              </a:rPr>
              <a:t>•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2538522" y="3612267"/>
            <a:ext cx="97711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법규준수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2386122" y="3997084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dirty="0">
                <a:solidFill>
                  <a:srgbClr val="7F7F7F"/>
                </a:solidFill>
                <a:latin typeface="Arial"/>
                <a:cs typeface="Arial"/>
              </a:rPr>
              <a:t>•</a:t>
            </a:r>
          </a:p>
        </p:txBody>
      </p:sp>
      <p:sp>
        <p:nvSpPr>
          <p:cNvPr id="51" name="TextBox 51"/>
          <p:cNvSpPr txBox="1"/>
          <p:nvPr/>
        </p:nvSpPr>
        <p:spPr>
          <a:xfrm>
            <a:off x="2538522" y="3993267"/>
            <a:ext cx="488387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교육</a:t>
            </a:r>
          </a:p>
        </p:txBody>
      </p:sp>
      <p:sp>
        <p:nvSpPr>
          <p:cNvPr id="52" name="TextBox 52"/>
          <p:cNvSpPr txBox="1"/>
          <p:nvPr/>
        </p:nvSpPr>
        <p:spPr>
          <a:xfrm>
            <a:off x="3017312" y="3993267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, </a:t>
            </a:r>
          </a:p>
        </p:txBody>
      </p:sp>
      <p:sp>
        <p:nvSpPr>
          <p:cNvPr id="53" name="TextBox 53"/>
          <p:cNvSpPr txBox="1"/>
          <p:nvPr/>
        </p:nvSpPr>
        <p:spPr>
          <a:xfrm>
            <a:off x="3162092" y="3993267"/>
            <a:ext cx="488076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훈련</a:t>
            </a:r>
          </a:p>
        </p:txBody>
      </p:sp>
      <p:sp>
        <p:nvSpPr>
          <p:cNvPr id="54" name="TextBox 54"/>
          <p:cNvSpPr txBox="1"/>
          <p:nvPr/>
        </p:nvSpPr>
        <p:spPr>
          <a:xfrm>
            <a:off x="2386122" y="4378084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dirty="0">
                <a:solidFill>
                  <a:srgbClr val="7F7F7F"/>
                </a:solidFill>
                <a:latin typeface="Arial"/>
                <a:cs typeface="Arial"/>
              </a:rPr>
              <a:t>•</a:t>
            </a:r>
          </a:p>
        </p:txBody>
      </p:sp>
      <p:sp>
        <p:nvSpPr>
          <p:cNvPr id="55" name="TextBox 55"/>
          <p:cNvSpPr txBox="1"/>
          <p:nvPr/>
        </p:nvSpPr>
        <p:spPr>
          <a:xfrm>
            <a:off x="2538522" y="4374267"/>
            <a:ext cx="97711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설비개선</a:t>
            </a:r>
          </a:p>
        </p:txBody>
      </p:sp>
      <p:sp>
        <p:nvSpPr>
          <p:cNvPr id="56" name="TextBox 56"/>
          <p:cNvSpPr txBox="1"/>
          <p:nvPr/>
        </p:nvSpPr>
        <p:spPr>
          <a:xfrm>
            <a:off x="2386122" y="4758808"/>
            <a:ext cx="152888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dirty="0">
                <a:solidFill>
                  <a:srgbClr val="7F7F7F"/>
                </a:solidFill>
                <a:latin typeface="Arial"/>
                <a:cs typeface="Arial"/>
              </a:rPr>
              <a:t>•</a:t>
            </a:r>
          </a:p>
        </p:txBody>
      </p:sp>
      <p:sp>
        <p:nvSpPr>
          <p:cNvPr id="57" name="TextBox 57"/>
          <p:cNvSpPr txBox="1"/>
          <p:nvPr/>
        </p:nvSpPr>
        <p:spPr>
          <a:xfrm>
            <a:off x="2538522" y="4754986"/>
            <a:ext cx="488679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0000"/>
                </a:solidFill>
                <a:latin typeface="나눔고딕"/>
                <a:cs typeface="나눔고딕"/>
              </a:rPr>
              <a:t>점검</a:t>
            </a:r>
          </a:p>
        </p:txBody>
      </p:sp>
      <p:sp>
        <p:nvSpPr>
          <p:cNvPr id="58" name="TextBox 58"/>
          <p:cNvSpPr txBox="1"/>
          <p:nvPr/>
        </p:nvSpPr>
        <p:spPr>
          <a:xfrm>
            <a:off x="3017312" y="4754986"/>
            <a:ext cx="152888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0000"/>
                </a:solidFill>
                <a:latin typeface="나눔고딕 2"/>
                <a:cs typeface="나눔고딕 2"/>
              </a:rPr>
              <a:t>, </a:t>
            </a:r>
          </a:p>
        </p:txBody>
      </p:sp>
      <p:sp>
        <p:nvSpPr>
          <p:cNvPr id="59" name="TextBox 59"/>
          <p:cNvSpPr txBox="1"/>
          <p:nvPr/>
        </p:nvSpPr>
        <p:spPr>
          <a:xfrm>
            <a:off x="3162092" y="4754986"/>
            <a:ext cx="488367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0000"/>
                </a:solidFill>
                <a:latin typeface="나눔고딕"/>
                <a:cs typeface="나눔고딕"/>
              </a:rPr>
              <a:t>진단</a:t>
            </a:r>
          </a:p>
        </p:txBody>
      </p:sp>
      <p:sp>
        <p:nvSpPr>
          <p:cNvPr id="60" name="Shape 60"/>
          <p:cNvSpPr/>
          <p:nvPr/>
        </p:nvSpPr>
        <p:spPr>
          <a:xfrm>
            <a:off x="3968161" y="4386405"/>
            <a:ext cx="1847215" cy="1092606"/>
          </a:xfrm>
          <a:prstGeom prst="rect">
            <a:avLst/>
          </a:prstGeom>
          <a:noFill/>
          <a:ln w="15875">
            <a:solidFill>
              <a:srgbClr val="5B9BD5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61" name="TextBox 61"/>
          <p:cNvSpPr txBox="1"/>
          <p:nvPr/>
        </p:nvSpPr>
        <p:spPr>
          <a:xfrm>
            <a:off x="4060363" y="4446388"/>
            <a:ext cx="152888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dirty="0">
                <a:solidFill>
                  <a:srgbClr val="7F7F7F"/>
                </a:solidFill>
                <a:latin typeface="Arial"/>
                <a:cs typeface="Arial"/>
              </a:rPr>
              <a:t>•</a:t>
            </a:r>
          </a:p>
        </p:txBody>
      </p:sp>
      <p:sp>
        <p:nvSpPr>
          <p:cNvPr id="62" name="TextBox 62"/>
          <p:cNvSpPr txBox="1"/>
          <p:nvPr/>
        </p:nvSpPr>
        <p:spPr>
          <a:xfrm>
            <a:off x="4212763" y="4442566"/>
            <a:ext cx="1463029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0000"/>
                </a:solidFill>
                <a:latin typeface="나눔고딕"/>
                <a:cs typeface="나눔고딕"/>
              </a:rPr>
              <a:t>안전보건경영</a:t>
            </a:r>
          </a:p>
        </p:txBody>
      </p:sp>
      <p:sp>
        <p:nvSpPr>
          <p:cNvPr id="63" name="TextBox 63"/>
          <p:cNvSpPr txBox="1"/>
          <p:nvPr/>
        </p:nvSpPr>
        <p:spPr>
          <a:xfrm>
            <a:off x="4212763" y="4747901"/>
            <a:ext cx="732129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시스템</a:t>
            </a:r>
          </a:p>
        </p:txBody>
      </p:sp>
      <p:sp>
        <p:nvSpPr>
          <p:cNvPr id="64" name="TextBox 64"/>
          <p:cNvSpPr txBox="1"/>
          <p:nvPr/>
        </p:nvSpPr>
        <p:spPr>
          <a:xfrm>
            <a:off x="4060363" y="5132769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dirty="0">
                <a:solidFill>
                  <a:srgbClr val="7F7F7F"/>
                </a:solidFill>
                <a:latin typeface="Arial"/>
                <a:cs typeface="Arial"/>
              </a:rPr>
              <a:t>•</a:t>
            </a:r>
          </a:p>
        </p:txBody>
      </p:sp>
      <p:sp>
        <p:nvSpPr>
          <p:cNvPr id="65" name="TextBox 65"/>
          <p:cNvSpPr txBox="1"/>
          <p:nvPr/>
        </p:nvSpPr>
        <p:spPr>
          <a:xfrm>
            <a:off x="4212763" y="5128952"/>
            <a:ext cx="1220236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위험성평가</a:t>
            </a:r>
          </a:p>
        </p:txBody>
      </p:sp>
      <p:sp>
        <p:nvSpPr>
          <p:cNvPr id="66" name="TextBox 66"/>
          <p:cNvSpPr txBox="1"/>
          <p:nvPr/>
        </p:nvSpPr>
        <p:spPr>
          <a:xfrm>
            <a:off x="415138" y="105410"/>
            <a:ext cx="1057046" cy="42672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400" b="1" dirty="0">
                <a:solidFill>
                  <a:srgbClr val="000000"/>
                </a:solidFill>
                <a:latin typeface="나눔고딕"/>
                <a:cs typeface="나눔고딕"/>
              </a:rPr>
              <a:t>Ⅰ. 학습</a:t>
            </a:r>
          </a:p>
        </p:txBody>
      </p:sp>
      <p:sp>
        <p:nvSpPr>
          <p:cNvPr id="67" name="TextBox 67"/>
          <p:cNvSpPr txBox="1"/>
          <p:nvPr/>
        </p:nvSpPr>
        <p:spPr>
          <a:xfrm>
            <a:off x="1451483" y="105410"/>
            <a:ext cx="182880" cy="42672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400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68" name="TextBox 68"/>
          <p:cNvSpPr txBox="1"/>
          <p:nvPr/>
        </p:nvSpPr>
        <p:spPr>
          <a:xfrm>
            <a:off x="1535303" y="105410"/>
            <a:ext cx="876727" cy="42672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400" b="1" dirty="0">
                <a:solidFill>
                  <a:srgbClr val="000000"/>
                </a:solidFill>
                <a:latin typeface="나눔고딕"/>
                <a:cs typeface="나눔고딕"/>
              </a:rPr>
              <a:t>로드맵</a:t>
            </a:r>
          </a:p>
        </p:txBody>
      </p:sp>
      <p:sp>
        <p:nvSpPr>
          <p:cNvPr id="4" name="직사각형 3"/>
          <p:cNvSpPr/>
          <p:nvPr/>
        </p:nvSpPr>
        <p:spPr>
          <a:xfrm>
            <a:off x="4263303" y="1691918"/>
            <a:ext cx="5569021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dirty="0"/>
              <a:t>https://www.youtube.com/watch?v=XVybyrXqcE0</a:t>
            </a:r>
          </a:p>
        </p:txBody>
      </p:sp>
      <p:sp>
        <p:nvSpPr>
          <p:cNvPr id="5" name="직사각형 4"/>
          <p:cNvSpPr/>
          <p:nvPr/>
        </p:nvSpPr>
        <p:spPr>
          <a:xfrm>
            <a:off x="4273722" y="2131994"/>
            <a:ext cx="5088641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dirty="0"/>
              <a:t>https://www.youtube.com/watch?v=AjHECeYYH8g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3"/>
          <p:cNvSpPr/>
          <p:nvPr/>
        </p:nvSpPr>
        <p:spPr>
          <a:xfrm>
            <a:off x="0" y="6525349"/>
            <a:ext cx="9144000" cy="1"/>
          </a:xfrm>
          <a:custGeom>
            <a:avLst/>
            <a:gdLst/>
            <a:ahLst/>
            <a:cxnLst/>
            <a:rect l="0" t="0" r="9144000" b="1"/>
            <a:pathLst>
              <a:path w="9144000" h="1" fill="none">
                <a:moveTo>
                  <a:pt x="0" y="0"/>
                </a:moveTo>
                <a:lnTo>
                  <a:pt x="9144000" y="0"/>
                </a:lnTo>
              </a:path>
            </a:pathLst>
          </a:custGeom>
          <a:noFill/>
          <a:ln w="19050">
            <a:solidFill>
              <a:srgbClr val="5B9BD5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6" name="Shape 6"/>
          <p:cNvSpPr/>
          <p:nvPr/>
        </p:nvSpPr>
        <p:spPr>
          <a:xfrm>
            <a:off x="21900" y="476640"/>
            <a:ext cx="1331595" cy="97400"/>
          </a:xfrm>
          <a:prstGeom prst="rect">
            <a:avLst/>
          </a:prstGeom>
          <a:solidFill>
            <a:srgbClr val="92D050"/>
          </a:solidFill>
        </p:spPr>
        <p:txBody>
          <a:bodyPr/>
          <a:lstStyle/>
          <a:p>
            <a:endParaRPr/>
          </a:p>
        </p:txBody>
      </p:sp>
      <p:sp>
        <p:nvSpPr>
          <p:cNvPr id="7" name="Shape 7"/>
          <p:cNvSpPr/>
          <p:nvPr/>
        </p:nvSpPr>
        <p:spPr>
          <a:xfrm>
            <a:off x="1353566" y="476640"/>
            <a:ext cx="7776845" cy="97400"/>
          </a:xfrm>
          <a:prstGeom prst="rect">
            <a:avLst/>
          </a:prstGeom>
          <a:solidFill>
            <a:srgbClr val="5B9BD5"/>
          </a:solidFill>
        </p:spPr>
        <p:txBody>
          <a:bodyPr/>
          <a:lstStyle/>
          <a:p>
            <a:endParaRPr/>
          </a:p>
        </p:txBody>
      </p:sp>
      <p:sp>
        <p:nvSpPr>
          <p:cNvPr id="8" name="Shape 8"/>
          <p:cNvSpPr/>
          <p:nvPr/>
        </p:nvSpPr>
        <p:spPr>
          <a:xfrm>
            <a:off x="1353566" y="470281"/>
            <a:ext cx="1" cy="122809"/>
          </a:xfrm>
          <a:custGeom>
            <a:avLst/>
            <a:gdLst/>
            <a:ahLst/>
            <a:cxnLst/>
            <a:rect l="0" t="0" r="1" b="122809"/>
            <a:pathLst>
              <a:path w="1" h="122809" fill="none">
                <a:moveTo>
                  <a:pt x="0" y="0"/>
                </a:moveTo>
                <a:lnTo>
                  <a:pt x="0" y="122809"/>
                </a:lnTo>
              </a:path>
            </a:pathLst>
          </a:custGeom>
          <a:noFill/>
          <a:ln w="12700">
            <a:solidFill>
              <a:srgbClr val="FFFFF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9" name="Shape 9"/>
          <p:cNvSpPr/>
          <p:nvPr/>
        </p:nvSpPr>
        <p:spPr>
          <a:xfrm>
            <a:off x="21900" y="470281"/>
            <a:ext cx="1" cy="122809"/>
          </a:xfrm>
          <a:custGeom>
            <a:avLst/>
            <a:gdLst/>
            <a:ahLst/>
            <a:cxnLst/>
            <a:rect l="0" t="0" r="1" b="122809"/>
            <a:pathLst>
              <a:path w="1" h="122809" fill="none">
                <a:moveTo>
                  <a:pt x="0" y="0"/>
                </a:moveTo>
                <a:lnTo>
                  <a:pt x="0" y="122809"/>
                </a:lnTo>
              </a:path>
            </a:pathLst>
          </a:custGeom>
          <a:noFill/>
          <a:ln w="12700">
            <a:solidFill>
              <a:srgbClr val="FFFFF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0" name="Shape 10"/>
          <p:cNvSpPr/>
          <p:nvPr/>
        </p:nvSpPr>
        <p:spPr>
          <a:xfrm>
            <a:off x="9130411" y="470281"/>
            <a:ext cx="1" cy="122809"/>
          </a:xfrm>
          <a:custGeom>
            <a:avLst/>
            <a:gdLst/>
            <a:ahLst/>
            <a:cxnLst/>
            <a:rect l="0" t="0" r="1" b="122809"/>
            <a:pathLst>
              <a:path w="1" h="122809" fill="none">
                <a:moveTo>
                  <a:pt x="0" y="0"/>
                </a:moveTo>
                <a:lnTo>
                  <a:pt x="0" y="122809"/>
                </a:lnTo>
              </a:path>
            </a:pathLst>
          </a:custGeom>
          <a:noFill/>
          <a:ln w="12700">
            <a:solidFill>
              <a:srgbClr val="FFFFF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1" name="Shape 11"/>
          <p:cNvSpPr/>
          <p:nvPr/>
        </p:nvSpPr>
        <p:spPr>
          <a:xfrm>
            <a:off x="15550" y="476631"/>
            <a:ext cx="9121211" cy="1"/>
          </a:xfrm>
          <a:custGeom>
            <a:avLst/>
            <a:gdLst/>
            <a:ahLst/>
            <a:cxnLst/>
            <a:rect l="0" t="0" r="9121211" b="1"/>
            <a:pathLst>
              <a:path w="9121211" h="1" fill="none">
                <a:moveTo>
                  <a:pt x="0" y="0"/>
                </a:moveTo>
                <a:lnTo>
                  <a:pt x="9121211" y="0"/>
                </a:lnTo>
              </a:path>
            </a:pathLst>
          </a:custGeom>
          <a:noFill/>
          <a:ln w="12700">
            <a:solidFill>
              <a:srgbClr val="FFFFF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2" name="Shape 12"/>
          <p:cNvSpPr/>
          <p:nvPr/>
        </p:nvSpPr>
        <p:spPr>
          <a:xfrm>
            <a:off x="15550" y="574040"/>
            <a:ext cx="9121211" cy="1"/>
          </a:xfrm>
          <a:custGeom>
            <a:avLst/>
            <a:gdLst/>
            <a:ahLst/>
            <a:cxnLst/>
            <a:rect l="0" t="0" r="9121211" b="1"/>
            <a:pathLst>
              <a:path w="9121211" h="1" fill="none">
                <a:moveTo>
                  <a:pt x="0" y="0"/>
                </a:moveTo>
                <a:lnTo>
                  <a:pt x="9121211" y="0"/>
                </a:lnTo>
              </a:path>
            </a:pathLst>
          </a:custGeom>
          <a:noFill/>
          <a:ln w="38100">
            <a:solidFill>
              <a:srgbClr val="FFFFF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3" name="TextBox 13"/>
          <p:cNvSpPr txBox="1"/>
          <p:nvPr/>
        </p:nvSpPr>
        <p:spPr>
          <a:xfrm>
            <a:off x="487070" y="679170"/>
            <a:ext cx="370025" cy="427147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402" b="1" spc="151" dirty="0">
                <a:solidFill>
                  <a:srgbClr val="967754"/>
                </a:solidFill>
                <a:latin typeface="나눔고딕 2"/>
                <a:cs typeface="나눔고딕 2"/>
              </a:rPr>
              <a:t>1. 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848258" y="679170"/>
            <a:ext cx="877018" cy="427147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402" b="1" dirty="0">
                <a:solidFill>
                  <a:srgbClr val="967754"/>
                </a:solidFill>
                <a:latin typeface="나눔고딕"/>
                <a:cs typeface="나눔고딕"/>
              </a:rPr>
              <a:t>안전의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708150" y="679170"/>
            <a:ext cx="183063" cy="427147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402" b="1" dirty="0">
                <a:solidFill>
                  <a:srgbClr val="967754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791970" y="679170"/>
            <a:ext cx="584776" cy="427147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402" b="1" dirty="0">
                <a:solidFill>
                  <a:srgbClr val="967754"/>
                </a:solidFill>
                <a:latin typeface="나눔고딕"/>
                <a:cs typeface="나눔고딕"/>
              </a:rPr>
              <a:t>이념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628193" y="1425987"/>
            <a:ext cx="152888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dirty="0">
                <a:solidFill>
                  <a:srgbClr val="7F7F7F"/>
                </a:solidFill>
                <a:latin typeface="Wingdings"/>
                <a:cs typeface="Wingdings"/>
              </a:rPr>
              <a:t>▪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844601" y="1420636"/>
            <a:ext cx="1220526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0000"/>
                </a:solidFill>
                <a:latin typeface="나눔고딕"/>
                <a:cs typeface="나눔고딕"/>
              </a:rPr>
              <a:t>헌법에서의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2039366" y="1420636"/>
            <a:ext cx="152888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2106422" y="1420636"/>
            <a:ext cx="976473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0000"/>
                </a:solidFill>
                <a:latin typeface="나눔고딕"/>
                <a:cs typeface="나눔고딕"/>
              </a:rPr>
              <a:t>인권존중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3063875" y="1420636"/>
            <a:ext cx="152888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3130931" y="1420636"/>
            <a:ext cx="488367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0000"/>
                </a:solidFill>
                <a:latin typeface="나눔고딕"/>
                <a:cs typeface="나눔고딕"/>
              </a:rPr>
              <a:t>이념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847039" y="1911391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-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010107" y="1911391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(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103071" y="1911391"/>
            <a:ext cx="244022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제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342390" y="1911391"/>
            <a:ext cx="314320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10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650492" y="1911391"/>
            <a:ext cx="985509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조) “모든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2616708" y="1911391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2686812" y="1911391"/>
            <a:ext cx="732129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국민은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3404870" y="1911391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3473450" y="1911391"/>
            <a:ext cx="146283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인간으로서의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4906010" y="1911391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4973066" y="1911391"/>
            <a:ext cx="732129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존엄과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5691251" y="1911391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5759831" y="1911391"/>
            <a:ext cx="732129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가치를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6477635" y="1911391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6544691" y="1911391"/>
            <a:ext cx="732130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가지며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7262749" y="1911391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, 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7407529" y="1911391"/>
            <a:ext cx="732130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행복을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1060399" y="2292391"/>
            <a:ext cx="732129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추구할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1778508" y="2292391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1847088" y="2292391"/>
            <a:ext cx="732129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권리를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2564892" y="2292391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2633472" y="2292391"/>
            <a:ext cx="90105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가진다.”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826037" y="3383158"/>
            <a:ext cx="152888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0000"/>
                </a:solidFill>
                <a:latin typeface="나눔고딕 2"/>
                <a:cs typeface="나눔고딕 2"/>
              </a:rPr>
              <a:t>-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989105" y="3383158"/>
            <a:ext cx="152888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0000"/>
                </a:solidFill>
                <a:latin typeface="나눔고딕 2"/>
                <a:cs typeface="나눔고딕 2"/>
              </a:rPr>
              <a:t>(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1082069" y="3383158"/>
            <a:ext cx="244315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0000"/>
                </a:solidFill>
                <a:latin typeface="나눔고딕"/>
                <a:cs typeface="나눔고딕"/>
              </a:rPr>
              <a:t>제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1321388" y="3383158"/>
            <a:ext cx="314507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0000"/>
                </a:solidFill>
                <a:latin typeface="나눔고딕 2"/>
                <a:cs typeface="나눔고딕 2"/>
              </a:rPr>
              <a:t>34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1629490" y="3383158"/>
            <a:ext cx="244315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0000"/>
                </a:solidFill>
                <a:latin typeface="나눔고딕"/>
                <a:cs typeface="나눔고딕"/>
              </a:rPr>
              <a:t>조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1868758" y="3383158"/>
            <a:ext cx="152888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51" name="TextBox 51"/>
          <p:cNvSpPr txBox="1"/>
          <p:nvPr/>
        </p:nvSpPr>
        <p:spPr>
          <a:xfrm>
            <a:off x="1937338" y="3383158"/>
            <a:ext cx="244315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0000"/>
                </a:solidFill>
                <a:latin typeface="나눔고딕"/>
                <a:cs typeface="나눔고딕"/>
              </a:rPr>
              <a:t>제</a:t>
            </a:r>
          </a:p>
        </p:txBody>
      </p:sp>
      <p:sp>
        <p:nvSpPr>
          <p:cNvPr id="52" name="TextBox 52"/>
          <p:cNvSpPr txBox="1"/>
          <p:nvPr/>
        </p:nvSpPr>
        <p:spPr>
          <a:xfrm>
            <a:off x="2176606" y="3383158"/>
            <a:ext cx="157505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0000"/>
                </a:solidFill>
                <a:latin typeface="나눔고딕 2"/>
                <a:cs typeface="나눔고딕 2"/>
              </a:rPr>
              <a:t>1</a:t>
            </a:r>
          </a:p>
        </p:txBody>
      </p:sp>
      <p:sp>
        <p:nvSpPr>
          <p:cNvPr id="53" name="TextBox 53"/>
          <p:cNvSpPr txBox="1"/>
          <p:nvPr/>
        </p:nvSpPr>
        <p:spPr>
          <a:xfrm>
            <a:off x="2330530" y="3383158"/>
            <a:ext cx="987355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0000"/>
                </a:solidFill>
                <a:latin typeface="나눔고딕"/>
                <a:cs typeface="나눔고딕"/>
              </a:rPr>
              <a:t>항) “모든</a:t>
            </a:r>
          </a:p>
        </p:txBody>
      </p:sp>
      <p:sp>
        <p:nvSpPr>
          <p:cNvPr id="54" name="TextBox 54"/>
          <p:cNvSpPr txBox="1"/>
          <p:nvPr/>
        </p:nvSpPr>
        <p:spPr>
          <a:xfrm>
            <a:off x="3298270" y="3383158"/>
            <a:ext cx="152888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55" name="TextBox 55"/>
          <p:cNvSpPr txBox="1"/>
          <p:nvPr/>
        </p:nvSpPr>
        <p:spPr>
          <a:xfrm>
            <a:off x="3367104" y="3383158"/>
            <a:ext cx="732420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0000"/>
                </a:solidFill>
                <a:latin typeface="나눔고딕"/>
                <a:cs typeface="나눔고딕"/>
              </a:rPr>
              <a:t>국민은</a:t>
            </a:r>
          </a:p>
        </p:txBody>
      </p:sp>
      <p:sp>
        <p:nvSpPr>
          <p:cNvPr id="56" name="TextBox 56"/>
          <p:cNvSpPr txBox="1"/>
          <p:nvPr/>
        </p:nvSpPr>
        <p:spPr>
          <a:xfrm>
            <a:off x="4084908" y="3383158"/>
            <a:ext cx="152888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57" name="TextBox 57"/>
          <p:cNvSpPr txBox="1"/>
          <p:nvPr/>
        </p:nvSpPr>
        <p:spPr>
          <a:xfrm>
            <a:off x="4153488" y="3383158"/>
            <a:ext cx="976473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0000"/>
                </a:solidFill>
                <a:latin typeface="나눔고딕"/>
                <a:cs typeface="나눔고딕"/>
              </a:rPr>
              <a:t>인간다운</a:t>
            </a:r>
          </a:p>
        </p:txBody>
      </p:sp>
      <p:sp>
        <p:nvSpPr>
          <p:cNvPr id="58" name="TextBox 58"/>
          <p:cNvSpPr txBox="1"/>
          <p:nvPr/>
        </p:nvSpPr>
        <p:spPr>
          <a:xfrm>
            <a:off x="5110560" y="3383158"/>
            <a:ext cx="152888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59" name="TextBox 59"/>
          <p:cNvSpPr txBox="1"/>
          <p:nvPr/>
        </p:nvSpPr>
        <p:spPr>
          <a:xfrm>
            <a:off x="5177616" y="3383158"/>
            <a:ext cx="733043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0000"/>
                </a:solidFill>
                <a:latin typeface="나눔고딕"/>
                <a:cs typeface="나눔고딕"/>
              </a:rPr>
              <a:t>생활을</a:t>
            </a:r>
          </a:p>
        </p:txBody>
      </p:sp>
      <p:sp>
        <p:nvSpPr>
          <p:cNvPr id="60" name="TextBox 60"/>
          <p:cNvSpPr txBox="1"/>
          <p:nvPr/>
        </p:nvSpPr>
        <p:spPr>
          <a:xfrm>
            <a:off x="5895801" y="3383158"/>
            <a:ext cx="152888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61" name="TextBox 61"/>
          <p:cNvSpPr txBox="1"/>
          <p:nvPr/>
        </p:nvSpPr>
        <p:spPr>
          <a:xfrm>
            <a:off x="5962857" y="3383158"/>
            <a:ext cx="244315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0000"/>
                </a:solidFill>
                <a:latin typeface="나눔고딕"/>
                <a:cs typeface="나눔고딕"/>
              </a:rPr>
              <a:t>할</a:t>
            </a:r>
          </a:p>
        </p:txBody>
      </p:sp>
      <p:sp>
        <p:nvSpPr>
          <p:cNvPr id="62" name="TextBox 62"/>
          <p:cNvSpPr txBox="1"/>
          <p:nvPr/>
        </p:nvSpPr>
        <p:spPr>
          <a:xfrm>
            <a:off x="6202125" y="3383158"/>
            <a:ext cx="152888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63" name="TextBox 63"/>
          <p:cNvSpPr txBox="1"/>
          <p:nvPr/>
        </p:nvSpPr>
        <p:spPr>
          <a:xfrm>
            <a:off x="6273753" y="3383158"/>
            <a:ext cx="732420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0000"/>
                </a:solidFill>
                <a:latin typeface="나눔고딕"/>
                <a:cs typeface="나눔고딕"/>
              </a:rPr>
              <a:t>권리를</a:t>
            </a:r>
          </a:p>
        </p:txBody>
      </p:sp>
      <p:sp>
        <p:nvSpPr>
          <p:cNvPr id="64" name="TextBox 64"/>
          <p:cNvSpPr txBox="1"/>
          <p:nvPr/>
        </p:nvSpPr>
        <p:spPr>
          <a:xfrm>
            <a:off x="6991557" y="3383158"/>
            <a:ext cx="152888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65" name="TextBox 65"/>
          <p:cNvSpPr txBox="1"/>
          <p:nvPr/>
        </p:nvSpPr>
        <p:spPr>
          <a:xfrm>
            <a:off x="7058613" y="3383158"/>
            <a:ext cx="902665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0000"/>
                </a:solidFill>
                <a:latin typeface="나눔고딕"/>
                <a:cs typeface="나눔고딕"/>
              </a:rPr>
              <a:t>가진다.”</a:t>
            </a:r>
          </a:p>
        </p:txBody>
      </p:sp>
      <p:sp>
        <p:nvSpPr>
          <p:cNvPr id="66" name="TextBox 66"/>
          <p:cNvSpPr txBox="1"/>
          <p:nvPr/>
        </p:nvSpPr>
        <p:spPr>
          <a:xfrm>
            <a:off x="851901" y="4115561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-</a:t>
            </a:r>
          </a:p>
        </p:txBody>
      </p:sp>
      <p:sp>
        <p:nvSpPr>
          <p:cNvPr id="67" name="TextBox 67"/>
          <p:cNvSpPr txBox="1"/>
          <p:nvPr/>
        </p:nvSpPr>
        <p:spPr>
          <a:xfrm>
            <a:off x="1014969" y="4115561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(</a:t>
            </a:r>
          </a:p>
        </p:txBody>
      </p:sp>
      <p:sp>
        <p:nvSpPr>
          <p:cNvPr id="68" name="TextBox 68"/>
          <p:cNvSpPr txBox="1"/>
          <p:nvPr/>
        </p:nvSpPr>
        <p:spPr>
          <a:xfrm>
            <a:off x="1107933" y="4115561"/>
            <a:ext cx="244022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제</a:t>
            </a:r>
          </a:p>
        </p:txBody>
      </p:sp>
      <p:sp>
        <p:nvSpPr>
          <p:cNvPr id="69" name="TextBox 69"/>
          <p:cNvSpPr txBox="1"/>
          <p:nvPr/>
        </p:nvSpPr>
        <p:spPr>
          <a:xfrm>
            <a:off x="1347252" y="4115561"/>
            <a:ext cx="314320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35</a:t>
            </a:r>
          </a:p>
        </p:txBody>
      </p:sp>
      <p:sp>
        <p:nvSpPr>
          <p:cNvPr id="70" name="TextBox 70"/>
          <p:cNvSpPr txBox="1"/>
          <p:nvPr/>
        </p:nvSpPr>
        <p:spPr>
          <a:xfrm>
            <a:off x="1655354" y="4115561"/>
            <a:ext cx="244022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조</a:t>
            </a:r>
          </a:p>
        </p:txBody>
      </p:sp>
      <p:sp>
        <p:nvSpPr>
          <p:cNvPr id="71" name="TextBox 71"/>
          <p:cNvSpPr txBox="1"/>
          <p:nvPr/>
        </p:nvSpPr>
        <p:spPr>
          <a:xfrm>
            <a:off x="1894622" y="4115561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72" name="TextBox 72"/>
          <p:cNvSpPr txBox="1"/>
          <p:nvPr/>
        </p:nvSpPr>
        <p:spPr>
          <a:xfrm>
            <a:off x="1963202" y="4115561"/>
            <a:ext cx="244022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제</a:t>
            </a:r>
          </a:p>
        </p:txBody>
      </p:sp>
      <p:sp>
        <p:nvSpPr>
          <p:cNvPr id="73" name="TextBox 73"/>
          <p:cNvSpPr txBox="1"/>
          <p:nvPr/>
        </p:nvSpPr>
        <p:spPr>
          <a:xfrm>
            <a:off x="2202470" y="4115561"/>
            <a:ext cx="157316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1</a:t>
            </a:r>
          </a:p>
        </p:txBody>
      </p:sp>
      <p:sp>
        <p:nvSpPr>
          <p:cNvPr id="74" name="TextBox 74"/>
          <p:cNvSpPr txBox="1"/>
          <p:nvPr/>
        </p:nvSpPr>
        <p:spPr>
          <a:xfrm>
            <a:off x="2356394" y="4115561"/>
            <a:ext cx="987064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항) “모든</a:t>
            </a:r>
          </a:p>
        </p:txBody>
      </p:sp>
      <p:sp>
        <p:nvSpPr>
          <p:cNvPr id="75" name="TextBox 75"/>
          <p:cNvSpPr txBox="1"/>
          <p:nvPr/>
        </p:nvSpPr>
        <p:spPr>
          <a:xfrm>
            <a:off x="3324134" y="4115561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76" name="TextBox 76"/>
          <p:cNvSpPr txBox="1"/>
          <p:nvPr/>
        </p:nvSpPr>
        <p:spPr>
          <a:xfrm>
            <a:off x="3392968" y="4115561"/>
            <a:ext cx="732129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국민은</a:t>
            </a:r>
          </a:p>
        </p:txBody>
      </p:sp>
      <p:sp>
        <p:nvSpPr>
          <p:cNvPr id="77" name="TextBox 77"/>
          <p:cNvSpPr txBox="1"/>
          <p:nvPr/>
        </p:nvSpPr>
        <p:spPr>
          <a:xfrm>
            <a:off x="4110772" y="4115561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78" name="TextBox 78"/>
          <p:cNvSpPr txBox="1"/>
          <p:nvPr/>
        </p:nvSpPr>
        <p:spPr>
          <a:xfrm>
            <a:off x="4179352" y="4115561"/>
            <a:ext cx="976182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건강하고</a:t>
            </a:r>
          </a:p>
        </p:txBody>
      </p:sp>
      <p:sp>
        <p:nvSpPr>
          <p:cNvPr id="79" name="TextBox 79"/>
          <p:cNvSpPr txBox="1"/>
          <p:nvPr/>
        </p:nvSpPr>
        <p:spPr>
          <a:xfrm>
            <a:off x="5136424" y="4115561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80" name="TextBox 80"/>
          <p:cNvSpPr txBox="1"/>
          <p:nvPr/>
        </p:nvSpPr>
        <p:spPr>
          <a:xfrm>
            <a:off x="5203480" y="4115561"/>
            <a:ext cx="732751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쾌적한</a:t>
            </a:r>
          </a:p>
        </p:txBody>
      </p:sp>
      <p:sp>
        <p:nvSpPr>
          <p:cNvPr id="81" name="TextBox 81"/>
          <p:cNvSpPr txBox="1"/>
          <p:nvPr/>
        </p:nvSpPr>
        <p:spPr>
          <a:xfrm>
            <a:off x="5921665" y="4115561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82" name="TextBox 82"/>
          <p:cNvSpPr txBox="1"/>
          <p:nvPr/>
        </p:nvSpPr>
        <p:spPr>
          <a:xfrm>
            <a:off x="5988721" y="4115561"/>
            <a:ext cx="976182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환경에서</a:t>
            </a:r>
          </a:p>
        </p:txBody>
      </p:sp>
      <p:sp>
        <p:nvSpPr>
          <p:cNvPr id="83" name="TextBox 83"/>
          <p:cNvSpPr txBox="1"/>
          <p:nvPr/>
        </p:nvSpPr>
        <p:spPr>
          <a:xfrm>
            <a:off x="6945793" y="4115561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84" name="TextBox 84"/>
          <p:cNvSpPr txBox="1"/>
          <p:nvPr/>
        </p:nvSpPr>
        <p:spPr>
          <a:xfrm>
            <a:off x="7012849" y="4115561"/>
            <a:ext cx="732751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생활할</a:t>
            </a:r>
          </a:p>
        </p:txBody>
      </p:sp>
      <p:sp>
        <p:nvSpPr>
          <p:cNvPr id="85" name="TextBox 85"/>
          <p:cNvSpPr txBox="1"/>
          <p:nvPr/>
        </p:nvSpPr>
        <p:spPr>
          <a:xfrm>
            <a:off x="1065261" y="4496561"/>
            <a:ext cx="732129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권리를</a:t>
            </a:r>
          </a:p>
        </p:txBody>
      </p:sp>
      <p:sp>
        <p:nvSpPr>
          <p:cNvPr id="86" name="TextBox 86"/>
          <p:cNvSpPr txBox="1"/>
          <p:nvPr/>
        </p:nvSpPr>
        <p:spPr>
          <a:xfrm>
            <a:off x="1783370" y="4496561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87" name="TextBox 87"/>
          <p:cNvSpPr txBox="1"/>
          <p:nvPr/>
        </p:nvSpPr>
        <p:spPr>
          <a:xfrm>
            <a:off x="1851950" y="4496561"/>
            <a:ext cx="1214753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가지며, …”</a:t>
            </a:r>
          </a:p>
        </p:txBody>
      </p:sp>
      <p:sp>
        <p:nvSpPr>
          <p:cNvPr id="88" name="TextBox 88"/>
          <p:cNvSpPr txBox="1"/>
          <p:nvPr/>
        </p:nvSpPr>
        <p:spPr>
          <a:xfrm>
            <a:off x="946084" y="4998846"/>
            <a:ext cx="244022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☞</a:t>
            </a:r>
          </a:p>
        </p:txBody>
      </p:sp>
      <p:sp>
        <p:nvSpPr>
          <p:cNvPr id="89" name="TextBox 89"/>
          <p:cNvSpPr txBox="1"/>
          <p:nvPr/>
        </p:nvSpPr>
        <p:spPr>
          <a:xfrm>
            <a:off x="1185352" y="4998846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90" name="TextBox 90"/>
          <p:cNvSpPr txBox="1"/>
          <p:nvPr/>
        </p:nvSpPr>
        <p:spPr>
          <a:xfrm>
            <a:off x="1255456" y="4998846"/>
            <a:ext cx="1220236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70C0"/>
                </a:solidFill>
                <a:latin typeface="나눔고딕"/>
                <a:cs typeface="나눔고딕"/>
              </a:rPr>
              <a:t>인권존중의</a:t>
            </a:r>
          </a:p>
        </p:txBody>
      </p:sp>
      <p:sp>
        <p:nvSpPr>
          <p:cNvPr id="91" name="TextBox 91"/>
          <p:cNvSpPr txBox="1"/>
          <p:nvPr/>
        </p:nvSpPr>
        <p:spPr>
          <a:xfrm>
            <a:off x="2450628" y="4998846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70C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92" name="TextBox 92"/>
          <p:cNvSpPr txBox="1"/>
          <p:nvPr/>
        </p:nvSpPr>
        <p:spPr>
          <a:xfrm>
            <a:off x="2517684" y="4998846"/>
            <a:ext cx="732129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70C0"/>
                </a:solidFill>
                <a:latin typeface="나눔고딕"/>
                <a:cs typeface="나눔고딕"/>
              </a:rPr>
              <a:t>이념은</a:t>
            </a:r>
          </a:p>
        </p:txBody>
      </p:sp>
      <p:sp>
        <p:nvSpPr>
          <p:cNvPr id="93" name="TextBox 93"/>
          <p:cNvSpPr txBox="1"/>
          <p:nvPr/>
        </p:nvSpPr>
        <p:spPr>
          <a:xfrm>
            <a:off x="3235488" y="4998846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70C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94" name="TextBox 94"/>
          <p:cNvSpPr txBox="1"/>
          <p:nvPr/>
        </p:nvSpPr>
        <p:spPr>
          <a:xfrm>
            <a:off x="3304068" y="4998846"/>
            <a:ext cx="828507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70C0"/>
                </a:solidFill>
                <a:latin typeface="나눔고딕"/>
                <a:cs typeface="나눔고딕"/>
              </a:rPr>
              <a:t>‘안전’의</a:t>
            </a:r>
          </a:p>
        </p:txBody>
      </p:sp>
      <p:sp>
        <p:nvSpPr>
          <p:cNvPr id="95" name="TextBox 95"/>
          <p:cNvSpPr txBox="1"/>
          <p:nvPr/>
        </p:nvSpPr>
        <p:spPr>
          <a:xfrm>
            <a:off x="4116360" y="4998846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70C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96" name="TextBox 96"/>
          <p:cNvSpPr txBox="1"/>
          <p:nvPr/>
        </p:nvSpPr>
        <p:spPr>
          <a:xfrm>
            <a:off x="4184940" y="4998846"/>
            <a:ext cx="488387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70C0"/>
                </a:solidFill>
                <a:latin typeface="나눔고딕"/>
                <a:cs typeface="나눔고딕"/>
              </a:rPr>
              <a:t>이념</a:t>
            </a:r>
          </a:p>
        </p:txBody>
      </p:sp>
      <p:sp>
        <p:nvSpPr>
          <p:cNvPr id="97" name="TextBox 97"/>
          <p:cNvSpPr txBox="1"/>
          <p:nvPr/>
        </p:nvSpPr>
        <p:spPr>
          <a:xfrm>
            <a:off x="415138" y="105410"/>
            <a:ext cx="1349289" cy="42672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400" b="1" dirty="0">
                <a:solidFill>
                  <a:srgbClr val="000000"/>
                </a:solidFill>
                <a:latin typeface="나눔고딕"/>
                <a:cs typeface="나눔고딕"/>
              </a:rPr>
              <a:t>Ⅱ. 안전의</a:t>
            </a:r>
          </a:p>
        </p:txBody>
      </p:sp>
      <p:sp>
        <p:nvSpPr>
          <p:cNvPr id="98" name="TextBox 98"/>
          <p:cNvSpPr txBox="1"/>
          <p:nvPr/>
        </p:nvSpPr>
        <p:spPr>
          <a:xfrm>
            <a:off x="1737995" y="105410"/>
            <a:ext cx="182880" cy="42672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400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99" name="TextBox 99"/>
          <p:cNvSpPr txBox="1"/>
          <p:nvPr/>
        </p:nvSpPr>
        <p:spPr>
          <a:xfrm>
            <a:off x="1821815" y="105410"/>
            <a:ext cx="584795" cy="42672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400" b="1" dirty="0">
                <a:solidFill>
                  <a:srgbClr val="000000"/>
                </a:solidFill>
                <a:latin typeface="나눔고딕"/>
                <a:cs typeface="나눔고딕"/>
              </a:rPr>
              <a:t>개요</a:t>
            </a:r>
          </a:p>
        </p:txBody>
      </p:sp>
      <p:sp>
        <p:nvSpPr>
          <p:cNvPr id="4" name="직사각형 3"/>
          <p:cNvSpPr/>
          <p:nvPr/>
        </p:nvSpPr>
        <p:spPr>
          <a:xfrm>
            <a:off x="919886" y="5687460"/>
            <a:ext cx="571531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dirty="0"/>
              <a:t>https://www.youtube.com/watch?v=NkZXcZxlwBE</a:t>
            </a:r>
          </a:p>
        </p:txBody>
      </p:sp>
      <p:sp>
        <p:nvSpPr>
          <p:cNvPr id="5" name="직사각형 4"/>
          <p:cNvSpPr/>
          <p:nvPr/>
        </p:nvSpPr>
        <p:spPr>
          <a:xfrm>
            <a:off x="912439" y="6114106"/>
            <a:ext cx="5786649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dirty="0"/>
              <a:t>https://www.youtube.com/watch?v=FJz2q9jubIo</a:t>
            </a:r>
          </a:p>
        </p:txBody>
      </p:sp>
      <p:sp>
        <p:nvSpPr>
          <p:cNvPr id="100" name="직사각형 99"/>
          <p:cNvSpPr/>
          <p:nvPr/>
        </p:nvSpPr>
        <p:spPr>
          <a:xfrm>
            <a:off x="973517" y="2727740"/>
            <a:ext cx="512202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dirty="0"/>
              <a:t>https://www.youtube.com/watch?v=SuV8S78sAok</a:t>
            </a:r>
          </a:p>
        </p:txBody>
      </p:sp>
      <p:sp>
        <p:nvSpPr>
          <p:cNvPr id="101" name="직사각형 100"/>
          <p:cNvSpPr/>
          <p:nvPr/>
        </p:nvSpPr>
        <p:spPr>
          <a:xfrm>
            <a:off x="963812" y="2981570"/>
            <a:ext cx="545063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dirty="0"/>
              <a:t>https://www.youtube.com/watch?v=L2MnXjUE9AU</a:t>
            </a:r>
          </a:p>
        </p:txBody>
      </p:sp>
      <p:sp>
        <p:nvSpPr>
          <p:cNvPr id="102" name="직사각형 101"/>
          <p:cNvSpPr/>
          <p:nvPr/>
        </p:nvSpPr>
        <p:spPr>
          <a:xfrm>
            <a:off x="963811" y="3704256"/>
            <a:ext cx="650833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dirty="0"/>
              <a:t>https://www.youtube.com/watch?v=d_q3oJffYQ4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5"/>
          <p:cNvSpPr txBox="1"/>
          <p:nvPr/>
        </p:nvSpPr>
        <p:spPr>
          <a:xfrm>
            <a:off x="487070" y="679170"/>
            <a:ext cx="370025" cy="427147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402" b="1" spc="151" dirty="0">
                <a:solidFill>
                  <a:srgbClr val="967754"/>
                </a:solidFill>
                <a:latin typeface="나눔고딕 2"/>
                <a:cs typeface="나눔고딕 2"/>
              </a:rPr>
              <a:t>1. 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848258" y="679170"/>
            <a:ext cx="877018" cy="427147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402" b="1" dirty="0">
                <a:solidFill>
                  <a:srgbClr val="967754"/>
                </a:solidFill>
                <a:latin typeface="나눔고딕"/>
                <a:cs typeface="나눔고딕"/>
              </a:rPr>
              <a:t>안전의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708150" y="679170"/>
            <a:ext cx="183063" cy="427147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402" b="1" dirty="0">
                <a:solidFill>
                  <a:srgbClr val="967754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791970" y="679170"/>
            <a:ext cx="584776" cy="427147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402" b="1" dirty="0">
                <a:solidFill>
                  <a:srgbClr val="967754"/>
                </a:solidFill>
                <a:latin typeface="나눔고딕"/>
                <a:cs typeface="나눔고딕"/>
              </a:rPr>
              <a:t>이념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537010" y="1246137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dirty="0">
                <a:solidFill>
                  <a:srgbClr val="7F7F7F"/>
                </a:solidFill>
                <a:latin typeface="Wingdings"/>
                <a:cs typeface="Wingdings"/>
              </a:rPr>
              <a:t>▪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753418" y="1240793"/>
            <a:ext cx="1705300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안전관리활동의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2425576" y="1240793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2492632" y="1240793"/>
            <a:ext cx="1220236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기본사상은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3826132" y="1240793"/>
            <a:ext cx="780318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‘생명의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4591434" y="1240793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4660014" y="1240793"/>
            <a:ext cx="780186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소중함’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5425062" y="1240793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 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052427" y="1697739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122531" y="1697739"/>
            <a:ext cx="1220236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산업재해로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2317626" y="1697739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2384682" y="1697739"/>
            <a:ext cx="732129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사망한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3102486" y="1697739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3171066" y="1697739"/>
            <a:ext cx="976182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종업원의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4128519" y="1697739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4195575" y="1697739"/>
            <a:ext cx="488076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부인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4674111" y="1697739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(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4767075" y="1697739"/>
            <a:ext cx="488076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어린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5244087" y="1697739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5311143" y="1697739"/>
            <a:ext cx="488076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자녀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5789679" y="1697739"/>
            <a:ext cx="227268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2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6012437" y="1697739"/>
            <a:ext cx="244022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명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6251705" y="1697739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)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6344669" y="1697739"/>
            <a:ext cx="244022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과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6583937" y="1697739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6652517" y="1697739"/>
            <a:ext cx="732130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대기업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1098147" y="2078458"/>
            <a:ext cx="1220526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0000"/>
                </a:solidFill>
                <a:latin typeface="나눔고딕"/>
                <a:cs typeface="나눔고딕"/>
              </a:rPr>
              <a:t>인사부장의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2294766" y="2078458"/>
            <a:ext cx="152888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2361822" y="2078458"/>
            <a:ext cx="488367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0000"/>
                </a:solidFill>
                <a:latin typeface="나눔고딕"/>
                <a:cs typeface="나눔고딕"/>
              </a:rPr>
              <a:t>대화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813159" y="2459993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dirty="0">
                <a:solidFill>
                  <a:srgbClr val="7F7F7F"/>
                </a:solidFill>
                <a:latin typeface="나눔고딕 ExtraBold"/>
                <a:cs typeface="나눔고딕 ExtraBold"/>
              </a:rPr>
              <a:t>-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992991" y="2459993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(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1085955" y="2459993"/>
            <a:ext cx="171769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부인) “회사에는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2770254" y="2459993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2837310" y="2459993"/>
            <a:ext cx="244022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몇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3076578" y="2459993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3148206" y="2459993"/>
            <a:ext cx="488076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명이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3626742" y="2459993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3695322" y="2459993"/>
            <a:ext cx="732129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일하고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4413507" y="2459993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4482087" y="2459993"/>
            <a:ext cx="1206973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있습니까?”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813159" y="2840993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dirty="0">
                <a:solidFill>
                  <a:srgbClr val="7F7F7F"/>
                </a:solidFill>
                <a:latin typeface="나눔고딕 ExtraBold"/>
                <a:cs typeface="나눔고딕 ExtraBold"/>
              </a:rPr>
              <a:t>-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992991" y="2840993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(</a:t>
            </a:r>
          </a:p>
        </p:txBody>
      </p:sp>
      <p:sp>
        <p:nvSpPr>
          <p:cNvPr id="51" name="TextBox 51"/>
          <p:cNvSpPr txBox="1"/>
          <p:nvPr/>
        </p:nvSpPr>
        <p:spPr>
          <a:xfrm>
            <a:off x="1085955" y="2840993"/>
            <a:ext cx="2117456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인사부장) “3만명이</a:t>
            </a:r>
          </a:p>
        </p:txBody>
      </p:sp>
      <p:sp>
        <p:nvSpPr>
          <p:cNvPr id="52" name="TextBox 52"/>
          <p:cNvSpPr txBox="1"/>
          <p:nvPr/>
        </p:nvSpPr>
        <p:spPr>
          <a:xfrm>
            <a:off x="3161922" y="2840993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53" name="TextBox 53"/>
          <p:cNvSpPr txBox="1"/>
          <p:nvPr/>
        </p:nvSpPr>
        <p:spPr>
          <a:xfrm>
            <a:off x="3230502" y="2840993"/>
            <a:ext cx="732129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일하고</a:t>
            </a:r>
          </a:p>
        </p:txBody>
      </p:sp>
      <p:sp>
        <p:nvSpPr>
          <p:cNvPr id="54" name="TextBox 54"/>
          <p:cNvSpPr txBox="1"/>
          <p:nvPr/>
        </p:nvSpPr>
        <p:spPr>
          <a:xfrm>
            <a:off x="3948306" y="2840993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55" name="TextBox 55"/>
          <p:cNvSpPr txBox="1"/>
          <p:nvPr/>
        </p:nvSpPr>
        <p:spPr>
          <a:xfrm>
            <a:off x="4015362" y="2840993"/>
            <a:ext cx="1145186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있습니다.”</a:t>
            </a:r>
          </a:p>
        </p:txBody>
      </p:sp>
      <p:sp>
        <p:nvSpPr>
          <p:cNvPr id="56" name="TextBox 56"/>
          <p:cNvSpPr txBox="1"/>
          <p:nvPr/>
        </p:nvSpPr>
        <p:spPr>
          <a:xfrm>
            <a:off x="813159" y="3221993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dirty="0">
                <a:solidFill>
                  <a:srgbClr val="7F7F7F"/>
                </a:solidFill>
                <a:latin typeface="나눔고딕 ExtraBold"/>
                <a:cs typeface="나눔고딕 ExtraBold"/>
              </a:rPr>
              <a:t>-</a:t>
            </a:r>
          </a:p>
        </p:txBody>
      </p:sp>
      <p:sp>
        <p:nvSpPr>
          <p:cNvPr id="57" name="TextBox 57"/>
          <p:cNvSpPr txBox="1"/>
          <p:nvPr/>
        </p:nvSpPr>
        <p:spPr>
          <a:xfrm>
            <a:off x="992991" y="3221993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(</a:t>
            </a:r>
          </a:p>
        </p:txBody>
      </p:sp>
      <p:sp>
        <p:nvSpPr>
          <p:cNvPr id="58" name="TextBox 58"/>
          <p:cNvSpPr txBox="1"/>
          <p:nvPr/>
        </p:nvSpPr>
        <p:spPr>
          <a:xfrm>
            <a:off x="1085955" y="3221993"/>
            <a:ext cx="1229588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부인) “저의</a:t>
            </a:r>
          </a:p>
        </p:txBody>
      </p:sp>
      <p:sp>
        <p:nvSpPr>
          <p:cNvPr id="59" name="TextBox 59"/>
          <p:cNvSpPr txBox="1"/>
          <p:nvPr/>
        </p:nvSpPr>
        <p:spPr>
          <a:xfrm>
            <a:off x="2291718" y="3221993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60" name="TextBox 60"/>
          <p:cNvSpPr txBox="1"/>
          <p:nvPr/>
        </p:nvSpPr>
        <p:spPr>
          <a:xfrm>
            <a:off x="2361822" y="3221993"/>
            <a:ext cx="732129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남편이</a:t>
            </a:r>
          </a:p>
        </p:txBody>
      </p:sp>
      <p:sp>
        <p:nvSpPr>
          <p:cNvPr id="61" name="TextBox 61"/>
          <p:cNvSpPr txBox="1"/>
          <p:nvPr/>
        </p:nvSpPr>
        <p:spPr>
          <a:xfrm>
            <a:off x="3079626" y="3221993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62" name="TextBox 62"/>
          <p:cNvSpPr txBox="1"/>
          <p:nvPr/>
        </p:nvSpPr>
        <p:spPr>
          <a:xfrm>
            <a:off x="3148206" y="3221993"/>
            <a:ext cx="488076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죽은</a:t>
            </a:r>
          </a:p>
        </p:txBody>
      </p:sp>
      <p:sp>
        <p:nvSpPr>
          <p:cNvPr id="63" name="TextBox 63"/>
          <p:cNvSpPr txBox="1"/>
          <p:nvPr/>
        </p:nvSpPr>
        <p:spPr>
          <a:xfrm>
            <a:off x="3626742" y="3221993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64" name="TextBox 64"/>
          <p:cNvSpPr txBox="1"/>
          <p:nvPr/>
        </p:nvSpPr>
        <p:spPr>
          <a:xfrm>
            <a:off x="3695322" y="3221993"/>
            <a:ext cx="488076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것은</a:t>
            </a:r>
          </a:p>
        </p:txBody>
      </p:sp>
      <p:sp>
        <p:nvSpPr>
          <p:cNvPr id="65" name="TextBox 65"/>
          <p:cNvSpPr txBox="1"/>
          <p:nvPr/>
        </p:nvSpPr>
        <p:spPr>
          <a:xfrm>
            <a:off x="4174239" y="3221993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66" name="TextBox 66"/>
          <p:cNvSpPr txBox="1"/>
          <p:nvPr/>
        </p:nvSpPr>
        <p:spPr>
          <a:xfrm>
            <a:off x="4242819" y="3221993"/>
            <a:ext cx="732129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회사에</a:t>
            </a:r>
          </a:p>
        </p:txBody>
      </p:sp>
      <p:sp>
        <p:nvSpPr>
          <p:cNvPr id="67" name="TextBox 67"/>
          <p:cNvSpPr txBox="1"/>
          <p:nvPr/>
        </p:nvSpPr>
        <p:spPr>
          <a:xfrm>
            <a:off x="4960623" y="3221993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68" name="TextBox 68"/>
          <p:cNvSpPr txBox="1"/>
          <p:nvPr/>
        </p:nvSpPr>
        <p:spPr>
          <a:xfrm>
            <a:off x="5029203" y="3221993"/>
            <a:ext cx="976182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있어서는</a:t>
            </a:r>
          </a:p>
        </p:txBody>
      </p:sp>
      <p:sp>
        <p:nvSpPr>
          <p:cNvPr id="69" name="TextBox 69"/>
          <p:cNvSpPr txBox="1"/>
          <p:nvPr/>
        </p:nvSpPr>
        <p:spPr>
          <a:xfrm>
            <a:off x="5986275" y="3221993"/>
            <a:ext cx="225973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3</a:t>
            </a:r>
          </a:p>
        </p:txBody>
      </p:sp>
      <p:sp>
        <p:nvSpPr>
          <p:cNvPr id="70" name="TextBox 70"/>
          <p:cNvSpPr txBox="1"/>
          <p:nvPr/>
        </p:nvSpPr>
        <p:spPr>
          <a:xfrm>
            <a:off x="6207509" y="3221993"/>
            <a:ext cx="732129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만분의</a:t>
            </a:r>
          </a:p>
        </p:txBody>
      </p:sp>
      <p:sp>
        <p:nvSpPr>
          <p:cNvPr id="71" name="TextBox 71"/>
          <p:cNvSpPr txBox="1"/>
          <p:nvPr/>
        </p:nvSpPr>
        <p:spPr>
          <a:xfrm>
            <a:off x="6925313" y="3221993"/>
            <a:ext cx="225714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1</a:t>
            </a:r>
          </a:p>
        </p:txBody>
      </p:sp>
      <p:sp>
        <p:nvSpPr>
          <p:cNvPr id="72" name="TextBox 72"/>
          <p:cNvSpPr txBox="1"/>
          <p:nvPr/>
        </p:nvSpPr>
        <p:spPr>
          <a:xfrm>
            <a:off x="7146293" y="3221993"/>
            <a:ext cx="244022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을</a:t>
            </a:r>
          </a:p>
        </p:txBody>
      </p:sp>
      <p:sp>
        <p:nvSpPr>
          <p:cNvPr id="73" name="TextBox 73"/>
          <p:cNvSpPr txBox="1"/>
          <p:nvPr/>
        </p:nvSpPr>
        <p:spPr>
          <a:xfrm>
            <a:off x="7385561" y="3221993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74" name="TextBox 74"/>
          <p:cNvSpPr txBox="1"/>
          <p:nvPr/>
        </p:nvSpPr>
        <p:spPr>
          <a:xfrm>
            <a:off x="7457189" y="3221993"/>
            <a:ext cx="488076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잃은</a:t>
            </a:r>
          </a:p>
        </p:txBody>
      </p:sp>
      <p:sp>
        <p:nvSpPr>
          <p:cNvPr id="75" name="TextBox 75"/>
          <p:cNvSpPr txBox="1"/>
          <p:nvPr/>
        </p:nvSpPr>
        <p:spPr>
          <a:xfrm>
            <a:off x="1109958" y="3611700"/>
            <a:ext cx="976182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셈이네요</a:t>
            </a:r>
          </a:p>
        </p:txBody>
      </p:sp>
      <p:sp>
        <p:nvSpPr>
          <p:cNvPr id="76" name="TextBox 76"/>
          <p:cNvSpPr txBox="1"/>
          <p:nvPr/>
        </p:nvSpPr>
        <p:spPr>
          <a:xfrm>
            <a:off x="2067055" y="3611700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. </a:t>
            </a:r>
          </a:p>
        </p:txBody>
      </p:sp>
      <p:sp>
        <p:nvSpPr>
          <p:cNvPr id="77" name="TextBox 77"/>
          <p:cNvSpPr txBox="1"/>
          <p:nvPr/>
        </p:nvSpPr>
        <p:spPr>
          <a:xfrm>
            <a:off x="2208787" y="3611700"/>
            <a:ext cx="732751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그러나</a:t>
            </a:r>
          </a:p>
        </p:txBody>
      </p:sp>
      <p:sp>
        <p:nvSpPr>
          <p:cNvPr id="78" name="TextBox 78"/>
          <p:cNvSpPr txBox="1"/>
          <p:nvPr/>
        </p:nvSpPr>
        <p:spPr>
          <a:xfrm>
            <a:off x="2926845" y="3611700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79" name="TextBox 79"/>
          <p:cNvSpPr txBox="1"/>
          <p:nvPr/>
        </p:nvSpPr>
        <p:spPr>
          <a:xfrm>
            <a:off x="2995425" y="3611700"/>
            <a:ext cx="488076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저는</a:t>
            </a:r>
          </a:p>
        </p:txBody>
      </p:sp>
      <p:sp>
        <p:nvSpPr>
          <p:cNvPr id="80" name="TextBox 80"/>
          <p:cNvSpPr txBox="1"/>
          <p:nvPr/>
        </p:nvSpPr>
        <p:spPr>
          <a:xfrm>
            <a:off x="3473961" y="3611700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81" name="TextBox 81"/>
          <p:cNvSpPr txBox="1"/>
          <p:nvPr/>
        </p:nvSpPr>
        <p:spPr>
          <a:xfrm>
            <a:off x="3544065" y="3611700"/>
            <a:ext cx="732129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인생의</a:t>
            </a:r>
          </a:p>
        </p:txBody>
      </p:sp>
      <p:sp>
        <p:nvSpPr>
          <p:cNvPr id="82" name="TextBox 82"/>
          <p:cNvSpPr txBox="1"/>
          <p:nvPr/>
        </p:nvSpPr>
        <p:spPr>
          <a:xfrm>
            <a:off x="4262250" y="3611700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83" name="TextBox 83"/>
          <p:cNvSpPr txBox="1"/>
          <p:nvPr/>
        </p:nvSpPr>
        <p:spPr>
          <a:xfrm>
            <a:off x="4329306" y="3611700"/>
            <a:ext cx="488076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모든</a:t>
            </a:r>
          </a:p>
        </p:txBody>
      </p:sp>
      <p:sp>
        <p:nvSpPr>
          <p:cNvPr id="84" name="TextBox 84"/>
          <p:cNvSpPr txBox="1"/>
          <p:nvPr/>
        </p:nvSpPr>
        <p:spPr>
          <a:xfrm>
            <a:off x="4807842" y="3611700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85" name="TextBox 85"/>
          <p:cNvSpPr txBox="1"/>
          <p:nvPr/>
        </p:nvSpPr>
        <p:spPr>
          <a:xfrm>
            <a:off x="4877946" y="3611700"/>
            <a:ext cx="488076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것을</a:t>
            </a:r>
          </a:p>
        </p:txBody>
      </p:sp>
      <p:sp>
        <p:nvSpPr>
          <p:cNvPr id="86" name="TextBox 86"/>
          <p:cNvSpPr txBox="1"/>
          <p:nvPr/>
        </p:nvSpPr>
        <p:spPr>
          <a:xfrm>
            <a:off x="5356482" y="3611700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87" name="TextBox 87"/>
          <p:cNvSpPr txBox="1"/>
          <p:nvPr/>
        </p:nvSpPr>
        <p:spPr>
          <a:xfrm>
            <a:off x="5425062" y="3611700"/>
            <a:ext cx="138755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잃었습니다.”</a:t>
            </a:r>
          </a:p>
        </p:txBody>
      </p:sp>
      <p:sp>
        <p:nvSpPr>
          <p:cNvPr id="88" name="TextBox 88"/>
          <p:cNvSpPr txBox="1"/>
          <p:nvPr/>
        </p:nvSpPr>
        <p:spPr>
          <a:xfrm>
            <a:off x="653545" y="4772226"/>
            <a:ext cx="152888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dirty="0">
                <a:solidFill>
                  <a:srgbClr val="7F7F7F"/>
                </a:solidFill>
                <a:latin typeface="Wingdings"/>
                <a:cs typeface="Wingdings"/>
              </a:rPr>
              <a:t>▪</a:t>
            </a:r>
          </a:p>
        </p:txBody>
      </p:sp>
      <p:sp>
        <p:nvSpPr>
          <p:cNvPr id="89" name="TextBox 89"/>
          <p:cNvSpPr txBox="1"/>
          <p:nvPr/>
        </p:nvSpPr>
        <p:spPr>
          <a:xfrm>
            <a:off x="869953" y="4766875"/>
            <a:ext cx="1220526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0000"/>
                </a:solidFill>
                <a:latin typeface="나눔고딕"/>
                <a:cs typeface="나눔고딕"/>
              </a:rPr>
              <a:t>안전활동의</a:t>
            </a:r>
          </a:p>
        </p:txBody>
      </p:sp>
      <p:sp>
        <p:nvSpPr>
          <p:cNvPr id="90" name="TextBox 90"/>
          <p:cNvSpPr txBox="1"/>
          <p:nvPr/>
        </p:nvSpPr>
        <p:spPr>
          <a:xfrm>
            <a:off x="2064718" y="4766875"/>
            <a:ext cx="152888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91" name="TextBox 91"/>
          <p:cNvSpPr txBox="1"/>
          <p:nvPr/>
        </p:nvSpPr>
        <p:spPr>
          <a:xfrm>
            <a:off x="2131774" y="4766875"/>
            <a:ext cx="2479938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0000"/>
                </a:solidFill>
                <a:latin typeface="나눔고딕"/>
                <a:cs typeface="나눔고딕"/>
              </a:rPr>
              <a:t>목표, ‘무재해?’, ‘안전?’</a:t>
            </a:r>
          </a:p>
        </p:txBody>
      </p:sp>
      <p:sp>
        <p:nvSpPr>
          <p:cNvPr id="92" name="TextBox 92"/>
          <p:cNvSpPr txBox="1"/>
          <p:nvPr/>
        </p:nvSpPr>
        <p:spPr>
          <a:xfrm>
            <a:off x="872391" y="5257503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-</a:t>
            </a:r>
          </a:p>
        </p:txBody>
      </p:sp>
      <p:sp>
        <p:nvSpPr>
          <p:cNvPr id="93" name="TextBox 93"/>
          <p:cNvSpPr txBox="1"/>
          <p:nvPr/>
        </p:nvSpPr>
        <p:spPr>
          <a:xfrm>
            <a:off x="1035459" y="5257503"/>
            <a:ext cx="732129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무재해</a:t>
            </a:r>
          </a:p>
        </p:txBody>
      </p:sp>
      <p:sp>
        <p:nvSpPr>
          <p:cNvPr id="94" name="TextBox 94"/>
          <p:cNvSpPr txBox="1"/>
          <p:nvPr/>
        </p:nvSpPr>
        <p:spPr>
          <a:xfrm>
            <a:off x="1753568" y="5257503"/>
            <a:ext cx="221918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spc="85" dirty="0">
                <a:solidFill>
                  <a:srgbClr val="000000"/>
                </a:solidFill>
                <a:latin typeface="나눔고딕 2"/>
                <a:cs typeface="나눔고딕 2"/>
              </a:rPr>
              <a:t> : </a:t>
            </a:r>
          </a:p>
        </p:txBody>
      </p:sp>
      <p:sp>
        <p:nvSpPr>
          <p:cNvPr id="95" name="TextBox 95"/>
          <p:cNvSpPr txBox="1"/>
          <p:nvPr/>
        </p:nvSpPr>
        <p:spPr>
          <a:xfrm>
            <a:off x="1968452" y="5257503"/>
            <a:ext cx="976182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결과로서</a:t>
            </a:r>
          </a:p>
        </p:txBody>
      </p:sp>
      <p:sp>
        <p:nvSpPr>
          <p:cNvPr id="96" name="TextBox 96"/>
          <p:cNvSpPr txBox="1"/>
          <p:nvPr/>
        </p:nvSpPr>
        <p:spPr>
          <a:xfrm>
            <a:off x="2925524" y="5257503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97" name="TextBox 97"/>
          <p:cNvSpPr txBox="1"/>
          <p:nvPr/>
        </p:nvSpPr>
        <p:spPr>
          <a:xfrm>
            <a:off x="2992580" y="5257503"/>
            <a:ext cx="732129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재해가</a:t>
            </a:r>
          </a:p>
        </p:txBody>
      </p:sp>
      <p:sp>
        <p:nvSpPr>
          <p:cNvPr id="98" name="TextBox 98"/>
          <p:cNvSpPr txBox="1"/>
          <p:nvPr/>
        </p:nvSpPr>
        <p:spPr>
          <a:xfrm>
            <a:off x="3710638" y="5257503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99" name="TextBox 99"/>
          <p:cNvSpPr txBox="1"/>
          <p:nvPr/>
        </p:nvSpPr>
        <p:spPr>
          <a:xfrm>
            <a:off x="3779218" y="5257503"/>
            <a:ext cx="488076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제로</a:t>
            </a:r>
          </a:p>
        </p:txBody>
      </p:sp>
      <p:sp>
        <p:nvSpPr>
          <p:cNvPr id="100" name="TextBox 100"/>
          <p:cNvSpPr txBox="1"/>
          <p:nvPr/>
        </p:nvSpPr>
        <p:spPr>
          <a:xfrm>
            <a:off x="4257754" y="5257503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, </a:t>
            </a:r>
          </a:p>
        </p:txBody>
      </p:sp>
      <p:sp>
        <p:nvSpPr>
          <p:cNvPr id="101" name="TextBox 101"/>
          <p:cNvSpPr txBox="1"/>
          <p:nvPr/>
        </p:nvSpPr>
        <p:spPr>
          <a:xfrm>
            <a:off x="4402534" y="5257503"/>
            <a:ext cx="1706857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유해위험요인이</a:t>
            </a:r>
          </a:p>
        </p:txBody>
      </p:sp>
      <p:sp>
        <p:nvSpPr>
          <p:cNvPr id="102" name="TextBox 102"/>
          <p:cNvSpPr txBox="1"/>
          <p:nvPr/>
        </p:nvSpPr>
        <p:spPr>
          <a:xfrm>
            <a:off x="6074743" y="5257503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103" name="TextBox 103"/>
          <p:cNvSpPr txBox="1"/>
          <p:nvPr/>
        </p:nvSpPr>
        <p:spPr>
          <a:xfrm>
            <a:off x="6141799" y="5257503"/>
            <a:ext cx="732129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있어도</a:t>
            </a:r>
          </a:p>
        </p:txBody>
      </p:sp>
      <p:sp>
        <p:nvSpPr>
          <p:cNvPr id="104" name="TextBox 104"/>
          <p:cNvSpPr txBox="1"/>
          <p:nvPr/>
        </p:nvSpPr>
        <p:spPr>
          <a:xfrm>
            <a:off x="6859603" y="5257503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105" name="TextBox 105"/>
          <p:cNvSpPr txBox="1"/>
          <p:nvPr/>
        </p:nvSpPr>
        <p:spPr>
          <a:xfrm>
            <a:off x="6928183" y="5257503"/>
            <a:ext cx="488076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또는</a:t>
            </a:r>
          </a:p>
        </p:txBody>
      </p:sp>
      <p:sp>
        <p:nvSpPr>
          <p:cNvPr id="106" name="TextBox 106"/>
          <p:cNvSpPr txBox="1"/>
          <p:nvPr/>
        </p:nvSpPr>
        <p:spPr>
          <a:xfrm>
            <a:off x="7406973" y="5257503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107" name="TextBox 107"/>
          <p:cNvSpPr txBox="1"/>
          <p:nvPr/>
        </p:nvSpPr>
        <p:spPr>
          <a:xfrm>
            <a:off x="7475553" y="5257503"/>
            <a:ext cx="732130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사고가</a:t>
            </a:r>
          </a:p>
        </p:txBody>
      </p:sp>
      <p:sp>
        <p:nvSpPr>
          <p:cNvPr id="108" name="TextBox 108"/>
          <p:cNvSpPr txBox="1"/>
          <p:nvPr/>
        </p:nvSpPr>
        <p:spPr>
          <a:xfrm>
            <a:off x="1014123" y="5638528"/>
            <a:ext cx="732129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있어도</a:t>
            </a:r>
          </a:p>
        </p:txBody>
      </p:sp>
      <p:sp>
        <p:nvSpPr>
          <p:cNvPr id="109" name="TextBox 109"/>
          <p:cNvSpPr txBox="1"/>
          <p:nvPr/>
        </p:nvSpPr>
        <p:spPr>
          <a:xfrm>
            <a:off x="1732232" y="5638528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110" name="TextBox 110"/>
          <p:cNvSpPr txBox="1"/>
          <p:nvPr/>
        </p:nvSpPr>
        <p:spPr>
          <a:xfrm>
            <a:off x="1800812" y="5638528"/>
            <a:ext cx="976182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사람에게</a:t>
            </a:r>
          </a:p>
        </p:txBody>
      </p:sp>
      <p:sp>
        <p:nvSpPr>
          <p:cNvPr id="111" name="TextBox 111"/>
          <p:cNvSpPr txBox="1"/>
          <p:nvPr/>
        </p:nvSpPr>
        <p:spPr>
          <a:xfrm>
            <a:off x="2757884" y="5638528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112" name="TextBox 112"/>
          <p:cNvSpPr txBox="1"/>
          <p:nvPr/>
        </p:nvSpPr>
        <p:spPr>
          <a:xfrm>
            <a:off x="2824940" y="5638528"/>
            <a:ext cx="732129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피해가</a:t>
            </a:r>
          </a:p>
        </p:txBody>
      </p:sp>
      <p:sp>
        <p:nvSpPr>
          <p:cNvPr id="113" name="TextBox 113"/>
          <p:cNvSpPr txBox="1"/>
          <p:nvPr/>
        </p:nvSpPr>
        <p:spPr>
          <a:xfrm>
            <a:off x="3542998" y="5638528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114" name="TextBox 114"/>
          <p:cNvSpPr txBox="1"/>
          <p:nvPr/>
        </p:nvSpPr>
        <p:spPr>
          <a:xfrm>
            <a:off x="3611578" y="5638528"/>
            <a:ext cx="732129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없으면</a:t>
            </a:r>
          </a:p>
        </p:txBody>
      </p:sp>
      <p:sp>
        <p:nvSpPr>
          <p:cNvPr id="115" name="TextBox 115"/>
          <p:cNvSpPr txBox="1"/>
          <p:nvPr/>
        </p:nvSpPr>
        <p:spPr>
          <a:xfrm>
            <a:off x="4329382" y="5638528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116" name="TextBox 116"/>
          <p:cNvSpPr txBox="1"/>
          <p:nvPr/>
        </p:nvSpPr>
        <p:spPr>
          <a:xfrm>
            <a:off x="4396438" y="5638528"/>
            <a:ext cx="780318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‘재해는</a:t>
            </a:r>
          </a:p>
        </p:txBody>
      </p:sp>
      <p:sp>
        <p:nvSpPr>
          <p:cNvPr id="117" name="TextBox 117"/>
          <p:cNvSpPr txBox="1"/>
          <p:nvPr/>
        </p:nvSpPr>
        <p:spPr>
          <a:xfrm>
            <a:off x="5161486" y="5638528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118" name="TextBox 118"/>
          <p:cNvSpPr txBox="1"/>
          <p:nvPr/>
        </p:nvSpPr>
        <p:spPr>
          <a:xfrm>
            <a:off x="5230066" y="5638528"/>
            <a:ext cx="536521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제로’</a:t>
            </a:r>
          </a:p>
        </p:txBody>
      </p:sp>
      <p:sp>
        <p:nvSpPr>
          <p:cNvPr id="119" name="TextBox 119"/>
          <p:cNvSpPr txBox="1"/>
          <p:nvPr/>
        </p:nvSpPr>
        <p:spPr>
          <a:xfrm>
            <a:off x="872391" y="6019833"/>
            <a:ext cx="244022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☞</a:t>
            </a:r>
          </a:p>
        </p:txBody>
      </p:sp>
      <p:sp>
        <p:nvSpPr>
          <p:cNvPr id="120" name="TextBox 120"/>
          <p:cNvSpPr txBox="1"/>
          <p:nvPr/>
        </p:nvSpPr>
        <p:spPr>
          <a:xfrm>
            <a:off x="1181763" y="6019833"/>
            <a:ext cx="976182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70C0"/>
                </a:solidFill>
                <a:latin typeface="나눔고딕"/>
                <a:cs typeface="나눔고딕"/>
              </a:rPr>
              <a:t>지향해야</a:t>
            </a:r>
          </a:p>
        </p:txBody>
      </p:sp>
      <p:sp>
        <p:nvSpPr>
          <p:cNvPr id="121" name="TextBox 121"/>
          <p:cNvSpPr txBox="1"/>
          <p:nvPr/>
        </p:nvSpPr>
        <p:spPr>
          <a:xfrm>
            <a:off x="2139140" y="6019833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70C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122" name="TextBox 122"/>
          <p:cNvSpPr txBox="1"/>
          <p:nvPr/>
        </p:nvSpPr>
        <p:spPr>
          <a:xfrm>
            <a:off x="2206196" y="6019833"/>
            <a:ext cx="244022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70C0"/>
                </a:solidFill>
                <a:latin typeface="나눔고딕"/>
                <a:cs typeface="나눔고딕"/>
              </a:rPr>
              <a:t>할</a:t>
            </a:r>
          </a:p>
        </p:txBody>
      </p:sp>
      <p:sp>
        <p:nvSpPr>
          <p:cNvPr id="123" name="TextBox 123"/>
          <p:cNvSpPr txBox="1"/>
          <p:nvPr/>
        </p:nvSpPr>
        <p:spPr>
          <a:xfrm>
            <a:off x="2445464" y="6019833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70C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124" name="TextBox 124"/>
          <p:cNvSpPr txBox="1"/>
          <p:nvPr/>
        </p:nvSpPr>
        <p:spPr>
          <a:xfrm>
            <a:off x="2515568" y="6019833"/>
            <a:ext cx="732129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70C0"/>
                </a:solidFill>
                <a:latin typeface="나눔고딕"/>
                <a:cs typeface="나눔고딕"/>
              </a:rPr>
              <a:t>목표는</a:t>
            </a:r>
          </a:p>
        </p:txBody>
      </p:sp>
      <p:sp>
        <p:nvSpPr>
          <p:cNvPr id="125" name="TextBox 125"/>
          <p:cNvSpPr txBox="1"/>
          <p:nvPr/>
        </p:nvSpPr>
        <p:spPr>
          <a:xfrm>
            <a:off x="3233372" y="6019833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70C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126" name="TextBox 126"/>
          <p:cNvSpPr txBox="1"/>
          <p:nvPr/>
        </p:nvSpPr>
        <p:spPr>
          <a:xfrm>
            <a:off x="3300428" y="6019833"/>
            <a:ext cx="1316872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70C0"/>
                </a:solidFill>
                <a:latin typeface="나눔고딕"/>
                <a:cs typeface="나눔고딕"/>
              </a:rPr>
              <a:t>‘무재해’보다</a:t>
            </a:r>
          </a:p>
        </p:txBody>
      </p:sp>
      <p:sp>
        <p:nvSpPr>
          <p:cNvPr id="127" name="TextBox 127"/>
          <p:cNvSpPr txBox="1"/>
          <p:nvPr/>
        </p:nvSpPr>
        <p:spPr>
          <a:xfrm>
            <a:off x="4591510" y="6019833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70C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128" name="TextBox 128"/>
          <p:cNvSpPr txBox="1"/>
          <p:nvPr/>
        </p:nvSpPr>
        <p:spPr>
          <a:xfrm>
            <a:off x="4658566" y="6019833"/>
            <a:ext cx="828507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70C0"/>
                </a:solidFill>
                <a:latin typeface="나눔고딕"/>
                <a:cs typeface="나눔고딕"/>
              </a:rPr>
              <a:t>‘안전’이</a:t>
            </a:r>
          </a:p>
        </p:txBody>
      </p:sp>
      <p:sp>
        <p:nvSpPr>
          <p:cNvPr id="129" name="TextBox 129"/>
          <p:cNvSpPr txBox="1"/>
          <p:nvPr/>
        </p:nvSpPr>
        <p:spPr>
          <a:xfrm>
            <a:off x="5471239" y="6019833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70C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130" name="TextBox 130"/>
          <p:cNvSpPr txBox="1"/>
          <p:nvPr/>
        </p:nvSpPr>
        <p:spPr>
          <a:xfrm>
            <a:off x="5539819" y="6019833"/>
            <a:ext cx="732129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70C0"/>
                </a:solidFill>
                <a:latin typeface="나눔고딕"/>
                <a:cs typeface="나눔고딕"/>
              </a:rPr>
              <a:t>합리적</a:t>
            </a:r>
          </a:p>
        </p:txBody>
      </p:sp>
      <p:sp>
        <p:nvSpPr>
          <p:cNvPr id="131" name="TextBox 131"/>
          <p:cNvSpPr txBox="1"/>
          <p:nvPr/>
        </p:nvSpPr>
        <p:spPr>
          <a:xfrm>
            <a:off x="415138" y="105410"/>
            <a:ext cx="1349289" cy="42672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400" b="1" dirty="0">
                <a:solidFill>
                  <a:srgbClr val="000000"/>
                </a:solidFill>
                <a:latin typeface="나눔고딕"/>
                <a:cs typeface="나눔고딕"/>
              </a:rPr>
              <a:t>Ⅱ. 안전의</a:t>
            </a:r>
          </a:p>
        </p:txBody>
      </p:sp>
      <p:sp>
        <p:nvSpPr>
          <p:cNvPr id="132" name="TextBox 132"/>
          <p:cNvSpPr txBox="1"/>
          <p:nvPr/>
        </p:nvSpPr>
        <p:spPr>
          <a:xfrm>
            <a:off x="1737995" y="105410"/>
            <a:ext cx="182880" cy="42672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400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133" name="TextBox 133"/>
          <p:cNvSpPr txBox="1"/>
          <p:nvPr/>
        </p:nvSpPr>
        <p:spPr>
          <a:xfrm>
            <a:off x="1821815" y="105410"/>
            <a:ext cx="584795" cy="42672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400" b="1" dirty="0">
                <a:solidFill>
                  <a:srgbClr val="000000"/>
                </a:solidFill>
                <a:latin typeface="나눔고딕"/>
                <a:cs typeface="나눔고딕"/>
              </a:rPr>
              <a:t>개요</a:t>
            </a:r>
          </a:p>
        </p:txBody>
      </p:sp>
      <p:sp>
        <p:nvSpPr>
          <p:cNvPr id="3" name="직사각형 2"/>
          <p:cNvSpPr/>
          <p:nvPr/>
        </p:nvSpPr>
        <p:spPr>
          <a:xfrm>
            <a:off x="892899" y="4357911"/>
            <a:ext cx="6891349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dirty="0"/>
              <a:t>https://www.youtube.com/watch?v=nbVbSAK-uok</a:t>
            </a:r>
          </a:p>
        </p:txBody>
      </p:sp>
      <p:sp>
        <p:nvSpPr>
          <p:cNvPr id="4" name="직사각형 3"/>
          <p:cNvSpPr/>
          <p:nvPr/>
        </p:nvSpPr>
        <p:spPr>
          <a:xfrm>
            <a:off x="881760" y="4080912"/>
            <a:ext cx="715468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dirty="0"/>
              <a:t>https://www.youtube.com/watch?v=twsti5eUv_c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3"/>
          <p:cNvSpPr/>
          <p:nvPr/>
        </p:nvSpPr>
        <p:spPr>
          <a:xfrm>
            <a:off x="0" y="6525349"/>
            <a:ext cx="9144000" cy="1"/>
          </a:xfrm>
          <a:custGeom>
            <a:avLst/>
            <a:gdLst/>
            <a:ahLst/>
            <a:cxnLst/>
            <a:rect l="0" t="0" r="9144000" b="1"/>
            <a:pathLst>
              <a:path w="9144000" h="1" fill="none">
                <a:moveTo>
                  <a:pt x="0" y="0"/>
                </a:moveTo>
                <a:lnTo>
                  <a:pt x="9144000" y="0"/>
                </a:lnTo>
              </a:path>
            </a:pathLst>
          </a:custGeom>
          <a:noFill/>
          <a:ln w="19050">
            <a:solidFill>
              <a:srgbClr val="5B9BD5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6" name="Shape 6"/>
          <p:cNvSpPr/>
          <p:nvPr/>
        </p:nvSpPr>
        <p:spPr>
          <a:xfrm>
            <a:off x="21900" y="476640"/>
            <a:ext cx="1331595" cy="97400"/>
          </a:xfrm>
          <a:prstGeom prst="rect">
            <a:avLst/>
          </a:prstGeom>
          <a:solidFill>
            <a:srgbClr val="92D050"/>
          </a:solidFill>
        </p:spPr>
        <p:txBody>
          <a:bodyPr/>
          <a:lstStyle/>
          <a:p>
            <a:endParaRPr/>
          </a:p>
        </p:txBody>
      </p:sp>
      <p:sp>
        <p:nvSpPr>
          <p:cNvPr id="7" name="Shape 7"/>
          <p:cNvSpPr/>
          <p:nvPr/>
        </p:nvSpPr>
        <p:spPr>
          <a:xfrm>
            <a:off x="1353566" y="476640"/>
            <a:ext cx="7776845" cy="97400"/>
          </a:xfrm>
          <a:prstGeom prst="rect">
            <a:avLst/>
          </a:prstGeom>
          <a:solidFill>
            <a:srgbClr val="5B9BD5"/>
          </a:solidFill>
        </p:spPr>
        <p:txBody>
          <a:bodyPr/>
          <a:lstStyle/>
          <a:p>
            <a:endParaRPr/>
          </a:p>
        </p:txBody>
      </p:sp>
      <p:sp>
        <p:nvSpPr>
          <p:cNvPr id="8" name="Shape 8"/>
          <p:cNvSpPr/>
          <p:nvPr/>
        </p:nvSpPr>
        <p:spPr>
          <a:xfrm>
            <a:off x="1353566" y="470281"/>
            <a:ext cx="1" cy="122809"/>
          </a:xfrm>
          <a:custGeom>
            <a:avLst/>
            <a:gdLst/>
            <a:ahLst/>
            <a:cxnLst/>
            <a:rect l="0" t="0" r="1" b="122809"/>
            <a:pathLst>
              <a:path w="1" h="122809" fill="none">
                <a:moveTo>
                  <a:pt x="0" y="0"/>
                </a:moveTo>
                <a:lnTo>
                  <a:pt x="0" y="122809"/>
                </a:lnTo>
              </a:path>
            </a:pathLst>
          </a:custGeom>
          <a:noFill/>
          <a:ln w="12700">
            <a:solidFill>
              <a:srgbClr val="FFFFF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9" name="Shape 9"/>
          <p:cNvSpPr/>
          <p:nvPr/>
        </p:nvSpPr>
        <p:spPr>
          <a:xfrm>
            <a:off x="21900" y="470281"/>
            <a:ext cx="1" cy="122809"/>
          </a:xfrm>
          <a:custGeom>
            <a:avLst/>
            <a:gdLst/>
            <a:ahLst/>
            <a:cxnLst/>
            <a:rect l="0" t="0" r="1" b="122809"/>
            <a:pathLst>
              <a:path w="1" h="122809" fill="none">
                <a:moveTo>
                  <a:pt x="0" y="0"/>
                </a:moveTo>
                <a:lnTo>
                  <a:pt x="0" y="122809"/>
                </a:lnTo>
              </a:path>
            </a:pathLst>
          </a:custGeom>
          <a:noFill/>
          <a:ln w="12700">
            <a:solidFill>
              <a:srgbClr val="FFFFF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0" name="Shape 10"/>
          <p:cNvSpPr/>
          <p:nvPr/>
        </p:nvSpPr>
        <p:spPr>
          <a:xfrm>
            <a:off x="9130411" y="470281"/>
            <a:ext cx="1" cy="122809"/>
          </a:xfrm>
          <a:custGeom>
            <a:avLst/>
            <a:gdLst/>
            <a:ahLst/>
            <a:cxnLst/>
            <a:rect l="0" t="0" r="1" b="122809"/>
            <a:pathLst>
              <a:path w="1" h="122809" fill="none">
                <a:moveTo>
                  <a:pt x="0" y="0"/>
                </a:moveTo>
                <a:lnTo>
                  <a:pt x="0" y="122809"/>
                </a:lnTo>
              </a:path>
            </a:pathLst>
          </a:custGeom>
          <a:noFill/>
          <a:ln w="12700">
            <a:solidFill>
              <a:srgbClr val="FFFFF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1" name="Shape 11"/>
          <p:cNvSpPr/>
          <p:nvPr/>
        </p:nvSpPr>
        <p:spPr>
          <a:xfrm>
            <a:off x="15550" y="476631"/>
            <a:ext cx="9121211" cy="1"/>
          </a:xfrm>
          <a:custGeom>
            <a:avLst/>
            <a:gdLst/>
            <a:ahLst/>
            <a:cxnLst/>
            <a:rect l="0" t="0" r="9121211" b="1"/>
            <a:pathLst>
              <a:path w="9121211" h="1" fill="none">
                <a:moveTo>
                  <a:pt x="0" y="0"/>
                </a:moveTo>
                <a:lnTo>
                  <a:pt x="9121211" y="0"/>
                </a:lnTo>
              </a:path>
            </a:pathLst>
          </a:custGeom>
          <a:noFill/>
          <a:ln w="12700">
            <a:solidFill>
              <a:srgbClr val="FFFFF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2" name="Shape 12"/>
          <p:cNvSpPr/>
          <p:nvPr/>
        </p:nvSpPr>
        <p:spPr>
          <a:xfrm>
            <a:off x="15550" y="574040"/>
            <a:ext cx="9121211" cy="1"/>
          </a:xfrm>
          <a:custGeom>
            <a:avLst/>
            <a:gdLst/>
            <a:ahLst/>
            <a:cxnLst/>
            <a:rect l="0" t="0" r="9121211" b="1"/>
            <a:pathLst>
              <a:path w="9121211" h="1" fill="none">
                <a:moveTo>
                  <a:pt x="0" y="0"/>
                </a:moveTo>
                <a:lnTo>
                  <a:pt x="9121211" y="0"/>
                </a:lnTo>
              </a:path>
            </a:pathLst>
          </a:custGeom>
          <a:noFill/>
          <a:ln w="38100">
            <a:solidFill>
              <a:srgbClr val="FFFFF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3" name="TextBox 13"/>
          <p:cNvSpPr txBox="1"/>
          <p:nvPr/>
        </p:nvSpPr>
        <p:spPr>
          <a:xfrm>
            <a:off x="487070" y="679170"/>
            <a:ext cx="370025" cy="427147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402" b="1" spc="151" dirty="0">
                <a:solidFill>
                  <a:srgbClr val="967754"/>
                </a:solidFill>
                <a:latin typeface="나눔고딕 2"/>
                <a:cs typeface="나눔고딕 2"/>
              </a:rPr>
              <a:t>2. 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848258" y="679170"/>
            <a:ext cx="584776" cy="427147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402" b="1" dirty="0">
                <a:solidFill>
                  <a:srgbClr val="967754"/>
                </a:solidFill>
                <a:latin typeface="나눔고딕"/>
                <a:cs typeface="나눔고딕"/>
              </a:rPr>
              <a:t>재해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421257" y="679170"/>
            <a:ext cx="183063" cy="427147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402" b="1" dirty="0">
                <a:solidFill>
                  <a:srgbClr val="967754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506982" y="679170"/>
            <a:ext cx="292534" cy="427147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402" b="1" dirty="0">
                <a:solidFill>
                  <a:srgbClr val="967754"/>
                </a:solidFill>
                <a:latin typeface="나눔고딕"/>
                <a:cs typeface="나눔고딕"/>
              </a:rPr>
              <a:t>및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793494" y="679170"/>
            <a:ext cx="183063" cy="427147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402" b="1" dirty="0">
                <a:solidFill>
                  <a:srgbClr val="967754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877314" y="679170"/>
            <a:ext cx="877018" cy="427147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402" b="1" dirty="0">
                <a:solidFill>
                  <a:srgbClr val="967754"/>
                </a:solidFill>
                <a:latin typeface="나눔고딕"/>
                <a:cs typeface="나눔고딕"/>
              </a:rPr>
              <a:t>사고의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2736850" y="679170"/>
            <a:ext cx="183063" cy="427147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402" b="1" dirty="0">
                <a:solidFill>
                  <a:srgbClr val="967754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2820670" y="679170"/>
            <a:ext cx="584776" cy="427147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402" b="1" dirty="0">
                <a:solidFill>
                  <a:srgbClr val="967754"/>
                </a:solidFill>
                <a:latin typeface="나눔고딕"/>
                <a:cs typeface="나눔고딕"/>
              </a:rPr>
              <a:t>정의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628193" y="1426515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dirty="0">
                <a:solidFill>
                  <a:srgbClr val="7F7F7F"/>
                </a:solidFill>
                <a:latin typeface="Wingdings"/>
                <a:cs typeface="Wingdings"/>
              </a:rPr>
              <a:t>▪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844601" y="1421171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(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937565" y="1421171"/>
            <a:ext cx="1705041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산업안전보건법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2608199" y="1421171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2675255" y="1421171"/>
            <a:ext cx="244022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제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2914523" y="1421171"/>
            <a:ext cx="157316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2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3068447" y="1421171"/>
            <a:ext cx="244022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조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3307715" y="1421171"/>
            <a:ext cx="167511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) 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3469259" y="1421171"/>
            <a:ext cx="1220236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산업재해의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4664329" y="1421171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4731385" y="1421171"/>
            <a:ext cx="488076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정의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847039" y="1912915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-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1010107" y="1912915"/>
            <a:ext cx="822289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“노무를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1816608" y="1912915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1885188" y="1912915"/>
            <a:ext cx="976182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제공하는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2842260" y="1912915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2909316" y="1912915"/>
            <a:ext cx="488076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자가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3388106" y="1912915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3456686" y="1912915"/>
            <a:ext cx="488076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70C0"/>
                </a:solidFill>
                <a:latin typeface="나눔고딕"/>
                <a:cs typeface="나눔고딕"/>
              </a:rPr>
              <a:t>업무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3935222" y="1912915"/>
            <a:ext cx="244022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에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4174490" y="1912915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4243070" y="1912915"/>
            <a:ext cx="976182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관계되는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5200142" y="1912915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5267198" y="1912915"/>
            <a:ext cx="732751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건설물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5985383" y="1892554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맑은 고딕 2"/>
                <a:cs typeface="맑은 고딕 2"/>
              </a:rPr>
              <a:t>〮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6070727" y="1912915"/>
            <a:ext cx="486516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설비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6546215" y="1892554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맑은 고딕 2"/>
                <a:cs typeface="맑은 고딕 2"/>
              </a:rPr>
              <a:t>〮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6630035" y="1912915"/>
            <a:ext cx="730509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원재료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7345045" y="1892554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맑은 고딕 2"/>
                <a:cs typeface="맑은 고딕 2"/>
              </a:rPr>
              <a:t>〮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7428865" y="1912915"/>
            <a:ext cx="488076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가스</a:t>
            </a:r>
          </a:p>
        </p:txBody>
      </p:sp>
      <p:sp>
        <p:nvSpPr>
          <p:cNvPr id="51" name="TextBox 51"/>
          <p:cNvSpPr txBox="1"/>
          <p:nvPr/>
        </p:nvSpPr>
        <p:spPr>
          <a:xfrm>
            <a:off x="7905877" y="1892554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맑은 고딕 2"/>
                <a:cs typeface="맑은 고딕 2"/>
              </a:rPr>
              <a:t>〮</a:t>
            </a:r>
          </a:p>
        </p:txBody>
      </p:sp>
      <p:sp>
        <p:nvSpPr>
          <p:cNvPr id="52" name="TextBox 52"/>
          <p:cNvSpPr txBox="1"/>
          <p:nvPr/>
        </p:nvSpPr>
        <p:spPr>
          <a:xfrm>
            <a:off x="1060399" y="2294169"/>
            <a:ext cx="488076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증기</a:t>
            </a:r>
          </a:p>
        </p:txBody>
      </p:sp>
      <p:sp>
        <p:nvSpPr>
          <p:cNvPr id="53" name="TextBox 53"/>
          <p:cNvSpPr txBox="1"/>
          <p:nvPr/>
        </p:nvSpPr>
        <p:spPr>
          <a:xfrm>
            <a:off x="1539240" y="2294169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54" name="TextBox 54"/>
          <p:cNvSpPr txBox="1"/>
          <p:nvPr/>
        </p:nvSpPr>
        <p:spPr>
          <a:xfrm>
            <a:off x="1609344" y="2273808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맑은 고딕 2"/>
                <a:cs typeface="맑은 고딕 2"/>
              </a:rPr>
              <a:t>〮</a:t>
            </a:r>
          </a:p>
        </p:txBody>
      </p:sp>
      <p:sp>
        <p:nvSpPr>
          <p:cNvPr id="55" name="TextBox 55"/>
          <p:cNvSpPr txBox="1"/>
          <p:nvPr/>
        </p:nvSpPr>
        <p:spPr>
          <a:xfrm>
            <a:off x="1694688" y="2294169"/>
            <a:ext cx="488076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분진</a:t>
            </a:r>
          </a:p>
        </p:txBody>
      </p:sp>
      <p:sp>
        <p:nvSpPr>
          <p:cNvPr id="56" name="TextBox 56"/>
          <p:cNvSpPr txBox="1"/>
          <p:nvPr/>
        </p:nvSpPr>
        <p:spPr>
          <a:xfrm>
            <a:off x="2173224" y="2294169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57" name="TextBox 57"/>
          <p:cNvSpPr txBox="1"/>
          <p:nvPr/>
        </p:nvSpPr>
        <p:spPr>
          <a:xfrm>
            <a:off x="2240280" y="2294169"/>
            <a:ext cx="488076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등에</a:t>
            </a:r>
          </a:p>
        </p:txBody>
      </p:sp>
      <p:sp>
        <p:nvSpPr>
          <p:cNvPr id="58" name="TextBox 58"/>
          <p:cNvSpPr txBox="1"/>
          <p:nvPr/>
        </p:nvSpPr>
        <p:spPr>
          <a:xfrm>
            <a:off x="2718816" y="2294169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59" name="TextBox 59"/>
          <p:cNvSpPr txBox="1"/>
          <p:nvPr/>
        </p:nvSpPr>
        <p:spPr>
          <a:xfrm>
            <a:off x="2788920" y="2294169"/>
            <a:ext cx="976182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의하거나</a:t>
            </a:r>
          </a:p>
        </p:txBody>
      </p:sp>
      <p:sp>
        <p:nvSpPr>
          <p:cNvPr id="60" name="TextBox 60"/>
          <p:cNvSpPr txBox="1"/>
          <p:nvPr/>
        </p:nvSpPr>
        <p:spPr>
          <a:xfrm>
            <a:off x="3746246" y="2294169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61" name="TextBox 61"/>
          <p:cNvSpPr txBox="1"/>
          <p:nvPr/>
        </p:nvSpPr>
        <p:spPr>
          <a:xfrm>
            <a:off x="3811778" y="2294169"/>
            <a:ext cx="488076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70C0"/>
                </a:solidFill>
                <a:latin typeface="나눔고딕"/>
                <a:cs typeface="나눔고딕"/>
              </a:rPr>
              <a:t>작업</a:t>
            </a:r>
          </a:p>
        </p:txBody>
      </p:sp>
      <p:sp>
        <p:nvSpPr>
          <p:cNvPr id="62" name="TextBox 62"/>
          <p:cNvSpPr txBox="1"/>
          <p:nvPr/>
        </p:nvSpPr>
        <p:spPr>
          <a:xfrm>
            <a:off x="4290314" y="2294169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63" name="TextBox 63"/>
          <p:cNvSpPr txBox="1"/>
          <p:nvPr/>
        </p:nvSpPr>
        <p:spPr>
          <a:xfrm>
            <a:off x="4360418" y="2294169"/>
            <a:ext cx="488076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또는</a:t>
            </a:r>
          </a:p>
        </p:txBody>
      </p:sp>
      <p:sp>
        <p:nvSpPr>
          <p:cNvPr id="64" name="TextBox 64"/>
          <p:cNvSpPr txBox="1"/>
          <p:nvPr/>
        </p:nvSpPr>
        <p:spPr>
          <a:xfrm>
            <a:off x="4838954" y="2294169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65" name="TextBox 65"/>
          <p:cNvSpPr txBox="1"/>
          <p:nvPr/>
        </p:nvSpPr>
        <p:spPr>
          <a:xfrm>
            <a:off x="4907534" y="2294169"/>
            <a:ext cx="244022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그</a:t>
            </a:r>
          </a:p>
        </p:txBody>
      </p:sp>
      <p:sp>
        <p:nvSpPr>
          <p:cNvPr id="66" name="TextBox 66"/>
          <p:cNvSpPr txBox="1"/>
          <p:nvPr/>
        </p:nvSpPr>
        <p:spPr>
          <a:xfrm>
            <a:off x="5146802" y="2294169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67" name="TextBox 67"/>
          <p:cNvSpPr txBox="1"/>
          <p:nvPr/>
        </p:nvSpPr>
        <p:spPr>
          <a:xfrm>
            <a:off x="5216906" y="2294169"/>
            <a:ext cx="488387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밖의</a:t>
            </a:r>
          </a:p>
        </p:txBody>
      </p:sp>
      <p:sp>
        <p:nvSpPr>
          <p:cNvPr id="68" name="TextBox 68"/>
          <p:cNvSpPr txBox="1"/>
          <p:nvPr/>
        </p:nvSpPr>
        <p:spPr>
          <a:xfrm>
            <a:off x="5695823" y="2294169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69" name="TextBox 69"/>
          <p:cNvSpPr txBox="1"/>
          <p:nvPr/>
        </p:nvSpPr>
        <p:spPr>
          <a:xfrm>
            <a:off x="5765927" y="2294169"/>
            <a:ext cx="732129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업무로</a:t>
            </a:r>
          </a:p>
        </p:txBody>
      </p:sp>
      <p:sp>
        <p:nvSpPr>
          <p:cNvPr id="70" name="TextBox 70"/>
          <p:cNvSpPr txBox="1"/>
          <p:nvPr/>
        </p:nvSpPr>
        <p:spPr>
          <a:xfrm>
            <a:off x="6483731" y="2294169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71" name="TextBox 71"/>
          <p:cNvSpPr txBox="1"/>
          <p:nvPr/>
        </p:nvSpPr>
        <p:spPr>
          <a:xfrm>
            <a:off x="6550787" y="2294169"/>
            <a:ext cx="732130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인하여</a:t>
            </a:r>
          </a:p>
        </p:txBody>
      </p:sp>
      <p:sp>
        <p:nvSpPr>
          <p:cNvPr id="72" name="TextBox 72"/>
          <p:cNvSpPr txBox="1"/>
          <p:nvPr/>
        </p:nvSpPr>
        <p:spPr>
          <a:xfrm>
            <a:off x="7268845" y="2294169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73" name="TextBox 73"/>
          <p:cNvSpPr txBox="1"/>
          <p:nvPr/>
        </p:nvSpPr>
        <p:spPr>
          <a:xfrm>
            <a:off x="7337425" y="2294169"/>
            <a:ext cx="488076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사망</a:t>
            </a:r>
          </a:p>
        </p:txBody>
      </p:sp>
      <p:sp>
        <p:nvSpPr>
          <p:cNvPr id="74" name="TextBox 74"/>
          <p:cNvSpPr txBox="1"/>
          <p:nvPr/>
        </p:nvSpPr>
        <p:spPr>
          <a:xfrm>
            <a:off x="1060399" y="2673645"/>
            <a:ext cx="488076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또는</a:t>
            </a:r>
          </a:p>
        </p:txBody>
      </p:sp>
      <p:sp>
        <p:nvSpPr>
          <p:cNvPr id="75" name="TextBox 75"/>
          <p:cNvSpPr txBox="1"/>
          <p:nvPr/>
        </p:nvSpPr>
        <p:spPr>
          <a:xfrm>
            <a:off x="1539240" y="2673645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76" name="TextBox 76"/>
          <p:cNvSpPr txBox="1"/>
          <p:nvPr/>
        </p:nvSpPr>
        <p:spPr>
          <a:xfrm>
            <a:off x="1609344" y="2673645"/>
            <a:ext cx="1220236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부상하거나</a:t>
            </a:r>
          </a:p>
        </p:txBody>
      </p:sp>
      <p:sp>
        <p:nvSpPr>
          <p:cNvPr id="77" name="TextBox 77"/>
          <p:cNvSpPr txBox="1"/>
          <p:nvPr/>
        </p:nvSpPr>
        <p:spPr>
          <a:xfrm>
            <a:off x="2804160" y="2673645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78" name="TextBox 78"/>
          <p:cNvSpPr txBox="1"/>
          <p:nvPr/>
        </p:nvSpPr>
        <p:spPr>
          <a:xfrm>
            <a:off x="2871216" y="2673645"/>
            <a:ext cx="732129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질병에</a:t>
            </a:r>
          </a:p>
        </p:txBody>
      </p:sp>
      <p:sp>
        <p:nvSpPr>
          <p:cNvPr id="79" name="TextBox 79"/>
          <p:cNvSpPr txBox="1"/>
          <p:nvPr/>
        </p:nvSpPr>
        <p:spPr>
          <a:xfrm>
            <a:off x="3589274" y="2673645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80" name="TextBox 80"/>
          <p:cNvSpPr txBox="1"/>
          <p:nvPr/>
        </p:nvSpPr>
        <p:spPr>
          <a:xfrm>
            <a:off x="3656330" y="2673645"/>
            <a:ext cx="732129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걸리는</a:t>
            </a:r>
          </a:p>
        </p:txBody>
      </p:sp>
      <p:sp>
        <p:nvSpPr>
          <p:cNvPr id="81" name="TextBox 81"/>
          <p:cNvSpPr txBox="1"/>
          <p:nvPr/>
        </p:nvSpPr>
        <p:spPr>
          <a:xfrm>
            <a:off x="4374134" y="2673645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82" name="TextBox 82"/>
          <p:cNvSpPr txBox="1"/>
          <p:nvPr/>
        </p:nvSpPr>
        <p:spPr>
          <a:xfrm>
            <a:off x="4442714" y="2673645"/>
            <a:ext cx="488076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것을</a:t>
            </a:r>
          </a:p>
        </p:txBody>
      </p:sp>
      <p:sp>
        <p:nvSpPr>
          <p:cNvPr id="83" name="TextBox 83"/>
          <p:cNvSpPr txBox="1"/>
          <p:nvPr/>
        </p:nvSpPr>
        <p:spPr>
          <a:xfrm>
            <a:off x="4921250" y="2673645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84" name="TextBox 84"/>
          <p:cNvSpPr txBox="1"/>
          <p:nvPr/>
        </p:nvSpPr>
        <p:spPr>
          <a:xfrm>
            <a:off x="4989830" y="2673645"/>
            <a:ext cx="902687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말한다.”</a:t>
            </a:r>
          </a:p>
        </p:txBody>
      </p:sp>
      <p:sp>
        <p:nvSpPr>
          <p:cNvPr id="85" name="TextBox 85"/>
          <p:cNvSpPr txBox="1"/>
          <p:nvPr/>
        </p:nvSpPr>
        <p:spPr>
          <a:xfrm>
            <a:off x="847039" y="3054645"/>
            <a:ext cx="244022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☞</a:t>
            </a:r>
          </a:p>
        </p:txBody>
      </p:sp>
      <p:sp>
        <p:nvSpPr>
          <p:cNvPr id="86" name="TextBox 86"/>
          <p:cNvSpPr txBox="1"/>
          <p:nvPr/>
        </p:nvSpPr>
        <p:spPr>
          <a:xfrm>
            <a:off x="1156411" y="3054645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(</a:t>
            </a:r>
          </a:p>
        </p:txBody>
      </p:sp>
      <p:sp>
        <p:nvSpPr>
          <p:cNvPr id="87" name="TextBox 87"/>
          <p:cNvSpPr txBox="1"/>
          <p:nvPr/>
        </p:nvSpPr>
        <p:spPr>
          <a:xfrm>
            <a:off x="1249375" y="3054645"/>
            <a:ext cx="488076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전단</a:t>
            </a:r>
          </a:p>
        </p:txBody>
      </p:sp>
      <p:sp>
        <p:nvSpPr>
          <p:cNvPr id="88" name="TextBox 88"/>
          <p:cNvSpPr txBox="1"/>
          <p:nvPr/>
        </p:nvSpPr>
        <p:spPr>
          <a:xfrm>
            <a:off x="1728216" y="3054645"/>
            <a:ext cx="405752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spc="151" dirty="0">
                <a:solidFill>
                  <a:srgbClr val="000000"/>
                </a:solidFill>
                <a:latin typeface="나눔고딕 2"/>
                <a:cs typeface="나눔고딕 2"/>
              </a:rPr>
              <a:t>) ~ </a:t>
            </a:r>
          </a:p>
        </p:txBody>
      </p:sp>
      <p:sp>
        <p:nvSpPr>
          <p:cNvPr id="89" name="TextBox 89"/>
          <p:cNvSpPr txBox="1"/>
          <p:nvPr/>
        </p:nvSpPr>
        <p:spPr>
          <a:xfrm>
            <a:off x="2125980" y="3054645"/>
            <a:ext cx="732129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인하여</a:t>
            </a:r>
          </a:p>
        </p:txBody>
      </p:sp>
      <p:sp>
        <p:nvSpPr>
          <p:cNvPr id="90" name="TextBox 90"/>
          <p:cNvSpPr txBox="1"/>
          <p:nvPr/>
        </p:nvSpPr>
        <p:spPr>
          <a:xfrm>
            <a:off x="2843784" y="3054645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91" name="TextBox 91"/>
          <p:cNvSpPr txBox="1"/>
          <p:nvPr/>
        </p:nvSpPr>
        <p:spPr>
          <a:xfrm>
            <a:off x="2912364" y="3054645"/>
            <a:ext cx="488076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일이</a:t>
            </a:r>
          </a:p>
        </p:txBody>
      </p:sp>
      <p:sp>
        <p:nvSpPr>
          <p:cNvPr id="92" name="TextBox 92"/>
          <p:cNvSpPr txBox="1"/>
          <p:nvPr/>
        </p:nvSpPr>
        <p:spPr>
          <a:xfrm>
            <a:off x="3391154" y="3054645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93" name="TextBox 93"/>
          <p:cNvSpPr txBox="1"/>
          <p:nvPr/>
        </p:nvSpPr>
        <p:spPr>
          <a:xfrm>
            <a:off x="3459734" y="3054645"/>
            <a:ext cx="732129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생기는</a:t>
            </a:r>
          </a:p>
        </p:txBody>
      </p:sp>
      <p:sp>
        <p:nvSpPr>
          <p:cNvPr id="94" name="TextBox 94"/>
          <p:cNvSpPr txBox="1"/>
          <p:nvPr/>
        </p:nvSpPr>
        <p:spPr>
          <a:xfrm>
            <a:off x="4177538" y="3054645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95" name="TextBox 95"/>
          <p:cNvSpPr txBox="1"/>
          <p:nvPr/>
        </p:nvSpPr>
        <p:spPr>
          <a:xfrm>
            <a:off x="4246118" y="3054645"/>
            <a:ext cx="488076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것을</a:t>
            </a:r>
          </a:p>
        </p:txBody>
      </p:sp>
      <p:sp>
        <p:nvSpPr>
          <p:cNvPr id="96" name="TextBox 96"/>
          <p:cNvSpPr txBox="1"/>
          <p:nvPr/>
        </p:nvSpPr>
        <p:spPr>
          <a:xfrm>
            <a:off x="4724654" y="3054645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97" name="TextBox 97"/>
          <p:cNvSpPr txBox="1"/>
          <p:nvPr/>
        </p:nvSpPr>
        <p:spPr>
          <a:xfrm>
            <a:off x="4793234" y="3054645"/>
            <a:ext cx="584710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70C0"/>
                </a:solidFill>
                <a:latin typeface="나눔고딕"/>
                <a:cs typeface="나눔고딕"/>
              </a:rPr>
              <a:t>‘사고’</a:t>
            </a:r>
          </a:p>
        </p:txBody>
      </p:sp>
      <p:sp>
        <p:nvSpPr>
          <p:cNvPr id="98" name="TextBox 98"/>
          <p:cNvSpPr txBox="1"/>
          <p:nvPr/>
        </p:nvSpPr>
        <p:spPr>
          <a:xfrm>
            <a:off x="847039" y="3435364"/>
            <a:ext cx="244315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0000"/>
                </a:solidFill>
                <a:latin typeface="나눔고딕"/>
                <a:cs typeface="나눔고딕"/>
              </a:rPr>
              <a:t>☞</a:t>
            </a:r>
          </a:p>
        </p:txBody>
      </p:sp>
      <p:sp>
        <p:nvSpPr>
          <p:cNvPr id="99" name="TextBox 99"/>
          <p:cNvSpPr txBox="1"/>
          <p:nvPr/>
        </p:nvSpPr>
        <p:spPr>
          <a:xfrm>
            <a:off x="1156411" y="3435364"/>
            <a:ext cx="152888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0000"/>
                </a:solidFill>
                <a:latin typeface="나눔고딕 2"/>
                <a:cs typeface="나눔고딕 2"/>
              </a:rPr>
              <a:t>(</a:t>
            </a:r>
          </a:p>
        </p:txBody>
      </p:sp>
      <p:sp>
        <p:nvSpPr>
          <p:cNvPr id="100" name="TextBox 100"/>
          <p:cNvSpPr txBox="1"/>
          <p:nvPr/>
        </p:nvSpPr>
        <p:spPr>
          <a:xfrm>
            <a:off x="1249375" y="3435364"/>
            <a:ext cx="488367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0000"/>
                </a:solidFill>
                <a:latin typeface="나눔고딕"/>
                <a:cs typeface="나눔고딕"/>
              </a:rPr>
              <a:t>후단</a:t>
            </a:r>
          </a:p>
        </p:txBody>
      </p:sp>
      <p:sp>
        <p:nvSpPr>
          <p:cNvPr id="101" name="TextBox 101"/>
          <p:cNvSpPr txBox="1"/>
          <p:nvPr/>
        </p:nvSpPr>
        <p:spPr>
          <a:xfrm>
            <a:off x="1728216" y="3435364"/>
            <a:ext cx="167598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0000"/>
                </a:solidFill>
                <a:latin typeface="나눔고딕 2"/>
                <a:cs typeface="나눔고딕 2"/>
              </a:rPr>
              <a:t>) </a:t>
            </a:r>
          </a:p>
        </p:txBody>
      </p:sp>
      <p:sp>
        <p:nvSpPr>
          <p:cNvPr id="102" name="TextBox 102"/>
          <p:cNvSpPr txBox="1"/>
          <p:nvPr/>
        </p:nvSpPr>
        <p:spPr>
          <a:xfrm>
            <a:off x="1888236" y="3435364"/>
            <a:ext cx="488367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0000"/>
                </a:solidFill>
                <a:latin typeface="나눔고딕"/>
                <a:cs typeface="나눔고딕"/>
              </a:rPr>
              <a:t>사망</a:t>
            </a:r>
          </a:p>
        </p:txBody>
      </p:sp>
      <p:sp>
        <p:nvSpPr>
          <p:cNvPr id="103" name="TextBox 103"/>
          <p:cNvSpPr txBox="1"/>
          <p:nvPr/>
        </p:nvSpPr>
        <p:spPr>
          <a:xfrm>
            <a:off x="2366772" y="3435364"/>
            <a:ext cx="152888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0000"/>
                </a:solidFill>
                <a:latin typeface="나눔고딕 2"/>
                <a:cs typeface="나눔고딕 2"/>
              </a:rPr>
              <a:t>, </a:t>
            </a:r>
          </a:p>
        </p:txBody>
      </p:sp>
      <p:sp>
        <p:nvSpPr>
          <p:cNvPr id="104" name="TextBox 104"/>
          <p:cNvSpPr txBox="1"/>
          <p:nvPr/>
        </p:nvSpPr>
        <p:spPr>
          <a:xfrm>
            <a:off x="2511552" y="3435364"/>
            <a:ext cx="488367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0000"/>
                </a:solidFill>
                <a:latin typeface="나눔고딕"/>
                <a:cs typeface="나눔고딕"/>
              </a:rPr>
              <a:t>부상</a:t>
            </a:r>
          </a:p>
        </p:txBody>
      </p:sp>
      <p:sp>
        <p:nvSpPr>
          <p:cNvPr id="105" name="TextBox 105"/>
          <p:cNvSpPr txBox="1"/>
          <p:nvPr/>
        </p:nvSpPr>
        <p:spPr>
          <a:xfrm>
            <a:off x="2990088" y="3435364"/>
            <a:ext cx="152888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0000"/>
                </a:solidFill>
                <a:latin typeface="나눔고딕 2"/>
                <a:cs typeface="나눔고딕 2"/>
              </a:rPr>
              <a:t>, </a:t>
            </a:r>
          </a:p>
        </p:txBody>
      </p:sp>
      <p:sp>
        <p:nvSpPr>
          <p:cNvPr id="106" name="TextBox 106"/>
          <p:cNvSpPr txBox="1"/>
          <p:nvPr/>
        </p:nvSpPr>
        <p:spPr>
          <a:xfrm>
            <a:off x="3136392" y="3435364"/>
            <a:ext cx="732420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0000"/>
                </a:solidFill>
                <a:latin typeface="나눔고딕"/>
                <a:cs typeface="나눔고딕"/>
              </a:rPr>
              <a:t>질병이</a:t>
            </a:r>
          </a:p>
        </p:txBody>
      </p:sp>
      <p:sp>
        <p:nvSpPr>
          <p:cNvPr id="107" name="TextBox 107"/>
          <p:cNvSpPr txBox="1"/>
          <p:nvPr/>
        </p:nvSpPr>
        <p:spPr>
          <a:xfrm>
            <a:off x="3854450" y="3435364"/>
            <a:ext cx="152888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108" name="TextBox 108"/>
          <p:cNvSpPr txBox="1"/>
          <p:nvPr/>
        </p:nvSpPr>
        <p:spPr>
          <a:xfrm>
            <a:off x="3921506" y="3435364"/>
            <a:ext cx="976473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0000"/>
                </a:solidFill>
                <a:latin typeface="나눔고딕"/>
                <a:cs typeface="나눔고딕"/>
              </a:rPr>
              <a:t>발생하면</a:t>
            </a:r>
          </a:p>
        </p:txBody>
      </p:sp>
      <p:sp>
        <p:nvSpPr>
          <p:cNvPr id="109" name="TextBox 109"/>
          <p:cNvSpPr txBox="1"/>
          <p:nvPr/>
        </p:nvSpPr>
        <p:spPr>
          <a:xfrm>
            <a:off x="4878578" y="3435364"/>
            <a:ext cx="152888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110" name="TextBox 110"/>
          <p:cNvSpPr txBox="1"/>
          <p:nvPr/>
        </p:nvSpPr>
        <p:spPr>
          <a:xfrm>
            <a:off x="4945634" y="3435364"/>
            <a:ext cx="584767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70C0"/>
                </a:solidFill>
                <a:latin typeface="나눔고딕"/>
                <a:cs typeface="나눔고딕"/>
              </a:rPr>
              <a:t>‘재해’</a:t>
            </a:r>
          </a:p>
        </p:txBody>
      </p:sp>
      <p:sp>
        <p:nvSpPr>
          <p:cNvPr id="111" name="TextBox 111"/>
          <p:cNvSpPr txBox="1"/>
          <p:nvPr/>
        </p:nvSpPr>
        <p:spPr>
          <a:xfrm>
            <a:off x="415138" y="105410"/>
            <a:ext cx="1349289" cy="42672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400" b="1" dirty="0">
                <a:solidFill>
                  <a:srgbClr val="000000"/>
                </a:solidFill>
                <a:latin typeface="나눔고딕"/>
                <a:cs typeface="나눔고딕"/>
              </a:rPr>
              <a:t>Ⅱ. 안전의</a:t>
            </a:r>
          </a:p>
        </p:txBody>
      </p:sp>
      <p:sp>
        <p:nvSpPr>
          <p:cNvPr id="112" name="TextBox 112"/>
          <p:cNvSpPr txBox="1"/>
          <p:nvPr/>
        </p:nvSpPr>
        <p:spPr>
          <a:xfrm>
            <a:off x="1737995" y="105410"/>
            <a:ext cx="182880" cy="42672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400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113" name="TextBox 113"/>
          <p:cNvSpPr txBox="1"/>
          <p:nvPr/>
        </p:nvSpPr>
        <p:spPr>
          <a:xfrm>
            <a:off x="1821815" y="105410"/>
            <a:ext cx="584795" cy="42672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400" b="1" dirty="0">
                <a:solidFill>
                  <a:srgbClr val="000000"/>
                </a:solidFill>
                <a:latin typeface="나눔고딕"/>
                <a:cs typeface="나눔고딕"/>
              </a:rPr>
              <a:t>개요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3"/>
          <p:cNvSpPr/>
          <p:nvPr/>
        </p:nvSpPr>
        <p:spPr>
          <a:xfrm>
            <a:off x="0" y="6525349"/>
            <a:ext cx="9144000" cy="1"/>
          </a:xfrm>
          <a:custGeom>
            <a:avLst/>
            <a:gdLst/>
            <a:ahLst/>
            <a:cxnLst/>
            <a:rect l="0" t="0" r="9144000" b="1"/>
            <a:pathLst>
              <a:path w="9144000" h="1" fill="none">
                <a:moveTo>
                  <a:pt x="0" y="0"/>
                </a:moveTo>
                <a:lnTo>
                  <a:pt x="9144000" y="0"/>
                </a:lnTo>
              </a:path>
            </a:pathLst>
          </a:custGeom>
          <a:noFill/>
          <a:ln w="19050">
            <a:solidFill>
              <a:srgbClr val="5B9BD5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6" name="Shape 6"/>
          <p:cNvSpPr/>
          <p:nvPr/>
        </p:nvSpPr>
        <p:spPr>
          <a:xfrm>
            <a:off x="21900" y="476640"/>
            <a:ext cx="1331595" cy="97400"/>
          </a:xfrm>
          <a:prstGeom prst="rect">
            <a:avLst/>
          </a:prstGeom>
          <a:solidFill>
            <a:srgbClr val="92D050"/>
          </a:solidFill>
        </p:spPr>
        <p:txBody>
          <a:bodyPr/>
          <a:lstStyle/>
          <a:p>
            <a:endParaRPr/>
          </a:p>
        </p:txBody>
      </p:sp>
      <p:sp>
        <p:nvSpPr>
          <p:cNvPr id="7" name="Shape 7"/>
          <p:cNvSpPr/>
          <p:nvPr/>
        </p:nvSpPr>
        <p:spPr>
          <a:xfrm>
            <a:off x="1353566" y="476640"/>
            <a:ext cx="7776845" cy="97400"/>
          </a:xfrm>
          <a:prstGeom prst="rect">
            <a:avLst/>
          </a:prstGeom>
          <a:solidFill>
            <a:srgbClr val="5B9BD5"/>
          </a:solidFill>
        </p:spPr>
        <p:txBody>
          <a:bodyPr/>
          <a:lstStyle/>
          <a:p>
            <a:endParaRPr/>
          </a:p>
        </p:txBody>
      </p:sp>
      <p:sp>
        <p:nvSpPr>
          <p:cNvPr id="8" name="Shape 8"/>
          <p:cNvSpPr/>
          <p:nvPr/>
        </p:nvSpPr>
        <p:spPr>
          <a:xfrm>
            <a:off x="1353566" y="470281"/>
            <a:ext cx="1" cy="122809"/>
          </a:xfrm>
          <a:custGeom>
            <a:avLst/>
            <a:gdLst/>
            <a:ahLst/>
            <a:cxnLst/>
            <a:rect l="0" t="0" r="1" b="122809"/>
            <a:pathLst>
              <a:path w="1" h="122809" fill="none">
                <a:moveTo>
                  <a:pt x="0" y="0"/>
                </a:moveTo>
                <a:lnTo>
                  <a:pt x="0" y="122809"/>
                </a:lnTo>
              </a:path>
            </a:pathLst>
          </a:custGeom>
          <a:noFill/>
          <a:ln w="12700">
            <a:solidFill>
              <a:srgbClr val="FFFFF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9" name="Shape 9"/>
          <p:cNvSpPr/>
          <p:nvPr/>
        </p:nvSpPr>
        <p:spPr>
          <a:xfrm>
            <a:off x="21900" y="470281"/>
            <a:ext cx="1" cy="122809"/>
          </a:xfrm>
          <a:custGeom>
            <a:avLst/>
            <a:gdLst/>
            <a:ahLst/>
            <a:cxnLst/>
            <a:rect l="0" t="0" r="1" b="122809"/>
            <a:pathLst>
              <a:path w="1" h="122809" fill="none">
                <a:moveTo>
                  <a:pt x="0" y="0"/>
                </a:moveTo>
                <a:lnTo>
                  <a:pt x="0" y="122809"/>
                </a:lnTo>
              </a:path>
            </a:pathLst>
          </a:custGeom>
          <a:noFill/>
          <a:ln w="12700">
            <a:solidFill>
              <a:srgbClr val="FFFFF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0" name="Shape 10"/>
          <p:cNvSpPr/>
          <p:nvPr/>
        </p:nvSpPr>
        <p:spPr>
          <a:xfrm>
            <a:off x="9130411" y="470281"/>
            <a:ext cx="1" cy="122809"/>
          </a:xfrm>
          <a:custGeom>
            <a:avLst/>
            <a:gdLst/>
            <a:ahLst/>
            <a:cxnLst/>
            <a:rect l="0" t="0" r="1" b="122809"/>
            <a:pathLst>
              <a:path w="1" h="122809" fill="none">
                <a:moveTo>
                  <a:pt x="0" y="0"/>
                </a:moveTo>
                <a:lnTo>
                  <a:pt x="0" y="122809"/>
                </a:lnTo>
              </a:path>
            </a:pathLst>
          </a:custGeom>
          <a:noFill/>
          <a:ln w="12700">
            <a:solidFill>
              <a:srgbClr val="FFFFF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1" name="Shape 11"/>
          <p:cNvSpPr/>
          <p:nvPr/>
        </p:nvSpPr>
        <p:spPr>
          <a:xfrm>
            <a:off x="15550" y="476631"/>
            <a:ext cx="9121211" cy="1"/>
          </a:xfrm>
          <a:custGeom>
            <a:avLst/>
            <a:gdLst/>
            <a:ahLst/>
            <a:cxnLst/>
            <a:rect l="0" t="0" r="9121211" b="1"/>
            <a:pathLst>
              <a:path w="9121211" h="1" fill="none">
                <a:moveTo>
                  <a:pt x="0" y="0"/>
                </a:moveTo>
                <a:lnTo>
                  <a:pt x="9121211" y="0"/>
                </a:lnTo>
              </a:path>
            </a:pathLst>
          </a:custGeom>
          <a:noFill/>
          <a:ln w="12700">
            <a:solidFill>
              <a:srgbClr val="FFFFF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2" name="Shape 12"/>
          <p:cNvSpPr/>
          <p:nvPr/>
        </p:nvSpPr>
        <p:spPr>
          <a:xfrm>
            <a:off x="15550" y="574040"/>
            <a:ext cx="9121211" cy="1"/>
          </a:xfrm>
          <a:custGeom>
            <a:avLst/>
            <a:gdLst/>
            <a:ahLst/>
            <a:cxnLst/>
            <a:rect l="0" t="0" r="9121211" b="1"/>
            <a:pathLst>
              <a:path w="9121211" h="1" fill="none">
                <a:moveTo>
                  <a:pt x="0" y="0"/>
                </a:moveTo>
                <a:lnTo>
                  <a:pt x="9121211" y="0"/>
                </a:lnTo>
              </a:path>
            </a:pathLst>
          </a:custGeom>
          <a:noFill/>
          <a:ln w="38100">
            <a:solidFill>
              <a:srgbClr val="FFFFF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3" name="TextBox 13"/>
          <p:cNvSpPr txBox="1"/>
          <p:nvPr/>
        </p:nvSpPr>
        <p:spPr>
          <a:xfrm>
            <a:off x="487070" y="679170"/>
            <a:ext cx="370025" cy="427147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402" b="1" spc="151" dirty="0">
                <a:solidFill>
                  <a:srgbClr val="967754"/>
                </a:solidFill>
                <a:latin typeface="나눔고딕 2"/>
                <a:cs typeface="나눔고딕 2"/>
              </a:rPr>
              <a:t>2. 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848258" y="679170"/>
            <a:ext cx="584776" cy="427147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402" b="1" dirty="0">
                <a:solidFill>
                  <a:srgbClr val="967754"/>
                </a:solidFill>
                <a:latin typeface="나눔고딕"/>
                <a:cs typeface="나눔고딕"/>
              </a:rPr>
              <a:t>재해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421257" y="679170"/>
            <a:ext cx="183063" cy="427147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402" b="1" dirty="0">
                <a:solidFill>
                  <a:srgbClr val="967754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506982" y="679170"/>
            <a:ext cx="292534" cy="427147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402" b="1" dirty="0">
                <a:solidFill>
                  <a:srgbClr val="967754"/>
                </a:solidFill>
                <a:latin typeface="나눔고딕"/>
                <a:cs typeface="나눔고딕"/>
              </a:rPr>
              <a:t>및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793494" y="679170"/>
            <a:ext cx="183063" cy="427147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402" b="1" dirty="0">
                <a:solidFill>
                  <a:srgbClr val="967754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877314" y="679170"/>
            <a:ext cx="877018" cy="427147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402" b="1" dirty="0">
                <a:solidFill>
                  <a:srgbClr val="967754"/>
                </a:solidFill>
                <a:latin typeface="나눔고딕"/>
                <a:cs typeface="나눔고딕"/>
              </a:rPr>
              <a:t>사고의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2736850" y="679170"/>
            <a:ext cx="183063" cy="427147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402" b="1" dirty="0">
                <a:solidFill>
                  <a:srgbClr val="967754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2820670" y="679170"/>
            <a:ext cx="584776" cy="427147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402" b="1" dirty="0">
                <a:solidFill>
                  <a:srgbClr val="967754"/>
                </a:solidFill>
                <a:latin typeface="나눔고딕"/>
                <a:cs typeface="나눔고딕"/>
              </a:rPr>
              <a:t>정의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630326" y="1429563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dirty="0">
                <a:solidFill>
                  <a:srgbClr val="7F7F7F"/>
                </a:solidFill>
                <a:latin typeface="Wingdings"/>
                <a:cs typeface="Wingdings"/>
              </a:rPr>
              <a:t>▪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846734" y="1424219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7F7F7F"/>
                </a:solidFill>
                <a:latin typeface="나눔고딕 2"/>
                <a:cs typeface="나눔고딕 2"/>
              </a:rPr>
              <a:t>[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939698" y="1424219"/>
            <a:ext cx="732129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7F7F7F"/>
                </a:solidFill>
                <a:latin typeface="나눔고딕"/>
                <a:cs typeface="나눔고딕"/>
              </a:rPr>
              <a:t>최근의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657477" y="1424219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7F7F7F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724533" y="1424219"/>
            <a:ext cx="488076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7F7F7F"/>
                </a:solidFill>
                <a:latin typeface="나눔고딕"/>
                <a:cs typeface="나눔고딕"/>
              </a:rPr>
              <a:t>동향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2203450" y="1424219"/>
            <a:ext cx="167511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7F7F7F"/>
                </a:solidFill>
                <a:latin typeface="나눔고딕 2"/>
                <a:cs typeface="나눔고딕 2"/>
              </a:rPr>
              <a:t>] 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2364994" y="1424219"/>
            <a:ext cx="3559126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spc="89" dirty="0">
                <a:solidFill>
                  <a:srgbClr val="000000"/>
                </a:solidFill>
                <a:latin typeface="나눔고딕 2"/>
                <a:cs typeface="나눔고딕 2"/>
              </a:rPr>
              <a:t>Incident, Accident, Near-miss 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6329426" y="1424219"/>
            <a:ext cx="1453489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spc="146" dirty="0">
                <a:solidFill>
                  <a:srgbClr val="000000"/>
                </a:solidFill>
                <a:latin typeface="나눔고딕 2"/>
                <a:cs typeface="나눔고딕 2"/>
              </a:rPr>
              <a:t>(ISO 45001)</a:t>
            </a:r>
          </a:p>
        </p:txBody>
      </p:sp>
      <p:sp>
        <p:nvSpPr>
          <p:cNvPr id="30" name="Shape 30"/>
          <p:cNvSpPr/>
          <p:nvPr/>
        </p:nvSpPr>
        <p:spPr>
          <a:xfrm>
            <a:off x="882167" y="2996057"/>
            <a:ext cx="3086075" cy="1518158"/>
          </a:xfrm>
          <a:custGeom>
            <a:avLst/>
            <a:gdLst/>
            <a:ahLst/>
            <a:cxnLst/>
            <a:rect l="0" t="0" r="3086075" b="1518158"/>
            <a:pathLst>
              <a:path w="3086075" h="1518158" stroke="0">
                <a:moveTo>
                  <a:pt x="0" y="253111"/>
                </a:moveTo>
                <a:cubicBezTo>
                  <a:pt x="0" y="113284"/>
                  <a:pt x="113284" y="0"/>
                  <a:pt x="253022" y="0"/>
                </a:cubicBezTo>
                <a:lnTo>
                  <a:pt x="2833091" y="0"/>
                </a:lnTo>
                <a:cubicBezTo>
                  <a:pt x="2972791" y="0"/>
                  <a:pt x="3086075" y="113284"/>
                  <a:pt x="3086075" y="253111"/>
                </a:cubicBezTo>
                <a:lnTo>
                  <a:pt x="3086075" y="1265174"/>
                </a:lnTo>
                <a:cubicBezTo>
                  <a:pt x="3086075" y="1404874"/>
                  <a:pt x="2972791" y="1518158"/>
                  <a:pt x="2833091" y="1518158"/>
                </a:cubicBezTo>
                <a:lnTo>
                  <a:pt x="253022" y="1518158"/>
                </a:lnTo>
                <a:cubicBezTo>
                  <a:pt x="113284" y="1518158"/>
                  <a:pt x="0" y="1404874"/>
                  <a:pt x="0" y="1265174"/>
                </a:cubicBezTo>
                <a:close/>
              </a:path>
            </a:pathLst>
          </a:custGeom>
          <a:solidFill>
            <a:srgbClr val="E4E4E4"/>
          </a:solidFill>
        </p:spPr>
        <p:txBody>
          <a:bodyPr/>
          <a:lstStyle/>
          <a:p>
            <a:endParaRPr/>
          </a:p>
        </p:txBody>
      </p:sp>
      <p:sp>
        <p:nvSpPr>
          <p:cNvPr id="31" name="TextBox 31"/>
          <p:cNvSpPr txBox="1"/>
          <p:nvPr/>
        </p:nvSpPr>
        <p:spPr>
          <a:xfrm>
            <a:off x="1070458" y="3122590"/>
            <a:ext cx="956879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spc="74" dirty="0">
                <a:solidFill>
                  <a:srgbClr val="0070C0"/>
                </a:solidFill>
                <a:latin typeface="나눔고딕 2"/>
                <a:cs typeface="나눔고딕 2"/>
              </a:rPr>
              <a:t>Incident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1070458" y="3503590"/>
            <a:ext cx="488076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부상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1549019" y="3503590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, 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1693799" y="3503590"/>
            <a:ext cx="488387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질병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2172589" y="3503590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2242693" y="3503590"/>
            <a:ext cx="488076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또는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2721229" y="3503590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2789809" y="3503590"/>
            <a:ext cx="732129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사망이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3507613" y="3503590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1070458" y="3808109"/>
            <a:ext cx="1463028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0000"/>
                </a:solidFill>
                <a:latin typeface="나눔고딕"/>
                <a:cs typeface="나눔고딕"/>
              </a:rPr>
              <a:t>발생하였거나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2503297" y="3808109"/>
            <a:ext cx="152888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0000"/>
                </a:solidFill>
                <a:latin typeface="나눔고딕 2"/>
                <a:cs typeface="나눔고딕 2"/>
              </a:rPr>
              <a:t>, 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2646553" y="3808109"/>
            <a:ext cx="732420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0000"/>
                </a:solidFill>
                <a:latin typeface="나눔고딕"/>
                <a:cs typeface="나눔고딕"/>
              </a:rPr>
              <a:t>발생할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3364357" y="3808109"/>
            <a:ext cx="152888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3432937" y="3808109"/>
            <a:ext cx="244315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0000"/>
                </a:solidFill>
                <a:latin typeface="나눔고딕"/>
                <a:cs typeface="나눔고딕"/>
              </a:rPr>
              <a:t>수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3672586" y="3808109"/>
            <a:ext cx="152888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1070458" y="4113571"/>
            <a:ext cx="732129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있었던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1788541" y="4113571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1857121" y="4113571"/>
            <a:ext cx="488076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작업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2335657" y="4113571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2404237" y="4113571"/>
            <a:ext cx="488076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관련</a:t>
            </a:r>
          </a:p>
        </p:txBody>
      </p:sp>
      <p:sp>
        <p:nvSpPr>
          <p:cNvPr id="51" name="TextBox 51"/>
          <p:cNvSpPr txBox="1"/>
          <p:nvPr/>
        </p:nvSpPr>
        <p:spPr>
          <a:xfrm>
            <a:off x="2882773" y="4113571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52" name="TextBox 52"/>
          <p:cNvSpPr txBox="1"/>
          <p:nvPr/>
        </p:nvSpPr>
        <p:spPr>
          <a:xfrm>
            <a:off x="2951353" y="4113571"/>
            <a:ext cx="488076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사건</a:t>
            </a:r>
          </a:p>
        </p:txBody>
      </p:sp>
      <p:sp>
        <p:nvSpPr>
          <p:cNvPr id="53" name="Shape 53"/>
          <p:cNvSpPr/>
          <p:nvPr/>
        </p:nvSpPr>
        <p:spPr>
          <a:xfrm>
            <a:off x="4920742" y="2363089"/>
            <a:ext cx="3250819" cy="1169289"/>
          </a:xfrm>
          <a:custGeom>
            <a:avLst/>
            <a:gdLst/>
            <a:ahLst/>
            <a:cxnLst/>
            <a:rect l="0" t="0" r="3250819" b="1169289"/>
            <a:pathLst>
              <a:path w="3250819" h="1169289" stroke="0">
                <a:moveTo>
                  <a:pt x="0" y="194818"/>
                </a:moveTo>
                <a:cubicBezTo>
                  <a:pt x="0" y="87249"/>
                  <a:pt x="87249" y="0"/>
                  <a:pt x="194945" y="0"/>
                </a:cubicBezTo>
                <a:lnTo>
                  <a:pt x="3055874" y="0"/>
                </a:lnTo>
                <a:cubicBezTo>
                  <a:pt x="3163570" y="0"/>
                  <a:pt x="3250819" y="87249"/>
                  <a:pt x="3250819" y="194818"/>
                </a:cubicBezTo>
                <a:lnTo>
                  <a:pt x="3250819" y="974471"/>
                </a:lnTo>
                <a:cubicBezTo>
                  <a:pt x="3250819" y="1082040"/>
                  <a:pt x="3163570" y="1169289"/>
                  <a:pt x="3055874" y="1169289"/>
                </a:cubicBezTo>
                <a:lnTo>
                  <a:pt x="194945" y="1169289"/>
                </a:lnTo>
                <a:cubicBezTo>
                  <a:pt x="87249" y="1169289"/>
                  <a:pt x="0" y="1082040"/>
                  <a:pt x="0" y="974471"/>
                </a:cubicBezTo>
                <a:close/>
              </a:path>
            </a:pathLst>
          </a:custGeom>
          <a:solidFill>
            <a:srgbClr val="E4E4E4"/>
          </a:solidFill>
        </p:spPr>
        <p:txBody>
          <a:bodyPr/>
          <a:lstStyle/>
          <a:p>
            <a:endParaRPr/>
          </a:p>
        </p:txBody>
      </p:sp>
      <p:sp>
        <p:nvSpPr>
          <p:cNvPr id="54" name="TextBox 54"/>
          <p:cNvSpPr txBox="1"/>
          <p:nvPr/>
        </p:nvSpPr>
        <p:spPr>
          <a:xfrm>
            <a:off x="5109718" y="2489495"/>
            <a:ext cx="1052151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spc="111" dirty="0">
                <a:solidFill>
                  <a:srgbClr val="0070C0"/>
                </a:solidFill>
                <a:latin typeface="나눔고딕 2"/>
                <a:cs typeface="나눔고딕 2"/>
              </a:rPr>
              <a:t>Accident</a:t>
            </a:r>
          </a:p>
        </p:txBody>
      </p:sp>
      <p:sp>
        <p:nvSpPr>
          <p:cNvPr id="55" name="TextBox 55"/>
          <p:cNvSpPr txBox="1"/>
          <p:nvPr/>
        </p:nvSpPr>
        <p:spPr>
          <a:xfrm>
            <a:off x="5109718" y="2870495"/>
            <a:ext cx="488076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부상</a:t>
            </a:r>
          </a:p>
        </p:txBody>
      </p:sp>
      <p:sp>
        <p:nvSpPr>
          <p:cNvPr id="56" name="TextBox 56"/>
          <p:cNvSpPr txBox="1"/>
          <p:nvPr/>
        </p:nvSpPr>
        <p:spPr>
          <a:xfrm>
            <a:off x="5588508" y="2870495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, </a:t>
            </a:r>
          </a:p>
        </p:txBody>
      </p:sp>
      <p:sp>
        <p:nvSpPr>
          <p:cNvPr id="57" name="TextBox 57"/>
          <p:cNvSpPr txBox="1"/>
          <p:nvPr/>
        </p:nvSpPr>
        <p:spPr>
          <a:xfrm>
            <a:off x="5733288" y="2870495"/>
            <a:ext cx="488076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질병</a:t>
            </a:r>
          </a:p>
        </p:txBody>
      </p:sp>
      <p:sp>
        <p:nvSpPr>
          <p:cNvPr id="58" name="TextBox 58"/>
          <p:cNvSpPr txBox="1"/>
          <p:nvPr/>
        </p:nvSpPr>
        <p:spPr>
          <a:xfrm>
            <a:off x="6211824" y="2870495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59" name="TextBox 59"/>
          <p:cNvSpPr txBox="1"/>
          <p:nvPr/>
        </p:nvSpPr>
        <p:spPr>
          <a:xfrm>
            <a:off x="6281928" y="2870495"/>
            <a:ext cx="488076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또는</a:t>
            </a:r>
          </a:p>
        </p:txBody>
      </p:sp>
      <p:sp>
        <p:nvSpPr>
          <p:cNvPr id="60" name="TextBox 60"/>
          <p:cNvSpPr txBox="1"/>
          <p:nvPr/>
        </p:nvSpPr>
        <p:spPr>
          <a:xfrm>
            <a:off x="6760464" y="2870495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61" name="TextBox 61"/>
          <p:cNvSpPr txBox="1"/>
          <p:nvPr/>
        </p:nvSpPr>
        <p:spPr>
          <a:xfrm>
            <a:off x="6829044" y="2870495"/>
            <a:ext cx="732130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사망이</a:t>
            </a:r>
          </a:p>
        </p:txBody>
      </p:sp>
      <p:sp>
        <p:nvSpPr>
          <p:cNvPr id="62" name="TextBox 62"/>
          <p:cNvSpPr txBox="1"/>
          <p:nvPr/>
        </p:nvSpPr>
        <p:spPr>
          <a:xfrm>
            <a:off x="7547102" y="2870495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63" name="TextBox 63"/>
          <p:cNvSpPr txBox="1"/>
          <p:nvPr/>
        </p:nvSpPr>
        <p:spPr>
          <a:xfrm>
            <a:off x="5109718" y="3175295"/>
            <a:ext cx="732129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실제로</a:t>
            </a:r>
          </a:p>
        </p:txBody>
      </p:sp>
      <p:sp>
        <p:nvSpPr>
          <p:cNvPr id="64" name="TextBox 64"/>
          <p:cNvSpPr txBox="1"/>
          <p:nvPr/>
        </p:nvSpPr>
        <p:spPr>
          <a:xfrm>
            <a:off x="5896356" y="3175295"/>
            <a:ext cx="732129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발생한</a:t>
            </a:r>
          </a:p>
        </p:txBody>
      </p:sp>
      <p:sp>
        <p:nvSpPr>
          <p:cNvPr id="65" name="TextBox 65"/>
          <p:cNvSpPr txBox="1"/>
          <p:nvPr/>
        </p:nvSpPr>
        <p:spPr>
          <a:xfrm>
            <a:off x="6614160" y="3175295"/>
            <a:ext cx="1025276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spc="74" dirty="0">
                <a:solidFill>
                  <a:srgbClr val="000000"/>
                </a:solidFill>
                <a:latin typeface="나눔고딕 2"/>
                <a:cs typeface="나눔고딕 2"/>
              </a:rPr>
              <a:t> Incident</a:t>
            </a:r>
          </a:p>
        </p:txBody>
      </p:sp>
      <p:sp>
        <p:nvSpPr>
          <p:cNvPr id="66" name="Shape 66"/>
          <p:cNvSpPr/>
          <p:nvPr/>
        </p:nvSpPr>
        <p:spPr>
          <a:xfrm>
            <a:off x="4941316" y="4007231"/>
            <a:ext cx="3250692" cy="1210310"/>
          </a:xfrm>
          <a:custGeom>
            <a:avLst/>
            <a:gdLst/>
            <a:ahLst/>
            <a:cxnLst/>
            <a:rect l="0" t="0" r="3250692" b="1210310"/>
            <a:pathLst>
              <a:path w="3250692" h="1210310" stroke="0">
                <a:moveTo>
                  <a:pt x="0" y="201676"/>
                </a:moveTo>
                <a:cubicBezTo>
                  <a:pt x="0" y="90297"/>
                  <a:pt x="90297" y="0"/>
                  <a:pt x="201676" y="0"/>
                </a:cubicBezTo>
                <a:lnTo>
                  <a:pt x="3049016" y="0"/>
                </a:lnTo>
                <a:cubicBezTo>
                  <a:pt x="3160395" y="0"/>
                  <a:pt x="3250692" y="90297"/>
                  <a:pt x="3250692" y="201676"/>
                </a:cubicBezTo>
                <a:lnTo>
                  <a:pt x="3250692" y="1008634"/>
                </a:lnTo>
                <a:cubicBezTo>
                  <a:pt x="3250692" y="1120013"/>
                  <a:pt x="3160395" y="1210310"/>
                  <a:pt x="3049016" y="1210310"/>
                </a:cubicBezTo>
                <a:lnTo>
                  <a:pt x="201676" y="1210310"/>
                </a:lnTo>
                <a:cubicBezTo>
                  <a:pt x="90297" y="1210310"/>
                  <a:pt x="0" y="1120013"/>
                  <a:pt x="0" y="1008634"/>
                </a:cubicBezTo>
                <a:close/>
              </a:path>
            </a:pathLst>
          </a:custGeom>
          <a:solidFill>
            <a:srgbClr val="E4E4E4"/>
          </a:solidFill>
        </p:spPr>
        <p:txBody>
          <a:bodyPr/>
          <a:lstStyle/>
          <a:p>
            <a:endParaRPr/>
          </a:p>
        </p:txBody>
      </p:sp>
      <p:sp>
        <p:nvSpPr>
          <p:cNvPr id="67" name="TextBox 67"/>
          <p:cNvSpPr txBox="1"/>
          <p:nvPr/>
        </p:nvSpPr>
        <p:spPr>
          <a:xfrm>
            <a:off x="5130419" y="4133891"/>
            <a:ext cx="1179331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spc="82" dirty="0">
                <a:solidFill>
                  <a:srgbClr val="0070C0"/>
                </a:solidFill>
                <a:latin typeface="나눔고딕 2"/>
                <a:cs typeface="나눔고딕 2"/>
              </a:rPr>
              <a:t>Near-miss</a:t>
            </a:r>
          </a:p>
        </p:txBody>
      </p:sp>
      <p:sp>
        <p:nvSpPr>
          <p:cNvPr id="68" name="TextBox 68"/>
          <p:cNvSpPr txBox="1"/>
          <p:nvPr/>
        </p:nvSpPr>
        <p:spPr>
          <a:xfrm>
            <a:off x="6477955" y="4141489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70C0"/>
                </a:solidFill>
                <a:latin typeface="나눔고딕 2"/>
                <a:cs typeface="나눔고딕 2"/>
              </a:rPr>
              <a:t>(</a:t>
            </a:r>
          </a:p>
        </p:txBody>
      </p:sp>
      <p:sp>
        <p:nvSpPr>
          <p:cNvPr id="69" name="TextBox 69"/>
          <p:cNvSpPr txBox="1"/>
          <p:nvPr/>
        </p:nvSpPr>
        <p:spPr>
          <a:xfrm>
            <a:off x="6570919" y="4141489"/>
            <a:ext cx="976183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70C0"/>
                </a:solidFill>
                <a:latin typeface="나눔고딕"/>
                <a:cs typeface="나눔고딕"/>
              </a:rPr>
              <a:t>아차사고</a:t>
            </a:r>
          </a:p>
        </p:txBody>
      </p:sp>
      <p:sp>
        <p:nvSpPr>
          <p:cNvPr id="70" name="TextBox 70"/>
          <p:cNvSpPr txBox="1"/>
          <p:nvPr/>
        </p:nvSpPr>
        <p:spPr>
          <a:xfrm>
            <a:off x="7528245" y="4141489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70C0"/>
                </a:solidFill>
                <a:latin typeface="나눔고딕 2"/>
                <a:cs typeface="나눔고딕 2"/>
              </a:rPr>
              <a:t>)</a:t>
            </a:r>
          </a:p>
        </p:txBody>
      </p:sp>
      <p:sp>
        <p:nvSpPr>
          <p:cNvPr id="71" name="TextBox 71"/>
          <p:cNvSpPr txBox="1"/>
          <p:nvPr/>
        </p:nvSpPr>
        <p:spPr>
          <a:xfrm>
            <a:off x="5130419" y="4514891"/>
            <a:ext cx="488076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부상</a:t>
            </a:r>
          </a:p>
        </p:txBody>
      </p:sp>
      <p:sp>
        <p:nvSpPr>
          <p:cNvPr id="72" name="TextBox 72"/>
          <p:cNvSpPr txBox="1"/>
          <p:nvPr/>
        </p:nvSpPr>
        <p:spPr>
          <a:xfrm>
            <a:off x="5608955" y="4514891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, </a:t>
            </a:r>
          </a:p>
        </p:txBody>
      </p:sp>
      <p:sp>
        <p:nvSpPr>
          <p:cNvPr id="73" name="TextBox 73"/>
          <p:cNvSpPr txBox="1"/>
          <p:nvPr/>
        </p:nvSpPr>
        <p:spPr>
          <a:xfrm>
            <a:off x="5753735" y="4514891"/>
            <a:ext cx="488076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질병</a:t>
            </a:r>
          </a:p>
        </p:txBody>
      </p:sp>
      <p:sp>
        <p:nvSpPr>
          <p:cNvPr id="74" name="TextBox 74"/>
          <p:cNvSpPr txBox="1"/>
          <p:nvPr/>
        </p:nvSpPr>
        <p:spPr>
          <a:xfrm>
            <a:off x="6232271" y="4514891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75" name="TextBox 75"/>
          <p:cNvSpPr txBox="1"/>
          <p:nvPr/>
        </p:nvSpPr>
        <p:spPr>
          <a:xfrm>
            <a:off x="6302375" y="4514891"/>
            <a:ext cx="488076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또는</a:t>
            </a:r>
          </a:p>
        </p:txBody>
      </p:sp>
      <p:sp>
        <p:nvSpPr>
          <p:cNvPr id="76" name="TextBox 76"/>
          <p:cNvSpPr txBox="1"/>
          <p:nvPr/>
        </p:nvSpPr>
        <p:spPr>
          <a:xfrm>
            <a:off x="6780911" y="4514891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77" name="TextBox 77"/>
          <p:cNvSpPr txBox="1"/>
          <p:nvPr/>
        </p:nvSpPr>
        <p:spPr>
          <a:xfrm>
            <a:off x="6849745" y="4514891"/>
            <a:ext cx="732130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사망이</a:t>
            </a:r>
          </a:p>
        </p:txBody>
      </p:sp>
      <p:sp>
        <p:nvSpPr>
          <p:cNvPr id="78" name="TextBox 78"/>
          <p:cNvSpPr txBox="1"/>
          <p:nvPr/>
        </p:nvSpPr>
        <p:spPr>
          <a:xfrm>
            <a:off x="7567549" y="4514891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79" name="TextBox 79"/>
          <p:cNvSpPr txBox="1"/>
          <p:nvPr/>
        </p:nvSpPr>
        <p:spPr>
          <a:xfrm>
            <a:off x="5130419" y="4820072"/>
            <a:ext cx="976182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발생하지</a:t>
            </a:r>
          </a:p>
        </p:txBody>
      </p:sp>
      <p:sp>
        <p:nvSpPr>
          <p:cNvPr id="80" name="TextBox 80"/>
          <p:cNvSpPr txBox="1"/>
          <p:nvPr/>
        </p:nvSpPr>
        <p:spPr>
          <a:xfrm>
            <a:off x="6087491" y="4820072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81" name="TextBox 81"/>
          <p:cNvSpPr txBox="1"/>
          <p:nvPr/>
        </p:nvSpPr>
        <p:spPr>
          <a:xfrm>
            <a:off x="6154547" y="4820072"/>
            <a:ext cx="488076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않은</a:t>
            </a:r>
          </a:p>
        </p:txBody>
      </p:sp>
      <p:sp>
        <p:nvSpPr>
          <p:cNvPr id="82" name="TextBox 82"/>
          <p:cNvSpPr txBox="1"/>
          <p:nvPr/>
        </p:nvSpPr>
        <p:spPr>
          <a:xfrm>
            <a:off x="6633083" y="4820072"/>
            <a:ext cx="1026830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spc="75" dirty="0">
                <a:solidFill>
                  <a:srgbClr val="000000"/>
                </a:solidFill>
                <a:latin typeface="나눔고딕 2"/>
                <a:cs typeface="나눔고딕 2"/>
              </a:rPr>
              <a:t> Incident</a:t>
            </a:r>
          </a:p>
        </p:txBody>
      </p:sp>
      <p:sp>
        <p:nvSpPr>
          <p:cNvPr id="83" name="Shape 83"/>
          <p:cNvSpPr/>
          <p:nvPr/>
        </p:nvSpPr>
        <p:spPr>
          <a:xfrm>
            <a:off x="3968242" y="2909570"/>
            <a:ext cx="952500" cy="855091"/>
          </a:xfrm>
          <a:custGeom>
            <a:avLst/>
            <a:gdLst/>
            <a:ahLst/>
            <a:cxnLst/>
            <a:rect l="0" t="0" r="952500" b="855091"/>
            <a:pathLst>
              <a:path w="952500" h="855091" stroke="0">
                <a:moveTo>
                  <a:pt x="0" y="855091"/>
                </a:moveTo>
                <a:lnTo>
                  <a:pt x="485775" y="855091"/>
                </a:lnTo>
                <a:lnTo>
                  <a:pt x="485775" y="38100"/>
                </a:lnTo>
                <a:lnTo>
                  <a:pt x="476250" y="47625"/>
                </a:lnTo>
                <a:lnTo>
                  <a:pt x="889000" y="47625"/>
                </a:lnTo>
                <a:lnTo>
                  <a:pt x="889000" y="28575"/>
                </a:lnTo>
                <a:lnTo>
                  <a:pt x="466725" y="28575"/>
                </a:lnTo>
                <a:lnTo>
                  <a:pt x="466725" y="845566"/>
                </a:lnTo>
                <a:lnTo>
                  <a:pt x="476250" y="836041"/>
                </a:lnTo>
                <a:lnTo>
                  <a:pt x="0" y="836041"/>
                </a:lnTo>
                <a:close/>
                <a:moveTo>
                  <a:pt x="876300" y="76200"/>
                </a:moveTo>
                <a:lnTo>
                  <a:pt x="952500" y="38100"/>
                </a:lnTo>
                <a:lnTo>
                  <a:pt x="8763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endParaRPr/>
          </a:p>
        </p:txBody>
      </p:sp>
      <p:sp>
        <p:nvSpPr>
          <p:cNvPr id="84" name="Shape 84"/>
          <p:cNvSpPr/>
          <p:nvPr/>
        </p:nvSpPr>
        <p:spPr>
          <a:xfrm>
            <a:off x="3958717" y="3745611"/>
            <a:ext cx="973074" cy="904875"/>
          </a:xfrm>
          <a:custGeom>
            <a:avLst/>
            <a:gdLst/>
            <a:ahLst/>
            <a:cxnLst/>
            <a:rect l="0" t="0" r="973074" b="904875"/>
            <a:pathLst>
              <a:path w="973074" h="904875" stroke="0">
                <a:moveTo>
                  <a:pt x="0" y="0"/>
                </a:moveTo>
                <a:lnTo>
                  <a:pt x="496062" y="0"/>
                </a:lnTo>
                <a:lnTo>
                  <a:pt x="496062" y="866775"/>
                </a:lnTo>
                <a:lnTo>
                  <a:pt x="486537" y="857250"/>
                </a:lnTo>
                <a:lnTo>
                  <a:pt x="909574" y="857250"/>
                </a:lnTo>
                <a:lnTo>
                  <a:pt x="909574" y="876300"/>
                </a:lnTo>
                <a:lnTo>
                  <a:pt x="477012" y="876300"/>
                </a:lnTo>
                <a:lnTo>
                  <a:pt x="477012" y="9525"/>
                </a:lnTo>
                <a:lnTo>
                  <a:pt x="486537" y="19050"/>
                </a:lnTo>
                <a:lnTo>
                  <a:pt x="0" y="19050"/>
                </a:lnTo>
                <a:close/>
                <a:moveTo>
                  <a:pt x="896874" y="828675"/>
                </a:moveTo>
                <a:lnTo>
                  <a:pt x="973074" y="866775"/>
                </a:lnTo>
                <a:lnTo>
                  <a:pt x="896874" y="904875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endParaRPr/>
          </a:p>
        </p:txBody>
      </p:sp>
      <p:sp>
        <p:nvSpPr>
          <p:cNvPr id="85" name="TextBox 85"/>
          <p:cNvSpPr txBox="1"/>
          <p:nvPr/>
        </p:nvSpPr>
        <p:spPr>
          <a:xfrm>
            <a:off x="415138" y="105410"/>
            <a:ext cx="1349289" cy="42672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400" b="1" dirty="0">
                <a:solidFill>
                  <a:srgbClr val="000000"/>
                </a:solidFill>
                <a:latin typeface="나눔고딕"/>
                <a:cs typeface="나눔고딕"/>
              </a:rPr>
              <a:t>Ⅱ. 안전의</a:t>
            </a:r>
          </a:p>
        </p:txBody>
      </p:sp>
      <p:sp>
        <p:nvSpPr>
          <p:cNvPr id="86" name="TextBox 86"/>
          <p:cNvSpPr txBox="1"/>
          <p:nvPr/>
        </p:nvSpPr>
        <p:spPr>
          <a:xfrm>
            <a:off x="1737995" y="105410"/>
            <a:ext cx="182880" cy="42672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400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87" name="TextBox 87"/>
          <p:cNvSpPr txBox="1"/>
          <p:nvPr/>
        </p:nvSpPr>
        <p:spPr>
          <a:xfrm>
            <a:off x="1821815" y="105410"/>
            <a:ext cx="584795" cy="42672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400" b="1" dirty="0">
                <a:solidFill>
                  <a:srgbClr val="000000"/>
                </a:solidFill>
                <a:latin typeface="나눔고딕"/>
                <a:cs typeface="나눔고딕"/>
              </a:rPr>
              <a:t>개요</a:t>
            </a:r>
          </a:p>
        </p:txBody>
      </p:sp>
      <p:sp>
        <p:nvSpPr>
          <p:cNvPr id="4" name="직사각형 3"/>
          <p:cNvSpPr/>
          <p:nvPr/>
        </p:nvSpPr>
        <p:spPr>
          <a:xfrm>
            <a:off x="1653248" y="5561635"/>
            <a:ext cx="606700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dirty="0"/>
              <a:t>https://www.youtube.com/watch?v=AEmvaCOJ9bg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3"/>
          <p:cNvSpPr/>
          <p:nvPr/>
        </p:nvSpPr>
        <p:spPr>
          <a:xfrm>
            <a:off x="0" y="6525349"/>
            <a:ext cx="9144000" cy="1"/>
          </a:xfrm>
          <a:custGeom>
            <a:avLst/>
            <a:gdLst/>
            <a:ahLst/>
            <a:cxnLst/>
            <a:rect l="0" t="0" r="9144000" b="1"/>
            <a:pathLst>
              <a:path w="9144000" h="1" fill="none">
                <a:moveTo>
                  <a:pt x="0" y="0"/>
                </a:moveTo>
                <a:lnTo>
                  <a:pt x="9144000" y="0"/>
                </a:lnTo>
              </a:path>
            </a:pathLst>
          </a:custGeom>
          <a:noFill/>
          <a:ln w="19050">
            <a:solidFill>
              <a:srgbClr val="5B9BD5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6" name="Shape 6"/>
          <p:cNvSpPr/>
          <p:nvPr/>
        </p:nvSpPr>
        <p:spPr>
          <a:xfrm>
            <a:off x="21900" y="476640"/>
            <a:ext cx="1331595" cy="97400"/>
          </a:xfrm>
          <a:prstGeom prst="rect">
            <a:avLst/>
          </a:prstGeom>
          <a:solidFill>
            <a:srgbClr val="92D050"/>
          </a:solidFill>
        </p:spPr>
        <p:txBody>
          <a:bodyPr/>
          <a:lstStyle/>
          <a:p>
            <a:endParaRPr/>
          </a:p>
        </p:txBody>
      </p:sp>
      <p:sp>
        <p:nvSpPr>
          <p:cNvPr id="7" name="Shape 7"/>
          <p:cNvSpPr/>
          <p:nvPr/>
        </p:nvSpPr>
        <p:spPr>
          <a:xfrm>
            <a:off x="1353566" y="476640"/>
            <a:ext cx="7776845" cy="97400"/>
          </a:xfrm>
          <a:prstGeom prst="rect">
            <a:avLst/>
          </a:prstGeom>
          <a:solidFill>
            <a:srgbClr val="5B9BD5"/>
          </a:solidFill>
        </p:spPr>
        <p:txBody>
          <a:bodyPr/>
          <a:lstStyle/>
          <a:p>
            <a:endParaRPr/>
          </a:p>
        </p:txBody>
      </p:sp>
      <p:sp>
        <p:nvSpPr>
          <p:cNvPr id="8" name="Shape 8"/>
          <p:cNvSpPr/>
          <p:nvPr/>
        </p:nvSpPr>
        <p:spPr>
          <a:xfrm>
            <a:off x="1353566" y="470281"/>
            <a:ext cx="1" cy="122809"/>
          </a:xfrm>
          <a:custGeom>
            <a:avLst/>
            <a:gdLst/>
            <a:ahLst/>
            <a:cxnLst/>
            <a:rect l="0" t="0" r="1" b="122809"/>
            <a:pathLst>
              <a:path w="1" h="122809" fill="none">
                <a:moveTo>
                  <a:pt x="0" y="0"/>
                </a:moveTo>
                <a:lnTo>
                  <a:pt x="0" y="122809"/>
                </a:lnTo>
              </a:path>
            </a:pathLst>
          </a:custGeom>
          <a:noFill/>
          <a:ln w="12700">
            <a:solidFill>
              <a:srgbClr val="FFFFF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9" name="Shape 9"/>
          <p:cNvSpPr/>
          <p:nvPr/>
        </p:nvSpPr>
        <p:spPr>
          <a:xfrm>
            <a:off x="21900" y="470281"/>
            <a:ext cx="1" cy="122809"/>
          </a:xfrm>
          <a:custGeom>
            <a:avLst/>
            <a:gdLst/>
            <a:ahLst/>
            <a:cxnLst/>
            <a:rect l="0" t="0" r="1" b="122809"/>
            <a:pathLst>
              <a:path w="1" h="122809" fill="none">
                <a:moveTo>
                  <a:pt x="0" y="0"/>
                </a:moveTo>
                <a:lnTo>
                  <a:pt x="0" y="122809"/>
                </a:lnTo>
              </a:path>
            </a:pathLst>
          </a:custGeom>
          <a:noFill/>
          <a:ln w="12700">
            <a:solidFill>
              <a:srgbClr val="FFFFF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0" name="Shape 10"/>
          <p:cNvSpPr/>
          <p:nvPr/>
        </p:nvSpPr>
        <p:spPr>
          <a:xfrm>
            <a:off x="9130411" y="470281"/>
            <a:ext cx="1" cy="122809"/>
          </a:xfrm>
          <a:custGeom>
            <a:avLst/>
            <a:gdLst/>
            <a:ahLst/>
            <a:cxnLst/>
            <a:rect l="0" t="0" r="1" b="122809"/>
            <a:pathLst>
              <a:path w="1" h="122809" fill="none">
                <a:moveTo>
                  <a:pt x="0" y="0"/>
                </a:moveTo>
                <a:lnTo>
                  <a:pt x="0" y="122809"/>
                </a:lnTo>
              </a:path>
            </a:pathLst>
          </a:custGeom>
          <a:noFill/>
          <a:ln w="12700">
            <a:solidFill>
              <a:srgbClr val="FFFFF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1" name="Shape 11"/>
          <p:cNvSpPr/>
          <p:nvPr/>
        </p:nvSpPr>
        <p:spPr>
          <a:xfrm>
            <a:off x="15550" y="476631"/>
            <a:ext cx="9121211" cy="1"/>
          </a:xfrm>
          <a:custGeom>
            <a:avLst/>
            <a:gdLst/>
            <a:ahLst/>
            <a:cxnLst/>
            <a:rect l="0" t="0" r="9121211" b="1"/>
            <a:pathLst>
              <a:path w="9121211" h="1" fill="none">
                <a:moveTo>
                  <a:pt x="0" y="0"/>
                </a:moveTo>
                <a:lnTo>
                  <a:pt x="9121211" y="0"/>
                </a:lnTo>
              </a:path>
            </a:pathLst>
          </a:custGeom>
          <a:noFill/>
          <a:ln w="12700">
            <a:solidFill>
              <a:srgbClr val="FFFFF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2" name="Shape 12"/>
          <p:cNvSpPr/>
          <p:nvPr/>
        </p:nvSpPr>
        <p:spPr>
          <a:xfrm>
            <a:off x="15550" y="574040"/>
            <a:ext cx="9121211" cy="1"/>
          </a:xfrm>
          <a:custGeom>
            <a:avLst/>
            <a:gdLst/>
            <a:ahLst/>
            <a:cxnLst/>
            <a:rect l="0" t="0" r="9121211" b="1"/>
            <a:pathLst>
              <a:path w="9121211" h="1" fill="none">
                <a:moveTo>
                  <a:pt x="0" y="0"/>
                </a:moveTo>
                <a:lnTo>
                  <a:pt x="9121211" y="0"/>
                </a:lnTo>
              </a:path>
            </a:pathLst>
          </a:custGeom>
          <a:noFill/>
          <a:ln w="38100">
            <a:solidFill>
              <a:srgbClr val="FFFFF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3" name="TextBox 13"/>
          <p:cNvSpPr txBox="1"/>
          <p:nvPr/>
        </p:nvSpPr>
        <p:spPr>
          <a:xfrm>
            <a:off x="487070" y="680694"/>
            <a:ext cx="370025" cy="427147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402" b="1" spc="151" dirty="0">
                <a:solidFill>
                  <a:srgbClr val="967754"/>
                </a:solidFill>
                <a:latin typeface="나눔고딕 2"/>
                <a:cs typeface="나눔고딕 2"/>
              </a:rPr>
              <a:t>3. 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848258" y="680694"/>
            <a:ext cx="877018" cy="427147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402" b="1" dirty="0">
                <a:solidFill>
                  <a:srgbClr val="967754"/>
                </a:solidFill>
                <a:latin typeface="나눔고딕"/>
                <a:cs typeface="나눔고딕"/>
              </a:rPr>
              <a:t>안전과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708150" y="680694"/>
            <a:ext cx="183063" cy="427147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402" b="1" dirty="0">
                <a:solidFill>
                  <a:srgbClr val="967754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791970" y="680694"/>
            <a:ext cx="1169260" cy="427147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402" b="1" dirty="0">
                <a:solidFill>
                  <a:srgbClr val="967754"/>
                </a:solidFill>
                <a:latin typeface="나눔고딕"/>
                <a:cs typeface="나눔고딕"/>
              </a:rPr>
              <a:t>위험제거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2938018" y="656285"/>
            <a:ext cx="183063" cy="427147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402" b="1" dirty="0">
                <a:solidFill>
                  <a:srgbClr val="967754"/>
                </a:solidFill>
                <a:latin typeface="맑은 고딕 2"/>
                <a:cs typeface="맑은 고딕 2"/>
              </a:rPr>
              <a:t>〮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3040126" y="680694"/>
            <a:ext cx="584776" cy="427147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402" b="1" dirty="0">
                <a:solidFill>
                  <a:srgbClr val="967754"/>
                </a:solidFill>
                <a:latin typeface="나눔고딕"/>
                <a:cs typeface="나눔고딕"/>
              </a:rPr>
              <a:t>감소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643128" y="1219838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dirty="0">
                <a:solidFill>
                  <a:srgbClr val="7F7F7F"/>
                </a:solidFill>
                <a:latin typeface="Wingdings"/>
                <a:cs typeface="Wingdings"/>
              </a:rPr>
              <a:t>▪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859536" y="1214494"/>
            <a:ext cx="2434252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산업안전보건법에서의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3246374" y="1214494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3311906" y="1214494"/>
            <a:ext cx="114445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‘위험’ 용어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4433951" y="1214494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4504055" y="1214494"/>
            <a:ext cx="488076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사용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861974" y="1704714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-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025042" y="1704714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(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118311" y="1704714"/>
            <a:ext cx="244022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제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357630" y="1704714"/>
            <a:ext cx="314320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36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665478" y="1704714"/>
            <a:ext cx="244022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조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904746" y="1704714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1973326" y="1704714"/>
            <a:ext cx="2446979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위험성평가) “사업주는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4372356" y="1704714"/>
            <a:ext cx="391074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spc="150" dirty="0">
                <a:solidFill>
                  <a:srgbClr val="000000"/>
                </a:solidFill>
                <a:latin typeface="나눔고딕 2"/>
                <a:cs typeface="나눔고딕 2"/>
              </a:rPr>
              <a:t> ~, 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4754880" y="1704714"/>
            <a:ext cx="977116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근로자에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5712206" y="1704714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5779262" y="1704714"/>
            <a:ext cx="488076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대한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6257798" y="1704714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6326378" y="1704714"/>
            <a:ext cx="488076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70C0"/>
                </a:solidFill>
                <a:latin typeface="나눔고딕"/>
                <a:cs typeface="나눔고딕"/>
              </a:rPr>
              <a:t>위험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6805295" y="1704714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6873875" y="1704714"/>
            <a:ext cx="488076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또는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7352411" y="1704714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7422515" y="1704714"/>
            <a:ext cx="976183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건강장해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1003706" y="2085433"/>
            <a:ext cx="244315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0000"/>
                </a:solidFill>
                <a:latin typeface="나눔고딕"/>
                <a:cs typeface="나눔고딕"/>
              </a:rPr>
              <a:t>를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1243279" y="2085433"/>
            <a:ext cx="152888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1313434" y="2085433"/>
            <a:ext cx="976473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0000"/>
                </a:solidFill>
                <a:latin typeface="나눔고딕"/>
                <a:cs typeface="나눔고딕"/>
              </a:rPr>
              <a:t>방지하기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2270506" y="2085433"/>
            <a:ext cx="152888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2337562" y="2085433"/>
            <a:ext cx="732420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0000"/>
                </a:solidFill>
                <a:latin typeface="나눔고딕"/>
                <a:cs typeface="나눔고딕"/>
              </a:rPr>
              <a:t>위하여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3055620" y="2085433"/>
            <a:ext cx="152888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3124200" y="2085433"/>
            <a:ext cx="732420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0000"/>
                </a:solidFill>
                <a:latin typeface="나눔고딕"/>
                <a:cs typeface="나눔고딕"/>
              </a:rPr>
              <a:t>필요한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3842004" y="2085433"/>
            <a:ext cx="152888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3910584" y="2085433"/>
            <a:ext cx="976473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0000"/>
                </a:solidFill>
                <a:latin typeface="나눔고딕"/>
                <a:cs typeface="나눔고딕"/>
              </a:rPr>
              <a:t>경우에는</a:t>
            </a:r>
          </a:p>
        </p:txBody>
      </p:sp>
      <p:sp>
        <p:nvSpPr>
          <p:cNvPr id="51" name="TextBox 51"/>
          <p:cNvSpPr txBox="1"/>
          <p:nvPr/>
        </p:nvSpPr>
        <p:spPr>
          <a:xfrm>
            <a:off x="4867910" y="2085433"/>
            <a:ext cx="152888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52" name="TextBox 52"/>
          <p:cNvSpPr txBox="1"/>
          <p:nvPr/>
        </p:nvSpPr>
        <p:spPr>
          <a:xfrm>
            <a:off x="4934966" y="2085433"/>
            <a:ext cx="976473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0000"/>
                </a:solidFill>
                <a:latin typeface="나눔고딕"/>
                <a:cs typeface="나눔고딕"/>
              </a:rPr>
              <a:t>추가적인</a:t>
            </a:r>
          </a:p>
        </p:txBody>
      </p:sp>
      <p:sp>
        <p:nvSpPr>
          <p:cNvPr id="53" name="TextBox 53"/>
          <p:cNvSpPr txBox="1"/>
          <p:nvPr/>
        </p:nvSpPr>
        <p:spPr>
          <a:xfrm>
            <a:off x="5892038" y="2085433"/>
            <a:ext cx="152888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54" name="TextBox 54"/>
          <p:cNvSpPr txBox="1"/>
          <p:nvPr/>
        </p:nvSpPr>
        <p:spPr>
          <a:xfrm>
            <a:off x="5957570" y="2085433"/>
            <a:ext cx="732420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0000"/>
                </a:solidFill>
                <a:latin typeface="나눔고딕"/>
                <a:cs typeface="나눔고딕"/>
              </a:rPr>
              <a:t>조치를</a:t>
            </a:r>
          </a:p>
        </p:txBody>
      </p:sp>
      <p:sp>
        <p:nvSpPr>
          <p:cNvPr id="55" name="TextBox 55"/>
          <p:cNvSpPr txBox="1"/>
          <p:nvPr/>
        </p:nvSpPr>
        <p:spPr>
          <a:xfrm>
            <a:off x="6675374" y="2085433"/>
            <a:ext cx="152888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56" name="TextBox 56"/>
          <p:cNvSpPr txBox="1"/>
          <p:nvPr/>
        </p:nvSpPr>
        <p:spPr>
          <a:xfrm>
            <a:off x="6744335" y="2085433"/>
            <a:ext cx="732420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0000"/>
                </a:solidFill>
                <a:latin typeface="나눔고딕"/>
                <a:cs typeface="나눔고딕"/>
              </a:rPr>
              <a:t>하여야</a:t>
            </a:r>
          </a:p>
        </p:txBody>
      </p:sp>
      <p:sp>
        <p:nvSpPr>
          <p:cNvPr id="57" name="TextBox 57"/>
          <p:cNvSpPr txBox="1"/>
          <p:nvPr/>
        </p:nvSpPr>
        <p:spPr>
          <a:xfrm>
            <a:off x="7462139" y="2085433"/>
            <a:ext cx="152888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58" name="TextBox 58"/>
          <p:cNvSpPr txBox="1"/>
          <p:nvPr/>
        </p:nvSpPr>
        <p:spPr>
          <a:xfrm>
            <a:off x="7530719" y="2085433"/>
            <a:ext cx="658353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0000"/>
                </a:solidFill>
                <a:latin typeface="나눔고딕"/>
                <a:cs typeface="나눔고딕"/>
              </a:rPr>
              <a:t>한다.”</a:t>
            </a:r>
          </a:p>
        </p:txBody>
      </p:sp>
      <p:sp>
        <p:nvSpPr>
          <p:cNvPr id="59" name="TextBox 59"/>
          <p:cNvSpPr txBox="1"/>
          <p:nvPr/>
        </p:nvSpPr>
        <p:spPr>
          <a:xfrm>
            <a:off x="820819" y="3003277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-</a:t>
            </a:r>
          </a:p>
        </p:txBody>
      </p:sp>
      <p:sp>
        <p:nvSpPr>
          <p:cNvPr id="60" name="TextBox 60"/>
          <p:cNvSpPr txBox="1"/>
          <p:nvPr/>
        </p:nvSpPr>
        <p:spPr>
          <a:xfrm>
            <a:off x="983887" y="3003277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(</a:t>
            </a:r>
          </a:p>
        </p:txBody>
      </p:sp>
      <p:sp>
        <p:nvSpPr>
          <p:cNvPr id="61" name="TextBox 61"/>
          <p:cNvSpPr txBox="1"/>
          <p:nvPr/>
        </p:nvSpPr>
        <p:spPr>
          <a:xfrm>
            <a:off x="1077156" y="3003277"/>
            <a:ext cx="244022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제</a:t>
            </a:r>
          </a:p>
        </p:txBody>
      </p:sp>
      <p:sp>
        <p:nvSpPr>
          <p:cNvPr id="62" name="TextBox 62"/>
          <p:cNvSpPr txBox="1"/>
          <p:nvPr/>
        </p:nvSpPr>
        <p:spPr>
          <a:xfrm>
            <a:off x="1316475" y="3003277"/>
            <a:ext cx="471322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spc="197" dirty="0">
                <a:solidFill>
                  <a:srgbClr val="000000"/>
                </a:solidFill>
                <a:latin typeface="나눔고딕 2"/>
                <a:cs typeface="나눔고딕 2"/>
              </a:rPr>
              <a:t>142</a:t>
            </a:r>
          </a:p>
        </p:txBody>
      </p:sp>
      <p:sp>
        <p:nvSpPr>
          <p:cNvPr id="63" name="TextBox 63"/>
          <p:cNvSpPr txBox="1"/>
          <p:nvPr/>
        </p:nvSpPr>
        <p:spPr>
          <a:xfrm>
            <a:off x="1778247" y="3003277"/>
            <a:ext cx="244022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조</a:t>
            </a:r>
          </a:p>
        </p:txBody>
      </p:sp>
      <p:sp>
        <p:nvSpPr>
          <p:cNvPr id="64" name="TextBox 64"/>
          <p:cNvSpPr txBox="1"/>
          <p:nvPr/>
        </p:nvSpPr>
        <p:spPr>
          <a:xfrm>
            <a:off x="2017515" y="3003277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65" name="TextBox 65"/>
          <p:cNvSpPr txBox="1"/>
          <p:nvPr/>
        </p:nvSpPr>
        <p:spPr>
          <a:xfrm>
            <a:off x="2086095" y="3003277"/>
            <a:ext cx="1949323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산업안전지도사의</a:t>
            </a:r>
          </a:p>
        </p:txBody>
      </p:sp>
      <p:sp>
        <p:nvSpPr>
          <p:cNvPr id="66" name="TextBox 66"/>
          <p:cNvSpPr txBox="1"/>
          <p:nvPr/>
        </p:nvSpPr>
        <p:spPr>
          <a:xfrm>
            <a:off x="3995921" y="3003277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67" name="TextBox 67"/>
          <p:cNvSpPr txBox="1"/>
          <p:nvPr/>
        </p:nvSpPr>
        <p:spPr>
          <a:xfrm>
            <a:off x="4062977" y="3003277"/>
            <a:ext cx="1231428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직무) “유해</a:t>
            </a:r>
          </a:p>
        </p:txBody>
      </p:sp>
      <p:sp>
        <p:nvSpPr>
          <p:cNvPr id="68" name="TextBox 68"/>
          <p:cNvSpPr txBox="1"/>
          <p:nvPr/>
        </p:nvSpPr>
        <p:spPr>
          <a:xfrm>
            <a:off x="5270239" y="2982916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 smtClean="0">
                <a:solidFill>
                  <a:srgbClr val="000000"/>
                </a:solidFill>
                <a:latin typeface="맑은 고딕 2"/>
                <a:cs typeface="맑은 고딕 2"/>
              </a:rPr>
              <a:t>〮</a:t>
            </a:r>
            <a:endParaRPr lang="en-US" sz="2004" b="1" dirty="0">
              <a:solidFill>
                <a:srgbClr val="000000"/>
              </a:solidFill>
              <a:latin typeface="맑은 고딕 2"/>
              <a:cs typeface="맑은 고딕 2"/>
            </a:endParaRPr>
          </a:p>
        </p:txBody>
      </p:sp>
      <p:sp>
        <p:nvSpPr>
          <p:cNvPr id="69" name="TextBox 69"/>
          <p:cNvSpPr txBox="1"/>
          <p:nvPr/>
        </p:nvSpPr>
        <p:spPr>
          <a:xfrm>
            <a:off x="5355583" y="3003277"/>
            <a:ext cx="488076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70C0"/>
                </a:solidFill>
                <a:latin typeface="나눔고딕"/>
                <a:cs typeface="나눔고딕"/>
              </a:rPr>
              <a:t>위험</a:t>
            </a:r>
          </a:p>
        </p:txBody>
      </p:sp>
      <p:sp>
        <p:nvSpPr>
          <p:cNvPr id="70" name="TextBox 70"/>
          <p:cNvSpPr txBox="1"/>
          <p:nvPr/>
        </p:nvSpPr>
        <p:spPr>
          <a:xfrm>
            <a:off x="5832595" y="3003277"/>
            <a:ext cx="244022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의</a:t>
            </a:r>
          </a:p>
        </p:txBody>
      </p:sp>
      <p:sp>
        <p:nvSpPr>
          <p:cNvPr id="71" name="TextBox 71"/>
          <p:cNvSpPr txBox="1"/>
          <p:nvPr/>
        </p:nvSpPr>
        <p:spPr>
          <a:xfrm>
            <a:off x="6070339" y="3003277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72" name="TextBox 72"/>
          <p:cNvSpPr txBox="1"/>
          <p:nvPr/>
        </p:nvSpPr>
        <p:spPr>
          <a:xfrm>
            <a:off x="6137395" y="3003277"/>
            <a:ext cx="1220237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방지대책에</a:t>
            </a:r>
          </a:p>
        </p:txBody>
      </p:sp>
      <p:sp>
        <p:nvSpPr>
          <p:cNvPr id="73" name="TextBox 73"/>
          <p:cNvSpPr txBox="1"/>
          <p:nvPr/>
        </p:nvSpPr>
        <p:spPr>
          <a:xfrm>
            <a:off x="7332592" y="3003277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74" name="TextBox 74"/>
          <p:cNvSpPr txBox="1"/>
          <p:nvPr/>
        </p:nvSpPr>
        <p:spPr>
          <a:xfrm>
            <a:off x="7399648" y="3003277"/>
            <a:ext cx="488076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대한</a:t>
            </a:r>
          </a:p>
        </p:txBody>
      </p:sp>
      <p:sp>
        <p:nvSpPr>
          <p:cNvPr id="75" name="TextBox 75"/>
          <p:cNvSpPr txBox="1"/>
          <p:nvPr/>
        </p:nvSpPr>
        <p:spPr>
          <a:xfrm>
            <a:off x="962551" y="3384277"/>
            <a:ext cx="488387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평가</a:t>
            </a:r>
          </a:p>
        </p:txBody>
      </p:sp>
      <p:sp>
        <p:nvSpPr>
          <p:cNvPr id="76" name="TextBox 76"/>
          <p:cNvSpPr txBox="1"/>
          <p:nvPr/>
        </p:nvSpPr>
        <p:spPr>
          <a:xfrm>
            <a:off x="1441443" y="3363916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맑은 고딕 2"/>
                <a:cs typeface="맑은 고딕 2"/>
              </a:rPr>
              <a:t>〮</a:t>
            </a:r>
          </a:p>
        </p:txBody>
      </p:sp>
      <p:sp>
        <p:nvSpPr>
          <p:cNvPr id="77" name="TextBox 77"/>
          <p:cNvSpPr txBox="1"/>
          <p:nvPr/>
        </p:nvSpPr>
        <p:spPr>
          <a:xfrm>
            <a:off x="1526787" y="3384277"/>
            <a:ext cx="488076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지도</a:t>
            </a:r>
          </a:p>
        </p:txBody>
      </p:sp>
      <p:sp>
        <p:nvSpPr>
          <p:cNvPr id="78" name="TextBox 78"/>
          <p:cNvSpPr txBox="1"/>
          <p:nvPr/>
        </p:nvSpPr>
        <p:spPr>
          <a:xfrm>
            <a:off x="749191" y="3763472"/>
            <a:ext cx="244315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0000"/>
                </a:solidFill>
                <a:latin typeface="나눔고딕"/>
                <a:cs typeface="나눔고딕"/>
              </a:rPr>
              <a:t>☞</a:t>
            </a:r>
          </a:p>
        </p:txBody>
      </p:sp>
      <p:sp>
        <p:nvSpPr>
          <p:cNvPr id="79" name="TextBox 79"/>
          <p:cNvSpPr txBox="1"/>
          <p:nvPr/>
        </p:nvSpPr>
        <p:spPr>
          <a:xfrm>
            <a:off x="1058868" y="3763472"/>
            <a:ext cx="1388462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0000"/>
                </a:solidFill>
                <a:latin typeface="나눔고딕"/>
                <a:cs typeface="나눔고딕"/>
              </a:rPr>
              <a:t>‘재해’ 방지가</a:t>
            </a:r>
          </a:p>
        </p:txBody>
      </p:sp>
      <p:sp>
        <p:nvSpPr>
          <p:cNvPr id="80" name="TextBox 80"/>
          <p:cNvSpPr txBox="1"/>
          <p:nvPr/>
        </p:nvSpPr>
        <p:spPr>
          <a:xfrm>
            <a:off x="2419851" y="3763472"/>
            <a:ext cx="152888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81" name="TextBox 81"/>
          <p:cNvSpPr txBox="1"/>
          <p:nvPr/>
        </p:nvSpPr>
        <p:spPr>
          <a:xfrm>
            <a:off x="2486907" y="3763472"/>
            <a:ext cx="488367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0000"/>
                </a:solidFill>
                <a:latin typeface="나눔고딕"/>
                <a:cs typeface="나눔고딕"/>
              </a:rPr>
              <a:t>아닌</a:t>
            </a:r>
          </a:p>
        </p:txBody>
      </p:sp>
      <p:sp>
        <p:nvSpPr>
          <p:cNvPr id="82" name="TextBox 82"/>
          <p:cNvSpPr txBox="1"/>
          <p:nvPr/>
        </p:nvSpPr>
        <p:spPr>
          <a:xfrm>
            <a:off x="2965697" y="3763472"/>
            <a:ext cx="152888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83" name="TextBox 83"/>
          <p:cNvSpPr txBox="1"/>
          <p:nvPr/>
        </p:nvSpPr>
        <p:spPr>
          <a:xfrm>
            <a:off x="3035801" y="3763472"/>
            <a:ext cx="1144358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0000"/>
                </a:solidFill>
                <a:latin typeface="나눔고딕"/>
                <a:cs typeface="나눔고딕"/>
              </a:rPr>
              <a:t>‘위험’ 방지</a:t>
            </a:r>
          </a:p>
        </p:txBody>
      </p:sp>
      <p:sp>
        <p:nvSpPr>
          <p:cNvPr id="84" name="TextBox 84"/>
          <p:cNvSpPr txBox="1"/>
          <p:nvPr/>
        </p:nvSpPr>
        <p:spPr>
          <a:xfrm>
            <a:off x="4157465" y="3763472"/>
            <a:ext cx="152888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85" name="TextBox 85"/>
          <p:cNvSpPr txBox="1"/>
          <p:nvPr/>
        </p:nvSpPr>
        <p:spPr>
          <a:xfrm>
            <a:off x="4226045" y="3763472"/>
            <a:ext cx="488367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0000"/>
                </a:solidFill>
                <a:latin typeface="나눔고딕"/>
                <a:cs typeface="나눔고딕"/>
              </a:rPr>
              <a:t>용어</a:t>
            </a:r>
          </a:p>
        </p:txBody>
      </p:sp>
      <p:sp>
        <p:nvSpPr>
          <p:cNvPr id="86" name="TextBox 86"/>
          <p:cNvSpPr txBox="1"/>
          <p:nvPr/>
        </p:nvSpPr>
        <p:spPr>
          <a:xfrm>
            <a:off x="4704581" y="3763472"/>
            <a:ext cx="152888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87" name="TextBox 87"/>
          <p:cNvSpPr txBox="1"/>
          <p:nvPr/>
        </p:nvSpPr>
        <p:spPr>
          <a:xfrm>
            <a:off x="4773161" y="3763472"/>
            <a:ext cx="488679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0000"/>
                </a:solidFill>
                <a:latin typeface="나눔고딕"/>
                <a:cs typeface="나눔고딕"/>
              </a:rPr>
              <a:t>사용</a:t>
            </a:r>
          </a:p>
        </p:txBody>
      </p:sp>
      <p:sp>
        <p:nvSpPr>
          <p:cNvPr id="88" name="TextBox 88"/>
          <p:cNvSpPr txBox="1"/>
          <p:nvPr/>
        </p:nvSpPr>
        <p:spPr>
          <a:xfrm>
            <a:off x="749191" y="4145007"/>
            <a:ext cx="244022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☞</a:t>
            </a:r>
          </a:p>
        </p:txBody>
      </p:sp>
      <p:sp>
        <p:nvSpPr>
          <p:cNvPr id="89" name="TextBox 89"/>
          <p:cNvSpPr txBox="1"/>
          <p:nvPr/>
        </p:nvSpPr>
        <p:spPr>
          <a:xfrm>
            <a:off x="1058868" y="4145007"/>
            <a:ext cx="732129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70C0"/>
                </a:solidFill>
                <a:latin typeface="나눔고딕"/>
                <a:cs typeface="나눔고딕"/>
              </a:rPr>
              <a:t>안전의</a:t>
            </a:r>
          </a:p>
        </p:txBody>
      </p:sp>
      <p:sp>
        <p:nvSpPr>
          <p:cNvPr id="90" name="TextBox 90"/>
          <p:cNvSpPr txBox="1"/>
          <p:nvPr/>
        </p:nvSpPr>
        <p:spPr>
          <a:xfrm>
            <a:off x="1776723" y="4145007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70C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91" name="TextBox 91"/>
          <p:cNvSpPr txBox="1"/>
          <p:nvPr/>
        </p:nvSpPr>
        <p:spPr>
          <a:xfrm>
            <a:off x="1843779" y="4145007"/>
            <a:ext cx="488076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70C0"/>
                </a:solidFill>
                <a:latin typeface="나눔고딕"/>
                <a:cs typeface="나눔고딕"/>
              </a:rPr>
              <a:t>반대</a:t>
            </a:r>
          </a:p>
        </p:txBody>
      </p:sp>
      <p:sp>
        <p:nvSpPr>
          <p:cNvPr id="92" name="TextBox 92"/>
          <p:cNvSpPr txBox="1"/>
          <p:nvPr/>
        </p:nvSpPr>
        <p:spPr>
          <a:xfrm>
            <a:off x="2322315" y="4145007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70C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93" name="TextBox 93"/>
          <p:cNvSpPr txBox="1"/>
          <p:nvPr/>
        </p:nvSpPr>
        <p:spPr>
          <a:xfrm>
            <a:off x="2392419" y="4145007"/>
            <a:ext cx="732129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70C0"/>
                </a:solidFill>
                <a:latin typeface="나눔고딕"/>
                <a:cs typeface="나눔고딕"/>
              </a:rPr>
              <a:t>개념은</a:t>
            </a:r>
          </a:p>
        </p:txBody>
      </p:sp>
      <p:sp>
        <p:nvSpPr>
          <p:cNvPr id="94" name="TextBox 94"/>
          <p:cNvSpPr txBox="1"/>
          <p:nvPr/>
        </p:nvSpPr>
        <p:spPr>
          <a:xfrm>
            <a:off x="3110477" y="4145007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70C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95" name="TextBox 95"/>
          <p:cNvSpPr txBox="1"/>
          <p:nvPr/>
        </p:nvSpPr>
        <p:spPr>
          <a:xfrm>
            <a:off x="3179057" y="4145007"/>
            <a:ext cx="828507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70C0"/>
                </a:solidFill>
                <a:latin typeface="나눔고딕"/>
                <a:cs typeface="나눔고딕"/>
              </a:rPr>
              <a:t>‘재해’가</a:t>
            </a:r>
          </a:p>
        </p:txBody>
      </p:sp>
      <p:sp>
        <p:nvSpPr>
          <p:cNvPr id="96" name="TextBox 96"/>
          <p:cNvSpPr txBox="1"/>
          <p:nvPr/>
        </p:nvSpPr>
        <p:spPr>
          <a:xfrm>
            <a:off x="3991349" y="4145007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70C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97" name="TextBox 97"/>
          <p:cNvSpPr txBox="1"/>
          <p:nvPr/>
        </p:nvSpPr>
        <p:spPr>
          <a:xfrm>
            <a:off x="4059929" y="4145007"/>
            <a:ext cx="488076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70C0"/>
                </a:solidFill>
                <a:latin typeface="나눔고딕"/>
                <a:cs typeface="나눔고딕"/>
              </a:rPr>
              <a:t>아닌</a:t>
            </a:r>
          </a:p>
        </p:txBody>
      </p:sp>
      <p:sp>
        <p:nvSpPr>
          <p:cNvPr id="98" name="TextBox 98"/>
          <p:cNvSpPr txBox="1"/>
          <p:nvPr/>
        </p:nvSpPr>
        <p:spPr>
          <a:xfrm>
            <a:off x="4538465" y="4145007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70C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99" name="TextBox 99"/>
          <p:cNvSpPr txBox="1"/>
          <p:nvPr/>
        </p:nvSpPr>
        <p:spPr>
          <a:xfrm>
            <a:off x="4607045" y="4145007"/>
            <a:ext cx="584581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70C0"/>
                </a:solidFill>
                <a:latin typeface="나눔고딕"/>
                <a:cs typeface="나눔고딕"/>
              </a:rPr>
              <a:t>‘위험’</a:t>
            </a:r>
          </a:p>
        </p:txBody>
      </p:sp>
      <p:sp>
        <p:nvSpPr>
          <p:cNvPr id="135" name="TextBox 135"/>
          <p:cNvSpPr txBox="1"/>
          <p:nvPr/>
        </p:nvSpPr>
        <p:spPr>
          <a:xfrm>
            <a:off x="415138" y="105410"/>
            <a:ext cx="1349289" cy="42672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400" b="1" dirty="0">
                <a:solidFill>
                  <a:srgbClr val="000000"/>
                </a:solidFill>
                <a:latin typeface="나눔고딕"/>
                <a:cs typeface="나눔고딕"/>
              </a:rPr>
              <a:t>Ⅱ. 안전의</a:t>
            </a:r>
          </a:p>
        </p:txBody>
      </p:sp>
      <p:sp>
        <p:nvSpPr>
          <p:cNvPr id="136" name="TextBox 136"/>
          <p:cNvSpPr txBox="1"/>
          <p:nvPr/>
        </p:nvSpPr>
        <p:spPr>
          <a:xfrm>
            <a:off x="1737995" y="105410"/>
            <a:ext cx="182880" cy="42672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400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137" name="TextBox 137"/>
          <p:cNvSpPr txBox="1"/>
          <p:nvPr/>
        </p:nvSpPr>
        <p:spPr>
          <a:xfrm>
            <a:off x="1821815" y="105410"/>
            <a:ext cx="584795" cy="42672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400" b="1" dirty="0">
                <a:solidFill>
                  <a:srgbClr val="000000"/>
                </a:solidFill>
                <a:latin typeface="나눔고딕"/>
                <a:cs typeface="나눔고딕"/>
              </a:rPr>
              <a:t>개요</a:t>
            </a:r>
          </a:p>
        </p:txBody>
      </p:sp>
      <p:sp>
        <p:nvSpPr>
          <p:cNvPr id="4" name="직사각형 3"/>
          <p:cNvSpPr/>
          <p:nvPr/>
        </p:nvSpPr>
        <p:spPr>
          <a:xfrm>
            <a:off x="979110" y="2402843"/>
            <a:ext cx="587867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dirty="0"/>
              <a:t>https://www.youtube.com/shorts/wbx6445hEYU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00"/>
          <p:cNvSpPr txBox="1"/>
          <p:nvPr/>
        </p:nvSpPr>
        <p:spPr>
          <a:xfrm>
            <a:off x="413008" y="693059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dirty="0">
                <a:solidFill>
                  <a:srgbClr val="7F7F7F"/>
                </a:solidFill>
                <a:latin typeface="Wingdings"/>
                <a:cs typeface="Wingdings"/>
              </a:rPr>
              <a:t>▪</a:t>
            </a:r>
          </a:p>
        </p:txBody>
      </p:sp>
      <p:sp>
        <p:nvSpPr>
          <p:cNvPr id="3" name="TextBox 101"/>
          <p:cNvSpPr txBox="1"/>
          <p:nvPr/>
        </p:nvSpPr>
        <p:spPr>
          <a:xfrm>
            <a:off x="629416" y="687715"/>
            <a:ext cx="828533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‘위험’의</a:t>
            </a:r>
          </a:p>
        </p:txBody>
      </p:sp>
      <p:sp>
        <p:nvSpPr>
          <p:cNvPr id="4" name="TextBox 102"/>
          <p:cNvSpPr txBox="1"/>
          <p:nvPr/>
        </p:nvSpPr>
        <p:spPr>
          <a:xfrm>
            <a:off x="1441987" y="687715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5" name="TextBox 103"/>
          <p:cNvSpPr txBox="1"/>
          <p:nvPr/>
        </p:nvSpPr>
        <p:spPr>
          <a:xfrm>
            <a:off x="1510567" y="687715"/>
            <a:ext cx="488076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개념</a:t>
            </a:r>
          </a:p>
        </p:txBody>
      </p:sp>
      <p:sp>
        <p:nvSpPr>
          <p:cNvPr id="6" name="TextBox 104"/>
          <p:cNvSpPr txBox="1"/>
          <p:nvPr/>
        </p:nvSpPr>
        <p:spPr>
          <a:xfrm>
            <a:off x="614480" y="1147963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-</a:t>
            </a:r>
          </a:p>
        </p:txBody>
      </p:sp>
      <p:sp>
        <p:nvSpPr>
          <p:cNvPr id="7" name="TextBox 105"/>
          <p:cNvSpPr txBox="1"/>
          <p:nvPr/>
        </p:nvSpPr>
        <p:spPr>
          <a:xfrm>
            <a:off x="777548" y="1147963"/>
            <a:ext cx="488076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재해</a:t>
            </a:r>
          </a:p>
        </p:txBody>
      </p:sp>
      <p:sp>
        <p:nvSpPr>
          <p:cNvPr id="8" name="TextBox 106"/>
          <p:cNvSpPr txBox="1"/>
          <p:nvPr/>
        </p:nvSpPr>
        <p:spPr>
          <a:xfrm>
            <a:off x="1256059" y="1147963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9" name="TextBox 107"/>
          <p:cNvSpPr txBox="1"/>
          <p:nvPr/>
        </p:nvSpPr>
        <p:spPr>
          <a:xfrm>
            <a:off x="1324639" y="1147963"/>
            <a:ext cx="732129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자체가</a:t>
            </a:r>
          </a:p>
        </p:txBody>
      </p:sp>
      <p:sp>
        <p:nvSpPr>
          <p:cNvPr id="10" name="TextBox 108"/>
          <p:cNvSpPr txBox="1"/>
          <p:nvPr/>
        </p:nvSpPr>
        <p:spPr>
          <a:xfrm>
            <a:off x="2042824" y="1147963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11" name="TextBox 109"/>
          <p:cNvSpPr txBox="1"/>
          <p:nvPr/>
        </p:nvSpPr>
        <p:spPr>
          <a:xfrm>
            <a:off x="2111404" y="1147963"/>
            <a:ext cx="732129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아니라</a:t>
            </a:r>
          </a:p>
        </p:txBody>
      </p:sp>
      <p:sp>
        <p:nvSpPr>
          <p:cNvPr id="12" name="TextBox 110"/>
          <p:cNvSpPr txBox="1"/>
          <p:nvPr/>
        </p:nvSpPr>
        <p:spPr>
          <a:xfrm>
            <a:off x="614480" y="1528963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-</a:t>
            </a:r>
          </a:p>
        </p:txBody>
      </p:sp>
      <p:sp>
        <p:nvSpPr>
          <p:cNvPr id="13" name="TextBox 111"/>
          <p:cNvSpPr txBox="1"/>
          <p:nvPr/>
        </p:nvSpPr>
        <p:spPr>
          <a:xfrm>
            <a:off x="777548" y="1528963"/>
            <a:ext cx="732129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재해의</a:t>
            </a:r>
          </a:p>
        </p:txBody>
      </p:sp>
      <p:sp>
        <p:nvSpPr>
          <p:cNvPr id="14" name="TextBox 112"/>
          <p:cNvSpPr txBox="1"/>
          <p:nvPr/>
        </p:nvSpPr>
        <p:spPr>
          <a:xfrm>
            <a:off x="1495327" y="1528963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15" name="TextBox 113"/>
          <p:cNvSpPr txBox="1"/>
          <p:nvPr/>
        </p:nvSpPr>
        <p:spPr>
          <a:xfrm>
            <a:off x="1563907" y="1528963"/>
            <a:ext cx="82889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‘씨앗’에</a:t>
            </a:r>
          </a:p>
        </p:txBody>
      </p:sp>
      <p:sp>
        <p:nvSpPr>
          <p:cNvPr id="16" name="TextBox 114"/>
          <p:cNvSpPr txBox="1"/>
          <p:nvPr/>
        </p:nvSpPr>
        <p:spPr>
          <a:xfrm>
            <a:off x="2376580" y="1528963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17" name="TextBox 115"/>
          <p:cNvSpPr txBox="1"/>
          <p:nvPr/>
        </p:nvSpPr>
        <p:spPr>
          <a:xfrm>
            <a:off x="2445160" y="1528963"/>
            <a:ext cx="976182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해당하는</a:t>
            </a:r>
          </a:p>
        </p:txBody>
      </p:sp>
      <p:sp>
        <p:nvSpPr>
          <p:cNvPr id="18" name="TextBox 116"/>
          <p:cNvSpPr txBox="1"/>
          <p:nvPr/>
        </p:nvSpPr>
        <p:spPr>
          <a:xfrm>
            <a:off x="3402232" y="1528963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19" name="TextBox 117"/>
          <p:cNvSpPr txBox="1"/>
          <p:nvPr/>
        </p:nvSpPr>
        <p:spPr>
          <a:xfrm>
            <a:off x="3469288" y="1528963"/>
            <a:ext cx="911709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spc="111" dirty="0">
                <a:solidFill>
                  <a:srgbClr val="0070C0"/>
                </a:solidFill>
                <a:latin typeface="나눔고딕 2"/>
                <a:cs typeface="나눔고딕 2"/>
              </a:rPr>
              <a:t>hazard(</a:t>
            </a:r>
          </a:p>
        </p:txBody>
      </p:sp>
      <p:sp>
        <p:nvSpPr>
          <p:cNvPr id="20" name="TextBox 118"/>
          <p:cNvSpPr txBox="1"/>
          <p:nvPr/>
        </p:nvSpPr>
        <p:spPr>
          <a:xfrm>
            <a:off x="4458493" y="1543631"/>
            <a:ext cx="972973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70C0"/>
                </a:solidFill>
                <a:latin typeface="나눔고딕"/>
                <a:cs typeface="나눔고딕"/>
              </a:rPr>
              <a:t>위험요인</a:t>
            </a:r>
          </a:p>
        </p:txBody>
      </p:sp>
      <p:sp>
        <p:nvSpPr>
          <p:cNvPr id="21" name="TextBox 119"/>
          <p:cNvSpPr txBox="1"/>
          <p:nvPr/>
        </p:nvSpPr>
        <p:spPr>
          <a:xfrm>
            <a:off x="5410993" y="1543631"/>
            <a:ext cx="165956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70C0"/>
                </a:solidFill>
                <a:latin typeface="나눔고딕 2"/>
                <a:cs typeface="나눔고딕 2"/>
              </a:rPr>
              <a:t>) </a:t>
            </a:r>
          </a:p>
        </p:txBody>
      </p:sp>
      <p:sp>
        <p:nvSpPr>
          <p:cNvPr id="22" name="TextBox 120"/>
          <p:cNvSpPr txBox="1"/>
          <p:nvPr/>
        </p:nvSpPr>
        <p:spPr>
          <a:xfrm>
            <a:off x="5475126" y="1528963"/>
            <a:ext cx="488387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또는</a:t>
            </a:r>
          </a:p>
        </p:txBody>
      </p:sp>
      <p:sp>
        <p:nvSpPr>
          <p:cNvPr id="23" name="TextBox 121"/>
          <p:cNvSpPr txBox="1"/>
          <p:nvPr/>
        </p:nvSpPr>
        <p:spPr>
          <a:xfrm>
            <a:off x="5838255" y="2450859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24" name="TextBox 122"/>
          <p:cNvSpPr txBox="1"/>
          <p:nvPr/>
        </p:nvSpPr>
        <p:spPr>
          <a:xfrm>
            <a:off x="465624" y="2884037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-</a:t>
            </a:r>
          </a:p>
        </p:txBody>
      </p:sp>
      <p:sp>
        <p:nvSpPr>
          <p:cNvPr id="25" name="TextBox 123"/>
          <p:cNvSpPr txBox="1"/>
          <p:nvPr/>
        </p:nvSpPr>
        <p:spPr>
          <a:xfrm>
            <a:off x="628692" y="2884037"/>
            <a:ext cx="732129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재해의</a:t>
            </a:r>
          </a:p>
        </p:txBody>
      </p:sp>
      <p:sp>
        <p:nvSpPr>
          <p:cNvPr id="26" name="TextBox 124"/>
          <p:cNvSpPr txBox="1"/>
          <p:nvPr/>
        </p:nvSpPr>
        <p:spPr>
          <a:xfrm>
            <a:off x="1346471" y="2884037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27" name="TextBox 125"/>
          <p:cNvSpPr txBox="1"/>
          <p:nvPr/>
        </p:nvSpPr>
        <p:spPr>
          <a:xfrm>
            <a:off x="1415051" y="2884037"/>
            <a:ext cx="584842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‘싹’에</a:t>
            </a:r>
          </a:p>
        </p:txBody>
      </p:sp>
      <p:sp>
        <p:nvSpPr>
          <p:cNvPr id="28" name="TextBox 126"/>
          <p:cNvSpPr txBox="1"/>
          <p:nvPr/>
        </p:nvSpPr>
        <p:spPr>
          <a:xfrm>
            <a:off x="1988456" y="2884037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29" name="TextBox 127"/>
          <p:cNvSpPr txBox="1"/>
          <p:nvPr/>
        </p:nvSpPr>
        <p:spPr>
          <a:xfrm>
            <a:off x="2057036" y="2884037"/>
            <a:ext cx="976182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해당하는</a:t>
            </a:r>
          </a:p>
        </p:txBody>
      </p:sp>
      <p:sp>
        <p:nvSpPr>
          <p:cNvPr id="30" name="TextBox 128"/>
          <p:cNvSpPr txBox="1"/>
          <p:nvPr/>
        </p:nvSpPr>
        <p:spPr>
          <a:xfrm>
            <a:off x="3014108" y="2884037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31" name="TextBox 129"/>
          <p:cNvSpPr txBox="1"/>
          <p:nvPr/>
        </p:nvSpPr>
        <p:spPr>
          <a:xfrm>
            <a:off x="3081164" y="2884037"/>
            <a:ext cx="496351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spc="48" dirty="0">
                <a:solidFill>
                  <a:srgbClr val="0070C0"/>
                </a:solidFill>
                <a:latin typeface="나눔고딕 2"/>
                <a:cs typeface="나눔고딕 2"/>
              </a:rPr>
              <a:t>risk(</a:t>
            </a:r>
          </a:p>
        </p:txBody>
      </p:sp>
      <p:sp>
        <p:nvSpPr>
          <p:cNvPr id="32" name="TextBox 130"/>
          <p:cNvSpPr txBox="1"/>
          <p:nvPr/>
        </p:nvSpPr>
        <p:spPr>
          <a:xfrm>
            <a:off x="3569098" y="2884037"/>
            <a:ext cx="732129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70C0"/>
                </a:solidFill>
                <a:latin typeface="나눔고딕"/>
                <a:cs typeface="나눔고딕"/>
              </a:rPr>
              <a:t>위험성</a:t>
            </a:r>
          </a:p>
        </p:txBody>
      </p:sp>
      <p:sp>
        <p:nvSpPr>
          <p:cNvPr id="33" name="TextBox 131"/>
          <p:cNvSpPr txBox="1"/>
          <p:nvPr/>
        </p:nvSpPr>
        <p:spPr>
          <a:xfrm>
            <a:off x="4286902" y="2884037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70C0"/>
                </a:solidFill>
                <a:latin typeface="나눔고딕 2"/>
                <a:cs typeface="나눔고딕 2"/>
              </a:rPr>
              <a:t>)</a:t>
            </a:r>
          </a:p>
        </p:txBody>
      </p:sp>
      <p:sp>
        <p:nvSpPr>
          <p:cNvPr id="34" name="TextBox 132"/>
          <p:cNvSpPr txBox="1"/>
          <p:nvPr/>
        </p:nvSpPr>
        <p:spPr>
          <a:xfrm>
            <a:off x="4378342" y="2884037"/>
            <a:ext cx="244022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의</a:t>
            </a:r>
          </a:p>
        </p:txBody>
      </p:sp>
      <p:sp>
        <p:nvSpPr>
          <p:cNvPr id="35" name="TextBox 133"/>
          <p:cNvSpPr txBox="1"/>
          <p:nvPr/>
        </p:nvSpPr>
        <p:spPr>
          <a:xfrm>
            <a:off x="4616086" y="2884037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36" name="TextBox 134"/>
          <p:cNvSpPr txBox="1"/>
          <p:nvPr/>
        </p:nvSpPr>
        <p:spPr>
          <a:xfrm>
            <a:off x="4683142" y="2884037"/>
            <a:ext cx="488076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의미</a:t>
            </a:r>
          </a:p>
        </p:txBody>
      </p:sp>
      <p:sp>
        <p:nvSpPr>
          <p:cNvPr id="37" name="직사각형 36"/>
          <p:cNvSpPr/>
          <p:nvPr/>
        </p:nvSpPr>
        <p:spPr>
          <a:xfrm>
            <a:off x="935990" y="1909963"/>
            <a:ext cx="493248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dirty="0"/>
              <a:t>https://www.youtube.com/watch?v=eIElipN3GBU</a:t>
            </a:r>
          </a:p>
        </p:txBody>
      </p:sp>
      <p:sp>
        <p:nvSpPr>
          <p:cNvPr id="38" name="직사각형 37"/>
          <p:cNvSpPr/>
          <p:nvPr/>
        </p:nvSpPr>
        <p:spPr>
          <a:xfrm>
            <a:off x="914485" y="2279295"/>
            <a:ext cx="510960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dirty="0"/>
              <a:t>https://www.youtube.com/watch?v=lf5PWo2Kodc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08522" y="5431536"/>
            <a:ext cx="13388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err="1" smtClean="0"/>
              <a:t>위험성평가</a:t>
            </a:r>
            <a:endParaRPr lang="ko-KR" altLang="en-US" dirty="0"/>
          </a:p>
        </p:txBody>
      </p:sp>
      <p:sp>
        <p:nvSpPr>
          <p:cNvPr id="40" name="직사각형 39"/>
          <p:cNvSpPr/>
          <p:nvPr/>
        </p:nvSpPr>
        <p:spPr>
          <a:xfrm>
            <a:off x="777548" y="6004483"/>
            <a:ext cx="596601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dirty="0"/>
              <a:t>https://www.youtube.com/watch?v=OYmS4GpJaqk</a:t>
            </a:r>
          </a:p>
        </p:txBody>
      </p:sp>
      <p:pic>
        <p:nvPicPr>
          <p:cNvPr id="41" name="그림 4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8730" y="3515769"/>
            <a:ext cx="7835073" cy="17121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618058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3"/>
          <p:cNvSpPr/>
          <p:nvPr/>
        </p:nvSpPr>
        <p:spPr>
          <a:xfrm>
            <a:off x="0" y="6525349"/>
            <a:ext cx="9144000" cy="1"/>
          </a:xfrm>
          <a:custGeom>
            <a:avLst/>
            <a:gdLst/>
            <a:ahLst/>
            <a:cxnLst/>
            <a:rect l="0" t="0" r="9144000" b="1"/>
            <a:pathLst>
              <a:path w="9144000" h="1" fill="none">
                <a:moveTo>
                  <a:pt x="0" y="0"/>
                </a:moveTo>
                <a:lnTo>
                  <a:pt x="9144000" y="0"/>
                </a:lnTo>
              </a:path>
            </a:pathLst>
          </a:custGeom>
          <a:noFill/>
          <a:ln w="19050">
            <a:solidFill>
              <a:srgbClr val="5B9BD5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6" name="Shape 6"/>
          <p:cNvSpPr/>
          <p:nvPr/>
        </p:nvSpPr>
        <p:spPr>
          <a:xfrm>
            <a:off x="21900" y="476640"/>
            <a:ext cx="1331595" cy="97400"/>
          </a:xfrm>
          <a:prstGeom prst="rect">
            <a:avLst/>
          </a:prstGeom>
          <a:solidFill>
            <a:srgbClr val="92D050"/>
          </a:solidFill>
        </p:spPr>
        <p:txBody>
          <a:bodyPr/>
          <a:lstStyle/>
          <a:p>
            <a:endParaRPr/>
          </a:p>
        </p:txBody>
      </p:sp>
      <p:sp>
        <p:nvSpPr>
          <p:cNvPr id="7" name="Shape 7"/>
          <p:cNvSpPr/>
          <p:nvPr/>
        </p:nvSpPr>
        <p:spPr>
          <a:xfrm>
            <a:off x="1353566" y="476640"/>
            <a:ext cx="7776845" cy="97400"/>
          </a:xfrm>
          <a:prstGeom prst="rect">
            <a:avLst/>
          </a:prstGeom>
          <a:solidFill>
            <a:srgbClr val="5B9BD5"/>
          </a:solidFill>
        </p:spPr>
        <p:txBody>
          <a:bodyPr/>
          <a:lstStyle/>
          <a:p>
            <a:endParaRPr/>
          </a:p>
        </p:txBody>
      </p:sp>
      <p:sp>
        <p:nvSpPr>
          <p:cNvPr id="8" name="Shape 8"/>
          <p:cNvSpPr/>
          <p:nvPr/>
        </p:nvSpPr>
        <p:spPr>
          <a:xfrm>
            <a:off x="1353566" y="470281"/>
            <a:ext cx="1" cy="122809"/>
          </a:xfrm>
          <a:custGeom>
            <a:avLst/>
            <a:gdLst/>
            <a:ahLst/>
            <a:cxnLst/>
            <a:rect l="0" t="0" r="1" b="122809"/>
            <a:pathLst>
              <a:path w="1" h="122809" fill="none">
                <a:moveTo>
                  <a:pt x="0" y="0"/>
                </a:moveTo>
                <a:lnTo>
                  <a:pt x="0" y="122809"/>
                </a:lnTo>
              </a:path>
            </a:pathLst>
          </a:custGeom>
          <a:noFill/>
          <a:ln w="12700">
            <a:solidFill>
              <a:srgbClr val="FFFFF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9" name="Shape 9"/>
          <p:cNvSpPr/>
          <p:nvPr/>
        </p:nvSpPr>
        <p:spPr>
          <a:xfrm>
            <a:off x="21900" y="470281"/>
            <a:ext cx="1" cy="122809"/>
          </a:xfrm>
          <a:custGeom>
            <a:avLst/>
            <a:gdLst/>
            <a:ahLst/>
            <a:cxnLst/>
            <a:rect l="0" t="0" r="1" b="122809"/>
            <a:pathLst>
              <a:path w="1" h="122809" fill="none">
                <a:moveTo>
                  <a:pt x="0" y="0"/>
                </a:moveTo>
                <a:lnTo>
                  <a:pt x="0" y="122809"/>
                </a:lnTo>
              </a:path>
            </a:pathLst>
          </a:custGeom>
          <a:noFill/>
          <a:ln w="12700">
            <a:solidFill>
              <a:srgbClr val="FFFFF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0" name="Shape 10"/>
          <p:cNvSpPr/>
          <p:nvPr/>
        </p:nvSpPr>
        <p:spPr>
          <a:xfrm>
            <a:off x="9130411" y="470281"/>
            <a:ext cx="1" cy="122809"/>
          </a:xfrm>
          <a:custGeom>
            <a:avLst/>
            <a:gdLst/>
            <a:ahLst/>
            <a:cxnLst/>
            <a:rect l="0" t="0" r="1" b="122809"/>
            <a:pathLst>
              <a:path w="1" h="122809" fill="none">
                <a:moveTo>
                  <a:pt x="0" y="0"/>
                </a:moveTo>
                <a:lnTo>
                  <a:pt x="0" y="122809"/>
                </a:lnTo>
              </a:path>
            </a:pathLst>
          </a:custGeom>
          <a:noFill/>
          <a:ln w="12700">
            <a:solidFill>
              <a:srgbClr val="FFFFF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1" name="Shape 11"/>
          <p:cNvSpPr/>
          <p:nvPr/>
        </p:nvSpPr>
        <p:spPr>
          <a:xfrm>
            <a:off x="15550" y="476631"/>
            <a:ext cx="9121211" cy="1"/>
          </a:xfrm>
          <a:custGeom>
            <a:avLst/>
            <a:gdLst/>
            <a:ahLst/>
            <a:cxnLst/>
            <a:rect l="0" t="0" r="9121211" b="1"/>
            <a:pathLst>
              <a:path w="9121211" h="1" fill="none">
                <a:moveTo>
                  <a:pt x="0" y="0"/>
                </a:moveTo>
                <a:lnTo>
                  <a:pt x="9121211" y="0"/>
                </a:lnTo>
              </a:path>
            </a:pathLst>
          </a:custGeom>
          <a:noFill/>
          <a:ln w="12700">
            <a:solidFill>
              <a:srgbClr val="FFFFF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2" name="Shape 12"/>
          <p:cNvSpPr/>
          <p:nvPr/>
        </p:nvSpPr>
        <p:spPr>
          <a:xfrm>
            <a:off x="15550" y="574040"/>
            <a:ext cx="9121211" cy="1"/>
          </a:xfrm>
          <a:custGeom>
            <a:avLst/>
            <a:gdLst/>
            <a:ahLst/>
            <a:cxnLst/>
            <a:rect l="0" t="0" r="9121211" b="1"/>
            <a:pathLst>
              <a:path w="9121211" h="1" fill="none">
                <a:moveTo>
                  <a:pt x="0" y="0"/>
                </a:moveTo>
                <a:lnTo>
                  <a:pt x="9121211" y="0"/>
                </a:lnTo>
              </a:path>
            </a:pathLst>
          </a:custGeom>
          <a:noFill/>
          <a:ln w="38100">
            <a:solidFill>
              <a:srgbClr val="FFFFF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3" name="TextBox 13"/>
          <p:cNvSpPr txBox="1"/>
          <p:nvPr/>
        </p:nvSpPr>
        <p:spPr>
          <a:xfrm>
            <a:off x="487070" y="679170"/>
            <a:ext cx="370025" cy="427147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402" b="1" spc="151" dirty="0">
                <a:solidFill>
                  <a:srgbClr val="967754"/>
                </a:solidFill>
                <a:latin typeface="나눔고딕 2"/>
                <a:cs typeface="나눔고딕 2"/>
              </a:rPr>
              <a:t>4. 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848258" y="679170"/>
            <a:ext cx="877018" cy="427147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402" b="1" dirty="0">
                <a:solidFill>
                  <a:srgbClr val="967754"/>
                </a:solidFill>
                <a:latin typeface="나눔고딕"/>
                <a:cs typeface="나눔고딕"/>
              </a:rPr>
              <a:t>안전의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708150" y="679170"/>
            <a:ext cx="183063" cy="427147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402" b="1" dirty="0">
                <a:solidFill>
                  <a:srgbClr val="967754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791970" y="679170"/>
            <a:ext cx="877018" cy="427147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402" b="1" dirty="0">
                <a:solidFill>
                  <a:srgbClr val="967754"/>
                </a:solidFill>
                <a:latin typeface="나눔고딕"/>
                <a:cs typeface="나눔고딕"/>
              </a:rPr>
              <a:t>중요성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626669" y="1426515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dirty="0">
                <a:solidFill>
                  <a:srgbClr val="7F7F7F"/>
                </a:solidFill>
                <a:latin typeface="Wingdings"/>
                <a:cs typeface="Wingdings"/>
              </a:rPr>
              <a:t>▪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843077" y="1421171"/>
            <a:ext cx="732129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기업의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560830" y="1421171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629410" y="1421171"/>
            <a:ext cx="976182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궁극적인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2586863" y="1421171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2653919" y="1421171"/>
            <a:ext cx="732129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목표는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3371723" y="1421171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3438779" y="1421171"/>
            <a:ext cx="114432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‘이윤’ 추구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626669" y="1807515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dirty="0">
                <a:solidFill>
                  <a:srgbClr val="7F7F7F"/>
                </a:solidFill>
                <a:latin typeface="Wingdings"/>
                <a:cs typeface="Wingdings"/>
              </a:rPr>
              <a:t>▪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843077" y="1802171"/>
            <a:ext cx="670802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spc="105" dirty="0">
                <a:solidFill>
                  <a:srgbClr val="000000"/>
                </a:solidFill>
                <a:latin typeface="나눔고딕 2"/>
                <a:cs typeface="나눔고딕 2"/>
              </a:rPr>
              <a:t>(but) 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498346" y="1802171"/>
            <a:ext cx="1220236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산업재해의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2693543" y="1802171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2760599" y="1802171"/>
            <a:ext cx="488076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발생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3239135" y="1802171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841553" y="2182890"/>
            <a:ext cx="152888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0000"/>
                </a:solidFill>
                <a:latin typeface="나눔고딕 2"/>
                <a:cs typeface="나눔고딕 2"/>
              </a:rPr>
              <a:t>-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1004621" y="2182890"/>
            <a:ext cx="732420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0000"/>
                </a:solidFill>
                <a:latin typeface="나눔고딕"/>
                <a:cs typeface="나눔고딕"/>
              </a:rPr>
              <a:t>피재자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1722374" y="2182890"/>
            <a:ext cx="152888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1790954" y="2182890"/>
            <a:ext cx="488367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0000"/>
                </a:solidFill>
                <a:latin typeface="나눔고딕"/>
                <a:cs typeface="나눔고딕"/>
              </a:rPr>
              <a:t>불행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841553" y="2564552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-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1004621" y="2564552"/>
            <a:ext cx="488076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가족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1483106" y="2564552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1551686" y="2564552"/>
            <a:ext cx="488076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불행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841553" y="2945552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-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1004621" y="2945552"/>
            <a:ext cx="1220236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기업에서의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2199767" y="2945552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2266823" y="2945552"/>
            <a:ext cx="488076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생산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2745359" y="2945552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, 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2890139" y="2945552"/>
            <a:ext cx="488076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일의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3368675" y="2945552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3438779" y="2945552"/>
            <a:ext cx="732129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능률을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4156837" y="2945552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4223893" y="2945552"/>
            <a:ext cx="488076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저해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841575" y="3985413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-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1004643" y="3985413"/>
            <a:ext cx="732129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경우에</a:t>
            </a:r>
          </a:p>
        </p:txBody>
      </p:sp>
      <p:sp>
        <p:nvSpPr>
          <p:cNvPr id="51" name="TextBox 51"/>
          <p:cNvSpPr txBox="1"/>
          <p:nvPr/>
        </p:nvSpPr>
        <p:spPr>
          <a:xfrm>
            <a:off x="1722396" y="3985413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52" name="TextBox 52"/>
          <p:cNvSpPr txBox="1"/>
          <p:nvPr/>
        </p:nvSpPr>
        <p:spPr>
          <a:xfrm>
            <a:off x="1790976" y="3985413"/>
            <a:ext cx="488076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따라</a:t>
            </a:r>
          </a:p>
        </p:txBody>
      </p:sp>
      <p:sp>
        <p:nvSpPr>
          <p:cNvPr id="53" name="TextBox 53"/>
          <p:cNvSpPr txBox="1"/>
          <p:nvPr/>
        </p:nvSpPr>
        <p:spPr>
          <a:xfrm>
            <a:off x="2269893" y="3985413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54" name="TextBox 54"/>
          <p:cNvSpPr txBox="1"/>
          <p:nvPr/>
        </p:nvSpPr>
        <p:spPr>
          <a:xfrm>
            <a:off x="2338473" y="3985413"/>
            <a:ext cx="488076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기업</a:t>
            </a:r>
          </a:p>
        </p:txBody>
      </p:sp>
      <p:sp>
        <p:nvSpPr>
          <p:cNvPr id="55" name="TextBox 55"/>
          <p:cNvSpPr txBox="1"/>
          <p:nvPr/>
        </p:nvSpPr>
        <p:spPr>
          <a:xfrm>
            <a:off x="2817009" y="3985413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56" name="TextBox 56"/>
          <p:cNvSpPr txBox="1"/>
          <p:nvPr/>
        </p:nvSpPr>
        <p:spPr>
          <a:xfrm>
            <a:off x="2885589" y="3985413"/>
            <a:ext cx="732129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경영을</a:t>
            </a:r>
          </a:p>
        </p:txBody>
      </p:sp>
      <p:sp>
        <p:nvSpPr>
          <p:cNvPr id="57" name="TextBox 57"/>
          <p:cNvSpPr txBox="1"/>
          <p:nvPr/>
        </p:nvSpPr>
        <p:spPr>
          <a:xfrm>
            <a:off x="3603393" y="3985413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58" name="TextBox 58"/>
          <p:cNvSpPr txBox="1"/>
          <p:nvPr/>
        </p:nvSpPr>
        <p:spPr>
          <a:xfrm>
            <a:off x="3671973" y="3985413"/>
            <a:ext cx="488076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위협</a:t>
            </a:r>
          </a:p>
        </p:txBody>
      </p:sp>
      <p:sp>
        <p:nvSpPr>
          <p:cNvPr id="59" name="TextBox 59"/>
          <p:cNvSpPr txBox="1"/>
          <p:nvPr/>
        </p:nvSpPr>
        <p:spPr>
          <a:xfrm>
            <a:off x="983307" y="4366667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(</a:t>
            </a:r>
          </a:p>
        </p:txBody>
      </p:sp>
      <p:sp>
        <p:nvSpPr>
          <p:cNvPr id="60" name="TextBox 60"/>
          <p:cNvSpPr txBox="1"/>
          <p:nvPr/>
        </p:nvSpPr>
        <p:spPr>
          <a:xfrm>
            <a:off x="1076271" y="4366667"/>
            <a:ext cx="732129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여론의</a:t>
            </a:r>
          </a:p>
        </p:txBody>
      </p:sp>
      <p:sp>
        <p:nvSpPr>
          <p:cNvPr id="61" name="TextBox 61"/>
          <p:cNvSpPr txBox="1"/>
          <p:nvPr/>
        </p:nvSpPr>
        <p:spPr>
          <a:xfrm>
            <a:off x="1794024" y="4366667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62" name="TextBox 62"/>
          <p:cNvSpPr txBox="1"/>
          <p:nvPr/>
        </p:nvSpPr>
        <p:spPr>
          <a:xfrm>
            <a:off x="1861080" y="4366667"/>
            <a:ext cx="488387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비판</a:t>
            </a:r>
          </a:p>
        </p:txBody>
      </p:sp>
      <p:sp>
        <p:nvSpPr>
          <p:cNvPr id="63" name="TextBox 63"/>
          <p:cNvSpPr txBox="1"/>
          <p:nvPr/>
        </p:nvSpPr>
        <p:spPr>
          <a:xfrm>
            <a:off x="2339997" y="4366667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, </a:t>
            </a:r>
          </a:p>
        </p:txBody>
      </p:sp>
      <p:sp>
        <p:nvSpPr>
          <p:cNvPr id="64" name="TextBox 64"/>
          <p:cNvSpPr txBox="1"/>
          <p:nvPr/>
        </p:nvSpPr>
        <p:spPr>
          <a:xfrm>
            <a:off x="2486301" y="4366667"/>
            <a:ext cx="488076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책임</a:t>
            </a:r>
          </a:p>
        </p:txBody>
      </p:sp>
      <p:sp>
        <p:nvSpPr>
          <p:cNvPr id="65" name="TextBox 65"/>
          <p:cNvSpPr txBox="1"/>
          <p:nvPr/>
        </p:nvSpPr>
        <p:spPr>
          <a:xfrm>
            <a:off x="2964837" y="4366667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66" name="TextBox 66"/>
          <p:cNvSpPr txBox="1"/>
          <p:nvPr/>
        </p:nvSpPr>
        <p:spPr>
          <a:xfrm>
            <a:off x="3033417" y="4366667"/>
            <a:ext cx="488076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추궁</a:t>
            </a:r>
          </a:p>
        </p:txBody>
      </p:sp>
      <p:sp>
        <p:nvSpPr>
          <p:cNvPr id="67" name="TextBox 67"/>
          <p:cNvSpPr txBox="1"/>
          <p:nvPr/>
        </p:nvSpPr>
        <p:spPr>
          <a:xfrm>
            <a:off x="3511953" y="4366667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68" name="TextBox 68"/>
          <p:cNvSpPr txBox="1"/>
          <p:nvPr/>
        </p:nvSpPr>
        <p:spPr>
          <a:xfrm>
            <a:off x="3582057" y="4366667"/>
            <a:ext cx="244022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등</a:t>
            </a:r>
          </a:p>
        </p:txBody>
      </p:sp>
      <p:sp>
        <p:nvSpPr>
          <p:cNvPr id="69" name="TextBox 69"/>
          <p:cNvSpPr txBox="1"/>
          <p:nvPr/>
        </p:nvSpPr>
        <p:spPr>
          <a:xfrm>
            <a:off x="3821325" y="4366667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)</a:t>
            </a:r>
          </a:p>
        </p:txBody>
      </p:sp>
      <p:sp>
        <p:nvSpPr>
          <p:cNvPr id="70" name="TextBox 70"/>
          <p:cNvSpPr txBox="1"/>
          <p:nvPr/>
        </p:nvSpPr>
        <p:spPr>
          <a:xfrm>
            <a:off x="415138" y="105410"/>
            <a:ext cx="1349289" cy="42672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400" b="1" dirty="0">
                <a:solidFill>
                  <a:srgbClr val="000000"/>
                </a:solidFill>
                <a:latin typeface="나눔고딕"/>
                <a:cs typeface="나눔고딕"/>
              </a:rPr>
              <a:t>Ⅱ. 안전의</a:t>
            </a:r>
          </a:p>
        </p:txBody>
      </p:sp>
      <p:sp>
        <p:nvSpPr>
          <p:cNvPr id="71" name="TextBox 71"/>
          <p:cNvSpPr txBox="1"/>
          <p:nvPr/>
        </p:nvSpPr>
        <p:spPr>
          <a:xfrm>
            <a:off x="1737995" y="105410"/>
            <a:ext cx="182880" cy="42672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400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72" name="TextBox 72"/>
          <p:cNvSpPr txBox="1"/>
          <p:nvPr/>
        </p:nvSpPr>
        <p:spPr>
          <a:xfrm>
            <a:off x="1821815" y="105410"/>
            <a:ext cx="584795" cy="42672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400" b="1" dirty="0">
                <a:solidFill>
                  <a:srgbClr val="000000"/>
                </a:solidFill>
                <a:latin typeface="나눔고딕"/>
                <a:cs typeface="나눔고딕"/>
              </a:rPr>
              <a:t>개요</a:t>
            </a:r>
          </a:p>
        </p:txBody>
      </p:sp>
      <p:sp>
        <p:nvSpPr>
          <p:cNvPr id="4" name="직사각형 3"/>
          <p:cNvSpPr/>
          <p:nvPr/>
        </p:nvSpPr>
        <p:spPr>
          <a:xfrm>
            <a:off x="839312" y="3431535"/>
            <a:ext cx="568086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dirty="0"/>
              <a:t>https://www.youtube.com/watch?v=hLmefQiFzDA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5"/>
          <p:cNvSpPr txBox="1"/>
          <p:nvPr/>
        </p:nvSpPr>
        <p:spPr>
          <a:xfrm>
            <a:off x="487070" y="679170"/>
            <a:ext cx="370025" cy="427147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402" b="1" spc="151" dirty="0">
                <a:solidFill>
                  <a:srgbClr val="967754"/>
                </a:solidFill>
                <a:latin typeface="나눔고딕 2"/>
                <a:cs typeface="나눔고딕 2"/>
              </a:rPr>
              <a:t>5. 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848258" y="679170"/>
            <a:ext cx="877018" cy="427147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402" b="1" dirty="0">
                <a:solidFill>
                  <a:srgbClr val="967754"/>
                </a:solidFill>
                <a:latin typeface="나눔고딕"/>
                <a:cs typeface="나눔고딕"/>
              </a:rPr>
              <a:t>안전과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708150" y="679170"/>
            <a:ext cx="183063" cy="427147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402" b="1" dirty="0">
                <a:solidFill>
                  <a:srgbClr val="967754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791970" y="679170"/>
            <a:ext cx="877018" cy="427147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402" b="1" dirty="0">
                <a:solidFill>
                  <a:srgbClr val="967754"/>
                </a:solidFill>
                <a:latin typeface="나눔고딕"/>
                <a:cs typeface="나눔고딕"/>
              </a:rPr>
              <a:t>리스크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592531" y="1213164"/>
            <a:ext cx="355691" cy="390876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198" b="1" spc="150" dirty="0">
                <a:solidFill>
                  <a:srgbClr val="000000"/>
                </a:solidFill>
                <a:latin typeface="나눔고딕 2"/>
                <a:cs typeface="나눔고딕 2"/>
              </a:rPr>
              <a:t>1) 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941527" y="1213164"/>
            <a:ext cx="1069804" cy="390876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198" b="1" dirty="0">
                <a:solidFill>
                  <a:srgbClr val="000000"/>
                </a:solidFill>
                <a:latin typeface="나눔고딕"/>
                <a:cs typeface="나눔고딕"/>
              </a:rPr>
              <a:t>안전이란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990344" y="1213164"/>
            <a:ext cx="167518" cy="390876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198" b="1" dirty="0">
                <a:solidFill>
                  <a:srgbClr val="000000"/>
                </a:solidFill>
                <a:latin typeface="나눔고딕 2"/>
                <a:cs typeface="나눔고딕 2"/>
              </a:rPr>
              <a:t>: 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2151888" y="1213164"/>
            <a:ext cx="535064" cy="390876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198" b="1" dirty="0">
                <a:solidFill>
                  <a:srgbClr val="000000"/>
                </a:solidFill>
                <a:latin typeface="나눔고딕"/>
                <a:cs typeface="나눔고딕"/>
              </a:rPr>
              <a:t>허용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2676144" y="1213164"/>
            <a:ext cx="167518" cy="390876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198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2753868" y="1213164"/>
            <a:ext cx="1069804" cy="390876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198" b="1" dirty="0">
                <a:solidFill>
                  <a:srgbClr val="000000"/>
                </a:solidFill>
                <a:latin typeface="나눔고딕"/>
                <a:cs typeface="나눔고딕"/>
              </a:rPr>
              <a:t>불가능한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3802634" y="1213164"/>
            <a:ext cx="167518" cy="390876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198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3878834" y="1213164"/>
            <a:ext cx="802434" cy="390876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198" b="1" dirty="0">
                <a:solidFill>
                  <a:srgbClr val="000000"/>
                </a:solidFill>
                <a:latin typeface="나눔고딕"/>
                <a:cs typeface="나눔고딕"/>
              </a:rPr>
              <a:t>리스크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4665218" y="1213164"/>
            <a:ext cx="167518" cy="390876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198" b="1" dirty="0">
                <a:solidFill>
                  <a:srgbClr val="000000"/>
                </a:solidFill>
                <a:latin typeface="나눔고딕 2"/>
                <a:cs typeface="나눔고딕 2"/>
              </a:rPr>
              <a:t>(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4765802" y="1213164"/>
            <a:ext cx="803057" cy="390876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198" b="1" dirty="0">
                <a:solidFill>
                  <a:srgbClr val="000000"/>
                </a:solidFill>
                <a:latin typeface="나눔고딕"/>
                <a:cs typeface="나눔고딕"/>
              </a:rPr>
              <a:t>위험성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5552567" y="1213164"/>
            <a:ext cx="167518" cy="390876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198" b="1" dirty="0">
                <a:solidFill>
                  <a:srgbClr val="000000"/>
                </a:solidFill>
                <a:latin typeface="나눔고딕 2"/>
                <a:cs typeface="나눔고딕 2"/>
              </a:rPr>
              <a:t>)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5653151" y="1213164"/>
            <a:ext cx="267694" cy="390876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198" b="1" dirty="0">
                <a:solidFill>
                  <a:srgbClr val="000000"/>
                </a:solidFill>
                <a:latin typeface="나눔고딕"/>
                <a:cs typeface="나눔고딕"/>
              </a:rPr>
              <a:t>가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5915279" y="1213164"/>
            <a:ext cx="167518" cy="390876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198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5994527" y="1213164"/>
            <a:ext cx="1069804" cy="390876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198" b="1" dirty="0">
                <a:solidFill>
                  <a:srgbClr val="000000"/>
                </a:solidFill>
                <a:latin typeface="나눔고딕"/>
                <a:cs typeface="나눔고딕"/>
              </a:rPr>
              <a:t>존재하지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7043293" y="1213164"/>
            <a:ext cx="167518" cy="390876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198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7119493" y="1213164"/>
            <a:ext cx="535064" cy="390876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198" b="1" dirty="0">
                <a:solidFill>
                  <a:srgbClr val="000000"/>
                </a:solidFill>
                <a:latin typeface="나눔고딕"/>
                <a:cs typeface="나눔고딕"/>
              </a:rPr>
              <a:t>않는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7643749" y="1213164"/>
            <a:ext cx="167518" cy="390876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198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7721473" y="1213164"/>
            <a:ext cx="267694" cy="390876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198" b="1" dirty="0">
                <a:solidFill>
                  <a:srgbClr val="000000"/>
                </a:solidFill>
                <a:latin typeface="나눔고딕"/>
                <a:cs typeface="나눔고딕"/>
              </a:rPr>
              <a:t>것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914705" y="1750619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dirty="0">
                <a:solidFill>
                  <a:srgbClr val="7F7F7F"/>
                </a:solidFill>
                <a:latin typeface="Wingdings"/>
                <a:cs typeface="Wingdings"/>
              </a:rPr>
              <a:t>▪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131113" y="1745275"/>
            <a:ext cx="2219761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spc="124" dirty="0">
                <a:solidFill>
                  <a:srgbClr val="000000"/>
                </a:solidFill>
                <a:latin typeface="나눔고딕 2"/>
                <a:cs typeface="나눔고딕 2"/>
              </a:rPr>
              <a:t>ISO/IEC GUIDE 51 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129589" y="2126275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-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292606" y="2126275"/>
            <a:ext cx="488076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안전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1771142" y="2126275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: 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1915922" y="2126275"/>
            <a:ext cx="488076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허용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2394458" y="2126275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2464562" y="2126275"/>
            <a:ext cx="97711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불가능한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3422015" y="2126275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3489071" y="2126275"/>
            <a:ext cx="976182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리스크가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4446143" y="2126275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4511675" y="2126275"/>
            <a:ext cx="488387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없는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4990465" y="2126275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5060569" y="2126275"/>
            <a:ext cx="244022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것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1271270" y="2507275"/>
            <a:ext cx="4980650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spc="87" dirty="0">
                <a:solidFill>
                  <a:srgbClr val="000000"/>
                </a:solidFill>
                <a:latin typeface="나눔고딕 2"/>
                <a:cs typeface="나눔고딕 2"/>
              </a:rPr>
              <a:t>(freedom from risk which is not tolerable)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1236574" y="3322615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dirty="0">
                <a:solidFill>
                  <a:srgbClr val="0070C0"/>
                </a:solidFill>
                <a:latin typeface="나눔고딕"/>
                <a:cs typeface="나눔고딕"/>
              </a:rPr>
              <a:t> 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1306703" y="3322615"/>
            <a:ext cx="1987224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spc="101" dirty="0">
                <a:solidFill>
                  <a:srgbClr val="0070C0"/>
                </a:solidFill>
                <a:latin typeface="나눔고딕 2"/>
                <a:cs typeface="나눔고딕 2"/>
              </a:rPr>
              <a:t>ISO, IEC, ISO/IEC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997306" y="3856269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dirty="0">
                <a:solidFill>
                  <a:srgbClr val="7F7F7F"/>
                </a:solidFill>
                <a:latin typeface="나눔고딕 ExtraBold"/>
                <a:cs typeface="나눔고딕 ExtraBold"/>
              </a:rPr>
              <a:t>-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1177138" y="3856269"/>
            <a:ext cx="5376277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spc="91" dirty="0">
                <a:solidFill>
                  <a:srgbClr val="000000"/>
                </a:solidFill>
                <a:latin typeface="나눔고딕 2"/>
                <a:cs typeface="나눔고딕 2"/>
              </a:rPr>
              <a:t>ISO(International Organization for Standard: 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7152887" y="3881202"/>
            <a:ext cx="1706857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국제표준화기구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8859744" y="3856268"/>
            <a:ext cx="243650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spc="84" dirty="0">
                <a:solidFill>
                  <a:srgbClr val="000000"/>
                </a:solidFill>
                <a:latin typeface="나눔고딕 2"/>
                <a:cs typeface="나눔고딕 2"/>
              </a:rPr>
              <a:t>): 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1177138" y="4313469"/>
            <a:ext cx="488076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기계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1655699" y="4313469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1724279" y="4313469"/>
            <a:ext cx="244022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등</a:t>
            </a:r>
          </a:p>
        </p:txBody>
      </p:sp>
      <p:sp>
        <p:nvSpPr>
          <p:cNvPr id="51" name="TextBox 51"/>
          <p:cNvSpPr txBox="1"/>
          <p:nvPr/>
        </p:nvSpPr>
        <p:spPr>
          <a:xfrm>
            <a:off x="1963801" y="4313469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(</a:t>
            </a:r>
          </a:p>
        </p:txBody>
      </p:sp>
      <p:sp>
        <p:nvSpPr>
          <p:cNvPr id="52" name="TextBox 52"/>
          <p:cNvSpPr txBox="1"/>
          <p:nvPr/>
        </p:nvSpPr>
        <p:spPr>
          <a:xfrm>
            <a:off x="2056765" y="4313469"/>
            <a:ext cx="488076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전기</a:t>
            </a:r>
          </a:p>
        </p:txBody>
      </p:sp>
      <p:sp>
        <p:nvSpPr>
          <p:cNvPr id="53" name="TextBox 53"/>
          <p:cNvSpPr txBox="1"/>
          <p:nvPr/>
        </p:nvSpPr>
        <p:spPr>
          <a:xfrm>
            <a:off x="2535301" y="4313469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, </a:t>
            </a:r>
          </a:p>
        </p:txBody>
      </p:sp>
      <p:sp>
        <p:nvSpPr>
          <p:cNvPr id="54" name="TextBox 54"/>
          <p:cNvSpPr txBox="1"/>
          <p:nvPr/>
        </p:nvSpPr>
        <p:spPr>
          <a:xfrm>
            <a:off x="2678557" y="4313469"/>
            <a:ext cx="488076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통신</a:t>
            </a:r>
          </a:p>
        </p:txBody>
      </p:sp>
      <p:sp>
        <p:nvSpPr>
          <p:cNvPr id="55" name="TextBox 55"/>
          <p:cNvSpPr txBox="1"/>
          <p:nvPr/>
        </p:nvSpPr>
        <p:spPr>
          <a:xfrm>
            <a:off x="3157093" y="4313469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56" name="TextBox 56"/>
          <p:cNvSpPr txBox="1"/>
          <p:nvPr/>
        </p:nvSpPr>
        <p:spPr>
          <a:xfrm>
            <a:off x="3227197" y="4313469"/>
            <a:ext cx="244022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외</a:t>
            </a:r>
          </a:p>
        </p:txBody>
      </p:sp>
      <p:sp>
        <p:nvSpPr>
          <p:cNvPr id="57" name="TextBox 57"/>
          <p:cNvSpPr txBox="1"/>
          <p:nvPr/>
        </p:nvSpPr>
        <p:spPr>
          <a:xfrm>
            <a:off x="3466465" y="4313469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)</a:t>
            </a:r>
          </a:p>
        </p:txBody>
      </p:sp>
      <p:sp>
        <p:nvSpPr>
          <p:cNvPr id="58" name="TextBox 58"/>
          <p:cNvSpPr txBox="1"/>
          <p:nvPr/>
        </p:nvSpPr>
        <p:spPr>
          <a:xfrm>
            <a:off x="3559429" y="4313469"/>
            <a:ext cx="244022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의</a:t>
            </a:r>
          </a:p>
        </p:txBody>
      </p:sp>
      <p:sp>
        <p:nvSpPr>
          <p:cNvPr id="59" name="TextBox 59"/>
          <p:cNvSpPr txBox="1"/>
          <p:nvPr/>
        </p:nvSpPr>
        <p:spPr>
          <a:xfrm>
            <a:off x="3799078" y="4313469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60" name="TextBox 60"/>
          <p:cNvSpPr txBox="1"/>
          <p:nvPr/>
        </p:nvSpPr>
        <p:spPr>
          <a:xfrm>
            <a:off x="3867658" y="4313469"/>
            <a:ext cx="1220236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국제표준을</a:t>
            </a:r>
          </a:p>
        </p:txBody>
      </p:sp>
      <p:sp>
        <p:nvSpPr>
          <p:cNvPr id="61" name="TextBox 61"/>
          <p:cNvSpPr txBox="1"/>
          <p:nvPr/>
        </p:nvSpPr>
        <p:spPr>
          <a:xfrm>
            <a:off x="5062474" y="4313469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62" name="TextBox 62"/>
          <p:cNvSpPr txBox="1"/>
          <p:nvPr/>
        </p:nvSpPr>
        <p:spPr>
          <a:xfrm>
            <a:off x="5129530" y="4313469"/>
            <a:ext cx="488076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검토</a:t>
            </a:r>
          </a:p>
        </p:txBody>
      </p:sp>
      <p:sp>
        <p:nvSpPr>
          <p:cNvPr id="63" name="TextBox 63"/>
          <p:cNvSpPr txBox="1"/>
          <p:nvPr/>
        </p:nvSpPr>
        <p:spPr>
          <a:xfrm>
            <a:off x="5608320" y="4293108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맑은 고딕 2"/>
                <a:cs typeface="맑은 고딕 2"/>
              </a:rPr>
              <a:t>〮</a:t>
            </a:r>
          </a:p>
        </p:txBody>
      </p:sp>
      <p:sp>
        <p:nvSpPr>
          <p:cNvPr id="64" name="TextBox 64"/>
          <p:cNvSpPr txBox="1"/>
          <p:nvPr/>
        </p:nvSpPr>
        <p:spPr>
          <a:xfrm>
            <a:off x="5693664" y="4313469"/>
            <a:ext cx="972973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작성하고</a:t>
            </a:r>
          </a:p>
        </p:txBody>
      </p:sp>
      <p:sp>
        <p:nvSpPr>
          <p:cNvPr id="65" name="TextBox 65"/>
          <p:cNvSpPr txBox="1"/>
          <p:nvPr/>
        </p:nvSpPr>
        <p:spPr>
          <a:xfrm>
            <a:off x="6646164" y="4313469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66" name="TextBox 66"/>
          <p:cNvSpPr txBox="1"/>
          <p:nvPr/>
        </p:nvSpPr>
        <p:spPr>
          <a:xfrm>
            <a:off x="6713220" y="4313469"/>
            <a:ext cx="488076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있는</a:t>
            </a:r>
          </a:p>
        </p:txBody>
      </p:sp>
      <p:sp>
        <p:nvSpPr>
          <p:cNvPr id="67" name="TextBox 67"/>
          <p:cNvSpPr txBox="1"/>
          <p:nvPr/>
        </p:nvSpPr>
        <p:spPr>
          <a:xfrm>
            <a:off x="7191756" y="4313469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68" name="TextBox 68"/>
          <p:cNvSpPr txBox="1"/>
          <p:nvPr/>
        </p:nvSpPr>
        <p:spPr>
          <a:xfrm>
            <a:off x="7261860" y="4313469"/>
            <a:ext cx="977116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국제기구</a:t>
            </a:r>
          </a:p>
        </p:txBody>
      </p:sp>
      <p:sp>
        <p:nvSpPr>
          <p:cNvPr id="69" name="TextBox 69"/>
          <p:cNvSpPr txBox="1"/>
          <p:nvPr/>
        </p:nvSpPr>
        <p:spPr>
          <a:xfrm>
            <a:off x="997306" y="4846588"/>
            <a:ext cx="152888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dirty="0">
                <a:solidFill>
                  <a:srgbClr val="7F7F7F"/>
                </a:solidFill>
                <a:latin typeface="나눔고딕 ExtraBold"/>
                <a:cs typeface="나눔고딕 ExtraBold"/>
              </a:rPr>
              <a:t>-</a:t>
            </a:r>
          </a:p>
        </p:txBody>
      </p:sp>
      <p:sp>
        <p:nvSpPr>
          <p:cNvPr id="70" name="TextBox 70"/>
          <p:cNvSpPr txBox="1"/>
          <p:nvPr/>
        </p:nvSpPr>
        <p:spPr>
          <a:xfrm>
            <a:off x="1177138" y="4846588"/>
            <a:ext cx="3967654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spc="80" dirty="0">
                <a:solidFill>
                  <a:srgbClr val="000000"/>
                </a:solidFill>
                <a:latin typeface="나눔고딕 2"/>
                <a:cs typeface="나눔고딕 2"/>
              </a:rPr>
              <a:t>IEC(International Electrotechnical</a:t>
            </a:r>
          </a:p>
        </p:txBody>
      </p:sp>
      <p:sp>
        <p:nvSpPr>
          <p:cNvPr id="71" name="TextBox 71"/>
          <p:cNvSpPr txBox="1"/>
          <p:nvPr/>
        </p:nvSpPr>
        <p:spPr>
          <a:xfrm>
            <a:off x="5607101" y="4846588"/>
            <a:ext cx="1614815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spc="109" dirty="0">
                <a:solidFill>
                  <a:srgbClr val="000000"/>
                </a:solidFill>
                <a:latin typeface="나눔고딕 2"/>
                <a:cs typeface="나눔고딕 2"/>
              </a:rPr>
              <a:t>Commission: </a:t>
            </a:r>
          </a:p>
        </p:txBody>
      </p:sp>
      <p:sp>
        <p:nvSpPr>
          <p:cNvPr id="72" name="TextBox 72"/>
          <p:cNvSpPr txBox="1"/>
          <p:nvPr/>
        </p:nvSpPr>
        <p:spPr>
          <a:xfrm>
            <a:off x="7295747" y="4872056"/>
            <a:ext cx="1464579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0000"/>
                </a:solidFill>
                <a:latin typeface="나눔고딕"/>
                <a:cs typeface="나눔고딕"/>
              </a:rPr>
              <a:t>국제전기기술</a:t>
            </a:r>
          </a:p>
        </p:txBody>
      </p:sp>
      <p:sp>
        <p:nvSpPr>
          <p:cNvPr id="73" name="TextBox 73"/>
          <p:cNvSpPr txBox="1"/>
          <p:nvPr/>
        </p:nvSpPr>
        <p:spPr>
          <a:xfrm>
            <a:off x="8150606" y="4846588"/>
            <a:ext cx="152888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74" name="TextBox 74"/>
          <p:cNvSpPr txBox="1"/>
          <p:nvPr/>
        </p:nvSpPr>
        <p:spPr>
          <a:xfrm>
            <a:off x="1177138" y="5304323"/>
            <a:ext cx="732129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위원회</a:t>
            </a:r>
          </a:p>
        </p:txBody>
      </p:sp>
      <p:sp>
        <p:nvSpPr>
          <p:cNvPr id="75" name="TextBox 75"/>
          <p:cNvSpPr txBox="1"/>
          <p:nvPr/>
        </p:nvSpPr>
        <p:spPr>
          <a:xfrm>
            <a:off x="1895221" y="5304323"/>
            <a:ext cx="245580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spc="89" dirty="0">
                <a:solidFill>
                  <a:srgbClr val="000000"/>
                </a:solidFill>
                <a:latin typeface="나눔고딕 2"/>
                <a:cs typeface="나눔고딕 2"/>
              </a:rPr>
              <a:t>): </a:t>
            </a:r>
          </a:p>
        </p:txBody>
      </p:sp>
      <p:sp>
        <p:nvSpPr>
          <p:cNvPr id="76" name="TextBox 76"/>
          <p:cNvSpPr txBox="1"/>
          <p:nvPr/>
        </p:nvSpPr>
        <p:spPr>
          <a:xfrm>
            <a:off x="2131441" y="5304323"/>
            <a:ext cx="1220236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전기관계의</a:t>
            </a:r>
          </a:p>
        </p:txBody>
      </p:sp>
      <p:sp>
        <p:nvSpPr>
          <p:cNvPr id="77" name="TextBox 77"/>
          <p:cNvSpPr txBox="1"/>
          <p:nvPr/>
        </p:nvSpPr>
        <p:spPr>
          <a:xfrm>
            <a:off x="3326257" y="5304323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78" name="TextBox 78"/>
          <p:cNvSpPr txBox="1"/>
          <p:nvPr/>
        </p:nvSpPr>
        <p:spPr>
          <a:xfrm>
            <a:off x="3393313" y="5304323"/>
            <a:ext cx="1220236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국제표준을</a:t>
            </a:r>
          </a:p>
        </p:txBody>
      </p:sp>
      <p:sp>
        <p:nvSpPr>
          <p:cNvPr id="79" name="TextBox 79"/>
          <p:cNvSpPr txBox="1"/>
          <p:nvPr/>
        </p:nvSpPr>
        <p:spPr>
          <a:xfrm>
            <a:off x="4588510" y="5304323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80" name="TextBox 80"/>
          <p:cNvSpPr txBox="1"/>
          <p:nvPr/>
        </p:nvSpPr>
        <p:spPr>
          <a:xfrm>
            <a:off x="4655566" y="5304323"/>
            <a:ext cx="488076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검토</a:t>
            </a:r>
          </a:p>
        </p:txBody>
      </p:sp>
      <p:sp>
        <p:nvSpPr>
          <p:cNvPr id="81" name="TextBox 81"/>
          <p:cNvSpPr txBox="1"/>
          <p:nvPr/>
        </p:nvSpPr>
        <p:spPr>
          <a:xfrm>
            <a:off x="5134102" y="5283962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맑은 고딕 2"/>
                <a:cs typeface="맑은 고딕 2"/>
              </a:rPr>
              <a:t>〮</a:t>
            </a:r>
          </a:p>
        </p:txBody>
      </p:sp>
      <p:sp>
        <p:nvSpPr>
          <p:cNvPr id="82" name="TextBox 82"/>
          <p:cNvSpPr txBox="1"/>
          <p:nvPr/>
        </p:nvSpPr>
        <p:spPr>
          <a:xfrm>
            <a:off x="5219446" y="5304323"/>
            <a:ext cx="974531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작성하고</a:t>
            </a:r>
          </a:p>
        </p:txBody>
      </p:sp>
      <p:sp>
        <p:nvSpPr>
          <p:cNvPr id="83" name="TextBox 83"/>
          <p:cNvSpPr txBox="1"/>
          <p:nvPr/>
        </p:nvSpPr>
        <p:spPr>
          <a:xfrm>
            <a:off x="6173724" y="5304323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84" name="TextBox 84"/>
          <p:cNvSpPr txBox="1"/>
          <p:nvPr/>
        </p:nvSpPr>
        <p:spPr>
          <a:xfrm>
            <a:off x="6240780" y="5304323"/>
            <a:ext cx="488076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있는</a:t>
            </a:r>
          </a:p>
        </p:txBody>
      </p:sp>
      <p:sp>
        <p:nvSpPr>
          <p:cNvPr id="85" name="TextBox 85"/>
          <p:cNvSpPr txBox="1"/>
          <p:nvPr/>
        </p:nvSpPr>
        <p:spPr>
          <a:xfrm>
            <a:off x="6719316" y="5304323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86" name="TextBox 86"/>
          <p:cNvSpPr txBox="1"/>
          <p:nvPr/>
        </p:nvSpPr>
        <p:spPr>
          <a:xfrm>
            <a:off x="6787896" y="5304323"/>
            <a:ext cx="976183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국제기구</a:t>
            </a:r>
          </a:p>
        </p:txBody>
      </p:sp>
      <p:sp>
        <p:nvSpPr>
          <p:cNvPr id="87" name="TextBox 87"/>
          <p:cNvSpPr txBox="1"/>
          <p:nvPr/>
        </p:nvSpPr>
        <p:spPr>
          <a:xfrm>
            <a:off x="997306" y="5837774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dirty="0">
                <a:solidFill>
                  <a:srgbClr val="7F7F7F"/>
                </a:solidFill>
                <a:latin typeface="나눔고딕 ExtraBold"/>
                <a:cs typeface="나눔고딕 ExtraBold"/>
              </a:rPr>
              <a:t>-</a:t>
            </a:r>
          </a:p>
        </p:txBody>
      </p:sp>
      <p:sp>
        <p:nvSpPr>
          <p:cNvPr id="88" name="TextBox 88"/>
          <p:cNvSpPr txBox="1"/>
          <p:nvPr/>
        </p:nvSpPr>
        <p:spPr>
          <a:xfrm>
            <a:off x="1177138" y="5837774"/>
            <a:ext cx="1042806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spc="86" dirty="0">
                <a:solidFill>
                  <a:srgbClr val="000000"/>
                </a:solidFill>
                <a:latin typeface="나눔고딕 2"/>
                <a:cs typeface="나눔고딕 2"/>
              </a:rPr>
              <a:t>ISO/IEC: </a:t>
            </a:r>
          </a:p>
        </p:txBody>
      </p:sp>
      <p:sp>
        <p:nvSpPr>
          <p:cNvPr id="89" name="TextBox 89"/>
          <p:cNvSpPr txBox="1"/>
          <p:nvPr/>
        </p:nvSpPr>
        <p:spPr>
          <a:xfrm>
            <a:off x="2200021" y="5837774"/>
            <a:ext cx="244022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위</a:t>
            </a:r>
          </a:p>
        </p:txBody>
      </p:sp>
      <p:sp>
        <p:nvSpPr>
          <p:cNvPr id="90" name="TextBox 90"/>
          <p:cNvSpPr txBox="1"/>
          <p:nvPr/>
        </p:nvSpPr>
        <p:spPr>
          <a:xfrm>
            <a:off x="2439289" y="5837774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91" name="TextBox 91"/>
          <p:cNvSpPr txBox="1"/>
          <p:nvPr/>
        </p:nvSpPr>
        <p:spPr>
          <a:xfrm>
            <a:off x="2509393" y="5837774"/>
            <a:ext cx="244022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두</a:t>
            </a:r>
          </a:p>
        </p:txBody>
      </p:sp>
      <p:sp>
        <p:nvSpPr>
          <p:cNvPr id="92" name="TextBox 92"/>
          <p:cNvSpPr txBox="1"/>
          <p:nvPr/>
        </p:nvSpPr>
        <p:spPr>
          <a:xfrm>
            <a:off x="2748661" y="5837774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93" name="TextBox 93"/>
          <p:cNvSpPr txBox="1"/>
          <p:nvPr/>
        </p:nvSpPr>
        <p:spPr>
          <a:xfrm>
            <a:off x="2818765" y="5837774"/>
            <a:ext cx="488076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개의</a:t>
            </a:r>
          </a:p>
        </p:txBody>
      </p:sp>
      <p:sp>
        <p:nvSpPr>
          <p:cNvPr id="94" name="TextBox 94"/>
          <p:cNvSpPr txBox="1"/>
          <p:nvPr/>
        </p:nvSpPr>
        <p:spPr>
          <a:xfrm>
            <a:off x="3297301" y="5837774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95" name="TextBox 95"/>
          <p:cNvSpPr txBox="1"/>
          <p:nvPr/>
        </p:nvSpPr>
        <p:spPr>
          <a:xfrm>
            <a:off x="3365881" y="5837774"/>
            <a:ext cx="1706857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국제표준기관이</a:t>
            </a:r>
          </a:p>
        </p:txBody>
      </p:sp>
      <p:sp>
        <p:nvSpPr>
          <p:cNvPr id="96" name="TextBox 96"/>
          <p:cNvSpPr txBox="1"/>
          <p:nvPr/>
        </p:nvSpPr>
        <p:spPr>
          <a:xfrm>
            <a:off x="5038090" y="5837774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97" name="TextBox 97"/>
          <p:cNvSpPr txBox="1"/>
          <p:nvPr/>
        </p:nvSpPr>
        <p:spPr>
          <a:xfrm>
            <a:off x="5105146" y="5837774"/>
            <a:ext cx="976182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합동으로</a:t>
            </a:r>
          </a:p>
        </p:txBody>
      </p:sp>
      <p:sp>
        <p:nvSpPr>
          <p:cNvPr id="98" name="TextBox 98"/>
          <p:cNvSpPr txBox="1"/>
          <p:nvPr/>
        </p:nvSpPr>
        <p:spPr>
          <a:xfrm>
            <a:off x="6062472" y="5837774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99" name="TextBox 99"/>
          <p:cNvSpPr txBox="1"/>
          <p:nvPr/>
        </p:nvSpPr>
        <p:spPr>
          <a:xfrm>
            <a:off x="6129528" y="5837774"/>
            <a:ext cx="732129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작성한</a:t>
            </a:r>
          </a:p>
        </p:txBody>
      </p:sp>
      <p:sp>
        <p:nvSpPr>
          <p:cNvPr id="100" name="TextBox 100"/>
          <p:cNvSpPr txBox="1"/>
          <p:nvPr/>
        </p:nvSpPr>
        <p:spPr>
          <a:xfrm>
            <a:off x="6847332" y="5837774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101" name="TextBox 101"/>
          <p:cNvSpPr txBox="1"/>
          <p:nvPr/>
        </p:nvSpPr>
        <p:spPr>
          <a:xfrm>
            <a:off x="6915912" y="5837774"/>
            <a:ext cx="488076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표준</a:t>
            </a:r>
          </a:p>
        </p:txBody>
      </p:sp>
      <p:sp>
        <p:nvSpPr>
          <p:cNvPr id="102" name="TextBox 102"/>
          <p:cNvSpPr txBox="1"/>
          <p:nvPr/>
        </p:nvSpPr>
        <p:spPr>
          <a:xfrm>
            <a:off x="415138" y="105410"/>
            <a:ext cx="1349289" cy="42672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400" b="1" dirty="0">
                <a:solidFill>
                  <a:srgbClr val="000000"/>
                </a:solidFill>
                <a:latin typeface="나눔고딕"/>
                <a:cs typeface="나눔고딕"/>
              </a:rPr>
              <a:t>Ⅱ. 안전의</a:t>
            </a:r>
          </a:p>
        </p:txBody>
      </p:sp>
      <p:sp>
        <p:nvSpPr>
          <p:cNvPr id="103" name="TextBox 103"/>
          <p:cNvSpPr txBox="1"/>
          <p:nvPr/>
        </p:nvSpPr>
        <p:spPr>
          <a:xfrm>
            <a:off x="1737995" y="105410"/>
            <a:ext cx="182880" cy="42672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400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104" name="TextBox 104"/>
          <p:cNvSpPr txBox="1"/>
          <p:nvPr/>
        </p:nvSpPr>
        <p:spPr>
          <a:xfrm>
            <a:off x="1821815" y="105410"/>
            <a:ext cx="584795" cy="42672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400" b="1" dirty="0">
                <a:solidFill>
                  <a:srgbClr val="000000"/>
                </a:solidFill>
                <a:latin typeface="나눔고딕"/>
                <a:cs typeface="나눔고딕"/>
              </a:rPr>
              <a:t>개요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-1"/>
            <a:ext cx="9144000" cy="6858000"/>
          </a:xfrm>
          <a:prstGeom prst="rect">
            <a:avLst/>
          </a:prstGeom>
          <a:solidFill>
            <a:srgbClr val="FFFFFF"/>
          </a:solidFill>
        </p:spPr>
        <p:txBody>
          <a:bodyPr/>
          <a:lstStyle/>
          <a:p>
            <a:endParaRPr/>
          </a:p>
        </p:txBody>
      </p:sp>
      <p:sp>
        <p:nvSpPr>
          <p:cNvPr id="3" name="Shape 3"/>
          <p:cNvSpPr/>
          <p:nvPr/>
        </p:nvSpPr>
        <p:spPr>
          <a:xfrm>
            <a:off x="0" y="6525349"/>
            <a:ext cx="9144000" cy="1"/>
          </a:xfrm>
          <a:custGeom>
            <a:avLst/>
            <a:gdLst/>
            <a:ahLst/>
            <a:cxnLst/>
            <a:rect l="0" t="0" r="9144000" b="1"/>
            <a:pathLst>
              <a:path w="9144000" h="1" fill="none">
                <a:moveTo>
                  <a:pt x="0" y="0"/>
                </a:moveTo>
                <a:lnTo>
                  <a:pt x="9144000" y="0"/>
                </a:lnTo>
              </a:path>
            </a:pathLst>
          </a:custGeom>
          <a:noFill/>
          <a:ln w="19050">
            <a:solidFill>
              <a:srgbClr val="5B9BD5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6" name="Shape 6"/>
          <p:cNvSpPr/>
          <p:nvPr/>
        </p:nvSpPr>
        <p:spPr>
          <a:xfrm>
            <a:off x="21900" y="476640"/>
            <a:ext cx="1331595" cy="97400"/>
          </a:xfrm>
          <a:prstGeom prst="rect">
            <a:avLst/>
          </a:prstGeom>
          <a:solidFill>
            <a:srgbClr val="92D050"/>
          </a:solidFill>
        </p:spPr>
        <p:txBody>
          <a:bodyPr/>
          <a:lstStyle/>
          <a:p>
            <a:endParaRPr/>
          </a:p>
        </p:txBody>
      </p:sp>
      <p:sp>
        <p:nvSpPr>
          <p:cNvPr id="7" name="Shape 7"/>
          <p:cNvSpPr/>
          <p:nvPr/>
        </p:nvSpPr>
        <p:spPr>
          <a:xfrm>
            <a:off x="1353566" y="476640"/>
            <a:ext cx="7776845" cy="97400"/>
          </a:xfrm>
          <a:prstGeom prst="rect">
            <a:avLst/>
          </a:prstGeom>
          <a:solidFill>
            <a:srgbClr val="5B9BD5"/>
          </a:solidFill>
        </p:spPr>
        <p:txBody>
          <a:bodyPr/>
          <a:lstStyle/>
          <a:p>
            <a:endParaRPr/>
          </a:p>
        </p:txBody>
      </p:sp>
      <p:sp>
        <p:nvSpPr>
          <p:cNvPr id="8" name="Shape 8"/>
          <p:cNvSpPr/>
          <p:nvPr/>
        </p:nvSpPr>
        <p:spPr>
          <a:xfrm>
            <a:off x="1353566" y="470281"/>
            <a:ext cx="1" cy="122809"/>
          </a:xfrm>
          <a:custGeom>
            <a:avLst/>
            <a:gdLst/>
            <a:ahLst/>
            <a:cxnLst/>
            <a:rect l="0" t="0" r="1" b="122809"/>
            <a:pathLst>
              <a:path w="1" h="122809" fill="none">
                <a:moveTo>
                  <a:pt x="0" y="0"/>
                </a:moveTo>
                <a:lnTo>
                  <a:pt x="0" y="122809"/>
                </a:lnTo>
              </a:path>
            </a:pathLst>
          </a:custGeom>
          <a:noFill/>
          <a:ln w="12700">
            <a:solidFill>
              <a:srgbClr val="FFFFF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9" name="Shape 9"/>
          <p:cNvSpPr/>
          <p:nvPr/>
        </p:nvSpPr>
        <p:spPr>
          <a:xfrm>
            <a:off x="21900" y="470281"/>
            <a:ext cx="1" cy="122809"/>
          </a:xfrm>
          <a:custGeom>
            <a:avLst/>
            <a:gdLst/>
            <a:ahLst/>
            <a:cxnLst/>
            <a:rect l="0" t="0" r="1" b="122809"/>
            <a:pathLst>
              <a:path w="1" h="122809" fill="none">
                <a:moveTo>
                  <a:pt x="0" y="0"/>
                </a:moveTo>
                <a:lnTo>
                  <a:pt x="0" y="122809"/>
                </a:lnTo>
              </a:path>
            </a:pathLst>
          </a:custGeom>
          <a:noFill/>
          <a:ln w="12700">
            <a:solidFill>
              <a:srgbClr val="FFFFF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0" name="Shape 10"/>
          <p:cNvSpPr/>
          <p:nvPr/>
        </p:nvSpPr>
        <p:spPr>
          <a:xfrm>
            <a:off x="9130411" y="470281"/>
            <a:ext cx="1" cy="122809"/>
          </a:xfrm>
          <a:custGeom>
            <a:avLst/>
            <a:gdLst/>
            <a:ahLst/>
            <a:cxnLst/>
            <a:rect l="0" t="0" r="1" b="122809"/>
            <a:pathLst>
              <a:path w="1" h="122809" fill="none">
                <a:moveTo>
                  <a:pt x="0" y="0"/>
                </a:moveTo>
                <a:lnTo>
                  <a:pt x="0" y="122809"/>
                </a:lnTo>
              </a:path>
            </a:pathLst>
          </a:custGeom>
          <a:noFill/>
          <a:ln w="12700">
            <a:solidFill>
              <a:srgbClr val="FFFFF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1" name="Shape 11"/>
          <p:cNvSpPr/>
          <p:nvPr/>
        </p:nvSpPr>
        <p:spPr>
          <a:xfrm>
            <a:off x="15550" y="476631"/>
            <a:ext cx="9121211" cy="1"/>
          </a:xfrm>
          <a:custGeom>
            <a:avLst/>
            <a:gdLst/>
            <a:ahLst/>
            <a:cxnLst/>
            <a:rect l="0" t="0" r="9121211" b="1"/>
            <a:pathLst>
              <a:path w="9121211" h="1" fill="none">
                <a:moveTo>
                  <a:pt x="0" y="0"/>
                </a:moveTo>
                <a:lnTo>
                  <a:pt x="9121211" y="0"/>
                </a:lnTo>
              </a:path>
            </a:pathLst>
          </a:custGeom>
          <a:noFill/>
          <a:ln w="12700">
            <a:solidFill>
              <a:srgbClr val="FFFFF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2" name="Shape 12"/>
          <p:cNvSpPr/>
          <p:nvPr/>
        </p:nvSpPr>
        <p:spPr>
          <a:xfrm>
            <a:off x="15550" y="574040"/>
            <a:ext cx="9121211" cy="1"/>
          </a:xfrm>
          <a:custGeom>
            <a:avLst/>
            <a:gdLst/>
            <a:ahLst/>
            <a:cxnLst/>
            <a:rect l="0" t="0" r="9121211" b="1"/>
            <a:pathLst>
              <a:path w="9121211" h="1" fill="none">
                <a:moveTo>
                  <a:pt x="0" y="0"/>
                </a:moveTo>
                <a:lnTo>
                  <a:pt x="9121211" y="0"/>
                </a:lnTo>
              </a:path>
            </a:pathLst>
          </a:custGeom>
          <a:noFill/>
          <a:ln w="38100">
            <a:solidFill>
              <a:srgbClr val="FFFFF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3" name="TextBox 13"/>
          <p:cNvSpPr txBox="1"/>
          <p:nvPr/>
        </p:nvSpPr>
        <p:spPr>
          <a:xfrm>
            <a:off x="487070" y="679170"/>
            <a:ext cx="370025" cy="427147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402" b="1" spc="151" dirty="0">
                <a:solidFill>
                  <a:srgbClr val="967754"/>
                </a:solidFill>
                <a:latin typeface="나눔고딕 2"/>
                <a:cs typeface="나눔고딕 2"/>
              </a:rPr>
              <a:t>5. 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848258" y="679170"/>
            <a:ext cx="877018" cy="427147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402" b="1" dirty="0">
                <a:solidFill>
                  <a:srgbClr val="967754"/>
                </a:solidFill>
                <a:latin typeface="나눔고딕"/>
                <a:cs typeface="나눔고딕"/>
              </a:rPr>
              <a:t>안전과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708150" y="679170"/>
            <a:ext cx="183063" cy="427147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402" b="1" dirty="0">
                <a:solidFill>
                  <a:srgbClr val="967754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791970" y="679170"/>
            <a:ext cx="877018" cy="427147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402" b="1" dirty="0">
                <a:solidFill>
                  <a:srgbClr val="967754"/>
                </a:solidFill>
                <a:latin typeface="나눔고딕"/>
                <a:cs typeface="나눔고딕"/>
              </a:rPr>
              <a:t>리스크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782726" y="1799844"/>
            <a:ext cx="439607" cy="37338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100" b="1" spc="137" dirty="0">
                <a:solidFill>
                  <a:srgbClr val="000000"/>
                </a:solidFill>
                <a:latin typeface="나눔고딕 2"/>
                <a:cs typeface="나눔고딕 2"/>
              </a:rPr>
              <a:t>(1) 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212494" y="1799844"/>
            <a:ext cx="768690" cy="37338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100" b="1" dirty="0">
                <a:solidFill>
                  <a:srgbClr val="000000"/>
                </a:solidFill>
                <a:latin typeface="나눔고딕"/>
                <a:cs typeface="나눔고딕"/>
              </a:rPr>
              <a:t>안전은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966849" y="1799844"/>
            <a:ext cx="160020" cy="37338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100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2040001" y="1799844"/>
            <a:ext cx="819056" cy="37338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100" b="1" dirty="0">
                <a:solidFill>
                  <a:srgbClr val="000000"/>
                </a:solidFill>
                <a:latin typeface="나눔고딕"/>
                <a:cs typeface="나눔고딕"/>
              </a:rPr>
              <a:t>‘리스크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2843530" y="1799844"/>
            <a:ext cx="160020" cy="37338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100" b="1" dirty="0">
                <a:solidFill>
                  <a:srgbClr val="000000"/>
                </a:solidFill>
                <a:latin typeface="나눔고딕 2"/>
                <a:cs typeface="나눔고딕 2"/>
              </a:rPr>
              <a:t>(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2941066" y="1799844"/>
            <a:ext cx="1174410" cy="37338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100" b="1" dirty="0">
                <a:solidFill>
                  <a:srgbClr val="000000"/>
                </a:solidFill>
                <a:latin typeface="나눔고딕"/>
                <a:cs typeface="나눔고딕"/>
              </a:rPr>
              <a:t>위험성)’에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4093210" y="1799844"/>
            <a:ext cx="160020" cy="37338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100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4163568" y="1799844"/>
            <a:ext cx="512201" cy="37338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100" b="1" dirty="0">
                <a:solidFill>
                  <a:srgbClr val="000000"/>
                </a:solidFill>
                <a:latin typeface="나눔고딕"/>
                <a:cs typeface="나눔고딕"/>
              </a:rPr>
              <a:t>의해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4666488" y="1799844"/>
            <a:ext cx="160020" cy="37338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100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4739640" y="1799844"/>
            <a:ext cx="1025179" cy="37338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100" b="1" dirty="0">
                <a:solidFill>
                  <a:srgbClr val="000000"/>
                </a:solidFill>
                <a:latin typeface="나눔고딕"/>
                <a:cs typeface="나눔고딕"/>
              </a:rPr>
              <a:t>정의된다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5745480" y="1799844"/>
            <a:ext cx="160020" cy="37338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100" b="1" dirty="0">
                <a:solidFill>
                  <a:srgbClr val="000000"/>
                </a:solidFill>
                <a:latin typeface="나눔고딕 2"/>
                <a:cs typeface="나눔고딕 2"/>
              </a:rPr>
              <a:t>.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046988" y="2306498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dirty="0">
                <a:solidFill>
                  <a:srgbClr val="7F7F7F"/>
                </a:solidFill>
                <a:latin typeface="Wingdings"/>
                <a:cs typeface="Wingdings"/>
              </a:rPr>
              <a:t>▪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263396" y="2301154"/>
            <a:ext cx="1418961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70C0"/>
                </a:solidFill>
                <a:latin typeface="나눔고딕"/>
                <a:cs typeface="나눔고딕"/>
              </a:rPr>
              <a:t>‘리스크(risk)’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2655062" y="2301154"/>
            <a:ext cx="244022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란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2894330" y="2301154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2961386" y="2301154"/>
            <a:ext cx="732129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인체에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3679190" y="2301154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3746246" y="2301154"/>
            <a:ext cx="488076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상해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4224782" y="2301154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, 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4371086" y="2301154"/>
            <a:ext cx="732751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장해를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5089271" y="2301154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5156327" y="2301154"/>
            <a:ext cx="732129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미치는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5874131" y="2301154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5942711" y="2301154"/>
            <a:ext cx="732129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사고가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6660769" y="2301154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6727825" y="2301154"/>
            <a:ext cx="732130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발생할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7445629" y="2301154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7514209" y="2301154"/>
            <a:ext cx="584322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70C0"/>
                </a:solidFill>
                <a:latin typeface="나눔고딕"/>
                <a:cs typeface="나눔고딕"/>
              </a:rPr>
              <a:t>‘확률’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8087233" y="2301154"/>
            <a:ext cx="244022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과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8326882" y="2301154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1263396" y="2605954"/>
            <a:ext cx="732129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사고가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1981200" y="2605954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2049780" y="2605954"/>
            <a:ext cx="1220236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발생하였을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3244850" y="2605954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51" name="TextBox 51"/>
          <p:cNvSpPr txBox="1"/>
          <p:nvPr/>
        </p:nvSpPr>
        <p:spPr>
          <a:xfrm>
            <a:off x="3311906" y="2605954"/>
            <a:ext cx="244022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때</a:t>
            </a:r>
          </a:p>
        </p:txBody>
      </p:sp>
      <p:sp>
        <p:nvSpPr>
          <p:cNvPr id="52" name="TextBox 52"/>
          <p:cNvSpPr txBox="1"/>
          <p:nvPr/>
        </p:nvSpPr>
        <p:spPr>
          <a:xfrm>
            <a:off x="3551174" y="2605954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53" name="TextBox 53"/>
          <p:cNvSpPr txBox="1"/>
          <p:nvPr/>
        </p:nvSpPr>
        <p:spPr>
          <a:xfrm>
            <a:off x="3621278" y="2605954"/>
            <a:ext cx="732129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그것의</a:t>
            </a:r>
          </a:p>
        </p:txBody>
      </p:sp>
      <p:sp>
        <p:nvSpPr>
          <p:cNvPr id="54" name="TextBox 54"/>
          <p:cNvSpPr txBox="1"/>
          <p:nvPr/>
        </p:nvSpPr>
        <p:spPr>
          <a:xfrm>
            <a:off x="4407662" y="2605954"/>
            <a:ext cx="1072949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70C0"/>
                </a:solidFill>
                <a:latin typeface="나눔고딕"/>
                <a:cs typeface="나눔고딕"/>
              </a:rPr>
              <a:t>‘중대성’의</a:t>
            </a:r>
          </a:p>
        </p:txBody>
      </p:sp>
      <p:sp>
        <p:nvSpPr>
          <p:cNvPr id="55" name="TextBox 55"/>
          <p:cNvSpPr txBox="1"/>
          <p:nvPr/>
        </p:nvSpPr>
        <p:spPr>
          <a:xfrm>
            <a:off x="5459603" y="2605954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70C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56" name="TextBox 56"/>
          <p:cNvSpPr txBox="1"/>
          <p:nvPr/>
        </p:nvSpPr>
        <p:spPr>
          <a:xfrm>
            <a:off x="5526659" y="2605954"/>
            <a:ext cx="488076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70C0"/>
                </a:solidFill>
                <a:latin typeface="나눔고딕"/>
                <a:cs typeface="나눔고딕"/>
              </a:rPr>
              <a:t>조합</a:t>
            </a:r>
          </a:p>
        </p:txBody>
      </p:sp>
      <p:sp>
        <p:nvSpPr>
          <p:cNvPr id="57" name="TextBox 57"/>
          <p:cNvSpPr txBox="1"/>
          <p:nvPr/>
        </p:nvSpPr>
        <p:spPr>
          <a:xfrm>
            <a:off x="6005195" y="2605954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, </a:t>
            </a:r>
          </a:p>
        </p:txBody>
      </p:sp>
      <p:sp>
        <p:nvSpPr>
          <p:cNvPr id="58" name="TextBox 58"/>
          <p:cNvSpPr txBox="1"/>
          <p:nvPr/>
        </p:nvSpPr>
        <p:spPr>
          <a:xfrm>
            <a:off x="6149975" y="2605954"/>
            <a:ext cx="244022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즉</a:t>
            </a:r>
          </a:p>
        </p:txBody>
      </p:sp>
      <p:sp>
        <p:nvSpPr>
          <p:cNvPr id="59" name="TextBox 59"/>
          <p:cNvSpPr txBox="1"/>
          <p:nvPr/>
        </p:nvSpPr>
        <p:spPr>
          <a:xfrm>
            <a:off x="6389497" y="2605954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60" name="TextBox 60"/>
          <p:cNvSpPr txBox="1"/>
          <p:nvPr/>
        </p:nvSpPr>
        <p:spPr>
          <a:xfrm>
            <a:off x="6459601" y="2605954"/>
            <a:ext cx="732130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양자를</a:t>
            </a:r>
          </a:p>
        </p:txBody>
      </p:sp>
      <p:sp>
        <p:nvSpPr>
          <p:cNvPr id="61" name="TextBox 61"/>
          <p:cNvSpPr txBox="1"/>
          <p:nvPr/>
        </p:nvSpPr>
        <p:spPr>
          <a:xfrm>
            <a:off x="7177405" y="2605954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62" name="TextBox 62"/>
          <p:cNvSpPr txBox="1"/>
          <p:nvPr/>
        </p:nvSpPr>
        <p:spPr>
          <a:xfrm>
            <a:off x="7245985" y="2605954"/>
            <a:ext cx="732130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합하여</a:t>
            </a:r>
          </a:p>
        </p:txBody>
      </p:sp>
      <p:sp>
        <p:nvSpPr>
          <p:cNvPr id="63" name="TextBox 63"/>
          <p:cNvSpPr txBox="1"/>
          <p:nvPr/>
        </p:nvSpPr>
        <p:spPr>
          <a:xfrm>
            <a:off x="7963789" y="2605954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64" name="TextBox 64"/>
          <p:cNvSpPr txBox="1"/>
          <p:nvPr/>
        </p:nvSpPr>
        <p:spPr>
          <a:xfrm>
            <a:off x="1263396" y="2910754"/>
            <a:ext cx="732129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생각한</a:t>
            </a:r>
          </a:p>
        </p:txBody>
      </p:sp>
      <p:sp>
        <p:nvSpPr>
          <p:cNvPr id="65" name="TextBox 65"/>
          <p:cNvSpPr txBox="1"/>
          <p:nvPr/>
        </p:nvSpPr>
        <p:spPr>
          <a:xfrm>
            <a:off x="1981200" y="2910754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66" name="TextBox 66"/>
          <p:cNvSpPr txBox="1"/>
          <p:nvPr/>
        </p:nvSpPr>
        <p:spPr>
          <a:xfrm>
            <a:off x="2049780" y="2910754"/>
            <a:ext cx="732129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것이다</a:t>
            </a:r>
          </a:p>
        </p:txBody>
      </p:sp>
      <p:sp>
        <p:nvSpPr>
          <p:cNvPr id="67" name="TextBox 67"/>
          <p:cNvSpPr txBox="1"/>
          <p:nvPr/>
        </p:nvSpPr>
        <p:spPr>
          <a:xfrm>
            <a:off x="2767838" y="2910754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.</a:t>
            </a:r>
          </a:p>
        </p:txBody>
      </p:sp>
      <p:sp>
        <p:nvSpPr>
          <p:cNvPr id="68" name="TextBox 68"/>
          <p:cNvSpPr txBox="1"/>
          <p:nvPr/>
        </p:nvSpPr>
        <p:spPr>
          <a:xfrm>
            <a:off x="592531" y="1213164"/>
            <a:ext cx="355691" cy="390876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198" b="1" spc="150" dirty="0">
                <a:solidFill>
                  <a:srgbClr val="000000"/>
                </a:solidFill>
                <a:latin typeface="나눔고딕 2"/>
                <a:cs typeface="나눔고딕 2"/>
              </a:rPr>
              <a:t>1) </a:t>
            </a:r>
          </a:p>
        </p:txBody>
      </p:sp>
      <p:sp>
        <p:nvSpPr>
          <p:cNvPr id="69" name="TextBox 69"/>
          <p:cNvSpPr txBox="1"/>
          <p:nvPr/>
        </p:nvSpPr>
        <p:spPr>
          <a:xfrm>
            <a:off x="941527" y="1213164"/>
            <a:ext cx="1069804" cy="390876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198" b="1" dirty="0">
                <a:solidFill>
                  <a:srgbClr val="000000"/>
                </a:solidFill>
                <a:latin typeface="나눔고딕"/>
                <a:cs typeface="나눔고딕"/>
              </a:rPr>
              <a:t>안전이란</a:t>
            </a:r>
          </a:p>
        </p:txBody>
      </p:sp>
      <p:sp>
        <p:nvSpPr>
          <p:cNvPr id="70" name="TextBox 70"/>
          <p:cNvSpPr txBox="1"/>
          <p:nvPr/>
        </p:nvSpPr>
        <p:spPr>
          <a:xfrm>
            <a:off x="1990344" y="1213164"/>
            <a:ext cx="167518" cy="390876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198" b="1" dirty="0">
                <a:solidFill>
                  <a:srgbClr val="000000"/>
                </a:solidFill>
                <a:latin typeface="나눔고딕 2"/>
                <a:cs typeface="나눔고딕 2"/>
              </a:rPr>
              <a:t>: </a:t>
            </a:r>
          </a:p>
        </p:txBody>
      </p:sp>
      <p:sp>
        <p:nvSpPr>
          <p:cNvPr id="71" name="TextBox 71"/>
          <p:cNvSpPr txBox="1"/>
          <p:nvPr/>
        </p:nvSpPr>
        <p:spPr>
          <a:xfrm>
            <a:off x="2151888" y="1213164"/>
            <a:ext cx="535064" cy="390876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198" b="1" dirty="0">
                <a:solidFill>
                  <a:srgbClr val="000000"/>
                </a:solidFill>
                <a:latin typeface="나눔고딕"/>
                <a:cs typeface="나눔고딕"/>
              </a:rPr>
              <a:t>허용</a:t>
            </a:r>
          </a:p>
        </p:txBody>
      </p:sp>
      <p:sp>
        <p:nvSpPr>
          <p:cNvPr id="72" name="TextBox 72"/>
          <p:cNvSpPr txBox="1"/>
          <p:nvPr/>
        </p:nvSpPr>
        <p:spPr>
          <a:xfrm>
            <a:off x="2676144" y="1213164"/>
            <a:ext cx="167518" cy="390876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198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73" name="TextBox 73"/>
          <p:cNvSpPr txBox="1"/>
          <p:nvPr/>
        </p:nvSpPr>
        <p:spPr>
          <a:xfrm>
            <a:off x="2753868" y="1213164"/>
            <a:ext cx="1069804" cy="390876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198" b="1" dirty="0">
                <a:solidFill>
                  <a:srgbClr val="000000"/>
                </a:solidFill>
                <a:latin typeface="나눔고딕"/>
                <a:cs typeface="나눔고딕"/>
              </a:rPr>
              <a:t>불가능한</a:t>
            </a:r>
          </a:p>
        </p:txBody>
      </p:sp>
      <p:sp>
        <p:nvSpPr>
          <p:cNvPr id="74" name="TextBox 74"/>
          <p:cNvSpPr txBox="1"/>
          <p:nvPr/>
        </p:nvSpPr>
        <p:spPr>
          <a:xfrm>
            <a:off x="3802634" y="1213164"/>
            <a:ext cx="167518" cy="390876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198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75" name="TextBox 75"/>
          <p:cNvSpPr txBox="1"/>
          <p:nvPr/>
        </p:nvSpPr>
        <p:spPr>
          <a:xfrm>
            <a:off x="3878834" y="1213164"/>
            <a:ext cx="802434" cy="390876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198" b="1" dirty="0">
                <a:solidFill>
                  <a:srgbClr val="000000"/>
                </a:solidFill>
                <a:latin typeface="나눔고딕"/>
                <a:cs typeface="나눔고딕"/>
              </a:rPr>
              <a:t>리스크</a:t>
            </a:r>
          </a:p>
        </p:txBody>
      </p:sp>
      <p:sp>
        <p:nvSpPr>
          <p:cNvPr id="76" name="TextBox 76"/>
          <p:cNvSpPr txBox="1"/>
          <p:nvPr/>
        </p:nvSpPr>
        <p:spPr>
          <a:xfrm>
            <a:off x="4665218" y="1213164"/>
            <a:ext cx="167518" cy="390876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198" b="1" dirty="0">
                <a:solidFill>
                  <a:srgbClr val="000000"/>
                </a:solidFill>
                <a:latin typeface="나눔고딕 2"/>
                <a:cs typeface="나눔고딕 2"/>
              </a:rPr>
              <a:t>(</a:t>
            </a:r>
          </a:p>
        </p:txBody>
      </p:sp>
      <p:sp>
        <p:nvSpPr>
          <p:cNvPr id="77" name="TextBox 77"/>
          <p:cNvSpPr txBox="1"/>
          <p:nvPr/>
        </p:nvSpPr>
        <p:spPr>
          <a:xfrm>
            <a:off x="4765802" y="1213164"/>
            <a:ext cx="803057" cy="390876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198" b="1" dirty="0">
                <a:solidFill>
                  <a:srgbClr val="000000"/>
                </a:solidFill>
                <a:latin typeface="나눔고딕"/>
                <a:cs typeface="나눔고딕"/>
              </a:rPr>
              <a:t>위험성</a:t>
            </a:r>
          </a:p>
        </p:txBody>
      </p:sp>
      <p:sp>
        <p:nvSpPr>
          <p:cNvPr id="78" name="TextBox 78"/>
          <p:cNvSpPr txBox="1"/>
          <p:nvPr/>
        </p:nvSpPr>
        <p:spPr>
          <a:xfrm>
            <a:off x="5552567" y="1213164"/>
            <a:ext cx="167518" cy="390876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198" b="1" dirty="0">
                <a:solidFill>
                  <a:srgbClr val="000000"/>
                </a:solidFill>
                <a:latin typeface="나눔고딕 2"/>
                <a:cs typeface="나눔고딕 2"/>
              </a:rPr>
              <a:t>)</a:t>
            </a:r>
          </a:p>
        </p:txBody>
      </p:sp>
      <p:sp>
        <p:nvSpPr>
          <p:cNvPr id="79" name="TextBox 79"/>
          <p:cNvSpPr txBox="1"/>
          <p:nvPr/>
        </p:nvSpPr>
        <p:spPr>
          <a:xfrm>
            <a:off x="5653151" y="1213164"/>
            <a:ext cx="267694" cy="390876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198" b="1" dirty="0">
                <a:solidFill>
                  <a:srgbClr val="000000"/>
                </a:solidFill>
                <a:latin typeface="나눔고딕"/>
                <a:cs typeface="나눔고딕"/>
              </a:rPr>
              <a:t>가</a:t>
            </a:r>
          </a:p>
        </p:txBody>
      </p:sp>
      <p:sp>
        <p:nvSpPr>
          <p:cNvPr id="80" name="TextBox 80"/>
          <p:cNvSpPr txBox="1"/>
          <p:nvPr/>
        </p:nvSpPr>
        <p:spPr>
          <a:xfrm>
            <a:off x="5915279" y="1213164"/>
            <a:ext cx="167518" cy="390876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198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81" name="TextBox 81"/>
          <p:cNvSpPr txBox="1"/>
          <p:nvPr/>
        </p:nvSpPr>
        <p:spPr>
          <a:xfrm>
            <a:off x="5994527" y="1213164"/>
            <a:ext cx="1069804" cy="390876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198" b="1" dirty="0">
                <a:solidFill>
                  <a:srgbClr val="000000"/>
                </a:solidFill>
                <a:latin typeface="나눔고딕"/>
                <a:cs typeface="나눔고딕"/>
              </a:rPr>
              <a:t>존재하지</a:t>
            </a:r>
          </a:p>
        </p:txBody>
      </p:sp>
      <p:sp>
        <p:nvSpPr>
          <p:cNvPr id="82" name="TextBox 82"/>
          <p:cNvSpPr txBox="1"/>
          <p:nvPr/>
        </p:nvSpPr>
        <p:spPr>
          <a:xfrm>
            <a:off x="7043293" y="1213164"/>
            <a:ext cx="167518" cy="390876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198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83" name="TextBox 83"/>
          <p:cNvSpPr txBox="1"/>
          <p:nvPr/>
        </p:nvSpPr>
        <p:spPr>
          <a:xfrm>
            <a:off x="7119493" y="1213164"/>
            <a:ext cx="535064" cy="390876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198" b="1" dirty="0">
                <a:solidFill>
                  <a:srgbClr val="000000"/>
                </a:solidFill>
                <a:latin typeface="나눔고딕"/>
                <a:cs typeface="나눔고딕"/>
              </a:rPr>
              <a:t>않는</a:t>
            </a:r>
          </a:p>
        </p:txBody>
      </p:sp>
      <p:sp>
        <p:nvSpPr>
          <p:cNvPr id="84" name="TextBox 84"/>
          <p:cNvSpPr txBox="1"/>
          <p:nvPr/>
        </p:nvSpPr>
        <p:spPr>
          <a:xfrm>
            <a:off x="7643749" y="1213164"/>
            <a:ext cx="167518" cy="390876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198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85" name="TextBox 85"/>
          <p:cNvSpPr txBox="1"/>
          <p:nvPr/>
        </p:nvSpPr>
        <p:spPr>
          <a:xfrm>
            <a:off x="7721473" y="1213164"/>
            <a:ext cx="267694" cy="390876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198" b="1" dirty="0">
                <a:solidFill>
                  <a:srgbClr val="000000"/>
                </a:solidFill>
                <a:latin typeface="나눔고딕"/>
                <a:cs typeface="나눔고딕"/>
              </a:rPr>
              <a:t>것</a:t>
            </a:r>
          </a:p>
        </p:txBody>
      </p:sp>
      <p:sp>
        <p:nvSpPr>
          <p:cNvPr id="86" name="TextBox 86"/>
          <p:cNvSpPr txBox="1"/>
          <p:nvPr/>
        </p:nvSpPr>
        <p:spPr>
          <a:xfrm>
            <a:off x="415138" y="105410"/>
            <a:ext cx="1349289" cy="42672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400" b="1" dirty="0">
                <a:solidFill>
                  <a:srgbClr val="000000"/>
                </a:solidFill>
                <a:latin typeface="나눔고딕"/>
                <a:cs typeface="나눔고딕"/>
              </a:rPr>
              <a:t>Ⅱ. 안전의</a:t>
            </a:r>
          </a:p>
        </p:txBody>
      </p:sp>
      <p:sp>
        <p:nvSpPr>
          <p:cNvPr id="87" name="TextBox 87"/>
          <p:cNvSpPr txBox="1"/>
          <p:nvPr/>
        </p:nvSpPr>
        <p:spPr>
          <a:xfrm>
            <a:off x="1737995" y="105410"/>
            <a:ext cx="182880" cy="42672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400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88" name="TextBox 88"/>
          <p:cNvSpPr txBox="1"/>
          <p:nvPr/>
        </p:nvSpPr>
        <p:spPr>
          <a:xfrm>
            <a:off x="1821815" y="105410"/>
            <a:ext cx="584795" cy="42672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400" b="1" dirty="0">
                <a:solidFill>
                  <a:srgbClr val="000000"/>
                </a:solidFill>
                <a:latin typeface="나눔고딕"/>
                <a:cs typeface="나눔고딕"/>
              </a:rPr>
              <a:t>개요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ackground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5" name="TextBox 5"/>
          <p:cNvSpPr txBox="1"/>
          <p:nvPr/>
        </p:nvSpPr>
        <p:spPr>
          <a:xfrm>
            <a:off x="487070" y="684022"/>
            <a:ext cx="369655" cy="42672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400" b="1" spc="151" dirty="0">
                <a:solidFill>
                  <a:srgbClr val="967754"/>
                </a:solidFill>
                <a:latin typeface="나눔고딕 2"/>
                <a:cs typeface="나눔고딕 2"/>
              </a:rPr>
              <a:t>5. 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848258" y="684022"/>
            <a:ext cx="876727" cy="42672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400" b="1" dirty="0">
                <a:solidFill>
                  <a:srgbClr val="967754"/>
                </a:solidFill>
                <a:latin typeface="나눔고딕"/>
                <a:cs typeface="나눔고딕"/>
              </a:rPr>
              <a:t>안전과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708150" y="684022"/>
            <a:ext cx="182880" cy="42672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400" b="1" dirty="0">
                <a:solidFill>
                  <a:srgbClr val="967754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791970" y="684022"/>
            <a:ext cx="876727" cy="42672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400" b="1" dirty="0">
                <a:solidFill>
                  <a:srgbClr val="967754"/>
                </a:solidFill>
                <a:latin typeface="나눔고딕"/>
                <a:cs typeface="나눔고딕"/>
              </a:rPr>
              <a:t>리스크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592531" y="1214714"/>
            <a:ext cx="355303" cy="390449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196" b="1" spc="150" dirty="0">
                <a:solidFill>
                  <a:srgbClr val="000000"/>
                </a:solidFill>
                <a:latin typeface="나눔고딕 2"/>
                <a:cs typeface="나눔고딕 2"/>
              </a:rPr>
              <a:t>1) 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941527" y="1214714"/>
            <a:ext cx="1069513" cy="390449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196" b="1" dirty="0">
                <a:solidFill>
                  <a:srgbClr val="000000"/>
                </a:solidFill>
                <a:latin typeface="나눔고딕"/>
                <a:cs typeface="나눔고딕"/>
              </a:rPr>
              <a:t>안전이란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990344" y="1214714"/>
            <a:ext cx="167335" cy="390449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196" b="1" dirty="0">
                <a:solidFill>
                  <a:srgbClr val="000000"/>
                </a:solidFill>
                <a:latin typeface="나눔고딕 2"/>
                <a:cs typeface="나눔고딕 2"/>
              </a:rPr>
              <a:t>: 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2151888" y="1214714"/>
            <a:ext cx="534772" cy="390449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196" b="1" dirty="0">
                <a:solidFill>
                  <a:srgbClr val="000000"/>
                </a:solidFill>
                <a:latin typeface="나눔고딕"/>
                <a:cs typeface="나눔고딕"/>
              </a:rPr>
              <a:t>허용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2676144" y="1214714"/>
            <a:ext cx="167335" cy="390449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196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2753868" y="1214714"/>
            <a:ext cx="1069513" cy="390449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196" b="1" dirty="0">
                <a:solidFill>
                  <a:srgbClr val="000000"/>
                </a:solidFill>
                <a:latin typeface="나눔고딕"/>
                <a:cs typeface="나눔고딕"/>
              </a:rPr>
              <a:t>불가능한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3802634" y="1214714"/>
            <a:ext cx="167335" cy="390449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196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3878834" y="1214714"/>
            <a:ext cx="802143" cy="390449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196" b="1" dirty="0">
                <a:solidFill>
                  <a:srgbClr val="000000"/>
                </a:solidFill>
                <a:latin typeface="나눔고딕"/>
                <a:cs typeface="나눔고딕"/>
              </a:rPr>
              <a:t>리스크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4665218" y="1214714"/>
            <a:ext cx="167335" cy="390449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196" b="1" dirty="0">
                <a:solidFill>
                  <a:srgbClr val="000000"/>
                </a:solidFill>
                <a:latin typeface="나눔고딕 2"/>
                <a:cs typeface="나눔고딕 2"/>
              </a:rPr>
              <a:t>(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4765802" y="1214714"/>
            <a:ext cx="802765" cy="390449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196" b="1" dirty="0">
                <a:solidFill>
                  <a:srgbClr val="000000"/>
                </a:solidFill>
                <a:latin typeface="나눔고딕"/>
                <a:cs typeface="나눔고딕"/>
              </a:rPr>
              <a:t>위험성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5552567" y="1214714"/>
            <a:ext cx="167335" cy="390449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196" b="1" dirty="0">
                <a:solidFill>
                  <a:srgbClr val="000000"/>
                </a:solidFill>
                <a:latin typeface="나눔고딕 2"/>
                <a:cs typeface="나눔고딕 2"/>
              </a:rPr>
              <a:t>)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5653151" y="1214714"/>
            <a:ext cx="267402" cy="390449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196" b="1" dirty="0">
                <a:solidFill>
                  <a:srgbClr val="000000"/>
                </a:solidFill>
                <a:latin typeface="나눔고딕"/>
                <a:cs typeface="나눔고딕"/>
              </a:rPr>
              <a:t>가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5915279" y="1214714"/>
            <a:ext cx="167335" cy="390449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196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5994527" y="1214714"/>
            <a:ext cx="1069514" cy="390449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196" b="1" dirty="0">
                <a:solidFill>
                  <a:srgbClr val="000000"/>
                </a:solidFill>
                <a:latin typeface="나눔고딕"/>
                <a:cs typeface="나눔고딕"/>
              </a:rPr>
              <a:t>존재하지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7043293" y="1214714"/>
            <a:ext cx="167335" cy="390449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196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7119493" y="1214714"/>
            <a:ext cx="534772" cy="390449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196" b="1" dirty="0">
                <a:solidFill>
                  <a:srgbClr val="000000"/>
                </a:solidFill>
                <a:latin typeface="나눔고딕"/>
                <a:cs typeface="나눔고딕"/>
              </a:rPr>
              <a:t>않는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7643749" y="1214714"/>
            <a:ext cx="167335" cy="390449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196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7721473" y="1214714"/>
            <a:ext cx="267402" cy="390449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196" b="1" dirty="0">
                <a:solidFill>
                  <a:srgbClr val="000000"/>
                </a:solidFill>
                <a:latin typeface="나눔고딕"/>
                <a:cs typeface="나눔고딕"/>
              </a:rPr>
              <a:t>것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806196" y="1830070"/>
            <a:ext cx="1000308" cy="37338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100" b="1" dirty="0">
                <a:solidFill>
                  <a:srgbClr val="000000"/>
                </a:solidFill>
                <a:latin typeface="나눔고딕"/>
                <a:cs typeface="나눔고딕"/>
              </a:rPr>
              <a:t>(2) ‘허용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787652" y="1830070"/>
            <a:ext cx="160020" cy="37338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100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862328" y="1830070"/>
            <a:ext cx="768690" cy="37338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100" b="1" dirty="0">
                <a:solidFill>
                  <a:srgbClr val="000000"/>
                </a:solidFill>
                <a:latin typeface="나눔고딕"/>
                <a:cs typeface="나눔고딕"/>
              </a:rPr>
              <a:t>가능한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2616962" y="1830070"/>
            <a:ext cx="160020" cy="37338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100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2688590" y="1830070"/>
            <a:ext cx="1074923" cy="37338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100" b="1" dirty="0">
                <a:solidFill>
                  <a:srgbClr val="000000"/>
                </a:solidFill>
                <a:latin typeface="나눔고딕"/>
                <a:cs typeface="나눔고딕"/>
              </a:rPr>
              <a:t>리스크’란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3743198" y="1830070"/>
            <a:ext cx="160020" cy="37338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100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3816350" y="1830070"/>
            <a:ext cx="1025179" cy="37338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100" b="1" dirty="0">
                <a:solidFill>
                  <a:srgbClr val="000000"/>
                </a:solidFill>
                <a:latin typeface="나눔고딕"/>
                <a:cs typeface="나눔고딕"/>
              </a:rPr>
              <a:t>무엇인가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1070458" y="2336724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dirty="0">
                <a:solidFill>
                  <a:srgbClr val="7F7F7F"/>
                </a:solidFill>
                <a:latin typeface="Wingdings"/>
                <a:cs typeface="Wingdings"/>
              </a:rPr>
              <a:t>▪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1286891" y="2331380"/>
            <a:ext cx="732129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대상이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2004695" y="2331380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2073275" y="2331380"/>
            <a:ext cx="488076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되는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2551811" y="2331380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2620391" y="2331380"/>
            <a:ext cx="1221479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것으로부터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3815461" y="2331380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3882517" y="2331380"/>
            <a:ext cx="488076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받는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4361053" y="2331380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4431157" y="2331380"/>
            <a:ext cx="977116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70C0"/>
                </a:solidFill>
                <a:latin typeface="나눔고딕"/>
                <a:cs typeface="나눔고딕"/>
              </a:rPr>
              <a:t>안전하게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5388610" y="2331380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70C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5454142" y="2331380"/>
            <a:ext cx="488076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70C0"/>
                </a:solidFill>
                <a:latin typeface="나눔고딕"/>
                <a:cs typeface="나눔고딕"/>
              </a:rPr>
              <a:t>하기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5932678" y="2331380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70C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6002782" y="2331380"/>
            <a:ext cx="488076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70C0"/>
                </a:solidFill>
                <a:latin typeface="나눔고딕"/>
                <a:cs typeface="나눔고딕"/>
              </a:rPr>
              <a:t>위한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6481572" y="2331380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70C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6550152" y="2331380"/>
            <a:ext cx="488076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70C0"/>
                </a:solidFill>
                <a:latin typeface="나눔고딕"/>
                <a:cs typeface="나눔고딕"/>
              </a:rPr>
              <a:t>비용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7028688" y="2331380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70C0"/>
                </a:solidFill>
                <a:latin typeface="나눔고딕 2"/>
                <a:cs typeface="나눔고딕 2"/>
              </a:rPr>
              <a:t>, </a:t>
            </a:r>
          </a:p>
        </p:txBody>
      </p:sp>
      <p:sp>
        <p:nvSpPr>
          <p:cNvPr id="51" name="TextBox 51"/>
          <p:cNvSpPr txBox="1"/>
          <p:nvPr/>
        </p:nvSpPr>
        <p:spPr>
          <a:xfrm>
            <a:off x="7174992" y="2331380"/>
            <a:ext cx="1220237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70C0"/>
                </a:solidFill>
                <a:latin typeface="나눔고딕"/>
                <a:cs typeface="나눔고딕"/>
              </a:rPr>
              <a:t>이용편리성</a:t>
            </a:r>
          </a:p>
        </p:txBody>
      </p:sp>
      <p:sp>
        <p:nvSpPr>
          <p:cNvPr id="52" name="TextBox 52"/>
          <p:cNvSpPr txBox="1"/>
          <p:nvPr/>
        </p:nvSpPr>
        <p:spPr>
          <a:xfrm>
            <a:off x="8437118" y="2331380"/>
            <a:ext cx="488076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70C0"/>
                </a:solidFill>
                <a:latin typeface="나눔고딕"/>
                <a:cs typeface="나눔고딕"/>
              </a:rPr>
              <a:t>등을</a:t>
            </a:r>
          </a:p>
        </p:txBody>
      </p:sp>
      <p:sp>
        <p:nvSpPr>
          <p:cNvPr id="53" name="TextBox 53"/>
          <p:cNvSpPr txBox="1"/>
          <p:nvPr/>
        </p:nvSpPr>
        <p:spPr>
          <a:xfrm>
            <a:off x="8915654" y="2331380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70C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54" name="TextBox 54"/>
          <p:cNvSpPr txBox="1"/>
          <p:nvPr/>
        </p:nvSpPr>
        <p:spPr>
          <a:xfrm>
            <a:off x="1286891" y="2635899"/>
            <a:ext cx="488367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70C0"/>
                </a:solidFill>
                <a:latin typeface="나눔고딕"/>
                <a:cs typeface="나눔고딕"/>
              </a:rPr>
              <a:t>고려</a:t>
            </a:r>
          </a:p>
        </p:txBody>
      </p:sp>
      <p:sp>
        <p:nvSpPr>
          <p:cNvPr id="55" name="TextBox 55"/>
          <p:cNvSpPr txBox="1"/>
          <p:nvPr/>
        </p:nvSpPr>
        <p:spPr>
          <a:xfrm>
            <a:off x="1765427" y="2635899"/>
            <a:ext cx="488367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0000"/>
                </a:solidFill>
                <a:latin typeface="나눔고딕"/>
                <a:cs typeface="나눔고딕"/>
              </a:rPr>
              <a:t>하여</a:t>
            </a:r>
          </a:p>
        </p:txBody>
      </p:sp>
      <p:sp>
        <p:nvSpPr>
          <p:cNvPr id="56" name="TextBox 56"/>
          <p:cNvSpPr txBox="1"/>
          <p:nvPr/>
        </p:nvSpPr>
        <p:spPr>
          <a:xfrm>
            <a:off x="2243963" y="2635899"/>
            <a:ext cx="152888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0000"/>
                </a:solidFill>
                <a:latin typeface="나눔고딕 2"/>
                <a:cs typeface="나눔고딕 2"/>
              </a:rPr>
              <a:t>, </a:t>
            </a:r>
          </a:p>
        </p:txBody>
      </p:sp>
      <p:sp>
        <p:nvSpPr>
          <p:cNvPr id="57" name="TextBox 57"/>
          <p:cNvSpPr txBox="1"/>
          <p:nvPr/>
        </p:nvSpPr>
        <p:spPr>
          <a:xfrm>
            <a:off x="2387219" y="2635899"/>
            <a:ext cx="976473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0000"/>
                </a:solidFill>
                <a:latin typeface="나눔고딕"/>
                <a:cs typeface="나눔고딕"/>
              </a:rPr>
              <a:t>리스크의</a:t>
            </a:r>
          </a:p>
        </p:txBody>
      </p:sp>
      <p:sp>
        <p:nvSpPr>
          <p:cNvPr id="58" name="TextBox 58"/>
          <p:cNvSpPr txBox="1"/>
          <p:nvPr/>
        </p:nvSpPr>
        <p:spPr>
          <a:xfrm>
            <a:off x="3344545" y="2635899"/>
            <a:ext cx="152888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59" name="TextBox 59"/>
          <p:cNvSpPr txBox="1"/>
          <p:nvPr/>
        </p:nvSpPr>
        <p:spPr>
          <a:xfrm>
            <a:off x="3411601" y="2635899"/>
            <a:ext cx="732420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0000"/>
                </a:solidFill>
                <a:latin typeface="나눔고딕"/>
                <a:cs typeface="나눔고딕"/>
              </a:rPr>
              <a:t>크기가</a:t>
            </a:r>
          </a:p>
        </p:txBody>
      </p:sp>
      <p:sp>
        <p:nvSpPr>
          <p:cNvPr id="60" name="TextBox 60"/>
          <p:cNvSpPr txBox="1"/>
          <p:nvPr/>
        </p:nvSpPr>
        <p:spPr>
          <a:xfrm>
            <a:off x="4129405" y="2635899"/>
            <a:ext cx="152888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61" name="TextBox 61"/>
          <p:cNvSpPr txBox="1"/>
          <p:nvPr/>
        </p:nvSpPr>
        <p:spPr>
          <a:xfrm>
            <a:off x="4196461" y="2635899"/>
            <a:ext cx="1220526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0000"/>
                </a:solidFill>
                <a:latin typeface="나눔고딕"/>
                <a:cs typeface="나눔고딕"/>
              </a:rPr>
              <a:t>받아들여도</a:t>
            </a:r>
          </a:p>
        </p:txBody>
      </p:sp>
      <p:sp>
        <p:nvSpPr>
          <p:cNvPr id="62" name="TextBox 62"/>
          <p:cNvSpPr txBox="1"/>
          <p:nvPr/>
        </p:nvSpPr>
        <p:spPr>
          <a:xfrm>
            <a:off x="5393182" y="2635899"/>
            <a:ext cx="152888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63" name="TextBox 63"/>
          <p:cNvSpPr txBox="1"/>
          <p:nvPr/>
        </p:nvSpPr>
        <p:spPr>
          <a:xfrm>
            <a:off x="5460238" y="2635899"/>
            <a:ext cx="732420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0000"/>
                </a:solidFill>
                <a:latin typeface="나눔고딕"/>
                <a:cs typeface="나눔고딕"/>
              </a:rPr>
              <a:t>좋다고</a:t>
            </a:r>
          </a:p>
        </p:txBody>
      </p:sp>
      <p:sp>
        <p:nvSpPr>
          <p:cNvPr id="64" name="TextBox 64"/>
          <p:cNvSpPr txBox="1"/>
          <p:nvPr/>
        </p:nvSpPr>
        <p:spPr>
          <a:xfrm>
            <a:off x="6178042" y="2635899"/>
            <a:ext cx="152888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65" name="TextBox 65"/>
          <p:cNvSpPr txBox="1"/>
          <p:nvPr/>
        </p:nvSpPr>
        <p:spPr>
          <a:xfrm>
            <a:off x="6245098" y="2635899"/>
            <a:ext cx="733043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0000"/>
                </a:solidFill>
                <a:latin typeface="나눔고딕"/>
                <a:cs typeface="나눔고딕"/>
              </a:rPr>
              <a:t>생각할</a:t>
            </a:r>
          </a:p>
        </p:txBody>
      </p:sp>
      <p:sp>
        <p:nvSpPr>
          <p:cNvPr id="66" name="TextBox 66"/>
          <p:cNvSpPr txBox="1"/>
          <p:nvPr/>
        </p:nvSpPr>
        <p:spPr>
          <a:xfrm>
            <a:off x="6963156" y="2635899"/>
            <a:ext cx="152888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67" name="TextBox 67"/>
          <p:cNvSpPr txBox="1"/>
          <p:nvPr/>
        </p:nvSpPr>
        <p:spPr>
          <a:xfrm>
            <a:off x="7031736" y="2635899"/>
            <a:ext cx="732420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0000"/>
                </a:solidFill>
                <a:latin typeface="나눔고딕"/>
                <a:cs typeface="나눔고딕"/>
              </a:rPr>
              <a:t>정도로</a:t>
            </a:r>
          </a:p>
        </p:txBody>
      </p:sp>
      <p:sp>
        <p:nvSpPr>
          <p:cNvPr id="68" name="TextBox 68"/>
          <p:cNvSpPr txBox="1"/>
          <p:nvPr/>
        </p:nvSpPr>
        <p:spPr>
          <a:xfrm>
            <a:off x="7749540" y="2635899"/>
            <a:ext cx="152888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69" name="TextBox 69"/>
          <p:cNvSpPr txBox="1"/>
          <p:nvPr/>
        </p:nvSpPr>
        <p:spPr>
          <a:xfrm>
            <a:off x="7816596" y="2635899"/>
            <a:ext cx="488367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0000"/>
                </a:solidFill>
                <a:latin typeface="나눔고딕"/>
                <a:cs typeface="나눔고딕"/>
              </a:rPr>
              <a:t>낮은</a:t>
            </a:r>
          </a:p>
        </p:txBody>
      </p:sp>
      <p:sp>
        <p:nvSpPr>
          <p:cNvPr id="70" name="TextBox 70"/>
          <p:cNvSpPr txBox="1"/>
          <p:nvPr/>
        </p:nvSpPr>
        <p:spPr>
          <a:xfrm>
            <a:off x="8295132" y="2635899"/>
            <a:ext cx="152888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71" name="TextBox 71"/>
          <p:cNvSpPr txBox="1"/>
          <p:nvPr/>
        </p:nvSpPr>
        <p:spPr>
          <a:xfrm>
            <a:off x="8365490" y="2635899"/>
            <a:ext cx="244315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0000"/>
                </a:solidFill>
                <a:latin typeface="나눔고딕"/>
                <a:cs typeface="나눔고딕"/>
              </a:rPr>
              <a:t>것</a:t>
            </a:r>
          </a:p>
        </p:txBody>
      </p:sp>
      <p:sp>
        <p:nvSpPr>
          <p:cNvPr id="72" name="TextBox 72"/>
          <p:cNvSpPr txBox="1"/>
          <p:nvPr/>
        </p:nvSpPr>
        <p:spPr>
          <a:xfrm>
            <a:off x="8604758" y="2635899"/>
            <a:ext cx="152888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0000"/>
                </a:solidFill>
                <a:latin typeface="나눔고딕 2"/>
                <a:cs typeface="나눔고딕 2"/>
              </a:rPr>
              <a:t>  </a:t>
            </a:r>
          </a:p>
        </p:txBody>
      </p:sp>
      <p:sp>
        <p:nvSpPr>
          <p:cNvPr id="73" name="TextBox 73"/>
          <p:cNvSpPr txBox="1"/>
          <p:nvPr/>
        </p:nvSpPr>
        <p:spPr>
          <a:xfrm>
            <a:off x="1236574" y="3180502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dirty="0">
                <a:solidFill>
                  <a:srgbClr val="000000"/>
                </a:solidFill>
                <a:latin typeface="나눔고딕"/>
                <a:cs typeface="나눔고딕"/>
              </a:rPr>
              <a:t> </a:t>
            </a:r>
          </a:p>
        </p:txBody>
      </p:sp>
      <p:sp>
        <p:nvSpPr>
          <p:cNvPr id="74" name="TextBox 74"/>
          <p:cNvSpPr txBox="1"/>
          <p:nvPr/>
        </p:nvSpPr>
        <p:spPr>
          <a:xfrm>
            <a:off x="1306703" y="3180502"/>
            <a:ext cx="976182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리스크의</a:t>
            </a:r>
          </a:p>
        </p:txBody>
      </p:sp>
      <p:sp>
        <p:nvSpPr>
          <p:cNvPr id="75" name="TextBox 75"/>
          <p:cNvSpPr txBox="1"/>
          <p:nvPr/>
        </p:nvSpPr>
        <p:spPr>
          <a:xfrm>
            <a:off x="2264029" y="3180502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76" name="TextBox 76"/>
          <p:cNvSpPr txBox="1"/>
          <p:nvPr/>
        </p:nvSpPr>
        <p:spPr>
          <a:xfrm>
            <a:off x="2331085" y="3180502"/>
            <a:ext cx="732129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종류와</a:t>
            </a:r>
          </a:p>
        </p:txBody>
      </p:sp>
      <p:sp>
        <p:nvSpPr>
          <p:cNvPr id="77" name="TextBox 77"/>
          <p:cNvSpPr txBox="1"/>
          <p:nvPr/>
        </p:nvSpPr>
        <p:spPr>
          <a:xfrm>
            <a:off x="3048889" y="3180502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78" name="TextBox 78"/>
          <p:cNvSpPr txBox="1"/>
          <p:nvPr/>
        </p:nvSpPr>
        <p:spPr>
          <a:xfrm>
            <a:off x="3117469" y="3180502"/>
            <a:ext cx="244022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예</a:t>
            </a:r>
          </a:p>
        </p:txBody>
      </p:sp>
      <p:sp>
        <p:nvSpPr>
          <p:cNvPr id="79" name="TextBox 79"/>
          <p:cNvSpPr txBox="1"/>
          <p:nvPr/>
        </p:nvSpPr>
        <p:spPr>
          <a:xfrm>
            <a:off x="997306" y="3561883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dirty="0">
                <a:solidFill>
                  <a:srgbClr val="7F7F7F"/>
                </a:solidFill>
                <a:latin typeface="나눔고딕"/>
                <a:cs typeface="나눔고딕"/>
              </a:rPr>
              <a:t>-</a:t>
            </a:r>
          </a:p>
        </p:txBody>
      </p:sp>
      <p:sp>
        <p:nvSpPr>
          <p:cNvPr id="80" name="TextBox 80"/>
          <p:cNvSpPr txBox="1"/>
          <p:nvPr/>
        </p:nvSpPr>
        <p:spPr>
          <a:xfrm>
            <a:off x="1177138" y="3561883"/>
            <a:ext cx="780318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70C0"/>
                </a:solidFill>
                <a:latin typeface="나눔고딕"/>
                <a:cs typeface="나눔고딕"/>
              </a:rPr>
              <a:t>‘누구나</a:t>
            </a:r>
          </a:p>
        </p:txBody>
      </p:sp>
      <p:sp>
        <p:nvSpPr>
          <p:cNvPr id="81" name="TextBox 81"/>
          <p:cNvSpPr txBox="1"/>
          <p:nvPr/>
        </p:nvSpPr>
        <p:spPr>
          <a:xfrm>
            <a:off x="1942465" y="3561883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70C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82" name="TextBox 82"/>
          <p:cNvSpPr txBox="1"/>
          <p:nvPr/>
        </p:nvSpPr>
        <p:spPr>
          <a:xfrm>
            <a:off x="2011045" y="3561883"/>
            <a:ext cx="976182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70C0"/>
                </a:solidFill>
                <a:latin typeface="나눔고딕"/>
                <a:cs typeface="나눔고딕"/>
              </a:rPr>
              <a:t>수용하는</a:t>
            </a:r>
          </a:p>
        </p:txBody>
      </p:sp>
      <p:sp>
        <p:nvSpPr>
          <p:cNvPr id="83" name="TextBox 83"/>
          <p:cNvSpPr txBox="1"/>
          <p:nvPr/>
        </p:nvSpPr>
        <p:spPr>
          <a:xfrm>
            <a:off x="2968117" y="3561883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70C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84" name="TextBox 84"/>
          <p:cNvSpPr txBox="1"/>
          <p:nvPr/>
        </p:nvSpPr>
        <p:spPr>
          <a:xfrm>
            <a:off x="3035173" y="3561883"/>
            <a:ext cx="1464678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70C0"/>
                </a:solidFill>
                <a:latin typeface="나눔고딕"/>
                <a:cs typeface="나눔고딕"/>
              </a:rPr>
              <a:t>리스크’, ‘널리</a:t>
            </a:r>
          </a:p>
        </p:txBody>
      </p:sp>
      <p:sp>
        <p:nvSpPr>
          <p:cNvPr id="85" name="TextBox 85"/>
          <p:cNvSpPr txBox="1"/>
          <p:nvPr/>
        </p:nvSpPr>
        <p:spPr>
          <a:xfrm>
            <a:off x="4471162" y="3561883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70C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86" name="TextBox 86"/>
          <p:cNvSpPr txBox="1"/>
          <p:nvPr/>
        </p:nvSpPr>
        <p:spPr>
          <a:xfrm>
            <a:off x="4539742" y="3561883"/>
            <a:ext cx="488076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70C0"/>
                </a:solidFill>
                <a:latin typeface="나눔고딕"/>
                <a:cs typeface="나눔고딕"/>
              </a:rPr>
              <a:t>수용</a:t>
            </a:r>
          </a:p>
        </p:txBody>
      </p:sp>
      <p:sp>
        <p:nvSpPr>
          <p:cNvPr id="87" name="TextBox 87"/>
          <p:cNvSpPr txBox="1"/>
          <p:nvPr/>
        </p:nvSpPr>
        <p:spPr>
          <a:xfrm>
            <a:off x="5018278" y="3561883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70C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88" name="TextBox 88"/>
          <p:cNvSpPr txBox="1"/>
          <p:nvPr/>
        </p:nvSpPr>
        <p:spPr>
          <a:xfrm>
            <a:off x="5088382" y="3561883"/>
            <a:ext cx="732129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70C0"/>
                </a:solidFill>
                <a:latin typeface="나눔고딕"/>
                <a:cs typeface="나눔고딕"/>
              </a:rPr>
              <a:t>가능한</a:t>
            </a:r>
          </a:p>
        </p:txBody>
      </p:sp>
      <p:sp>
        <p:nvSpPr>
          <p:cNvPr id="89" name="TextBox 89"/>
          <p:cNvSpPr txBox="1"/>
          <p:nvPr/>
        </p:nvSpPr>
        <p:spPr>
          <a:xfrm>
            <a:off x="5806440" y="3561883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70C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90" name="TextBox 90"/>
          <p:cNvSpPr txBox="1"/>
          <p:nvPr/>
        </p:nvSpPr>
        <p:spPr>
          <a:xfrm>
            <a:off x="5873496" y="3561883"/>
            <a:ext cx="780186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70C0"/>
                </a:solidFill>
                <a:latin typeface="나눔고딕"/>
                <a:cs typeface="나눔고딕"/>
              </a:rPr>
              <a:t>리스크’</a:t>
            </a:r>
          </a:p>
        </p:txBody>
      </p:sp>
      <p:sp>
        <p:nvSpPr>
          <p:cNvPr id="91" name="TextBox 91"/>
          <p:cNvSpPr txBox="1"/>
          <p:nvPr/>
        </p:nvSpPr>
        <p:spPr>
          <a:xfrm>
            <a:off x="1140562" y="3942883"/>
            <a:ext cx="440798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spc="99" dirty="0">
                <a:solidFill>
                  <a:srgbClr val="000000"/>
                </a:solidFill>
                <a:latin typeface="나눔고딕 2"/>
                <a:cs typeface="나눔고딕 2"/>
              </a:rPr>
              <a:t>ex) </a:t>
            </a:r>
          </a:p>
        </p:txBody>
      </p:sp>
      <p:sp>
        <p:nvSpPr>
          <p:cNvPr id="92" name="TextBox 92"/>
          <p:cNvSpPr txBox="1"/>
          <p:nvPr/>
        </p:nvSpPr>
        <p:spPr>
          <a:xfrm>
            <a:off x="1571879" y="3942883"/>
            <a:ext cx="97711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떨어지는</a:t>
            </a:r>
          </a:p>
        </p:txBody>
      </p:sp>
      <p:sp>
        <p:nvSpPr>
          <p:cNvPr id="93" name="TextBox 93"/>
          <p:cNvSpPr txBox="1"/>
          <p:nvPr/>
        </p:nvSpPr>
        <p:spPr>
          <a:xfrm>
            <a:off x="2529205" y="3942883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94" name="TextBox 94"/>
          <p:cNvSpPr txBox="1"/>
          <p:nvPr/>
        </p:nvSpPr>
        <p:spPr>
          <a:xfrm>
            <a:off x="2596261" y="3942883"/>
            <a:ext cx="732129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운석에</a:t>
            </a:r>
          </a:p>
        </p:txBody>
      </p:sp>
      <p:sp>
        <p:nvSpPr>
          <p:cNvPr id="95" name="TextBox 95"/>
          <p:cNvSpPr txBox="1"/>
          <p:nvPr/>
        </p:nvSpPr>
        <p:spPr>
          <a:xfrm>
            <a:off x="3314065" y="3942883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96" name="TextBox 96"/>
          <p:cNvSpPr txBox="1"/>
          <p:nvPr/>
        </p:nvSpPr>
        <p:spPr>
          <a:xfrm>
            <a:off x="3382645" y="3942883"/>
            <a:ext cx="488076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맞을</a:t>
            </a:r>
          </a:p>
        </p:txBody>
      </p:sp>
      <p:sp>
        <p:nvSpPr>
          <p:cNvPr id="97" name="TextBox 97"/>
          <p:cNvSpPr txBox="1"/>
          <p:nvPr/>
        </p:nvSpPr>
        <p:spPr>
          <a:xfrm>
            <a:off x="3861562" y="3942883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98" name="TextBox 98"/>
          <p:cNvSpPr txBox="1"/>
          <p:nvPr/>
        </p:nvSpPr>
        <p:spPr>
          <a:xfrm>
            <a:off x="3930142" y="3942883"/>
            <a:ext cx="976182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리스크는</a:t>
            </a:r>
          </a:p>
        </p:txBody>
      </p:sp>
      <p:sp>
        <p:nvSpPr>
          <p:cNvPr id="99" name="TextBox 99"/>
          <p:cNvSpPr txBox="1"/>
          <p:nvPr/>
        </p:nvSpPr>
        <p:spPr>
          <a:xfrm>
            <a:off x="4887214" y="3942883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100" name="TextBox 100"/>
          <p:cNvSpPr txBox="1"/>
          <p:nvPr/>
        </p:nvSpPr>
        <p:spPr>
          <a:xfrm>
            <a:off x="4954270" y="3942883"/>
            <a:ext cx="1220236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존재하지만</a:t>
            </a:r>
          </a:p>
        </p:txBody>
      </p:sp>
      <p:sp>
        <p:nvSpPr>
          <p:cNvPr id="101" name="TextBox 101"/>
          <p:cNvSpPr txBox="1"/>
          <p:nvPr/>
        </p:nvSpPr>
        <p:spPr>
          <a:xfrm>
            <a:off x="6149340" y="3942883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, </a:t>
            </a:r>
          </a:p>
        </p:txBody>
      </p:sp>
      <p:sp>
        <p:nvSpPr>
          <p:cNvPr id="102" name="TextBox 102"/>
          <p:cNvSpPr txBox="1"/>
          <p:nvPr/>
        </p:nvSpPr>
        <p:spPr>
          <a:xfrm>
            <a:off x="6292596" y="3942883"/>
            <a:ext cx="732129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현실이</a:t>
            </a:r>
          </a:p>
        </p:txBody>
      </p:sp>
      <p:sp>
        <p:nvSpPr>
          <p:cNvPr id="103" name="TextBox 103"/>
          <p:cNvSpPr txBox="1"/>
          <p:nvPr/>
        </p:nvSpPr>
        <p:spPr>
          <a:xfrm>
            <a:off x="7010400" y="3942883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104" name="TextBox 104"/>
          <p:cNvSpPr txBox="1"/>
          <p:nvPr/>
        </p:nvSpPr>
        <p:spPr>
          <a:xfrm>
            <a:off x="7078980" y="3942883"/>
            <a:ext cx="488076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되는</a:t>
            </a:r>
          </a:p>
        </p:txBody>
      </p:sp>
      <p:sp>
        <p:nvSpPr>
          <p:cNvPr id="105" name="TextBox 105"/>
          <p:cNvSpPr txBox="1"/>
          <p:nvPr/>
        </p:nvSpPr>
        <p:spPr>
          <a:xfrm>
            <a:off x="7557770" y="3942883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106" name="TextBox 106"/>
          <p:cNvSpPr txBox="1"/>
          <p:nvPr/>
        </p:nvSpPr>
        <p:spPr>
          <a:xfrm>
            <a:off x="7626350" y="3942883"/>
            <a:ext cx="488076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것은</a:t>
            </a:r>
          </a:p>
        </p:txBody>
      </p:sp>
      <p:sp>
        <p:nvSpPr>
          <p:cNvPr id="107" name="TextBox 107"/>
          <p:cNvSpPr txBox="1"/>
          <p:nvPr/>
        </p:nvSpPr>
        <p:spPr>
          <a:xfrm>
            <a:off x="1568831" y="4323883"/>
            <a:ext cx="488387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매우</a:t>
            </a:r>
          </a:p>
        </p:txBody>
      </p:sp>
      <p:sp>
        <p:nvSpPr>
          <p:cNvPr id="108" name="TextBox 108"/>
          <p:cNvSpPr txBox="1"/>
          <p:nvPr/>
        </p:nvSpPr>
        <p:spPr>
          <a:xfrm>
            <a:off x="2047621" y="4323883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109" name="TextBox 109"/>
          <p:cNvSpPr txBox="1"/>
          <p:nvPr/>
        </p:nvSpPr>
        <p:spPr>
          <a:xfrm>
            <a:off x="2116201" y="4323883"/>
            <a:ext cx="488076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드문</a:t>
            </a:r>
          </a:p>
        </p:txBody>
      </p:sp>
      <p:sp>
        <p:nvSpPr>
          <p:cNvPr id="110" name="TextBox 110"/>
          <p:cNvSpPr txBox="1"/>
          <p:nvPr/>
        </p:nvSpPr>
        <p:spPr>
          <a:xfrm>
            <a:off x="2594737" y="4323883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111" name="TextBox 111"/>
          <p:cNvSpPr txBox="1"/>
          <p:nvPr/>
        </p:nvSpPr>
        <p:spPr>
          <a:xfrm>
            <a:off x="2664841" y="4323883"/>
            <a:ext cx="244022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일</a:t>
            </a:r>
          </a:p>
        </p:txBody>
      </p:sp>
      <p:sp>
        <p:nvSpPr>
          <p:cNvPr id="112" name="TextBox 112"/>
          <p:cNvSpPr txBox="1"/>
          <p:nvPr/>
        </p:nvSpPr>
        <p:spPr>
          <a:xfrm>
            <a:off x="2904109" y="4323883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(</a:t>
            </a:r>
          </a:p>
        </p:txBody>
      </p:sp>
      <p:sp>
        <p:nvSpPr>
          <p:cNvPr id="113" name="TextBox 113"/>
          <p:cNvSpPr txBox="1"/>
          <p:nvPr/>
        </p:nvSpPr>
        <p:spPr>
          <a:xfrm>
            <a:off x="2997073" y="4323883"/>
            <a:ext cx="488076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빈도</a:t>
            </a:r>
          </a:p>
        </p:txBody>
      </p:sp>
      <p:sp>
        <p:nvSpPr>
          <p:cNvPr id="114" name="TextBox 114"/>
          <p:cNvSpPr txBox="1"/>
          <p:nvPr/>
        </p:nvSpPr>
        <p:spPr>
          <a:xfrm>
            <a:off x="3475609" y="4323883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)</a:t>
            </a:r>
          </a:p>
        </p:txBody>
      </p:sp>
      <p:sp>
        <p:nvSpPr>
          <p:cNvPr id="115" name="TextBox 115"/>
          <p:cNvSpPr txBox="1"/>
          <p:nvPr/>
        </p:nvSpPr>
        <p:spPr>
          <a:xfrm>
            <a:off x="3567049" y="4323883"/>
            <a:ext cx="488387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이기</a:t>
            </a:r>
          </a:p>
        </p:txBody>
      </p:sp>
      <p:sp>
        <p:nvSpPr>
          <p:cNvPr id="116" name="TextBox 116"/>
          <p:cNvSpPr txBox="1"/>
          <p:nvPr/>
        </p:nvSpPr>
        <p:spPr>
          <a:xfrm>
            <a:off x="4044442" y="4323883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117" name="TextBox 117"/>
          <p:cNvSpPr txBox="1"/>
          <p:nvPr/>
        </p:nvSpPr>
        <p:spPr>
          <a:xfrm>
            <a:off x="4111498" y="4323883"/>
            <a:ext cx="732129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때문에</a:t>
            </a:r>
          </a:p>
        </p:txBody>
      </p:sp>
      <p:sp>
        <p:nvSpPr>
          <p:cNvPr id="118" name="TextBox 118"/>
          <p:cNvSpPr txBox="1"/>
          <p:nvPr/>
        </p:nvSpPr>
        <p:spPr>
          <a:xfrm>
            <a:off x="4829302" y="4323883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, </a:t>
            </a:r>
          </a:p>
        </p:txBody>
      </p:sp>
      <p:sp>
        <p:nvSpPr>
          <p:cNvPr id="119" name="TextBox 119"/>
          <p:cNvSpPr txBox="1"/>
          <p:nvPr/>
        </p:nvSpPr>
        <p:spPr>
          <a:xfrm>
            <a:off x="4972558" y="4323883"/>
            <a:ext cx="732129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누구도</a:t>
            </a:r>
          </a:p>
        </p:txBody>
      </p:sp>
      <p:sp>
        <p:nvSpPr>
          <p:cNvPr id="120" name="TextBox 120"/>
          <p:cNvSpPr txBox="1"/>
          <p:nvPr/>
        </p:nvSpPr>
        <p:spPr>
          <a:xfrm>
            <a:off x="5690616" y="4323883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121" name="TextBox 121"/>
          <p:cNvSpPr txBox="1"/>
          <p:nvPr/>
        </p:nvSpPr>
        <p:spPr>
          <a:xfrm>
            <a:off x="5759196" y="4323883"/>
            <a:ext cx="732129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방어를</a:t>
            </a:r>
          </a:p>
        </p:txBody>
      </p:sp>
      <p:sp>
        <p:nvSpPr>
          <p:cNvPr id="122" name="TextBox 122"/>
          <p:cNvSpPr txBox="1"/>
          <p:nvPr/>
        </p:nvSpPr>
        <p:spPr>
          <a:xfrm>
            <a:off x="6477000" y="4323883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123" name="TextBox 123"/>
          <p:cNvSpPr txBox="1"/>
          <p:nvPr/>
        </p:nvSpPr>
        <p:spPr>
          <a:xfrm>
            <a:off x="6545580" y="4323883"/>
            <a:ext cx="976183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생각하지</a:t>
            </a:r>
          </a:p>
        </p:txBody>
      </p:sp>
      <p:sp>
        <p:nvSpPr>
          <p:cNvPr id="124" name="TextBox 124"/>
          <p:cNvSpPr txBox="1"/>
          <p:nvPr/>
        </p:nvSpPr>
        <p:spPr>
          <a:xfrm>
            <a:off x="7502906" y="4323883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125" name="TextBox 125"/>
          <p:cNvSpPr txBox="1"/>
          <p:nvPr/>
        </p:nvSpPr>
        <p:spPr>
          <a:xfrm>
            <a:off x="7568438" y="4323883"/>
            <a:ext cx="732130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않는다</a:t>
            </a:r>
          </a:p>
        </p:txBody>
      </p:sp>
      <p:sp>
        <p:nvSpPr>
          <p:cNvPr id="126" name="TextBox 126"/>
          <p:cNvSpPr txBox="1"/>
          <p:nvPr/>
        </p:nvSpPr>
        <p:spPr>
          <a:xfrm>
            <a:off x="8286242" y="4323883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.</a:t>
            </a:r>
          </a:p>
        </p:txBody>
      </p:sp>
      <p:sp>
        <p:nvSpPr>
          <p:cNvPr id="127" name="TextBox 127"/>
          <p:cNvSpPr txBox="1"/>
          <p:nvPr/>
        </p:nvSpPr>
        <p:spPr>
          <a:xfrm>
            <a:off x="997306" y="4704602"/>
            <a:ext cx="152888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dirty="0">
                <a:solidFill>
                  <a:srgbClr val="7F7F7F"/>
                </a:solidFill>
                <a:latin typeface="나눔고딕"/>
                <a:cs typeface="나눔고딕"/>
              </a:rPr>
              <a:t>-</a:t>
            </a:r>
          </a:p>
        </p:txBody>
      </p:sp>
      <p:sp>
        <p:nvSpPr>
          <p:cNvPr id="128" name="TextBox 128"/>
          <p:cNvSpPr txBox="1"/>
          <p:nvPr/>
        </p:nvSpPr>
        <p:spPr>
          <a:xfrm>
            <a:off x="1177138" y="4704602"/>
            <a:ext cx="536556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70C0"/>
                </a:solidFill>
                <a:latin typeface="나눔고딕"/>
                <a:cs typeface="나눔고딕"/>
              </a:rPr>
              <a:t>‘허용</a:t>
            </a:r>
          </a:p>
        </p:txBody>
      </p:sp>
      <p:sp>
        <p:nvSpPr>
          <p:cNvPr id="129" name="TextBox 129"/>
          <p:cNvSpPr txBox="1"/>
          <p:nvPr/>
        </p:nvSpPr>
        <p:spPr>
          <a:xfrm>
            <a:off x="1702943" y="4704602"/>
            <a:ext cx="152888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70C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130" name="TextBox 130"/>
          <p:cNvSpPr txBox="1"/>
          <p:nvPr/>
        </p:nvSpPr>
        <p:spPr>
          <a:xfrm>
            <a:off x="1773047" y="4704602"/>
            <a:ext cx="733043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70C0"/>
                </a:solidFill>
                <a:latin typeface="나눔고딕"/>
                <a:cs typeface="나눔고딕"/>
              </a:rPr>
              <a:t>가능한</a:t>
            </a:r>
          </a:p>
        </p:txBody>
      </p:sp>
      <p:sp>
        <p:nvSpPr>
          <p:cNvPr id="131" name="TextBox 131"/>
          <p:cNvSpPr txBox="1"/>
          <p:nvPr/>
        </p:nvSpPr>
        <p:spPr>
          <a:xfrm>
            <a:off x="2491105" y="4704602"/>
            <a:ext cx="152888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70C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132" name="TextBox 132"/>
          <p:cNvSpPr txBox="1"/>
          <p:nvPr/>
        </p:nvSpPr>
        <p:spPr>
          <a:xfrm>
            <a:off x="2558161" y="4704602"/>
            <a:ext cx="780244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70C0"/>
                </a:solidFill>
                <a:latin typeface="나눔고딕"/>
                <a:cs typeface="나눔고딕"/>
              </a:rPr>
              <a:t>리스크’</a:t>
            </a:r>
          </a:p>
        </p:txBody>
      </p:sp>
      <p:sp>
        <p:nvSpPr>
          <p:cNvPr id="133" name="TextBox 133"/>
          <p:cNvSpPr txBox="1"/>
          <p:nvPr/>
        </p:nvSpPr>
        <p:spPr>
          <a:xfrm>
            <a:off x="1140562" y="5086137"/>
            <a:ext cx="440798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spc="99" dirty="0">
                <a:solidFill>
                  <a:srgbClr val="000000"/>
                </a:solidFill>
                <a:latin typeface="나눔고딕 2"/>
                <a:cs typeface="나눔고딕 2"/>
              </a:rPr>
              <a:t>ex) </a:t>
            </a:r>
          </a:p>
        </p:txBody>
      </p:sp>
      <p:sp>
        <p:nvSpPr>
          <p:cNvPr id="134" name="TextBox 134"/>
          <p:cNvSpPr txBox="1"/>
          <p:nvPr/>
        </p:nvSpPr>
        <p:spPr>
          <a:xfrm>
            <a:off x="1571879" y="5086137"/>
            <a:ext cx="732751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크레인</a:t>
            </a:r>
          </a:p>
        </p:txBody>
      </p:sp>
      <p:sp>
        <p:nvSpPr>
          <p:cNvPr id="135" name="TextBox 135"/>
          <p:cNvSpPr txBox="1"/>
          <p:nvPr/>
        </p:nvSpPr>
        <p:spPr>
          <a:xfrm>
            <a:off x="2358517" y="5086137"/>
            <a:ext cx="488076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사용</a:t>
            </a:r>
          </a:p>
        </p:txBody>
      </p:sp>
      <p:sp>
        <p:nvSpPr>
          <p:cNvPr id="136" name="TextBox 136"/>
          <p:cNvSpPr txBox="1"/>
          <p:nvPr/>
        </p:nvSpPr>
        <p:spPr>
          <a:xfrm>
            <a:off x="2837053" y="5086137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137" name="TextBox 137"/>
          <p:cNvSpPr txBox="1"/>
          <p:nvPr/>
        </p:nvSpPr>
        <p:spPr>
          <a:xfrm>
            <a:off x="2905633" y="5086137"/>
            <a:ext cx="488076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작업</a:t>
            </a:r>
          </a:p>
        </p:txBody>
      </p:sp>
      <p:sp>
        <p:nvSpPr>
          <p:cNvPr id="138" name="TextBox 138"/>
          <p:cNvSpPr txBox="1"/>
          <p:nvPr/>
        </p:nvSpPr>
        <p:spPr>
          <a:xfrm>
            <a:off x="3384169" y="5086137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139" name="TextBox 139"/>
          <p:cNvSpPr txBox="1"/>
          <p:nvPr/>
        </p:nvSpPr>
        <p:spPr>
          <a:xfrm>
            <a:off x="3452749" y="5086137"/>
            <a:ext cx="244022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중</a:t>
            </a:r>
          </a:p>
        </p:txBody>
      </p:sp>
      <p:sp>
        <p:nvSpPr>
          <p:cNvPr id="140" name="TextBox 140"/>
          <p:cNvSpPr txBox="1"/>
          <p:nvPr/>
        </p:nvSpPr>
        <p:spPr>
          <a:xfrm>
            <a:off x="3692398" y="5086137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141" name="TextBox 141"/>
          <p:cNvSpPr txBox="1"/>
          <p:nvPr/>
        </p:nvSpPr>
        <p:spPr>
          <a:xfrm>
            <a:off x="3764026" y="5086137"/>
            <a:ext cx="488076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매년</a:t>
            </a:r>
          </a:p>
        </p:txBody>
      </p:sp>
      <p:sp>
        <p:nvSpPr>
          <p:cNvPr id="142" name="TextBox 142"/>
          <p:cNvSpPr txBox="1"/>
          <p:nvPr/>
        </p:nvSpPr>
        <p:spPr>
          <a:xfrm>
            <a:off x="4242562" y="5086137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143" name="TextBox 143"/>
          <p:cNvSpPr txBox="1"/>
          <p:nvPr/>
        </p:nvSpPr>
        <p:spPr>
          <a:xfrm>
            <a:off x="4311142" y="5086137"/>
            <a:ext cx="488076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다수</a:t>
            </a:r>
          </a:p>
        </p:txBody>
      </p:sp>
      <p:sp>
        <p:nvSpPr>
          <p:cNvPr id="144" name="TextBox 144"/>
          <p:cNvSpPr txBox="1"/>
          <p:nvPr/>
        </p:nvSpPr>
        <p:spPr>
          <a:xfrm>
            <a:off x="4789678" y="5086137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145" name="TextBox 145"/>
          <p:cNvSpPr txBox="1"/>
          <p:nvPr/>
        </p:nvSpPr>
        <p:spPr>
          <a:xfrm>
            <a:off x="4858258" y="5086137"/>
            <a:ext cx="488076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사망</a:t>
            </a:r>
          </a:p>
        </p:txBody>
      </p:sp>
      <p:sp>
        <p:nvSpPr>
          <p:cNvPr id="146" name="TextBox 146"/>
          <p:cNvSpPr txBox="1"/>
          <p:nvPr/>
        </p:nvSpPr>
        <p:spPr>
          <a:xfrm>
            <a:off x="5336794" y="5086137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, </a:t>
            </a:r>
          </a:p>
        </p:txBody>
      </p:sp>
      <p:sp>
        <p:nvSpPr>
          <p:cNvPr id="147" name="TextBox 147"/>
          <p:cNvSpPr txBox="1"/>
          <p:nvPr/>
        </p:nvSpPr>
        <p:spPr>
          <a:xfrm>
            <a:off x="5483098" y="5086137"/>
            <a:ext cx="977116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크레인은</a:t>
            </a:r>
          </a:p>
        </p:txBody>
      </p:sp>
      <p:sp>
        <p:nvSpPr>
          <p:cNvPr id="148" name="TextBox 148"/>
          <p:cNvSpPr txBox="1"/>
          <p:nvPr/>
        </p:nvSpPr>
        <p:spPr>
          <a:xfrm>
            <a:off x="6440424" y="5086137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149" name="TextBox 149"/>
          <p:cNvSpPr txBox="1"/>
          <p:nvPr/>
        </p:nvSpPr>
        <p:spPr>
          <a:xfrm>
            <a:off x="6507480" y="5086137"/>
            <a:ext cx="488076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매우</a:t>
            </a:r>
          </a:p>
        </p:txBody>
      </p:sp>
      <p:sp>
        <p:nvSpPr>
          <p:cNvPr id="150" name="TextBox 150"/>
          <p:cNvSpPr txBox="1"/>
          <p:nvPr/>
        </p:nvSpPr>
        <p:spPr>
          <a:xfrm>
            <a:off x="6986016" y="5086137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151" name="TextBox 151"/>
          <p:cNvSpPr txBox="1"/>
          <p:nvPr/>
        </p:nvSpPr>
        <p:spPr>
          <a:xfrm>
            <a:off x="7054596" y="5086137"/>
            <a:ext cx="732130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위험한</a:t>
            </a:r>
          </a:p>
        </p:txBody>
      </p:sp>
      <p:sp>
        <p:nvSpPr>
          <p:cNvPr id="152" name="TextBox 152"/>
          <p:cNvSpPr txBox="1"/>
          <p:nvPr/>
        </p:nvSpPr>
        <p:spPr>
          <a:xfrm>
            <a:off x="7772654" y="5086137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153" name="TextBox 153"/>
          <p:cNvSpPr txBox="1"/>
          <p:nvPr/>
        </p:nvSpPr>
        <p:spPr>
          <a:xfrm>
            <a:off x="7841234" y="5086137"/>
            <a:ext cx="488076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기계</a:t>
            </a:r>
          </a:p>
        </p:txBody>
      </p:sp>
      <p:sp>
        <p:nvSpPr>
          <p:cNvPr id="154" name="TextBox 154"/>
          <p:cNvSpPr txBox="1"/>
          <p:nvPr/>
        </p:nvSpPr>
        <p:spPr>
          <a:xfrm>
            <a:off x="8319770" y="5086137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,</a:t>
            </a:r>
          </a:p>
        </p:txBody>
      </p:sp>
      <p:sp>
        <p:nvSpPr>
          <p:cNvPr id="155" name="TextBox 155"/>
          <p:cNvSpPr txBox="1"/>
          <p:nvPr/>
        </p:nvSpPr>
        <p:spPr>
          <a:xfrm>
            <a:off x="1568831" y="5467137"/>
            <a:ext cx="48155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spc="105" dirty="0">
                <a:solidFill>
                  <a:srgbClr val="000000"/>
                </a:solidFill>
                <a:latin typeface="나눔고딕 2"/>
                <a:cs typeface="나눔고딕 2"/>
              </a:rPr>
              <a:t>but </a:t>
            </a:r>
          </a:p>
        </p:txBody>
      </p:sp>
      <p:sp>
        <p:nvSpPr>
          <p:cNvPr id="156" name="TextBox 156"/>
          <p:cNvSpPr txBox="1"/>
          <p:nvPr/>
        </p:nvSpPr>
        <p:spPr>
          <a:xfrm>
            <a:off x="2040001" y="5467137"/>
            <a:ext cx="976182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크레인은</a:t>
            </a:r>
          </a:p>
        </p:txBody>
      </p:sp>
      <p:sp>
        <p:nvSpPr>
          <p:cNvPr id="157" name="TextBox 157"/>
          <p:cNvSpPr txBox="1"/>
          <p:nvPr/>
        </p:nvSpPr>
        <p:spPr>
          <a:xfrm>
            <a:off x="2997073" y="5467137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158" name="TextBox 158"/>
          <p:cNvSpPr txBox="1"/>
          <p:nvPr/>
        </p:nvSpPr>
        <p:spPr>
          <a:xfrm>
            <a:off x="3064129" y="5467137"/>
            <a:ext cx="1464289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전세계적에서</a:t>
            </a:r>
          </a:p>
        </p:txBody>
      </p:sp>
      <p:sp>
        <p:nvSpPr>
          <p:cNvPr id="159" name="TextBox 159"/>
          <p:cNvSpPr txBox="1"/>
          <p:nvPr/>
        </p:nvSpPr>
        <p:spPr>
          <a:xfrm>
            <a:off x="4498594" y="5467137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160" name="TextBox 160"/>
          <p:cNvSpPr txBox="1"/>
          <p:nvPr/>
        </p:nvSpPr>
        <p:spPr>
          <a:xfrm>
            <a:off x="4565650" y="5467137"/>
            <a:ext cx="1220236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보편적으로</a:t>
            </a:r>
          </a:p>
        </p:txBody>
      </p:sp>
      <p:sp>
        <p:nvSpPr>
          <p:cNvPr id="161" name="TextBox 161"/>
          <p:cNvSpPr txBox="1"/>
          <p:nvPr/>
        </p:nvSpPr>
        <p:spPr>
          <a:xfrm>
            <a:off x="5760720" y="5467137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162" name="TextBox 162"/>
          <p:cNvSpPr txBox="1"/>
          <p:nvPr/>
        </p:nvSpPr>
        <p:spPr>
          <a:xfrm>
            <a:off x="5827776" y="5467137"/>
            <a:ext cx="488076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사용</a:t>
            </a:r>
          </a:p>
        </p:txBody>
      </p:sp>
      <p:sp>
        <p:nvSpPr>
          <p:cNvPr id="163" name="TextBox 163"/>
          <p:cNvSpPr txBox="1"/>
          <p:nvPr/>
        </p:nvSpPr>
        <p:spPr>
          <a:xfrm>
            <a:off x="1282319" y="5848137"/>
            <a:ext cx="1706889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☞이용편리성과</a:t>
            </a:r>
          </a:p>
        </p:txBody>
      </p:sp>
      <p:sp>
        <p:nvSpPr>
          <p:cNvPr id="164" name="TextBox 164"/>
          <p:cNvSpPr txBox="1"/>
          <p:nvPr/>
        </p:nvSpPr>
        <p:spPr>
          <a:xfrm>
            <a:off x="2954401" y="5848137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165" name="TextBox 165"/>
          <p:cNvSpPr txBox="1"/>
          <p:nvPr/>
        </p:nvSpPr>
        <p:spPr>
          <a:xfrm>
            <a:off x="3021457" y="5848137"/>
            <a:ext cx="976182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위험성을</a:t>
            </a:r>
          </a:p>
        </p:txBody>
      </p:sp>
      <p:sp>
        <p:nvSpPr>
          <p:cNvPr id="166" name="TextBox 166"/>
          <p:cNvSpPr txBox="1"/>
          <p:nvPr/>
        </p:nvSpPr>
        <p:spPr>
          <a:xfrm>
            <a:off x="3978910" y="5848137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167" name="TextBox 167"/>
          <p:cNvSpPr txBox="1"/>
          <p:nvPr/>
        </p:nvSpPr>
        <p:spPr>
          <a:xfrm>
            <a:off x="4045966" y="5848137"/>
            <a:ext cx="732129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저울에</a:t>
            </a:r>
          </a:p>
        </p:txBody>
      </p:sp>
      <p:sp>
        <p:nvSpPr>
          <p:cNvPr id="168" name="TextBox 168"/>
          <p:cNvSpPr txBox="1"/>
          <p:nvPr/>
        </p:nvSpPr>
        <p:spPr>
          <a:xfrm>
            <a:off x="4763770" y="5848137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169" name="TextBox 169"/>
          <p:cNvSpPr txBox="1"/>
          <p:nvPr/>
        </p:nvSpPr>
        <p:spPr>
          <a:xfrm>
            <a:off x="4832350" y="5848137"/>
            <a:ext cx="732129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달았을</a:t>
            </a:r>
          </a:p>
        </p:txBody>
      </p:sp>
      <p:sp>
        <p:nvSpPr>
          <p:cNvPr id="170" name="TextBox 170"/>
          <p:cNvSpPr txBox="1"/>
          <p:nvPr/>
        </p:nvSpPr>
        <p:spPr>
          <a:xfrm>
            <a:off x="5550154" y="5848137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171" name="TextBox 171"/>
          <p:cNvSpPr txBox="1"/>
          <p:nvPr/>
        </p:nvSpPr>
        <p:spPr>
          <a:xfrm>
            <a:off x="5617464" y="5848137"/>
            <a:ext cx="244022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때</a:t>
            </a:r>
          </a:p>
        </p:txBody>
      </p:sp>
      <p:sp>
        <p:nvSpPr>
          <p:cNvPr id="172" name="TextBox 172"/>
          <p:cNvSpPr txBox="1"/>
          <p:nvPr/>
        </p:nvSpPr>
        <p:spPr>
          <a:xfrm>
            <a:off x="5856732" y="5848137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173" name="TextBox 173"/>
          <p:cNvSpPr txBox="1"/>
          <p:nvPr/>
        </p:nvSpPr>
        <p:spPr>
          <a:xfrm>
            <a:off x="5926836" y="5848137"/>
            <a:ext cx="1220236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이용편리성</a:t>
            </a:r>
          </a:p>
        </p:txBody>
      </p:sp>
      <p:sp>
        <p:nvSpPr>
          <p:cNvPr id="174" name="TextBox 174"/>
          <p:cNvSpPr txBox="1"/>
          <p:nvPr/>
        </p:nvSpPr>
        <p:spPr>
          <a:xfrm>
            <a:off x="7123176" y="5848137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175" name="TextBox 175"/>
          <p:cNvSpPr txBox="1"/>
          <p:nvPr/>
        </p:nvSpPr>
        <p:spPr>
          <a:xfrm>
            <a:off x="7190232" y="5848137"/>
            <a:ext cx="732130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쪽으로</a:t>
            </a:r>
          </a:p>
        </p:txBody>
      </p:sp>
      <p:sp>
        <p:nvSpPr>
          <p:cNvPr id="176" name="TextBox 176"/>
          <p:cNvSpPr txBox="1"/>
          <p:nvPr/>
        </p:nvSpPr>
        <p:spPr>
          <a:xfrm>
            <a:off x="7908290" y="5848137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177" name="TextBox 177"/>
          <p:cNvSpPr txBox="1"/>
          <p:nvPr/>
        </p:nvSpPr>
        <p:spPr>
          <a:xfrm>
            <a:off x="7975346" y="5848137"/>
            <a:ext cx="732130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기울어</a:t>
            </a:r>
          </a:p>
        </p:txBody>
      </p:sp>
      <p:sp>
        <p:nvSpPr>
          <p:cNvPr id="178" name="TextBox 178"/>
          <p:cNvSpPr txBox="1"/>
          <p:nvPr/>
        </p:nvSpPr>
        <p:spPr>
          <a:xfrm>
            <a:off x="8693150" y="5848137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179" name="TextBox 179"/>
          <p:cNvSpPr txBox="1"/>
          <p:nvPr/>
        </p:nvSpPr>
        <p:spPr>
          <a:xfrm>
            <a:off x="997306" y="6152656"/>
            <a:ext cx="732420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0000"/>
                </a:solidFill>
                <a:latin typeface="나눔고딕"/>
                <a:cs typeface="나눔고딕"/>
              </a:rPr>
              <a:t>진다고</a:t>
            </a:r>
          </a:p>
        </p:txBody>
      </p:sp>
      <p:sp>
        <p:nvSpPr>
          <p:cNvPr id="180" name="TextBox 180"/>
          <p:cNvSpPr txBox="1"/>
          <p:nvPr/>
        </p:nvSpPr>
        <p:spPr>
          <a:xfrm>
            <a:off x="1715135" y="6152656"/>
            <a:ext cx="152888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181" name="TextBox 181"/>
          <p:cNvSpPr txBox="1"/>
          <p:nvPr/>
        </p:nvSpPr>
        <p:spPr>
          <a:xfrm>
            <a:off x="1783715" y="6152656"/>
            <a:ext cx="977407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0000"/>
                </a:solidFill>
                <a:latin typeface="나눔고딕"/>
                <a:cs typeface="나눔고딕"/>
              </a:rPr>
              <a:t>판단하고</a:t>
            </a:r>
          </a:p>
        </p:txBody>
      </p:sp>
      <p:sp>
        <p:nvSpPr>
          <p:cNvPr id="182" name="TextBox 182"/>
          <p:cNvSpPr txBox="1"/>
          <p:nvPr/>
        </p:nvSpPr>
        <p:spPr>
          <a:xfrm>
            <a:off x="2741041" y="6152656"/>
            <a:ext cx="152888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0000"/>
                </a:solidFill>
                <a:latin typeface="나눔고딕 2"/>
                <a:cs typeface="나눔고딕 2"/>
              </a:rPr>
              <a:t>, </a:t>
            </a:r>
          </a:p>
        </p:txBody>
      </p:sp>
      <p:sp>
        <p:nvSpPr>
          <p:cNvPr id="183" name="TextBox 183"/>
          <p:cNvSpPr txBox="1"/>
          <p:nvPr/>
        </p:nvSpPr>
        <p:spPr>
          <a:xfrm>
            <a:off x="2884297" y="6152656"/>
            <a:ext cx="976473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0000"/>
                </a:solidFill>
                <a:latin typeface="나눔고딕"/>
                <a:cs typeface="나눔고딕"/>
              </a:rPr>
              <a:t>위험성은</a:t>
            </a:r>
          </a:p>
        </p:txBody>
      </p:sp>
      <p:sp>
        <p:nvSpPr>
          <p:cNvPr id="184" name="TextBox 184"/>
          <p:cNvSpPr txBox="1"/>
          <p:nvPr/>
        </p:nvSpPr>
        <p:spPr>
          <a:xfrm>
            <a:off x="3841750" y="6152656"/>
            <a:ext cx="152888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185" name="TextBox 185"/>
          <p:cNvSpPr txBox="1"/>
          <p:nvPr/>
        </p:nvSpPr>
        <p:spPr>
          <a:xfrm>
            <a:off x="3907282" y="6152656"/>
            <a:ext cx="1464579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0000"/>
                </a:solidFill>
                <a:latin typeface="나눔고딕"/>
                <a:cs typeface="나눔고딕"/>
              </a:rPr>
              <a:t>안전대책으로</a:t>
            </a:r>
          </a:p>
        </p:txBody>
      </p:sp>
      <p:sp>
        <p:nvSpPr>
          <p:cNvPr id="186" name="TextBox 186"/>
          <p:cNvSpPr txBox="1"/>
          <p:nvPr/>
        </p:nvSpPr>
        <p:spPr>
          <a:xfrm>
            <a:off x="5341366" y="6152656"/>
            <a:ext cx="152888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187" name="TextBox 187"/>
          <p:cNvSpPr txBox="1"/>
          <p:nvPr/>
        </p:nvSpPr>
        <p:spPr>
          <a:xfrm>
            <a:off x="5408422" y="6152656"/>
            <a:ext cx="977408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0000"/>
                </a:solidFill>
                <a:latin typeface="나눔고딕"/>
                <a:cs typeface="나눔고딕"/>
              </a:rPr>
              <a:t>대응하면</a:t>
            </a:r>
          </a:p>
        </p:txBody>
      </p:sp>
      <p:sp>
        <p:nvSpPr>
          <p:cNvPr id="188" name="TextBox 188"/>
          <p:cNvSpPr txBox="1"/>
          <p:nvPr/>
        </p:nvSpPr>
        <p:spPr>
          <a:xfrm>
            <a:off x="6365748" y="6152656"/>
            <a:ext cx="152888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189" name="TextBox 189"/>
          <p:cNvSpPr txBox="1"/>
          <p:nvPr/>
        </p:nvSpPr>
        <p:spPr>
          <a:xfrm>
            <a:off x="6432804" y="6152656"/>
            <a:ext cx="732420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0000"/>
                </a:solidFill>
                <a:latin typeface="나눔고딕"/>
                <a:cs typeface="나눔고딕"/>
              </a:rPr>
              <a:t>된다고</a:t>
            </a:r>
          </a:p>
        </p:txBody>
      </p:sp>
      <p:sp>
        <p:nvSpPr>
          <p:cNvPr id="190" name="TextBox 190"/>
          <p:cNvSpPr txBox="1"/>
          <p:nvPr/>
        </p:nvSpPr>
        <p:spPr>
          <a:xfrm>
            <a:off x="7150608" y="6152656"/>
            <a:ext cx="152888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191" name="TextBox 191"/>
          <p:cNvSpPr txBox="1"/>
          <p:nvPr/>
        </p:nvSpPr>
        <p:spPr>
          <a:xfrm>
            <a:off x="7217664" y="6152656"/>
            <a:ext cx="977408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0000"/>
                </a:solidFill>
                <a:latin typeface="나눔고딕"/>
                <a:cs typeface="나눔고딕"/>
              </a:rPr>
              <a:t>생각하기</a:t>
            </a:r>
          </a:p>
        </p:txBody>
      </p:sp>
      <p:sp>
        <p:nvSpPr>
          <p:cNvPr id="192" name="TextBox 192"/>
          <p:cNvSpPr txBox="1"/>
          <p:nvPr/>
        </p:nvSpPr>
        <p:spPr>
          <a:xfrm>
            <a:off x="8174990" y="6152656"/>
            <a:ext cx="152888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193" name="TextBox 193"/>
          <p:cNvSpPr txBox="1"/>
          <p:nvPr/>
        </p:nvSpPr>
        <p:spPr>
          <a:xfrm>
            <a:off x="8242046" y="6152656"/>
            <a:ext cx="488367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0000"/>
                </a:solidFill>
                <a:latin typeface="나눔고딕"/>
                <a:cs typeface="나눔고딕"/>
              </a:rPr>
              <a:t>때문</a:t>
            </a:r>
          </a:p>
        </p:txBody>
      </p:sp>
      <p:sp>
        <p:nvSpPr>
          <p:cNvPr id="194" name="TextBox 194"/>
          <p:cNvSpPr txBox="1"/>
          <p:nvPr/>
        </p:nvSpPr>
        <p:spPr>
          <a:xfrm>
            <a:off x="415138" y="105410"/>
            <a:ext cx="1349289" cy="42672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400" b="1" dirty="0">
                <a:solidFill>
                  <a:srgbClr val="000000"/>
                </a:solidFill>
                <a:latin typeface="나눔고딕"/>
                <a:cs typeface="나눔고딕"/>
              </a:rPr>
              <a:t>Ⅱ. 안전의</a:t>
            </a:r>
          </a:p>
        </p:txBody>
      </p:sp>
      <p:sp>
        <p:nvSpPr>
          <p:cNvPr id="195" name="TextBox 195"/>
          <p:cNvSpPr txBox="1"/>
          <p:nvPr/>
        </p:nvSpPr>
        <p:spPr>
          <a:xfrm>
            <a:off x="1737995" y="105410"/>
            <a:ext cx="182880" cy="42672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400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196" name="TextBox 196"/>
          <p:cNvSpPr txBox="1"/>
          <p:nvPr/>
        </p:nvSpPr>
        <p:spPr>
          <a:xfrm>
            <a:off x="1821815" y="105410"/>
            <a:ext cx="584795" cy="42672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400" b="1" dirty="0">
                <a:solidFill>
                  <a:srgbClr val="000000"/>
                </a:solidFill>
                <a:latin typeface="나눔고딕"/>
                <a:cs typeface="나눔고딕"/>
              </a:rPr>
              <a:t>개요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-1"/>
            <a:ext cx="9144000" cy="6858000"/>
          </a:xfrm>
          <a:prstGeom prst="rect">
            <a:avLst/>
          </a:prstGeom>
          <a:solidFill>
            <a:srgbClr val="FFFFFF"/>
          </a:solidFill>
        </p:spPr>
        <p:txBody>
          <a:bodyPr/>
          <a:lstStyle/>
          <a:p>
            <a:endParaRPr/>
          </a:p>
        </p:txBody>
      </p:sp>
      <p:sp>
        <p:nvSpPr>
          <p:cNvPr id="3" name="Shape 3"/>
          <p:cNvSpPr/>
          <p:nvPr/>
        </p:nvSpPr>
        <p:spPr>
          <a:xfrm>
            <a:off x="0" y="6525349"/>
            <a:ext cx="9144000" cy="1"/>
          </a:xfrm>
          <a:custGeom>
            <a:avLst/>
            <a:gdLst/>
            <a:ahLst/>
            <a:cxnLst/>
            <a:rect l="0" t="0" r="9144000" b="1"/>
            <a:pathLst>
              <a:path w="9144000" h="1" fill="none">
                <a:moveTo>
                  <a:pt x="0" y="0"/>
                </a:moveTo>
                <a:lnTo>
                  <a:pt x="9144000" y="0"/>
                </a:lnTo>
              </a:path>
            </a:pathLst>
          </a:custGeom>
          <a:noFill/>
          <a:ln w="19050">
            <a:solidFill>
              <a:srgbClr val="5B9BD5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6" name="Shape 6"/>
          <p:cNvSpPr/>
          <p:nvPr/>
        </p:nvSpPr>
        <p:spPr>
          <a:xfrm>
            <a:off x="21900" y="476640"/>
            <a:ext cx="1331595" cy="97400"/>
          </a:xfrm>
          <a:prstGeom prst="rect">
            <a:avLst/>
          </a:prstGeom>
          <a:solidFill>
            <a:srgbClr val="92D050"/>
          </a:solidFill>
        </p:spPr>
        <p:txBody>
          <a:bodyPr/>
          <a:lstStyle/>
          <a:p>
            <a:endParaRPr/>
          </a:p>
        </p:txBody>
      </p:sp>
      <p:sp>
        <p:nvSpPr>
          <p:cNvPr id="7" name="Shape 7"/>
          <p:cNvSpPr/>
          <p:nvPr/>
        </p:nvSpPr>
        <p:spPr>
          <a:xfrm>
            <a:off x="1353566" y="476640"/>
            <a:ext cx="7776845" cy="97400"/>
          </a:xfrm>
          <a:prstGeom prst="rect">
            <a:avLst/>
          </a:prstGeom>
          <a:solidFill>
            <a:srgbClr val="5B9BD5"/>
          </a:solidFill>
        </p:spPr>
        <p:txBody>
          <a:bodyPr/>
          <a:lstStyle/>
          <a:p>
            <a:endParaRPr/>
          </a:p>
        </p:txBody>
      </p:sp>
      <p:sp>
        <p:nvSpPr>
          <p:cNvPr id="8" name="Shape 8"/>
          <p:cNvSpPr/>
          <p:nvPr/>
        </p:nvSpPr>
        <p:spPr>
          <a:xfrm>
            <a:off x="1353566" y="470281"/>
            <a:ext cx="1" cy="122809"/>
          </a:xfrm>
          <a:custGeom>
            <a:avLst/>
            <a:gdLst/>
            <a:ahLst/>
            <a:cxnLst/>
            <a:rect l="0" t="0" r="1" b="122809"/>
            <a:pathLst>
              <a:path w="1" h="122809" fill="none">
                <a:moveTo>
                  <a:pt x="0" y="0"/>
                </a:moveTo>
                <a:lnTo>
                  <a:pt x="0" y="122809"/>
                </a:lnTo>
              </a:path>
            </a:pathLst>
          </a:custGeom>
          <a:noFill/>
          <a:ln w="12700">
            <a:solidFill>
              <a:srgbClr val="FFFFF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9" name="Shape 9"/>
          <p:cNvSpPr/>
          <p:nvPr/>
        </p:nvSpPr>
        <p:spPr>
          <a:xfrm>
            <a:off x="21900" y="470281"/>
            <a:ext cx="1" cy="122809"/>
          </a:xfrm>
          <a:custGeom>
            <a:avLst/>
            <a:gdLst/>
            <a:ahLst/>
            <a:cxnLst/>
            <a:rect l="0" t="0" r="1" b="122809"/>
            <a:pathLst>
              <a:path w="1" h="122809" fill="none">
                <a:moveTo>
                  <a:pt x="0" y="0"/>
                </a:moveTo>
                <a:lnTo>
                  <a:pt x="0" y="122809"/>
                </a:lnTo>
              </a:path>
            </a:pathLst>
          </a:custGeom>
          <a:noFill/>
          <a:ln w="12700">
            <a:solidFill>
              <a:srgbClr val="FFFFF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0" name="Shape 10"/>
          <p:cNvSpPr/>
          <p:nvPr/>
        </p:nvSpPr>
        <p:spPr>
          <a:xfrm>
            <a:off x="9130411" y="470281"/>
            <a:ext cx="1" cy="122809"/>
          </a:xfrm>
          <a:custGeom>
            <a:avLst/>
            <a:gdLst/>
            <a:ahLst/>
            <a:cxnLst/>
            <a:rect l="0" t="0" r="1" b="122809"/>
            <a:pathLst>
              <a:path w="1" h="122809" fill="none">
                <a:moveTo>
                  <a:pt x="0" y="0"/>
                </a:moveTo>
                <a:lnTo>
                  <a:pt x="0" y="122809"/>
                </a:lnTo>
              </a:path>
            </a:pathLst>
          </a:custGeom>
          <a:noFill/>
          <a:ln w="12700">
            <a:solidFill>
              <a:srgbClr val="FFFFF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1" name="Shape 11"/>
          <p:cNvSpPr/>
          <p:nvPr/>
        </p:nvSpPr>
        <p:spPr>
          <a:xfrm>
            <a:off x="15550" y="476631"/>
            <a:ext cx="9121211" cy="1"/>
          </a:xfrm>
          <a:custGeom>
            <a:avLst/>
            <a:gdLst/>
            <a:ahLst/>
            <a:cxnLst/>
            <a:rect l="0" t="0" r="9121211" b="1"/>
            <a:pathLst>
              <a:path w="9121211" h="1" fill="none">
                <a:moveTo>
                  <a:pt x="0" y="0"/>
                </a:moveTo>
                <a:lnTo>
                  <a:pt x="9121211" y="0"/>
                </a:lnTo>
              </a:path>
            </a:pathLst>
          </a:custGeom>
          <a:noFill/>
          <a:ln w="12700">
            <a:solidFill>
              <a:srgbClr val="FFFFF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2" name="Shape 12"/>
          <p:cNvSpPr/>
          <p:nvPr/>
        </p:nvSpPr>
        <p:spPr>
          <a:xfrm>
            <a:off x="15550" y="574040"/>
            <a:ext cx="9121211" cy="1"/>
          </a:xfrm>
          <a:custGeom>
            <a:avLst/>
            <a:gdLst/>
            <a:ahLst/>
            <a:cxnLst/>
            <a:rect l="0" t="0" r="9121211" b="1"/>
            <a:pathLst>
              <a:path w="9121211" h="1" fill="none">
                <a:moveTo>
                  <a:pt x="0" y="0"/>
                </a:moveTo>
                <a:lnTo>
                  <a:pt x="9121211" y="0"/>
                </a:lnTo>
              </a:path>
            </a:pathLst>
          </a:custGeom>
          <a:noFill/>
          <a:ln w="38100">
            <a:solidFill>
              <a:srgbClr val="FFFFF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3" name="TextBox 13"/>
          <p:cNvSpPr txBox="1"/>
          <p:nvPr/>
        </p:nvSpPr>
        <p:spPr>
          <a:xfrm>
            <a:off x="487070" y="679170"/>
            <a:ext cx="370025" cy="427147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402" b="1" spc="151" dirty="0">
                <a:solidFill>
                  <a:srgbClr val="967754"/>
                </a:solidFill>
                <a:latin typeface="나눔고딕 2"/>
                <a:cs typeface="나눔고딕 2"/>
              </a:rPr>
              <a:t>5. 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848258" y="679170"/>
            <a:ext cx="877018" cy="427147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402" b="1" dirty="0">
                <a:solidFill>
                  <a:srgbClr val="967754"/>
                </a:solidFill>
                <a:latin typeface="나눔고딕"/>
                <a:cs typeface="나눔고딕"/>
              </a:rPr>
              <a:t>안전과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708150" y="679170"/>
            <a:ext cx="183063" cy="427147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402" b="1" dirty="0">
                <a:solidFill>
                  <a:srgbClr val="967754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791970" y="679170"/>
            <a:ext cx="877018" cy="427147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402" b="1" dirty="0">
                <a:solidFill>
                  <a:srgbClr val="967754"/>
                </a:solidFill>
                <a:latin typeface="나눔고딕"/>
                <a:cs typeface="나눔고딕"/>
              </a:rPr>
              <a:t>리스크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592531" y="1213164"/>
            <a:ext cx="355691" cy="390876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198" b="1" spc="150" dirty="0">
                <a:solidFill>
                  <a:srgbClr val="000000"/>
                </a:solidFill>
                <a:latin typeface="나눔고딕 2"/>
                <a:cs typeface="나눔고딕 2"/>
              </a:rPr>
              <a:t>2) 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941527" y="1213164"/>
            <a:ext cx="1337174" cy="390876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198" b="1" dirty="0">
                <a:solidFill>
                  <a:srgbClr val="000000"/>
                </a:solidFill>
                <a:latin typeface="나눔고딕"/>
                <a:cs typeface="나눔고딕"/>
              </a:rPr>
              <a:t>절대안전은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2252472" y="1213164"/>
            <a:ext cx="167518" cy="390876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198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2330196" y="1213164"/>
            <a:ext cx="1069804" cy="390876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198" b="1" dirty="0">
                <a:solidFill>
                  <a:srgbClr val="000000"/>
                </a:solidFill>
                <a:latin typeface="나눔고딕"/>
                <a:cs typeface="나눔고딕"/>
              </a:rPr>
              <a:t>존재하지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3378962" y="1213164"/>
            <a:ext cx="167518" cy="390876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198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3455162" y="1213164"/>
            <a:ext cx="802434" cy="390876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198" b="1" dirty="0">
                <a:solidFill>
                  <a:srgbClr val="000000"/>
                </a:solidFill>
                <a:latin typeface="나눔고딕"/>
                <a:cs typeface="나눔고딕"/>
              </a:rPr>
              <a:t>않는다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4241546" y="1213164"/>
            <a:ext cx="167518" cy="390876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198" b="1" dirty="0">
                <a:solidFill>
                  <a:srgbClr val="000000"/>
                </a:solidFill>
                <a:latin typeface="나눔고딕 2"/>
                <a:cs typeface="나눔고딕 2"/>
              </a:rPr>
              <a:t>: 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4403090" y="1213164"/>
            <a:ext cx="802434" cy="390876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198" b="1" dirty="0">
                <a:solidFill>
                  <a:srgbClr val="000000"/>
                </a:solidFill>
                <a:latin typeface="나눔고딕"/>
                <a:cs typeface="나눔고딕"/>
              </a:rPr>
              <a:t>리스크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5189855" y="1213164"/>
            <a:ext cx="167518" cy="390876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198" b="1" dirty="0">
                <a:solidFill>
                  <a:srgbClr val="000000"/>
                </a:solidFill>
                <a:latin typeface="나눔고딕 2"/>
                <a:cs typeface="나눔고딕 2"/>
              </a:rPr>
              <a:t>(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5290439" y="1213164"/>
            <a:ext cx="802434" cy="390876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198" b="1" dirty="0">
                <a:solidFill>
                  <a:srgbClr val="000000"/>
                </a:solidFill>
                <a:latin typeface="나눔고딕"/>
                <a:cs typeface="나눔고딕"/>
              </a:rPr>
              <a:t>위험성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6076823" y="1213164"/>
            <a:ext cx="167518" cy="390876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198" b="1" dirty="0">
                <a:solidFill>
                  <a:srgbClr val="000000"/>
                </a:solidFill>
                <a:latin typeface="나눔고딕 2"/>
                <a:cs typeface="나눔고딕 2"/>
              </a:rPr>
              <a:t>)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6177407" y="1213164"/>
            <a:ext cx="267694" cy="390876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198" b="1" dirty="0">
                <a:solidFill>
                  <a:srgbClr val="000000"/>
                </a:solidFill>
                <a:latin typeface="나눔고딕"/>
                <a:cs typeface="나눔고딕"/>
              </a:rPr>
              <a:t>는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6439535" y="1213164"/>
            <a:ext cx="167518" cy="390876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198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6518783" y="1213164"/>
            <a:ext cx="802434" cy="390876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198" b="1" dirty="0">
                <a:solidFill>
                  <a:srgbClr val="000000"/>
                </a:solidFill>
                <a:latin typeface="나눔고딕"/>
                <a:cs typeface="나눔고딕"/>
              </a:rPr>
              <a:t>제로일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7305421" y="1213164"/>
            <a:ext cx="167518" cy="390876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198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7381621" y="1213164"/>
            <a:ext cx="267694" cy="390876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198" b="1" dirty="0">
                <a:solidFill>
                  <a:srgbClr val="000000"/>
                </a:solidFill>
                <a:latin typeface="나눔고딕"/>
                <a:cs typeface="나눔고딕"/>
              </a:rPr>
              <a:t>수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7643749" y="1213164"/>
            <a:ext cx="167518" cy="390876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198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7721473" y="1213164"/>
            <a:ext cx="535064" cy="390876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198" b="1" dirty="0">
                <a:solidFill>
                  <a:srgbClr val="000000"/>
                </a:solidFill>
                <a:latin typeface="나눔고딕"/>
                <a:cs typeface="나눔고딕"/>
              </a:rPr>
              <a:t>없다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8245729" y="1213164"/>
            <a:ext cx="167518" cy="390876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198" b="1" dirty="0">
                <a:solidFill>
                  <a:srgbClr val="000000"/>
                </a:solidFill>
                <a:latin typeface="나눔고딕 2"/>
                <a:cs typeface="나눔고딕 2"/>
              </a:rPr>
              <a:t>.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914705" y="1750619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dirty="0">
                <a:solidFill>
                  <a:srgbClr val="7F7F7F"/>
                </a:solidFill>
                <a:latin typeface="Wingdings"/>
                <a:cs typeface="Wingdings"/>
              </a:rPr>
              <a:t>▪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1131113" y="1745275"/>
            <a:ext cx="780318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‘기계는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1896110" y="1745275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1964690" y="1745275"/>
            <a:ext cx="976182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고장나기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2922143" y="1745275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2989199" y="1745275"/>
            <a:ext cx="1950841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마련’이고, ‘인간은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4902073" y="1745275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4970653" y="1745275"/>
            <a:ext cx="976182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실수하기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5927725" y="1745275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5994781" y="1745275"/>
            <a:ext cx="1024761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마련’이다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6999478" y="1745275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.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914705" y="2131619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dirty="0">
                <a:solidFill>
                  <a:srgbClr val="7F7F7F"/>
                </a:solidFill>
                <a:latin typeface="Wingdings"/>
                <a:cs typeface="Wingdings"/>
              </a:rPr>
              <a:t>▪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1131113" y="2126275"/>
            <a:ext cx="1268424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‘허용가능한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2373122" y="2126275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2440178" y="2126275"/>
            <a:ext cx="1512867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리스크’에서는</a:t>
            </a:r>
          </a:p>
        </p:txBody>
      </p:sp>
      <p:sp>
        <p:nvSpPr>
          <p:cNvPr id="51" name="TextBox 51"/>
          <p:cNvSpPr txBox="1"/>
          <p:nvPr/>
        </p:nvSpPr>
        <p:spPr>
          <a:xfrm>
            <a:off x="3921887" y="2126275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52" name="TextBox 52"/>
          <p:cNvSpPr txBox="1"/>
          <p:nvPr/>
        </p:nvSpPr>
        <p:spPr>
          <a:xfrm>
            <a:off x="3988943" y="2126275"/>
            <a:ext cx="488076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누릴</a:t>
            </a:r>
          </a:p>
        </p:txBody>
      </p:sp>
      <p:sp>
        <p:nvSpPr>
          <p:cNvPr id="53" name="TextBox 53"/>
          <p:cNvSpPr txBox="1"/>
          <p:nvPr/>
        </p:nvSpPr>
        <p:spPr>
          <a:xfrm>
            <a:off x="4467479" y="2126275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54" name="TextBox 54"/>
          <p:cNvSpPr txBox="1"/>
          <p:nvPr/>
        </p:nvSpPr>
        <p:spPr>
          <a:xfrm>
            <a:off x="4536313" y="2126275"/>
            <a:ext cx="732129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혜택과</a:t>
            </a:r>
          </a:p>
        </p:txBody>
      </p:sp>
      <p:sp>
        <p:nvSpPr>
          <p:cNvPr id="55" name="TextBox 55"/>
          <p:cNvSpPr txBox="1"/>
          <p:nvPr/>
        </p:nvSpPr>
        <p:spPr>
          <a:xfrm>
            <a:off x="5254117" y="2126275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56" name="TextBox 56"/>
          <p:cNvSpPr txBox="1"/>
          <p:nvPr/>
        </p:nvSpPr>
        <p:spPr>
          <a:xfrm>
            <a:off x="5322697" y="2126275"/>
            <a:ext cx="1220236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이해득실을</a:t>
            </a:r>
          </a:p>
        </p:txBody>
      </p:sp>
      <p:sp>
        <p:nvSpPr>
          <p:cNvPr id="57" name="TextBox 57"/>
          <p:cNvSpPr txBox="1"/>
          <p:nvPr/>
        </p:nvSpPr>
        <p:spPr>
          <a:xfrm>
            <a:off x="6517894" y="2126275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58" name="TextBox 58"/>
          <p:cNvSpPr txBox="1"/>
          <p:nvPr/>
        </p:nvSpPr>
        <p:spPr>
          <a:xfrm>
            <a:off x="6584950" y="2126275"/>
            <a:ext cx="976183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저울질할</a:t>
            </a:r>
          </a:p>
        </p:txBody>
      </p:sp>
      <p:sp>
        <p:nvSpPr>
          <p:cNvPr id="59" name="TextBox 59"/>
          <p:cNvSpPr txBox="1"/>
          <p:nvPr/>
        </p:nvSpPr>
        <p:spPr>
          <a:xfrm>
            <a:off x="7542022" y="2126275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60" name="TextBox 60"/>
          <p:cNvSpPr txBox="1"/>
          <p:nvPr/>
        </p:nvSpPr>
        <p:spPr>
          <a:xfrm>
            <a:off x="1131113" y="2431075"/>
            <a:ext cx="976182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리스크가</a:t>
            </a:r>
          </a:p>
        </p:txBody>
      </p:sp>
      <p:sp>
        <p:nvSpPr>
          <p:cNvPr id="61" name="TextBox 61"/>
          <p:cNvSpPr txBox="1"/>
          <p:nvPr/>
        </p:nvSpPr>
        <p:spPr>
          <a:xfrm>
            <a:off x="2088134" y="2431075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62" name="TextBox 62"/>
          <p:cNvSpPr txBox="1"/>
          <p:nvPr/>
        </p:nvSpPr>
        <p:spPr>
          <a:xfrm>
            <a:off x="2155190" y="2431075"/>
            <a:ext cx="976182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존재한다</a:t>
            </a:r>
          </a:p>
        </p:txBody>
      </p:sp>
      <p:sp>
        <p:nvSpPr>
          <p:cNvPr id="63" name="TextBox 63"/>
          <p:cNvSpPr txBox="1"/>
          <p:nvPr/>
        </p:nvSpPr>
        <p:spPr>
          <a:xfrm>
            <a:off x="3112643" y="2431075"/>
            <a:ext cx="240128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spc="80" dirty="0">
                <a:solidFill>
                  <a:srgbClr val="000000"/>
                </a:solidFill>
                <a:latin typeface="나눔고딕 2"/>
                <a:cs typeface="나눔고딕 2"/>
              </a:rPr>
              <a:t>. (</a:t>
            </a:r>
          </a:p>
        </p:txBody>
      </p:sp>
      <p:sp>
        <p:nvSpPr>
          <p:cNvPr id="64" name="TextBox 64"/>
          <p:cNvSpPr txBox="1"/>
          <p:nvPr/>
        </p:nvSpPr>
        <p:spPr>
          <a:xfrm>
            <a:off x="3348863" y="2431075"/>
            <a:ext cx="976182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생산속도</a:t>
            </a:r>
          </a:p>
        </p:txBody>
      </p:sp>
      <p:sp>
        <p:nvSpPr>
          <p:cNvPr id="65" name="TextBox 65"/>
          <p:cNvSpPr txBox="1"/>
          <p:nvPr/>
        </p:nvSpPr>
        <p:spPr>
          <a:xfrm>
            <a:off x="4304411" y="2431075"/>
            <a:ext cx="377333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spc="65" dirty="0">
                <a:solidFill>
                  <a:srgbClr val="000000"/>
                </a:solidFill>
                <a:latin typeface="나눔고딕 2"/>
                <a:cs typeface="나눔고딕 2"/>
              </a:rPr>
              <a:t> vs </a:t>
            </a:r>
          </a:p>
        </p:txBody>
      </p:sp>
      <p:sp>
        <p:nvSpPr>
          <p:cNvPr id="66" name="TextBox 66"/>
          <p:cNvSpPr txBox="1"/>
          <p:nvPr/>
        </p:nvSpPr>
        <p:spPr>
          <a:xfrm>
            <a:off x="4673473" y="2431075"/>
            <a:ext cx="488076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안전</a:t>
            </a:r>
          </a:p>
        </p:txBody>
      </p:sp>
      <p:sp>
        <p:nvSpPr>
          <p:cNvPr id="67" name="TextBox 67"/>
          <p:cNvSpPr txBox="1"/>
          <p:nvPr/>
        </p:nvSpPr>
        <p:spPr>
          <a:xfrm>
            <a:off x="5152009" y="2431075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68" name="TextBox 68"/>
          <p:cNvSpPr txBox="1"/>
          <p:nvPr/>
        </p:nvSpPr>
        <p:spPr>
          <a:xfrm>
            <a:off x="5220589" y="2431075"/>
            <a:ext cx="244022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등</a:t>
            </a:r>
          </a:p>
        </p:txBody>
      </p:sp>
      <p:sp>
        <p:nvSpPr>
          <p:cNvPr id="69" name="TextBox 69"/>
          <p:cNvSpPr txBox="1"/>
          <p:nvPr/>
        </p:nvSpPr>
        <p:spPr>
          <a:xfrm>
            <a:off x="5459857" y="2431075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)</a:t>
            </a:r>
          </a:p>
        </p:txBody>
      </p:sp>
      <p:sp>
        <p:nvSpPr>
          <p:cNvPr id="70" name="TextBox 70"/>
          <p:cNvSpPr txBox="1"/>
          <p:nvPr/>
        </p:nvSpPr>
        <p:spPr>
          <a:xfrm>
            <a:off x="914705" y="2817145"/>
            <a:ext cx="152888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dirty="0">
                <a:solidFill>
                  <a:srgbClr val="7F7F7F"/>
                </a:solidFill>
                <a:latin typeface="Wingdings"/>
                <a:cs typeface="Wingdings"/>
              </a:rPr>
              <a:t>▪</a:t>
            </a:r>
          </a:p>
        </p:txBody>
      </p:sp>
      <p:sp>
        <p:nvSpPr>
          <p:cNvPr id="71" name="TextBox 71"/>
          <p:cNvSpPr txBox="1"/>
          <p:nvPr/>
        </p:nvSpPr>
        <p:spPr>
          <a:xfrm>
            <a:off x="1131113" y="2811794"/>
            <a:ext cx="976473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0000"/>
                </a:solidFill>
                <a:latin typeface="나눔고딕"/>
                <a:cs typeface="나눔고딕"/>
              </a:rPr>
              <a:t>안전이란</a:t>
            </a:r>
          </a:p>
        </p:txBody>
      </p:sp>
      <p:sp>
        <p:nvSpPr>
          <p:cNvPr id="72" name="TextBox 72"/>
          <p:cNvSpPr txBox="1"/>
          <p:nvPr/>
        </p:nvSpPr>
        <p:spPr>
          <a:xfrm>
            <a:off x="2088134" y="2811794"/>
            <a:ext cx="152888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73" name="TextBox 73"/>
          <p:cNvSpPr txBox="1"/>
          <p:nvPr/>
        </p:nvSpPr>
        <p:spPr>
          <a:xfrm>
            <a:off x="2155190" y="2811794"/>
            <a:ext cx="1220526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0000"/>
                </a:solidFill>
                <a:latin typeface="나눔고딕"/>
                <a:cs typeface="나눔고딕"/>
              </a:rPr>
              <a:t>절대안전을</a:t>
            </a:r>
          </a:p>
        </p:txBody>
      </p:sp>
      <p:sp>
        <p:nvSpPr>
          <p:cNvPr id="74" name="TextBox 74"/>
          <p:cNvSpPr txBox="1"/>
          <p:nvPr/>
        </p:nvSpPr>
        <p:spPr>
          <a:xfrm>
            <a:off x="3350387" y="2811794"/>
            <a:ext cx="152888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75" name="TextBox 75"/>
          <p:cNvSpPr txBox="1"/>
          <p:nvPr/>
        </p:nvSpPr>
        <p:spPr>
          <a:xfrm>
            <a:off x="3417443" y="2811794"/>
            <a:ext cx="976473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0000"/>
                </a:solidFill>
                <a:latin typeface="나눔고딕"/>
                <a:cs typeface="나눔고딕"/>
              </a:rPr>
              <a:t>의미하는</a:t>
            </a:r>
          </a:p>
        </p:txBody>
      </p:sp>
      <p:sp>
        <p:nvSpPr>
          <p:cNvPr id="76" name="TextBox 76"/>
          <p:cNvSpPr txBox="1"/>
          <p:nvPr/>
        </p:nvSpPr>
        <p:spPr>
          <a:xfrm>
            <a:off x="4374515" y="2811794"/>
            <a:ext cx="152888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77" name="TextBox 77"/>
          <p:cNvSpPr txBox="1"/>
          <p:nvPr/>
        </p:nvSpPr>
        <p:spPr>
          <a:xfrm>
            <a:off x="4441571" y="2811794"/>
            <a:ext cx="488679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0000"/>
                </a:solidFill>
                <a:latin typeface="나눔고딕"/>
                <a:cs typeface="나눔고딕"/>
              </a:rPr>
              <a:t>것이</a:t>
            </a:r>
          </a:p>
        </p:txBody>
      </p:sp>
      <p:sp>
        <p:nvSpPr>
          <p:cNvPr id="78" name="TextBox 78"/>
          <p:cNvSpPr txBox="1"/>
          <p:nvPr/>
        </p:nvSpPr>
        <p:spPr>
          <a:xfrm>
            <a:off x="4920361" y="2811794"/>
            <a:ext cx="152888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79" name="TextBox 79"/>
          <p:cNvSpPr txBox="1"/>
          <p:nvPr/>
        </p:nvSpPr>
        <p:spPr>
          <a:xfrm>
            <a:off x="4988941" y="2811794"/>
            <a:ext cx="732420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0000"/>
                </a:solidFill>
                <a:latin typeface="나눔고딕"/>
                <a:cs typeface="나눔고딕"/>
              </a:rPr>
              <a:t>아니라</a:t>
            </a:r>
          </a:p>
        </p:txBody>
      </p:sp>
      <p:sp>
        <p:nvSpPr>
          <p:cNvPr id="80" name="TextBox 80"/>
          <p:cNvSpPr txBox="1"/>
          <p:nvPr/>
        </p:nvSpPr>
        <p:spPr>
          <a:xfrm>
            <a:off x="5706745" y="2811794"/>
            <a:ext cx="152888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0000"/>
                </a:solidFill>
                <a:latin typeface="나눔고딕 2"/>
                <a:cs typeface="나눔고딕 2"/>
              </a:rPr>
              <a:t>, </a:t>
            </a:r>
          </a:p>
        </p:txBody>
      </p:sp>
      <p:sp>
        <p:nvSpPr>
          <p:cNvPr id="81" name="TextBox 81"/>
          <p:cNvSpPr txBox="1"/>
          <p:nvPr/>
        </p:nvSpPr>
        <p:spPr>
          <a:xfrm>
            <a:off x="5851525" y="2811794"/>
            <a:ext cx="1220526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0000"/>
                </a:solidFill>
                <a:latin typeface="나눔고딕"/>
                <a:cs typeface="나눔고딕"/>
              </a:rPr>
              <a:t>리스크라는</a:t>
            </a:r>
          </a:p>
        </p:txBody>
      </p:sp>
      <p:sp>
        <p:nvSpPr>
          <p:cNvPr id="82" name="TextBox 82"/>
          <p:cNvSpPr txBox="1"/>
          <p:nvPr/>
        </p:nvSpPr>
        <p:spPr>
          <a:xfrm>
            <a:off x="7046722" y="2811794"/>
            <a:ext cx="152888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83" name="TextBox 83"/>
          <p:cNvSpPr txBox="1"/>
          <p:nvPr/>
        </p:nvSpPr>
        <p:spPr>
          <a:xfrm>
            <a:off x="7113778" y="2811794"/>
            <a:ext cx="828799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0000"/>
                </a:solidFill>
                <a:latin typeface="나눔고딕"/>
                <a:cs typeface="나눔고딕"/>
              </a:rPr>
              <a:t>‘크기’의</a:t>
            </a:r>
          </a:p>
        </p:txBody>
      </p:sp>
      <p:sp>
        <p:nvSpPr>
          <p:cNvPr id="84" name="TextBox 84"/>
          <p:cNvSpPr txBox="1"/>
          <p:nvPr/>
        </p:nvSpPr>
        <p:spPr>
          <a:xfrm>
            <a:off x="7926070" y="2811794"/>
            <a:ext cx="152888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85" name="TextBox 85"/>
          <p:cNvSpPr txBox="1"/>
          <p:nvPr/>
        </p:nvSpPr>
        <p:spPr>
          <a:xfrm>
            <a:off x="1131113" y="3117129"/>
            <a:ext cx="732129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개념을</a:t>
            </a:r>
          </a:p>
        </p:txBody>
      </p:sp>
      <p:sp>
        <p:nvSpPr>
          <p:cNvPr id="86" name="TextBox 86"/>
          <p:cNvSpPr txBox="1"/>
          <p:nvPr/>
        </p:nvSpPr>
        <p:spPr>
          <a:xfrm>
            <a:off x="1848866" y="3117129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87" name="TextBox 87"/>
          <p:cNvSpPr txBox="1"/>
          <p:nvPr/>
        </p:nvSpPr>
        <p:spPr>
          <a:xfrm>
            <a:off x="1917446" y="3117129"/>
            <a:ext cx="976182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도입하여</a:t>
            </a:r>
          </a:p>
        </p:txBody>
      </p:sp>
      <p:sp>
        <p:nvSpPr>
          <p:cNvPr id="88" name="TextBox 88"/>
          <p:cNvSpPr txBox="1"/>
          <p:nvPr/>
        </p:nvSpPr>
        <p:spPr>
          <a:xfrm>
            <a:off x="2874899" y="3117129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89" name="TextBox 89"/>
          <p:cNvSpPr txBox="1"/>
          <p:nvPr/>
        </p:nvSpPr>
        <p:spPr>
          <a:xfrm>
            <a:off x="2941955" y="3117129"/>
            <a:ext cx="732129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그것이</a:t>
            </a:r>
          </a:p>
        </p:txBody>
      </p:sp>
      <p:sp>
        <p:nvSpPr>
          <p:cNvPr id="90" name="TextBox 90"/>
          <p:cNvSpPr txBox="1"/>
          <p:nvPr/>
        </p:nvSpPr>
        <p:spPr>
          <a:xfrm>
            <a:off x="3659759" y="3117129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91" name="TextBox 91"/>
          <p:cNvSpPr txBox="1"/>
          <p:nvPr/>
        </p:nvSpPr>
        <p:spPr>
          <a:xfrm>
            <a:off x="3726815" y="3117129"/>
            <a:ext cx="732129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허용할</a:t>
            </a:r>
          </a:p>
        </p:txBody>
      </p:sp>
      <p:sp>
        <p:nvSpPr>
          <p:cNvPr id="92" name="TextBox 92"/>
          <p:cNvSpPr txBox="1"/>
          <p:nvPr/>
        </p:nvSpPr>
        <p:spPr>
          <a:xfrm>
            <a:off x="4444619" y="3117129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93" name="TextBox 93"/>
          <p:cNvSpPr txBox="1"/>
          <p:nvPr/>
        </p:nvSpPr>
        <p:spPr>
          <a:xfrm>
            <a:off x="4513453" y="3117129"/>
            <a:ext cx="244022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수</a:t>
            </a:r>
          </a:p>
        </p:txBody>
      </p:sp>
      <p:sp>
        <p:nvSpPr>
          <p:cNvPr id="94" name="TextBox 94"/>
          <p:cNvSpPr txBox="1"/>
          <p:nvPr/>
        </p:nvSpPr>
        <p:spPr>
          <a:xfrm>
            <a:off x="4752721" y="3117129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95" name="TextBox 95"/>
          <p:cNvSpPr txBox="1"/>
          <p:nvPr/>
        </p:nvSpPr>
        <p:spPr>
          <a:xfrm>
            <a:off x="4822825" y="3117129"/>
            <a:ext cx="488076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있는</a:t>
            </a:r>
          </a:p>
        </p:txBody>
      </p:sp>
      <p:sp>
        <p:nvSpPr>
          <p:cNvPr id="96" name="TextBox 96"/>
          <p:cNvSpPr txBox="1"/>
          <p:nvPr/>
        </p:nvSpPr>
        <p:spPr>
          <a:xfrm>
            <a:off x="5301361" y="3117129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97" name="TextBox 97"/>
          <p:cNvSpPr txBox="1"/>
          <p:nvPr/>
        </p:nvSpPr>
        <p:spPr>
          <a:xfrm>
            <a:off x="5369941" y="3117129"/>
            <a:ext cx="732129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데까지</a:t>
            </a:r>
          </a:p>
        </p:txBody>
      </p:sp>
      <p:sp>
        <p:nvSpPr>
          <p:cNvPr id="98" name="TextBox 98"/>
          <p:cNvSpPr txBox="1"/>
          <p:nvPr/>
        </p:nvSpPr>
        <p:spPr>
          <a:xfrm>
            <a:off x="6087745" y="3117129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99" name="TextBox 99"/>
          <p:cNvSpPr txBox="1"/>
          <p:nvPr/>
        </p:nvSpPr>
        <p:spPr>
          <a:xfrm>
            <a:off x="6156325" y="3117129"/>
            <a:ext cx="488076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낮게</a:t>
            </a:r>
          </a:p>
        </p:txBody>
      </p:sp>
      <p:sp>
        <p:nvSpPr>
          <p:cNvPr id="100" name="TextBox 100"/>
          <p:cNvSpPr txBox="1"/>
          <p:nvPr/>
        </p:nvSpPr>
        <p:spPr>
          <a:xfrm>
            <a:off x="6635242" y="3117129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101" name="TextBox 101"/>
          <p:cNvSpPr txBox="1"/>
          <p:nvPr/>
        </p:nvSpPr>
        <p:spPr>
          <a:xfrm>
            <a:off x="6703822" y="3117129"/>
            <a:ext cx="976183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억제되어</a:t>
            </a:r>
          </a:p>
        </p:txBody>
      </p:sp>
      <p:sp>
        <p:nvSpPr>
          <p:cNvPr id="102" name="TextBox 102"/>
          <p:cNvSpPr txBox="1"/>
          <p:nvPr/>
        </p:nvSpPr>
        <p:spPr>
          <a:xfrm>
            <a:off x="7660894" y="3117129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103" name="TextBox 103"/>
          <p:cNvSpPr txBox="1"/>
          <p:nvPr/>
        </p:nvSpPr>
        <p:spPr>
          <a:xfrm>
            <a:off x="7727950" y="3117129"/>
            <a:ext cx="488076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있는</a:t>
            </a:r>
          </a:p>
        </p:txBody>
      </p:sp>
      <p:sp>
        <p:nvSpPr>
          <p:cNvPr id="104" name="TextBox 104"/>
          <p:cNvSpPr txBox="1"/>
          <p:nvPr/>
        </p:nvSpPr>
        <p:spPr>
          <a:xfrm>
            <a:off x="8206486" y="3117129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105" name="TextBox 105"/>
          <p:cNvSpPr txBox="1"/>
          <p:nvPr/>
        </p:nvSpPr>
        <p:spPr>
          <a:xfrm>
            <a:off x="1131113" y="3421929"/>
            <a:ext cx="732129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상태를</a:t>
            </a:r>
          </a:p>
        </p:txBody>
      </p:sp>
      <p:sp>
        <p:nvSpPr>
          <p:cNvPr id="106" name="TextBox 106"/>
          <p:cNvSpPr txBox="1"/>
          <p:nvPr/>
        </p:nvSpPr>
        <p:spPr>
          <a:xfrm>
            <a:off x="1848866" y="3421929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107" name="TextBox 107"/>
          <p:cNvSpPr txBox="1"/>
          <p:nvPr/>
        </p:nvSpPr>
        <p:spPr>
          <a:xfrm>
            <a:off x="1917446" y="3421929"/>
            <a:ext cx="488076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의미</a:t>
            </a:r>
          </a:p>
        </p:txBody>
      </p:sp>
      <p:sp>
        <p:nvSpPr>
          <p:cNvPr id="108" name="TextBox 108"/>
          <p:cNvSpPr txBox="1"/>
          <p:nvPr/>
        </p:nvSpPr>
        <p:spPr>
          <a:xfrm>
            <a:off x="2395982" y="3421929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. </a:t>
            </a:r>
          </a:p>
        </p:txBody>
      </p:sp>
      <p:sp>
        <p:nvSpPr>
          <p:cNvPr id="109" name="TextBox 109"/>
          <p:cNvSpPr txBox="1"/>
          <p:nvPr/>
        </p:nvSpPr>
        <p:spPr>
          <a:xfrm>
            <a:off x="2540762" y="3421929"/>
            <a:ext cx="488387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잔류</a:t>
            </a:r>
          </a:p>
        </p:txBody>
      </p:sp>
      <p:sp>
        <p:nvSpPr>
          <p:cNvPr id="110" name="TextBox 110"/>
          <p:cNvSpPr txBox="1"/>
          <p:nvPr/>
        </p:nvSpPr>
        <p:spPr>
          <a:xfrm>
            <a:off x="3019679" y="3421929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111" name="TextBox 111"/>
          <p:cNvSpPr txBox="1"/>
          <p:nvPr/>
        </p:nvSpPr>
        <p:spPr>
          <a:xfrm>
            <a:off x="3088259" y="3421929"/>
            <a:ext cx="976182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리스크는</a:t>
            </a:r>
          </a:p>
        </p:txBody>
      </p:sp>
      <p:sp>
        <p:nvSpPr>
          <p:cNvPr id="112" name="TextBox 112"/>
          <p:cNvSpPr txBox="1"/>
          <p:nvPr/>
        </p:nvSpPr>
        <p:spPr>
          <a:xfrm>
            <a:off x="4045331" y="3421929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113" name="TextBox 113"/>
          <p:cNvSpPr txBox="1"/>
          <p:nvPr/>
        </p:nvSpPr>
        <p:spPr>
          <a:xfrm>
            <a:off x="4112387" y="3421929"/>
            <a:ext cx="488076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존재</a:t>
            </a:r>
          </a:p>
        </p:txBody>
      </p:sp>
      <p:sp>
        <p:nvSpPr>
          <p:cNvPr id="114" name="Shape 114"/>
          <p:cNvSpPr/>
          <p:nvPr/>
        </p:nvSpPr>
        <p:spPr>
          <a:xfrm>
            <a:off x="843496" y="4039692"/>
            <a:ext cx="7922387" cy="2323719"/>
          </a:xfrm>
          <a:prstGeom prst="rect">
            <a:avLst/>
          </a:prstGeom>
          <a:noFill/>
          <a:ln w="19050">
            <a:solidFill>
              <a:srgbClr val="9DC3E6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15" name="TextBox 115"/>
          <p:cNvSpPr txBox="1"/>
          <p:nvPr/>
        </p:nvSpPr>
        <p:spPr>
          <a:xfrm>
            <a:off x="935126" y="4096172"/>
            <a:ext cx="244022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☞</a:t>
            </a:r>
          </a:p>
        </p:txBody>
      </p:sp>
      <p:sp>
        <p:nvSpPr>
          <p:cNvPr id="116" name="TextBox 116"/>
          <p:cNvSpPr txBox="1"/>
          <p:nvPr/>
        </p:nvSpPr>
        <p:spPr>
          <a:xfrm>
            <a:off x="1244498" y="4096172"/>
            <a:ext cx="732129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70C0"/>
                </a:solidFill>
                <a:latin typeface="나눔고딕"/>
                <a:cs typeface="나눔고딕"/>
              </a:rPr>
              <a:t>리스크</a:t>
            </a:r>
          </a:p>
        </p:txBody>
      </p:sp>
      <p:sp>
        <p:nvSpPr>
          <p:cNvPr id="117" name="TextBox 117"/>
          <p:cNvSpPr txBox="1"/>
          <p:nvPr/>
        </p:nvSpPr>
        <p:spPr>
          <a:xfrm>
            <a:off x="1962277" y="4096172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70C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118" name="TextBox 118"/>
          <p:cNvSpPr txBox="1"/>
          <p:nvPr/>
        </p:nvSpPr>
        <p:spPr>
          <a:xfrm>
            <a:off x="2030857" y="4096172"/>
            <a:ext cx="97711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70C0"/>
                </a:solidFill>
                <a:latin typeface="나눔고딕"/>
                <a:cs typeface="나눔고딕"/>
              </a:rPr>
              <a:t>감소방안</a:t>
            </a:r>
          </a:p>
        </p:txBody>
      </p:sp>
      <p:sp>
        <p:nvSpPr>
          <p:cNvPr id="119" name="TextBox 119"/>
          <p:cNvSpPr txBox="1"/>
          <p:nvPr/>
        </p:nvSpPr>
        <p:spPr>
          <a:xfrm>
            <a:off x="1078382" y="4478696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-</a:t>
            </a:r>
          </a:p>
        </p:txBody>
      </p:sp>
      <p:sp>
        <p:nvSpPr>
          <p:cNvPr id="120" name="TextBox 120"/>
          <p:cNvSpPr txBox="1"/>
          <p:nvPr/>
        </p:nvSpPr>
        <p:spPr>
          <a:xfrm>
            <a:off x="1241450" y="4478696"/>
            <a:ext cx="732129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사람이</a:t>
            </a:r>
          </a:p>
        </p:txBody>
      </p:sp>
      <p:sp>
        <p:nvSpPr>
          <p:cNvPr id="121" name="TextBox 121"/>
          <p:cNvSpPr txBox="1"/>
          <p:nvPr/>
        </p:nvSpPr>
        <p:spPr>
          <a:xfrm>
            <a:off x="1959229" y="4478696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122" name="TextBox 122"/>
          <p:cNvSpPr txBox="1"/>
          <p:nvPr/>
        </p:nvSpPr>
        <p:spPr>
          <a:xfrm>
            <a:off x="2027809" y="4478696"/>
            <a:ext cx="488387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조금</a:t>
            </a:r>
          </a:p>
        </p:txBody>
      </p:sp>
      <p:sp>
        <p:nvSpPr>
          <p:cNvPr id="123" name="TextBox 123"/>
          <p:cNvSpPr txBox="1"/>
          <p:nvPr/>
        </p:nvSpPr>
        <p:spPr>
          <a:xfrm>
            <a:off x="2506726" y="4478696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124" name="TextBox 124"/>
          <p:cNvSpPr txBox="1"/>
          <p:nvPr/>
        </p:nvSpPr>
        <p:spPr>
          <a:xfrm>
            <a:off x="2575306" y="4478696"/>
            <a:ext cx="1220236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실수하여도</a:t>
            </a:r>
          </a:p>
        </p:txBody>
      </p:sp>
      <p:sp>
        <p:nvSpPr>
          <p:cNvPr id="125" name="TextBox 125"/>
          <p:cNvSpPr txBox="1"/>
          <p:nvPr/>
        </p:nvSpPr>
        <p:spPr>
          <a:xfrm>
            <a:off x="3770122" y="4478696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, </a:t>
            </a:r>
          </a:p>
        </p:txBody>
      </p:sp>
      <p:sp>
        <p:nvSpPr>
          <p:cNvPr id="126" name="TextBox 126"/>
          <p:cNvSpPr txBox="1"/>
          <p:nvPr/>
        </p:nvSpPr>
        <p:spPr>
          <a:xfrm>
            <a:off x="3913378" y="4478696"/>
            <a:ext cx="488387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기계</a:t>
            </a:r>
          </a:p>
        </p:txBody>
      </p:sp>
      <p:sp>
        <p:nvSpPr>
          <p:cNvPr id="127" name="TextBox 127"/>
          <p:cNvSpPr txBox="1"/>
          <p:nvPr/>
        </p:nvSpPr>
        <p:spPr>
          <a:xfrm>
            <a:off x="4392168" y="4458335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맑은 고딕 2"/>
                <a:cs typeface="맑은 고딕 2"/>
              </a:rPr>
              <a:t>〮</a:t>
            </a:r>
          </a:p>
        </p:txBody>
      </p:sp>
      <p:sp>
        <p:nvSpPr>
          <p:cNvPr id="128" name="TextBox 128"/>
          <p:cNvSpPr txBox="1"/>
          <p:nvPr/>
        </p:nvSpPr>
        <p:spPr>
          <a:xfrm>
            <a:off x="4477512" y="4478696"/>
            <a:ext cx="730509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설비에</a:t>
            </a:r>
          </a:p>
        </p:txBody>
      </p:sp>
      <p:sp>
        <p:nvSpPr>
          <p:cNvPr id="129" name="TextBox 129"/>
          <p:cNvSpPr txBox="1"/>
          <p:nvPr/>
        </p:nvSpPr>
        <p:spPr>
          <a:xfrm>
            <a:off x="5193792" y="4478696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130" name="TextBox 130"/>
          <p:cNvSpPr txBox="1"/>
          <p:nvPr/>
        </p:nvSpPr>
        <p:spPr>
          <a:xfrm>
            <a:off x="5260848" y="4478696"/>
            <a:ext cx="732129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다소의</a:t>
            </a:r>
          </a:p>
        </p:txBody>
      </p:sp>
      <p:sp>
        <p:nvSpPr>
          <p:cNvPr id="131" name="TextBox 131"/>
          <p:cNvSpPr txBox="1"/>
          <p:nvPr/>
        </p:nvSpPr>
        <p:spPr>
          <a:xfrm>
            <a:off x="5978906" y="4478696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132" name="TextBox 132"/>
          <p:cNvSpPr txBox="1"/>
          <p:nvPr/>
        </p:nvSpPr>
        <p:spPr>
          <a:xfrm>
            <a:off x="6045962" y="4478696"/>
            <a:ext cx="732129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문제가</a:t>
            </a:r>
          </a:p>
        </p:txBody>
      </p:sp>
      <p:sp>
        <p:nvSpPr>
          <p:cNvPr id="133" name="TextBox 133"/>
          <p:cNvSpPr txBox="1"/>
          <p:nvPr/>
        </p:nvSpPr>
        <p:spPr>
          <a:xfrm>
            <a:off x="6763766" y="4478696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134" name="TextBox 134"/>
          <p:cNvSpPr txBox="1"/>
          <p:nvPr/>
        </p:nvSpPr>
        <p:spPr>
          <a:xfrm>
            <a:off x="6832346" y="4478696"/>
            <a:ext cx="1462834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발생하더라도</a:t>
            </a:r>
          </a:p>
        </p:txBody>
      </p:sp>
      <p:sp>
        <p:nvSpPr>
          <p:cNvPr id="135" name="TextBox 135"/>
          <p:cNvSpPr txBox="1"/>
          <p:nvPr/>
        </p:nvSpPr>
        <p:spPr>
          <a:xfrm>
            <a:off x="1220114" y="4857891"/>
            <a:ext cx="244315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0000"/>
                </a:solidFill>
                <a:latin typeface="나눔고딕"/>
                <a:cs typeface="나눔고딕"/>
              </a:rPr>
              <a:t>큰</a:t>
            </a:r>
          </a:p>
        </p:txBody>
      </p:sp>
      <p:sp>
        <p:nvSpPr>
          <p:cNvPr id="136" name="TextBox 136"/>
          <p:cNvSpPr txBox="1"/>
          <p:nvPr/>
        </p:nvSpPr>
        <p:spPr>
          <a:xfrm>
            <a:off x="1459357" y="4857891"/>
            <a:ext cx="152888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137" name="TextBox 137"/>
          <p:cNvSpPr txBox="1"/>
          <p:nvPr/>
        </p:nvSpPr>
        <p:spPr>
          <a:xfrm>
            <a:off x="1530985" y="4857891"/>
            <a:ext cx="732420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0000"/>
                </a:solidFill>
                <a:latin typeface="나눔고딕"/>
                <a:cs typeface="나눔고딕"/>
              </a:rPr>
              <a:t>사고에</a:t>
            </a:r>
          </a:p>
        </p:txBody>
      </p:sp>
      <p:sp>
        <p:nvSpPr>
          <p:cNvPr id="138" name="TextBox 138"/>
          <p:cNvSpPr txBox="1"/>
          <p:nvPr/>
        </p:nvSpPr>
        <p:spPr>
          <a:xfrm>
            <a:off x="2249170" y="4857891"/>
            <a:ext cx="152888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139" name="TextBox 139"/>
          <p:cNvSpPr txBox="1"/>
          <p:nvPr/>
        </p:nvSpPr>
        <p:spPr>
          <a:xfrm>
            <a:off x="2316226" y="4857891"/>
            <a:ext cx="732420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0000"/>
                </a:solidFill>
                <a:latin typeface="나눔고딕"/>
                <a:cs typeface="나눔고딕"/>
              </a:rPr>
              <a:t>이르지</a:t>
            </a:r>
          </a:p>
        </p:txBody>
      </p:sp>
      <p:sp>
        <p:nvSpPr>
          <p:cNvPr id="140" name="TextBox 140"/>
          <p:cNvSpPr txBox="1"/>
          <p:nvPr/>
        </p:nvSpPr>
        <p:spPr>
          <a:xfrm>
            <a:off x="3034030" y="4857891"/>
            <a:ext cx="152888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141" name="TextBox 141"/>
          <p:cNvSpPr txBox="1"/>
          <p:nvPr/>
        </p:nvSpPr>
        <p:spPr>
          <a:xfrm>
            <a:off x="3102610" y="4857891"/>
            <a:ext cx="732420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0000"/>
                </a:solidFill>
                <a:latin typeface="나눔고딕"/>
                <a:cs typeface="나눔고딕"/>
              </a:rPr>
              <a:t>않도록</a:t>
            </a:r>
          </a:p>
        </p:txBody>
      </p:sp>
      <p:sp>
        <p:nvSpPr>
          <p:cNvPr id="142" name="TextBox 142"/>
          <p:cNvSpPr txBox="1"/>
          <p:nvPr/>
        </p:nvSpPr>
        <p:spPr>
          <a:xfrm>
            <a:off x="3820414" y="4857891"/>
            <a:ext cx="152888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143" name="TextBox 143"/>
          <p:cNvSpPr txBox="1"/>
          <p:nvPr/>
        </p:nvSpPr>
        <p:spPr>
          <a:xfrm>
            <a:off x="3888994" y="4857891"/>
            <a:ext cx="488679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0000"/>
                </a:solidFill>
                <a:latin typeface="나눔고딕"/>
                <a:cs typeface="나눔고딕"/>
              </a:rPr>
              <a:t>하는</a:t>
            </a:r>
          </a:p>
        </p:txBody>
      </p:sp>
      <p:sp>
        <p:nvSpPr>
          <p:cNvPr id="144" name="TextBox 144"/>
          <p:cNvSpPr txBox="1"/>
          <p:nvPr/>
        </p:nvSpPr>
        <p:spPr>
          <a:xfrm>
            <a:off x="4367784" y="4857891"/>
            <a:ext cx="152888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145" name="TextBox 145"/>
          <p:cNvSpPr txBox="1"/>
          <p:nvPr/>
        </p:nvSpPr>
        <p:spPr>
          <a:xfrm>
            <a:off x="4436364" y="4857891"/>
            <a:ext cx="488367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0000"/>
                </a:solidFill>
                <a:latin typeface="나눔고딕"/>
                <a:cs typeface="나눔고딕"/>
              </a:rPr>
              <a:t>방안</a:t>
            </a:r>
          </a:p>
        </p:txBody>
      </p:sp>
      <p:sp>
        <p:nvSpPr>
          <p:cNvPr id="146" name="TextBox 146"/>
          <p:cNvSpPr txBox="1"/>
          <p:nvPr/>
        </p:nvSpPr>
        <p:spPr>
          <a:xfrm>
            <a:off x="4914900" y="4857891"/>
            <a:ext cx="152888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147" name="TextBox 147"/>
          <p:cNvSpPr txBox="1"/>
          <p:nvPr/>
        </p:nvSpPr>
        <p:spPr>
          <a:xfrm>
            <a:off x="4983480" y="4857891"/>
            <a:ext cx="488367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0000"/>
                </a:solidFill>
                <a:latin typeface="나눔고딕"/>
                <a:cs typeface="나눔고딕"/>
              </a:rPr>
              <a:t>강구</a:t>
            </a:r>
          </a:p>
        </p:txBody>
      </p:sp>
      <p:sp>
        <p:nvSpPr>
          <p:cNvPr id="148" name="TextBox 148"/>
          <p:cNvSpPr txBox="1"/>
          <p:nvPr/>
        </p:nvSpPr>
        <p:spPr>
          <a:xfrm>
            <a:off x="1220114" y="5239426"/>
            <a:ext cx="52023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spc="98" dirty="0">
                <a:solidFill>
                  <a:srgbClr val="000000"/>
                </a:solidFill>
                <a:latin typeface="나눔고딕 2"/>
                <a:cs typeface="나눔고딕 2"/>
              </a:rPr>
              <a:t>(ex, </a:t>
            </a:r>
          </a:p>
        </p:txBody>
      </p:sp>
      <p:sp>
        <p:nvSpPr>
          <p:cNvPr id="149" name="TextBox 149"/>
          <p:cNvSpPr txBox="1"/>
          <p:nvPr/>
        </p:nvSpPr>
        <p:spPr>
          <a:xfrm>
            <a:off x="1729105" y="5239426"/>
            <a:ext cx="732129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근원적</a:t>
            </a:r>
          </a:p>
        </p:txBody>
      </p:sp>
      <p:sp>
        <p:nvSpPr>
          <p:cNvPr id="150" name="TextBox 150"/>
          <p:cNvSpPr txBox="1"/>
          <p:nvPr/>
        </p:nvSpPr>
        <p:spPr>
          <a:xfrm>
            <a:off x="2447290" y="5239426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151" name="TextBox 151"/>
          <p:cNvSpPr txBox="1"/>
          <p:nvPr/>
        </p:nvSpPr>
        <p:spPr>
          <a:xfrm>
            <a:off x="2514346" y="5239426"/>
            <a:ext cx="3770527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안전설계: ‘Fool Proof’, ‘Fail Safe’)</a:t>
            </a:r>
          </a:p>
        </p:txBody>
      </p:sp>
      <p:sp>
        <p:nvSpPr>
          <p:cNvPr id="152" name="TextBox 152"/>
          <p:cNvSpPr txBox="1"/>
          <p:nvPr/>
        </p:nvSpPr>
        <p:spPr>
          <a:xfrm>
            <a:off x="1006754" y="5621975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-</a:t>
            </a:r>
          </a:p>
        </p:txBody>
      </p:sp>
      <p:sp>
        <p:nvSpPr>
          <p:cNvPr id="153" name="TextBox 153"/>
          <p:cNvSpPr txBox="1"/>
          <p:nvPr/>
        </p:nvSpPr>
        <p:spPr>
          <a:xfrm>
            <a:off x="1169822" y="5621975"/>
            <a:ext cx="488076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기계</a:t>
            </a:r>
          </a:p>
        </p:txBody>
      </p:sp>
      <p:sp>
        <p:nvSpPr>
          <p:cNvPr id="154" name="TextBox 154"/>
          <p:cNvSpPr txBox="1"/>
          <p:nvPr/>
        </p:nvSpPr>
        <p:spPr>
          <a:xfrm>
            <a:off x="1648333" y="5601614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맑은 고딕 2"/>
                <a:cs typeface="맑은 고딕 2"/>
              </a:rPr>
              <a:t>〮</a:t>
            </a:r>
          </a:p>
        </p:txBody>
      </p:sp>
      <p:sp>
        <p:nvSpPr>
          <p:cNvPr id="155" name="TextBox 155"/>
          <p:cNvSpPr txBox="1"/>
          <p:nvPr/>
        </p:nvSpPr>
        <p:spPr>
          <a:xfrm>
            <a:off x="1733677" y="5621975"/>
            <a:ext cx="488076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설비</a:t>
            </a:r>
          </a:p>
        </p:txBody>
      </p:sp>
      <p:sp>
        <p:nvSpPr>
          <p:cNvPr id="156" name="TextBox 156"/>
          <p:cNvSpPr txBox="1"/>
          <p:nvPr/>
        </p:nvSpPr>
        <p:spPr>
          <a:xfrm>
            <a:off x="2211070" y="5621975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157" name="TextBox 157"/>
          <p:cNvSpPr txBox="1"/>
          <p:nvPr/>
        </p:nvSpPr>
        <p:spPr>
          <a:xfrm>
            <a:off x="2278126" y="5621975"/>
            <a:ext cx="488076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파손</a:t>
            </a:r>
          </a:p>
        </p:txBody>
      </p:sp>
      <p:sp>
        <p:nvSpPr>
          <p:cNvPr id="158" name="TextBox 158"/>
          <p:cNvSpPr txBox="1"/>
          <p:nvPr/>
        </p:nvSpPr>
        <p:spPr>
          <a:xfrm>
            <a:off x="2756662" y="5601614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맑은 고딕 2"/>
                <a:cs typeface="맑은 고딕 2"/>
              </a:rPr>
              <a:t>〮</a:t>
            </a:r>
          </a:p>
        </p:txBody>
      </p:sp>
      <p:sp>
        <p:nvSpPr>
          <p:cNvPr id="159" name="TextBox 159"/>
          <p:cNvSpPr txBox="1"/>
          <p:nvPr/>
        </p:nvSpPr>
        <p:spPr>
          <a:xfrm>
            <a:off x="2842006" y="5621975"/>
            <a:ext cx="488076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고장</a:t>
            </a:r>
          </a:p>
        </p:txBody>
      </p:sp>
      <p:sp>
        <p:nvSpPr>
          <p:cNvPr id="160" name="TextBox 160"/>
          <p:cNvSpPr txBox="1"/>
          <p:nvPr/>
        </p:nvSpPr>
        <p:spPr>
          <a:xfrm>
            <a:off x="3319018" y="5621975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161" name="TextBox 161"/>
          <p:cNvSpPr txBox="1"/>
          <p:nvPr/>
        </p:nvSpPr>
        <p:spPr>
          <a:xfrm>
            <a:off x="3386074" y="5621975"/>
            <a:ext cx="488076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예방</a:t>
            </a:r>
          </a:p>
        </p:txBody>
      </p:sp>
      <p:sp>
        <p:nvSpPr>
          <p:cNvPr id="162" name="TextBox 162"/>
          <p:cNvSpPr txBox="1"/>
          <p:nvPr/>
        </p:nvSpPr>
        <p:spPr>
          <a:xfrm>
            <a:off x="3864610" y="5621975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163" name="TextBox 163"/>
          <p:cNvSpPr txBox="1"/>
          <p:nvPr/>
        </p:nvSpPr>
        <p:spPr>
          <a:xfrm>
            <a:off x="3934714" y="5621975"/>
            <a:ext cx="1221480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관리시스템</a:t>
            </a:r>
          </a:p>
        </p:txBody>
      </p:sp>
      <p:sp>
        <p:nvSpPr>
          <p:cNvPr id="164" name="TextBox 164"/>
          <p:cNvSpPr txBox="1"/>
          <p:nvPr/>
        </p:nvSpPr>
        <p:spPr>
          <a:xfrm>
            <a:off x="5129784" y="5621975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165" name="TextBox 165"/>
          <p:cNvSpPr txBox="1"/>
          <p:nvPr/>
        </p:nvSpPr>
        <p:spPr>
          <a:xfrm>
            <a:off x="5196840" y="5621975"/>
            <a:ext cx="488076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운영</a:t>
            </a:r>
          </a:p>
        </p:txBody>
      </p:sp>
      <p:sp>
        <p:nvSpPr>
          <p:cNvPr id="166" name="TextBox 166"/>
          <p:cNvSpPr txBox="1"/>
          <p:nvPr/>
        </p:nvSpPr>
        <p:spPr>
          <a:xfrm>
            <a:off x="1006754" y="6001451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-</a:t>
            </a:r>
          </a:p>
        </p:txBody>
      </p:sp>
      <p:sp>
        <p:nvSpPr>
          <p:cNvPr id="167" name="TextBox 167"/>
          <p:cNvSpPr txBox="1"/>
          <p:nvPr/>
        </p:nvSpPr>
        <p:spPr>
          <a:xfrm>
            <a:off x="1169822" y="6001451"/>
            <a:ext cx="488076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직원</a:t>
            </a:r>
          </a:p>
        </p:txBody>
      </p:sp>
      <p:sp>
        <p:nvSpPr>
          <p:cNvPr id="168" name="TextBox 168"/>
          <p:cNvSpPr txBox="1"/>
          <p:nvPr/>
        </p:nvSpPr>
        <p:spPr>
          <a:xfrm>
            <a:off x="1648333" y="6001451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169" name="TextBox 169"/>
          <p:cNvSpPr txBox="1"/>
          <p:nvPr/>
        </p:nvSpPr>
        <p:spPr>
          <a:xfrm>
            <a:off x="1718437" y="6001451"/>
            <a:ext cx="976182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교육훈련</a:t>
            </a:r>
          </a:p>
        </p:txBody>
      </p:sp>
      <p:sp>
        <p:nvSpPr>
          <p:cNvPr id="170" name="TextBox 170"/>
          <p:cNvSpPr txBox="1"/>
          <p:nvPr/>
        </p:nvSpPr>
        <p:spPr>
          <a:xfrm>
            <a:off x="2675890" y="6001451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171" name="TextBox 171"/>
          <p:cNvSpPr txBox="1"/>
          <p:nvPr/>
        </p:nvSpPr>
        <p:spPr>
          <a:xfrm>
            <a:off x="2741422" y="6001451"/>
            <a:ext cx="488076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실시</a:t>
            </a:r>
          </a:p>
        </p:txBody>
      </p:sp>
      <p:sp>
        <p:nvSpPr>
          <p:cNvPr id="172" name="TextBox 172"/>
          <p:cNvSpPr txBox="1"/>
          <p:nvPr/>
        </p:nvSpPr>
        <p:spPr>
          <a:xfrm>
            <a:off x="3219958" y="6001451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(</a:t>
            </a:r>
          </a:p>
        </p:txBody>
      </p:sp>
      <p:sp>
        <p:nvSpPr>
          <p:cNvPr id="173" name="TextBox 173"/>
          <p:cNvSpPr txBox="1"/>
          <p:nvPr/>
        </p:nvSpPr>
        <p:spPr>
          <a:xfrm>
            <a:off x="3312922" y="6001451"/>
            <a:ext cx="488076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실수</a:t>
            </a:r>
          </a:p>
        </p:txBody>
      </p:sp>
      <p:sp>
        <p:nvSpPr>
          <p:cNvPr id="174" name="TextBox 174"/>
          <p:cNvSpPr txBox="1"/>
          <p:nvPr/>
        </p:nvSpPr>
        <p:spPr>
          <a:xfrm>
            <a:off x="3791458" y="6001451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175" name="TextBox 175"/>
          <p:cNvSpPr txBox="1"/>
          <p:nvPr/>
        </p:nvSpPr>
        <p:spPr>
          <a:xfrm>
            <a:off x="3858514" y="6001451"/>
            <a:ext cx="488387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감소</a:t>
            </a:r>
          </a:p>
        </p:txBody>
      </p:sp>
      <p:sp>
        <p:nvSpPr>
          <p:cNvPr id="176" name="TextBox 176"/>
          <p:cNvSpPr txBox="1"/>
          <p:nvPr/>
        </p:nvSpPr>
        <p:spPr>
          <a:xfrm>
            <a:off x="4337304" y="6001451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)</a:t>
            </a:r>
          </a:p>
        </p:txBody>
      </p:sp>
      <p:sp>
        <p:nvSpPr>
          <p:cNvPr id="177" name="TextBox 177"/>
          <p:cNvSpPr txBox="1"/>
          <p:nvPr/>
        </p:nvSpPr>
        <p:spPr>
          <a:xfrm>
            <a:off x="415138" y="105410"/>
            <a:ext cx="1349289" cy="42672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400" b="1" dirty="0">
                <a:solidFill>
                  <a:srgbClr val="000000"/>
                </a:solidFill>
                <a:latin typeface="나눔고딕"/>
                <a:cs typeface="나눔고딕"/>
              </a:rPr>
              <a:t>Ⅱ. 안전의</a:t>
            </a:r>
          </a:p>
        </p:txBody>
      </p:sp>
      <p:sp>
        <p:nvSpPr>
          <p:cNvPr id="178" name="TextBox 178"/>
          <p:cNvSpPr txBox="1"/>
          <p:nvPr/>
        </p:nvSpPr>
        <p:spPr>
          <a:xfrm>
            <a:off x="1737995" y="105410"/>
            <a:ext cx="182880" cy="42672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400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179" name="TextBox 179"/>
          <p:cNvSpPr txBox="1"/>
          <p:nvPr/>
        </p:nvSpPr>
        <p:spPr>
          <a:xfrm>
            <a:off x="1821815" y="105410"/>
            <a:ext cx="584795" cy="42672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400" b="1" dirty="0">
                <a:solidFill>
                  <a:srgbClr val="000000"/>
                </a:solidFill>
                <a:latin typeface="나눔고딕"/>
                <a:cs typeface="나눔고딕"/>
              </a:rPr>
              <a:t>개요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5"/>
          <p:cNvSpPr txBox="1"/>
          <p:nvPr/>
        </p:nvSpPr>
        <p:spPr>
          <a:xfrm>
            <a:off x="487070" y="679170"/>
            <a:ext cx="370025" cy="427147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402" b="1" spc="151" dirty="0">
                <a:solidFill>
                  <a:srgbClr val="967754"/>
                </a:solidFill>
                <a:latin typeface="나눔고딕 2"/>
                <a:cs typeface="나눔고딕 2"/>
              </a:rPr>
              <a:t>6. 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848258" y="679170"/>
            <a:ext cx="1169260" cy="427147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402" b="1" dirty="0">
                <a:solidFill>
                  <a:srgbClr val="967754"/>
                </a:solidFill>
                <a:latin typeface="나눔고딕"/>
                <a:cs typeface="나눔고딕"/>
              </a:rPr>
              <a:t>리스크의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994662" y="679170"/>
            <a:ext cx="183063" cy="427147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402" b="1" dirty="0">
                <a:solidFill>
                  <a:srgbClr val="967754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2078482" y="679170"/>
            <a:ext cx="584776" cy="427147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402" b="1" dirty="0">
                <a:solidFill>
                  <a:srgbClr val="967754"/>
                </a:solidFill>
                <a:latin typeface="나눔고딕"/>
                <a:cs typeface="나눔고딕"/>
              </a:rPr>
              <a:t>의미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592531" y="1213164"/>
            <a:ext cx="355691" cy="390876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198" b="1" spc="150" dirty="0">
                <a:solidFill>
                  <a:srgbClr val="000000"/>
                </a:solidFill>
                <a:latin typeface="나눔고딕 2"/>
                <a:cs typeface="나눔고딕 2"/>
              </a:rPr>
              <a:t>1) 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941527" y="1213164"/>
            <a:ext cx="1069804" cy="390876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198" b="1" dirty="0">
                <a:solidFill>
                  <a:srgbClr val="000000"/>
                </a:solidFill>
                <a:latin typeface="나눔고딕"/>
                <a:cs typeface="나눔고딕"/>
              </a:rPr>
              <a:t>리스크는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990344" y="1213164"/>
            <a:ext cx="167518" cy="390876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198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2068068" y="1213164"/>
            <a:ext cx="802434" cy="390876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198" b="1" dirty="0">
                <a:solidFill>
                  <a:srgbClr val="000000"/>
                </a:solidFill>
                <a:latin typeface="나눔고딕"/>
                <a:cs typeface="나눔고딕"/>
              </a:rPr>
              <a:t>확률과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2854452" y="1213164"/>
            <a:ext cx="167518" cy="390876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198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2930652" y="1213164"/>
            <a:ext cx="1070738" cy="390876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198" b="1" dirty="0">
                <a:solidFill>
                  <a:srgbClr val="000000"/>
                </a:solidFill>
                <a:latin typeface="나눔고딕"/>
                <a:cs typeface="나눔고딕"/>
              </a:rPr>
              <a:t>중대성의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3979418" y="1213164"/>
            <a:ext cx="167518" cy="390876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198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4057142" y="1213164"/>
            <a:ext cx="535064" cy="390876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198" b="1" dirty="0">
                <a:solidFill>
                  <a:srgbClr val="000000"/>
                </a:solidFill>
                <a:latin typeface="나눔고딕"/>
                <a:cs typeface="나눔고딕"/>
              </a:rPr>
              <a:t>조합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882091" y="1830756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dirty="0">
                <a:solidFill>
                  <a:srgbClr val="7F7F7F"/>
                </a:solidFill>
                <a:latin typeface="Wingdings"/>
                <a:cs typeface="Wingdings"/>
              </a:rPr>
              <a:t>▪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098499" y="1825412"/>
            <a:ext cx="736497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‘확률’, 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889760" y="1825412"/>
            <a:ext cx="2293086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‘중대성’, ‘리스크’에는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4137914" y="1825412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4204970" y="1825412"/>
            <a:ext cx="732129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크기의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4922774" y="1825412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4989830" y="1825412"/>
            <a:ext cx="488387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개념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882091" y="2211482"/>
            <a:ext cx="152888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dirty="0">
                <a:solidFill>
                  <a:srgbClr val="7F7F7F"/>
                </a:solidFill>
                <a:latin typeface="Wingdings"/>
                <a:cs typeface="Wingdings"/>
              </a:rPr>
              <a:t>▪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098499" y="2206131"/>
            <a:ext cx="976473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0000"/>
                </a:solidFill>
                <a:latin typeface="나눔고딕"/>
                <a:cs typeface="나눔고딕"/>
              </a:rPr>
              <a:t>리스크의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2055876" y="2206131"/>
            <a:ext cx="152888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2122932" y="2206131"/>
            <a:ext cx="488367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0000"/>
                </a:solidFill>
                <a:latin typeface="나눔고딕"/>
                <a:cs typeface="나눔고딕"/>
              </a:rPr>
              <a:t>크기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882091" y="2587666"/>
            <a:ext cx="24035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spc="112" dirty="0">
                <a:solidFill>
                  <a:srgbClr val="000000"/>
                </a:solidFill>
                <a:latin typeface="나눔고딕 2"/>
                <a:cs typeface="나눔고딕 2"/>
              </a:rPr>
              <a:t>  -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188415" y="2587666"/>
            <a:ext cx="314320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10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496568" y="2589982"/>
            <a:ext cx="166743" cy="23683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1332" b="1" dirty="0">
                <a:solidFill>
                  <a:srgbClr val="000000"/>
                </a:solidFill>
                <a:latin typeface="나눔고딕 2"/>
                <a:cs typeface="나눔고딕 2"/>
              </a:rPr>
              <a:t>-5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1659636" y="2587666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/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1755648" y="2587666"/>
            <a:ext cx="244022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시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1994916" y="2587666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2066544" y="2587666"/>
            <a:ext cx="732129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확률로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2784348" y="2587666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2852928" y="2587666"/>
            <a:ext cx="114432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‘실명’ 발생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3974846" y="2587666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4043426" y="2587666"/>
            <a:ext cx="732129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가능성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4829810" y="2587666"/>
            <a:ext cx="630304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‹ 10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5447411" y="2589982"/>
            <a:ext cx="166743" cy="23683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1332" b="1" dirty="0">
                <a:solidFill>
                  <a:srgbClr val="000000"/>
                </a:solidFill>
                <a:latin typeface="나눔고딕 2"/>
                <a:cs typeface="나눔고딕 2"/>
              </a:rPr>
              <a:t>-4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5610479" y="2587666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/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5706491" y="2587666"/>
            <a:ext cx="244022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시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5945759" y="2587666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6017387" y="2587666"/>
            <a:ext cx="732129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확률로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6735191" y="2587666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6802247" y="2587666"/>
            <a:ext cx="1144326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‘실명’ 발생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7924165" y="2587666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7994269" y="2587666"/>
            <a:ext cx="732130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가능성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1044931" y="4898685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dirty="0">
                <a:solidFill>
                  <a:srgbClr val="000000"/>
                </a:solidFill>
                <a:latin typeface="나눔고딕"/>
                <a:cs typeface="나눔고딕"/>
              </a:rPr>
              <a:t> 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1114984" y="4898685"/>
            <a:ext cx="732129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통계적</a:t>
            </a:r>
          </a:p>
        </p:txBody>
      </p:sp>
      <p:sp>
        <p:nvSpPr>
          <p:cNvPr id="51" name="TextBox 51"/>
          <p:cNvSpPr txBox="1"/>
          <p:nvPr/>
        </p:nvSpPr>
        <p:spPr>
          <a:xfrm>
            <a:off x="1833169" y="4898685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52" name="TextBox 52"/>
          <p:cNvSpPr txBox="1"/>
          <p:nvPr/>
        </p:nvSpPr>
        <p:spPr>
          <a:xfrm>
            <a:off x="1901749" y="4898685"/>
            <a:ext cx="976182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사고발생</a:t>
            </a:r>
          </a:p>
        </p:txBody>
      </p:sp>
      <p:sp>
        <p:nvSpPr>
          <p:cNvPr id="53" name="TextBox 53"/>
          <p:cNvSpPr txBox="1"/>
          <p:nvPr/>
        </p:nvSpPr>
        <p:spPr>
          <a:xfrm>
            <a:off x="2858821" y="4898685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54" name="TextBox 54"/>
          <p:cNvSpPr txBox="1"/>
          <p:nvPr/>
        </p:nvSpPr>
        <p:spPr>
          <a:xfrm>
            <a:off x="2925877" y="4898685"/>
            <a:ext cx="488076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확률</a:t>
            </a:r>
          </a:p>
        </p:txBody>
      </p:sp>
      <p:sp>
        <p:nvSpPr>
          <p:cNvPr id="55" name="TextBox 55"/>
          <p:cNvSpPr txBox="1"/>
          <p:nvPr/>
        </p:nvSpPr>
        <p:spPr>
          <a:xfrm>
            <a:off x="3404667" y="4898685"/>
            <a:ext cx="384271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spc="161" dirty="0">
                <a:solidFill>
                  <a:srgbClr val="000000"/>
                </a:solidFill>
                <a:latin typeface="나눔고딕 2"/>
                <a:cs typeface="나눔고딕 2"/>
              </a:rPr>
              <a:t> 10</a:t>
            </a:r>
          </a:p>
        </p:txBody>
      </p:sp>
      <p:sp>
        <p:nvSpPr>
          <p:cNvPr id="56" name="TextBox 56"/>
          <p:cNvSpPr txBox="1"/>
          <p:nvPr/>
        </p:nvSpPr>
        <p:spPr>
          <a:xfrm>
            <a:off x="3781095" y="4901001"/>
            <a:ext cx="166743" cy="23683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1332" b="1" dirty="0">
                <a:solidFill>
                  <a:srgbClr val="000000"/>
                </a:solidFill>
                <a:latin typeface="나눔고딕 2"/>
                <a:cs typeface="나눔고딕 2"/>
              </a:rPr>
              <a:t>-5</a:t>
            </a:r>
          </a:p>
        </p:txBody>
      </p:sp>
      <p:sp>
        <p:nvSpPr>
          <p:cNvPr id="57" name="TextBox 57"/>
          <p:cNvSpPr txBox="1"/>
          <p:nvPr/>
        </p:nvSpPr>
        <p:spPr>
          <a:xfrm>
            <a:off x="3944163" y="4898685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/</a:t>
            </a:r>
          </a:p>
        </p:txBody>
      </p:sp>
      <p:sp>
        <p:nvSpPr>
          <p:cNvPr id="58" name="TextBox 58"/>
          <p:cNvSpPr txBox="1"/>
          <p:nvPr/>
        </p:nvSpPr>
        <p:spPr>
          <a:xfrm>
            <a:off x="4040175" y="4898685"/>
            <a:ext cx="244022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시</a:t>
            </a:r>
          </a:p>
        </p:txBody>
      </p:sp>
      <p:sp>
        <p:nvSpPr>
          <p:cNvPr id="59" name="TextBox 59"/>
          <p:cNvSpPr txBox="1"/>
          <p:nvPr/>
        </p:nvSpPr>
        <p:spPr>
          <a:xfrm>
            <a:off x="4279443" y="4898685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60" name="TextBox 60"/>
          <p:cNvSpPr txBox="1"/>
          <p:nvPr/>
        </p:nvSpPr>
        <p:spPr>
          <a:xfrm>
            <a:off x="4351071" y="4898685"/>
            <a:ext cx="488076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의미</a:t>
            </a:r>
          </a:p>
        </p:txBody>
      </p:sp>
      <p:sp>
        <p:nvSpPr>
          <p:cNvPr id="61" name="TextBox 61"/>
          <p:cNvSpPr txBox="1"/>
          <p:nvPr/>
        </p:nvSpPr>
        <p:spPr>
          <a:xfrm>
            <a:off x="1020547" y="5279685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-</a:t>
            </a:r>
          </a:p>
        </p:txBody>
      </p:sp>
      <p:sp>
        <p:nvSpPr>
          <p:cNvPr id="62" name="TextBox 62"/>
          <p:cNvSpPr txBox="1"/>
          <p:nvPr/>
        </p:nvSpPr>
        <p:spPr>
          <a:xfrm>
            <a:off x="1183564" y="5279685"/>
            <a:ext cx="314320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10</a:t>
            </a:r>
          </a:p>
        </p:txBody>
      </p:sp>
      <p:sp>
        <p:nvSpPr>
          <p:cNvPr id="63" name="TextBox 63"/>
          <p:cNvSpPr txBox="1"/>
          <p:nvPr/>
        </p:nvSpPr>
        <p:spPr>
          <a:xfrm>
            <a:off x="1491412" y="5282001"/>
            <a:ext cx="167131" cy="23683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1332" b="1" dirty="0">
                <a:solidFill>
                  <a:srgbClr val="000000"/>
                </a:solidFill>
                <a:latin typeface="나눔고딕 2"/>
                <a:cs typeface="나눔고딕 2"/>
              </a:rPr>
              <a:t>-5</a:t>
            </a:r>
          </a:p>
        </p:txBody>
      </p:sp>
      <p:sp>
        <p:nvSpPr>
          <p:cNvPr id="64" name="TextBox 64"/>
          <p:cNvSpPr txBox="1"/>
          <p:nvPr/>
        </p:nvSpPr>
        <p:spPr>
          <a:xfrm>
            <a:off x="1654861" y="5279685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/</a:t>
            </a:r>
          </a:p>
        </p:txBody>
      </p:sp>
      <p:sp>
        <p:nvSpPr>
          <p:cNvPr id="65" name="TextBox 65"/>
          <p:cNvSpPr txBox="1"/>
          <p:nvPr/>
        </p:nvSpPr>
        <p:spPr>
          <a:xfrm>
            <a:off x="1750873" y="5279685"/>
            <a:ext cx="244022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시</a:t>
            </a:r>
          </a:p>
        </p:txBody>
      </p:sp>
      <p:sp>
        <p:nvSpPr>
          <p:cNvPr id="66" name="TextBox 66"/>
          <p:cNvSpPr txBox="1"/>
          <p:nvPr/>
        </p:nvSpPr>
        <p:spPr>
          <a:xfrm>
            <a:off x="1990141" y="5279685"/>
            <a:ext cx="1592748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spc="159" dirty="0">
                <a:solidFill>
                  <a:srgbClr val="000000"/>
                </a:solidFill>
                <a:latin typeface="나눔고딕 2"/>
                <a:cs typeface="나눔고딕 2"/>
              </a:rPr>
              <a:t> = 1/100,000</a:t>
            </a:r>
          </a:p>
        </p:txBody>
      </p:sp>
      <p:sp>
        <p:nvSpPr>
          <p:cNvPr id="67" name="TextBox 67"/>
          <p:cNvSpPr txBox="1"/>
          <p:nvPr/>
        </p:nvSpPr>
        <p:spPr>
          <a:xfrm>
            <a:off x="3802696" y="5292029"/>
            <a:ext cx="244022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시</a:t>
            </a:r>
          </a:p>
        </p:txBody>
      </p:sp>
      <p:sp>
        <p:nvSpPr>
          <p:cNvPr id="68" name="TextBox 68"/>
          <p:cNvSpPr txBox="1"/>
          <p:nvPr/>
        </p:nvSpPr>
        <p:spPr>
          <a:xfrm>
            <a:off x="3963704" y="5274389"/>
            <a:ext cx="468444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spc="147" dirty="0">
                <a:solidFill>
                  <a:srgbClr val="000000"/>
                </a:solidFill>
                <a:latin typeface="나눔고딕 2"/>
                <a:cs typeface="나눔고딕 2"/>
              </a:rPr>
              <a:t> (10</a:t>
            </a:r>
          </a:p>
        </p:txBody>
      </p:sp>
      <p:sp>
        <p:nvSpPr>
          <p:cNvPr id="69" name="TextBox 69"/>
          <p:cNvSpPr txBox="1"/>
          <p:nvPr/>
        </p:nvSpPr>
        <p:spPr>
          <a:xfrm>
            <a:off x="4540249" y="5279685"/>
            <a:ext cx="244022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만</a:t>
            </a:r>
          </a:p>
        </p:txBody>
      </p:sp>
      <p:sp>
        <p:nvSpPr>
          <p:cNvPr id="70" name="TextBox 70"/>
          <p:cNvSpPr txBox="1"/>
          <p:nvPr/>
        </p:nvSpPr>
        <p:spPr>
          <a:xfrm>
            <a:off x="4779517" y="5279685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71" name="TextBox 71"/>
          <p:cNvSpPr txBox="1"/>
          <p:nvPr/>
        </p:nvSpPr>
        <p:spPr>
          <a:xfrm>
            <a:off x="4849621" y="5279685"/>
            <a:ext cx="732129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시간당</a:t>
            </a:r>
          </a:p>
        </p:txBody>
      </p:sp>
      <p:sp>
        <p:nvSpPr>
          <p:cNvPr id="72" name="TextBox 72"/>
          <p:cNvSpPr txBox="1"/>
          <p:nvPr/>
        </p:nvSpPr>
        <p:spPr>
          <a:xfrm>
            <a:off x="5567806" y="5279685"/>
            <a:ext cx="225714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1</a:t>
            </a:r>
          </a:p>
        </p:txBody>
      </p:sp>
      <p:sp>
        <p:nvSpPr>
          <p:cNvPr id="73" name="TextBox 73"/>
          <p:cNvSpPr txBox="1"/>
          <p:nvPr/>
        </p:nvSpPr>
        <p:spPr>
          <a:xfrm>
            <a:off x="5788786" y="5279685"/>
            <a:ext cx="244022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회</a:t>
            </a:r>
          </a:p>
        </p:txBody>
      </p:sp>
      <p:sp>
        <p:nvSpPr>
          <p:cNvPr id="74" name="TextBox 74"/>
          <p:cNvSpPr txBox="1"/>
          <p:nvPr/>
        </p:nvSpPr>
        <p:spPr>
          <a:xfrm>
            <a:off x="6028054" y="5279685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)</a:t>
            </a:r>
          </a:p>
        </p:txBody>
      </p:sp>
      <p:sp>
        <p:nvSpPr>
          <p:cNvPr id="75" name="TextBox 75"/>
          <p:cNvSpPr txBox="1"/>
          <p:nvPr/>
        </p:nvSpPr>
        <p:spPr>
          <a:xfrm>
            <a:off x="1020547" y="5660685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-</a:t>
            </a:r>
          </a:p>
        </p:txBody>
      </p:sp>
      <p:sp>
        <p:nvSpPr>
          <p:cNvPr id="76" name="TextBox 76"/>
          <p:cNvSpPr txBox="1"/>
          <p:nvPr/>
        </p:nvSpPr>
        <p:spPr>
          <a:xfrm>
            <a:off x="1183564" y="5660685"/>
            <a:ext cx="314320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10</a:t>
            </a:r>
          </a:p>
        </p:txBody>
      </p:sp>
      <p:sp>
        <p:nvSpPr>
          <p:cNvPr id="77" name="TextBox 77"/>
          <p:cNvSpPr txBox="1"/>
          <p:nvPr/>
        </p:nvSpPr>
        <p:spPr>
          <a:xfrm>
            <a:off x="1491412" y="5660685"/>
            <a:ext cx="244022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만</a:t>
            </a:r>
          </a:p>
        </p:txBody>
      </p:sp>
      <p:sp>
        <p:nvSpPr>
          <p:cNvPr id="78" name="TextBox 78"/>
          <p:cNvSpPr txBox="1"/>
          <p:nvPr/>
        </p:nvSpPr>
        <p:spPr>
          <a:xfrm>
            <a:off x="1731061" y="5660685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79" name="TextBox 79"/>
          <p:cNvSpPr txBox="1"/>
          <p:nvPr/>
        </p:nvSpPr>
        <p:spPr>
          <a:xfrm>
            <a:off x="1801165" y="5660685"/>
            <a:ext cx="732129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시간에</a:t>
            </a:r>
          </a:p>
        </p:txBody>
      </p:sp>
      <p:sp>
        <p:nvSpPr>
          <p:cNvPr id="80" name="TextBox 80"/>
          <p:cNvSpPr txBox="1"/>
          <p:nvPr/>
        </p:nvSpPr>
        <p:spPr>
          <a:xfrm>
            <a:off x="2518969" y="5660685"/>
            <a:ext cx="227268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1</a:t>
            </a:r>
          </a:p>
        </p:txBody>
      </p:sp>
      <p:sp>
        <p:nvSpPr>
          <p:cNvPr id="81" name="TextBox 81"/>
          <p:cNvSpPr txBox="1"/>
          <p:nvPr/>
        </p:nvSpPr>
        <p:spPr>
          <a:xfrm>
            <a:off x="2741473" y="5660685"/>
            <a:ext cx="244022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번</a:t>
            </a:r>
          </a:p>
        </p:txBody>
      </p:sp>
      <p:sp>
        <p:nvSpPr>
          <p:cNvPr id="82" name="TextBox 82"/>
          <p:cNvSpPr txBox="1"/>
          <p:nvPr/>
        </p:nvSpPr>
        <p:spPr>
          <a:xfrm>
            <a:off x="2980741" y="5660685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83" name="TextBox 83"/>
          <p:cNvSpPr txBox="1"/>
          <p:nvPr/>
        </p:nvSpPr>
        <p:spPr>
          <a:xfrm>
            <a:off x="3050845" y="5660685"/>
            <a:ext cx="488076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밖에</a:t>
            </a:r>
          </a:p>
        </p:txBody>
      </p:sp>
      <p:sp>
        <p:nvSpPr>
          <p:cNvPr id="84" name="TextBox 84"/>
          <p:cNvSpPr txBox="1"/>
          <p:nvPr/>
        </p:nvSpPr>
        <p:spPr>
          <a:xfrm>
            <a:off x="3529635" y="5660685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85" name="TextBox 85"/>
          <p:cNvSpPr txBox="1"/>
          <p:nvPr/>
        </p:nvSpPr>
        <p:spPr>
          <a:xfrm>
            <a:off x="3598215" y="5660685"/>
            <a:ext cx="976182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일어나지</a:t>
            </a:r>
          </a:p>
        </p:txBody>
      </p:sp>
      <p:sp>
        <p:nvSpPr>
          <p:cNvPr id="86" name="TextBox 86"/>
          <p:cNvSpPr txBox="1"/>
          <p:nvPr/>
        </p:nvSpPr>
        <p:spPr>
          <a:xfrm>
            <a:off x="4555287" y="5660685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87" name="TextBox 87"/>
          <p:cNvSpPr txBox="1"/>
          <p:nvPr/>
        </p:nvSpPr>
        <p:spPr>
          <a:xfrm>
            <a:off x="4622343" y="5660685"/>
            <a:ext cx="1220236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않는다거나</a:t>
            </a:r>
          </a:p>
        </p:txBody>
      </p:sp>
      <p:sp>
        <p:nvSpPr>
          <p:cNvPr id="88" name="TextBox 88"/>
          <p:cNvSpPr txBox="1"/>
          <p:nvPr/>
        </p:nvSpPr>
        <p:spPr>
          <a:xfrm>
            <a:off x="5817540" y="5660685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89" name="TextBox 89"/>
          <p:cNvSpPr txBox="1"/>
          <p:nvPr/>
        </p:nvSpPr>
        <p:spPr>
          <a:xfrm>
            <a:off x="5884596" y="5660685"/>
            <a:ext cx="732129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반드시</a:t>
            </a:r>
          </a:p>
        </p:txBody>
      </p:sp>
      <p:sp>
        <p:nvSpPr>
          <p:cNvPr id="90" name="TextBox 90"/>
          <p:cNvSpPr txBox="1"/>
          <p:nvPr/>
        </p:nvSpPr>
        <p:spPr>
          <a:xfrm>
            <a:off x="6602400" y="5660685"/>
            <a:ext cx="227268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1</a:t>
            </a:r>
          </a:p>
        </p:txBody>
      </p:sp>
      <p:sp>
        <p:nvSpPr>
          <p:cNvPr id="91" name="TextBox 91"/>
          <p:cNvSpPr txBox="1"/>
          <p:nvPr/>
        </p:nvSpPr>
        <p:spPr>
          <a:xfrm>
            <a:off x="6824904" y="5660685"/>
            <a:ext cx="244022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번</a:t>
            </a:r>
          </a:p>
        </p:txBody>
      </p:sp>
      <p:sp>
        <p:nvSpPr>
          <p:cNvPr id="92" name="TextBox 92"/>
          <p:cNvSpPr txBox="1"/>
          <p:nvPr/>
        </p:nvSpPr>
        <p:spPr>
          <a:xfrm>
            <a:off x="7064172" y="5660685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93" name="TextBox 93"/>
          <p:cNvSpPr txBox="1"/>
          <p:nvPr/>
        </p:nvSpPr>
        <p:spPr>
          <a:xfrm>
            <a:off x="7134276" y="5660685"/>
            <a:ext cx="1221480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일어난다는</a:t>
            </a:r>
          </a:p>
        </p:txBody>
      </p:sp>
      <p:sp>
        <p:nvSpPr>
          <p:cNvPr id="94" name="TextBox 94"/>
          <p:cNvSpPr txBox="1"/>
          <p:nvPr/>
        </p:nvSpPr>
        <p:spPr>
          <a:xfrm>
            <a:off x="1233856" y="6041404"/>
            <a:ext cx="488367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0000"/>
                </a:solidFill>
                <a:latin typeface="나눔고딕"/>
                <a:cs typeface="나눔고딕"/>
              </a:rPr>
              <a:t>의미</a:t>
            </a:r>
          </a:p>
        </p:txBody>
      </p:sp>
      <p:sp>
        <p:nvSpPr>
          <p:cNvPr id="95" name="TextBox 95"/>
          <p:cNvSpPr txBox="1"/>
          <p:nvPr/>
        </p:nvSpPr>
        <p:spPr>
          <a:xfrm>
            <a:off x="1712773" y="6041404"/>
            <a:ext cx="152888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96" name="TextBox 96"/>
          <p:cNvSpPr txBox="1"/>
          <p:nvPr/>
        </p:nvSpPr>
        <p:spPr>
          <a:xfrm>
            <a:off x="1782877" y="6041404"/>
            <a:ext cx="488367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0000"/>
                </a:solidFill>
                <a:latin typeface="나눔고딕"/>
                <a:cs typeface="나눔고딕"/>
              </a:rPr>
              <a:t>아님</a:t>
            </a:r>
          </a:p>
        </p:txBody>
      </p:sp>
      <p:sp>
        <p:nvSpPr>
          <p:cNvPr id="97" name="TextBox 97"/>
          <p:cNvSpPr txBox="1"/>
          <p:nvPr/>
        </p:nvSpPr>
        <p:spPr>
          <a:xfrm>
            <a:off x="1020547" y="6422990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-</a:t>
            </a:r>
          </a:p>
        </p:txBody>
      </p:sp>
      <p:sp>
        <p:nvSpPr>
          <p:cNvPr id="98" name="TextBox 98"/>
          <p:cNvSpPr txBox="1"/>
          <p:nvPr/>
        </p:nvSpPr>
        <p:spPr>
          <a:xfrm>
            <a:off x="1183564" y="6422990"/>
            <a:ext cx="976182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실제로는</a:t>
            </a:r>
          </a:p>
        </p:txBody>
      </p:sp>
      <p:sp>
        <p:nvSpPr>
          <p:cNvPr id="99" name="TextBox 99"/>
          <p:cNvSpPr txBox="1"/>
          <p:nvPr/>
        </p:nvSpPr>
        <p:spPr>
          <a:xfrm>
            <a:off x="2141017" y="6422990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100" name="TextBox 100"/>
          <p:cNvSpPr txBox="1"/>
          <p:nvPr/>
        </p:nvSpPr>
        <p:spPr>
          <a:xfrm>
            <a:off x="2208073" y="6422990"/>
            <a:ext cx="488076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내일</a:t>
            </a:r>
          </a:p>
        </p:txBody>
      </p:sp>
      <p:sp>
        <p:nvSpPr>
          <p:cNvPr id="101" name="TextBox 101"/>
          <p:cNvSpPr txBox="1"/>
          <p:nvPr/>
        </p:nvSpPr>
        <p:spPr>
          <a:xfrm>
            <a:off x="2686609" y="6422990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102" name="TextBox 102"/>
          <p:cNvSpPr txBox="1"/>
          <p:nvPr/>
        </p:nvSpPr>
        <p:spPr>
          <a:xfrm>
            <a:off x="2755189" y="6422990"/>
            <a:ext cx="732129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사고가</a:t>
            </a:r>
          </a:p>
        </p:txBody>
      </p:sp>
      <p:sp>
        <p:nvSpPr>
          <p:cNvPr id="103" name="TextBox 103"/>
          <p:cNvSpPr txBox="1"/>
          <p:nvPr/>
        </p:nvSpPr>
        <p:spPr>
          <a:xfrm>
            <a:off x="3473247" y="6422990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104" name="TextBox 104"/>
          <p:cNvSpPr txBox="1"/>
          <p:nvPr/>
        </p:nvSpPr>
        <p:spPr>
          <a:xfrm>
            <a:off x="3541827" y="6422990"/>
            <a:ext cx="732129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발생할</a:t>
            </a:r>
          </a:p>
        </p:txBody>
      </p:sp>
      <p:sp>
        <p:nvSpPr>
          <p:cNvPr id="105" name="TextBox 105"/>
          <p:cNvSpPr txBox="1"/>
          <p:nvPr/>
        </p:nvSpPr>
        <p:spPr>
          <a:xfrm>
            <a:off x="4259631" y="6422990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106" name="TextBox 106"/>
          <p:cNvSpPr txBox="1"/>
          <p:nvPr/>
        </p:nvSpPr>
        <p:spPr>
          <a:xfrm>
            <a:off x="4326687" y="6422990"/>
            <a:ext cx="488076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수도</a:t>
            </a:r>
          </a:p>
        </p:txBody>
      </p:sp>
      <p:sp>
        <p:nvSpPr>
          <p:cNvPr id="107" name="TextBox 107"/>
          <p:cNvSpPr txBox="1"/>
          <p:nvPr/>
        </p:nvSpPr>
        <p:spPr>
          <a:xfrm>
            <a:off x="4805223" y="6422990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108" name="TextBox 108"/>
          <p:cNvSpPr txBox="1"/>
          <p:nvPr/>
        </p:nvSpPr>
        <p:spPr>
          <a:xfrm>
            <a:off x="4875327" y="6422990"/>
            <a:ext cx="488076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있음</a:t>
            </a:r>
          </a:p>
        </p:txBody>
      </p:sp>
      <p:sp>
        <p:nvSpPr>
          <p:cNvPr id="109" name="TextBox 109"/>
          <p:cNvSpPr txBox="1"/>
          <p:nvPr/>
        </p:nvSpPr>
        <p:spPr>
          <a:xfrm>
            <a:off x="1026871" y="2992769"/>
            <a:ext cx="152888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0000"/>
                </a:solidFill>
                <a:latin typeface="나눔고딕 2"/>
                <a:cs typeface="나눔고딕 2"/>
              </a:rPr>
              <a:t>-</a:t>
            </a:r>
          </a:p>
        </p:txBody>
      </p:sp>
      <p:sp>
        <p:nvSpPr>
          <p:cNvPr id="110" name="TextBox 110"/>
          <p:cNvSpPr txBox="1"/>
          <p:nvPr/>
        </p:nvSpPr>
        <p:spPr>
          <a:xfrm>
            <a:off x="1189939" y="2992769"/>
            <a:ext cx="314507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0000"/>
                </a:solidFill>
                <a:latin typeface="나눔고딕 2"/>
                <a:cs typeface="나눔고딕 2"/>
              </a:rPr>
              <a:t>10</a:t>
            </a:r>
          </a:p>
        </p:txBody>
      </p:sp>
      <p:sp>
        <p:nvSpPr>
          <p:cNvPr id="111" name="TextBox 111"/>
          <p:cNvSpPr txBox="1"/>
          <p:nvPr/>
        </p:nvSpPr>
        <p:spPr>
          <a:xfrm>
            <a:off x="1497838" y="2995366"/>
            <a:ext cx="166743" cy="23683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1332" b="1" dirty="0">
                <a:solidFill>
                  <a:srgbClr val="000000"/>
                </a:solidFill>
                <a:latin typeface="나눔고딕 2"/>
                <a:cs typeface="나눔고딕 2"/>
              </a:rPr>
              <a:t>-5</a:t>
            </a:r>
          </a:p>
        </p:txBody>
      </p:sp>
      <p:sp>
        <p:nvSpPr>
          <p:cNvPr id="112" name="TextBox 112"/>
          <p:cNvSpPr txBox="1"/>
          <p:nvPr/>
        </p:nvSpPr>
        <p:spPr>
          <a:xfrm>
            <a:off x="1660906" y="2992769"/>
            <a:ext cx="152888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0000"/>
                </a:solidFill>
                <a:latin typeface="나눔고딕 2"/>
                <a:cs typeface="나눔고딕 2"/>
              </a:rPr>
              <a:t>/</a:t>
            </a:r>
          </a:p>
        </p:txBody>
      </p:sp>
      <p:sp>
        <p:nvSpPr>
          <p:cNvPr id="113" name="TextBox 113"/>
          <p:cNvSpPr txBox="1"/>
          <p:nvPr/>
        </p:nvSpPr>
        <p:spPr>
          <a:xfrm>
            <a:off x="1756918" y="2992769"/>
            <a:ext cx="244315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0000"/>
                </a:solidFill>
                <a:latin typeface="나눔고딕"/>
                <a:cs typeface="나눔고딕"/>
              </a:rPr>
              <a:t>시</a:t>
            </a:r>
          </a:p>
        </p:txBody>
      </p:sp>
      <p:sp>
        <p:nvSpPr>
          <p:cNvPr id="114" name="TextBox 114"/>
          <p:cNvSpPr txBox="1"/>
          <p:nvPr/>
        </p:nvSpPr>
        <p:spPr>
          <a:xfrm>
            <a:off x="1996186" y="2992769"/>
            <a:ext cx="152888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115" name="TextBox 115"/>
          <p:cNvSpPr txBox="1"/>
          <p:nvPr/>
        </p:nvSpPr>
        <p:spPr>
          <a:xfrm>
            <a:off x="2067814" y="2992769"/>
            <a:ext cx="733043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0000"/>
                </a:solidFill>
                <a:latin typeface="나눔고딕"/>
                <a:cs typeface="나눔고딕"/>
              </a:rPr>
              <a:t>확률로</a:t>
            </a:r>
          </a:p>
        </p:txBody>
      </p:sp>
      <p:sp>
        <p:nvSpPr>
          <p:cNvPr id="116" name="TextBox 116"/>
          <p:cNvSpPr txBox="1"/>
          <p:nvPr/>
        </p:nvSpPr>
        <p:spPr>
          <a:xfrm>
            <a:off x="2785872" y="2992769"/>
            <a:ext cx="152888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117" name="TextBox 117"/>
          <p:cNvSpPr txBox="1"/>
          <p:nvPr/>
        </p:nvSpPr>
        <p:spPr>
          <a:xfrm>
            <a:off x="2854452" y="2992769"/>
            <a:ext cx="1144358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0000"/>
                </a:solidFill>
                <a:latin typeface="나눔고딕"/>
                <a:cs typeface="나눔고딕"/>
              </a:rPr>
              <a:t>‘실명’ 발생</a:t>
            </a:r>
          </a:p>
        </p:txBody>
      </p:sp>
      <p:sp>
        <p:nvSpPr>
          <p:cNvPr id="118" name="TextBox 118"/>
          <p:cNvSpPr txBox="1"/>
          <p:nvPr/>
        </p:nvSpPr>
        <p:spPr>
          <a:xfrm>
            <a:off x="3976116" y="2992769"/>
            <a:ext cx="152888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119" name="TextBox 119"/>
          <p:cNvSpPr txBox="1"/>
          <p:nvPr/>
        </p:nvSpPr>
        <p:spPr>
          <a:xfrm>
            <a:off x="4044950" y="2992769"/>
            <a:ext cx="732420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0000"/>
                </a:solidFill>
                <a:latin typeface="나눔고딕"/>
                <a:cs typeface="나눔고딕"/>
              </a:rPr>
              <a:t>가능성</a:t>
            </a:r>
          </a:p>
        </p:txBody>
      </p:sp>
      <p:sp>
        <p:nvSpPr>
          <p:cNvPr id="120" name="TextBox 120"/>
          <p:cNvSpPr txBox="1"/>
          <p:nvPr/>
        </p:nvSpPr>
        <p:spPr>
          <a:xfrm>
            <a:off x="4831334" y="2992769"/>
            <a:ext cx="152888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FF0000"/>
                </a:solidFill>
                <a:latin typeface="나눔고딕 2"/>
                <a:cs typeface="나눔고딕 2"/>
              </a:rPr>
              <a:t>?</a:t>
            </a:r>
          </a:p>
        </p:txBody>
      </p:sp>
      <p:sp>
        <p:nvSpPr>
          <p:cNvPr id="121" name="TextBox 121"/>
          <p:cNvSpPr txBox="1"/>
          <p:nvPr/>
        </p:nvSpPr>
        <p:spPr>
          <a:xfrm>
            <a:off x="5183378" y="2992769"/>
            <a:ext cx="314507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0000"/>
                </a:solidFill>
                <a:latin typeface="나눔고딕 2"/>
                <a:cs typeface="나눔고딕 2"/>
              </a:rPr>
              <a:t>10</a:t>
            </a:r>
          </a:p>
        </p:txBody>
      </p:sp>
      <p:sp>
        <p:nvSpPr>
          <p:cNvPr id="122" name="TextBox 122"/>
          <p:cNvSpPr txBox="1"/>
          <p:nvPr/>
        </p:nvSpPr>
        <p:spPr>
          <a:xfrm>
            <a:off x="5491226" y="2995366"/>
            <a:ext cx="166743" cy="23683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1332" b="1" dirty="0">
                <a:solidFill>
                  <a:srgbClr val="000000"/>
                </a:solidFill>
                <a:latin typeface="나눔고딕 2"/>
                <a:cs typeface="나눔고딕 2"/>
              </a:rPr>
              <a:t>-7</a:t>
            </a:r>
          </a:p>
        </p:txBody>
      </p:sp>
      <p:sp>
        <p:nvSpPr>
          <p:cNvPr id="123" name="TextBox 123"/>
          <p:cNvSpPr txBox="1"/>
          <p:nvPr/>
        </p:nvSpPr>
        <p:spPr>
          <a:xfrm>
            <a:off x="5654294" y="2992769"/>
            <a:ext cx="152888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0000"/>
                </a:solidFill>
                <a:latin typeface="나눔고딕 2"/>
                <a:cs typeface="나눔고딕 2"/>
              </a:rPr>
              <a:t>/</a:t>
            </a:r>
          </a:p>
        </p:txBody>
      </p:sp>
      <p:sp>
        <p:nvSpPr>
          <p:cNvPr id="124" name="TextBox 124"/>
          <p:cNvSpPr txBox="1"/>
          <p:nvPr/>
        </p:nvSpPr>
        <p:spPr>
          <a:xfrm>
            <a:off x="5750306" y="2992769"/>
            <a:ext cx="244315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0000"/>
                </a:solidFill>
                <a:latin typeface="나눔고딕"/>
                <a:cs typeface="나눔고딕"/>
              </a:rPr>
              <a:t>시</a:t>
            </a:r>
          </a:p>
        </p:txBody>
      </p:sp>
      <p:sp>
        <p:nvSpPr>
          <p:cNvPr id="125" name="TextBox 125"/>
          <p:cNvSpPr txBox="1"/>
          <p:nvPr/>
        </p:nvSpPr>
        <p:spPr>
          <a:xfrm>
            <a:off x="5989955" y="2992769"/>
            <a:ext cx="152888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126" name="TextBox 126"/>
          <p:cNvSpPr txBox="1"/>
          <p:nvPr/>
        </p:nvSpPr>
        <p:spPr>
          <a:xfrm>
            <a:off x="6061583" y="2992769"/>
            <a:ext cx="732420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0000"/>
                </a:solidFill>
                <a:latin typeface="나눔고딕"/>
                <a:cs typeface="나눔고딕"/>
              </a:rPr>
              <a:t>확률로</a:t>
            </a:r>
          </a:p>
        </p:txBody>
      </p:sp>
      <p:sp>
        <p:nvSpPr>
          <p:cNvPr id="127" name="TextBox 127"/>
          <p:cNvSpPr txBox="1"/>
          <p:nvPr/>
        </p:nvSpPr>
        <p:spPr>
          <a:xfrm>
            <a:off x="6779387" y="2992769"/>
            <a:ext cx="152888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128" name="TextBox 128"/>
          <p:cNvSpPr txBox="1"/>
          <p:nvPr/>
        </p:nvSpPr>
        <p:spPr>
          <a:xfrm>
            <a:off x="6847967" y="2992769"/>
            <a:ext cx="1142803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0000"/>
                </a:solidFill>
                <a:latin typeface="나눔고딕"/>
                <a:cs typeface="나눔고딕"/>
              </a:rPr>
              <a:t>‘사망’ 발생</a:t>
            </a:r>
          </a:p>
        </p:txBody>
      </p:sp>
      <p:sp>
        <p:nvSpPr>
          <p:cNvPr id="129" name="TextBox 129"/>
          <p:cNvSpPr txBox="1"/>
          <p:nvPr/>
        </p:nvSpPr>
        <p:spPr>
          <a:xfrm>
            <a:off x="7968361" y="2992769"/>
            <a:ext cx="152888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130" name="TextBox 130"/>
          <p:cNvSpPr txBox="1"/>
          <p:nvPr/>
        </p:nvSpPr>
        <p:spPr>
          <a:xfrm>
            <a:off x="8038465" y="2992769"/>
            <a:ext cx="732420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0000"/>
                </a:solidFill>
                <a:latin typeface="나눔고딕"/>
                <a:cs typeface="나눔고딕"/>
              </a:rPr>
              <a:t>가능성</a:t>
            </a:r>
          </a:p>
        </p:txBody>
      </p:sp>
      <p:sp>
        <p:nvSpPr>
          <p:cNvPr id="131" name="TextBox 131"/>
          <p:cNvSpPr txBox="1"/>
          <p:nvPr/>
        </p:nvSpPr>
        <p:spPr>
          <a:xfrm>
            <a:off x="999820" y="4011463"/>
            <a:ext cx="244022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☞</a:t>
            </a:r>
          </a:p>
        </p:txBody>
      </p:sp>
      <p:sp>
        <p:nvSpPr>
          <p:cNvPr id="132" name="TextBox 132"/>
          <p:cNvSpPr txBox="1"/>
          <p:nvPr/>
        </p:nvSpPr>
        <p:spPr>
          <a:xfrm>
            <a:off x="1239063" y="4011463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133" name="TextBox 133"/>
          <p:cNvSpPr txBox="1"/>
          <p:nvPr/>
        </p:nvSpPr>
        <p:spPr>
          <a:xfrm>
            <a:off x="1309167" y="4011463"/>
            <a:ext cx="244022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2E75B6"/>
                </a:solidFill>
                <a:latin typeface="나눔고딕"/>
                <a:cs typeface="나눔고딕"/>
              </a:rPr>
              <a:t>이</a:t>
            </a:r>
          </a:p>
        </p:txBody>
      </p:sp>
      <p:sp>
        <p:nvSpPr>
          <p:cNvPr id="134" name="TextBox 134"/>
          <p:cNvSpPr txBox="1"/>
          <p:nvPr/>
        </p:nvSpPr>
        <p:spPr>
          <a:xfrm>
            <a:off x="1548435" y="4011463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2E75B6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135" name="TextBox 135"/>
          <p:cNvSpPr txBox="1"/>
          <p:nvPr/>
        </p:nvSpPr>
        <p:spPr>
          <a:xfrm>
            <a:off x="1618539" y="4011463"/>
            <a:ext cx="97711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2E75B6"/>
                </a:solidFill>
                <a:latin typeface="나눔고딕"/>
                <a:cs typeface="나눔고딕"/>
              </a:rPr>
              <a:t>판단에는</a:t>
            </a:r>
          </a:p>
        </p:txBody>
      </p:sp>
      <p:sp>
        <p:nvSpPr>
          <p:cNvPr id="136" name="TextBox 136"/>
          <p:cNvSpPr txBox="1"/>
          <p:nvPr/>
        </p:nvSpPr>
        <p:spPr>
          <a:xfrm>
            <a:off x="2575992" y="4011463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2E75B6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137" name="TextBox 137"/>
          <p:cNvSpPr txBox="1"/>
          <p:nvPr/>
        </p:nvSpPr>
        <p:spPr>
          <a:xfrm>
            <a:off x="2643048" y="4011463"/>
            <a:ext cx="976182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2E75B6"/>
                </a:solidFill>
                <a:latin typeface="나눔고딕"/>
                <a:cs typeface="나눔고딕"/>
              </a:rPr>
              <a:t>가치관이</a:t>
            </a:r>
          </a:p>
        </p:txBody>
      </p:sp>
      <p:sp>
        <p:nvSpPr>
          <p:cNvPr id="138" name="TextBox 138"/>
          <p:cNvSpPr txBox="1"/>
          <p:nvPr/>
        </p:nvSpPr>
        <p:spPr>
          <a:xfrm>
            <a:off x="3600120" y="4011463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2E75B6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139" name="TextBox 139"/>
          <p:cNvSpPr txBox="1"/>
          <p:nvPr/>
        </p:nvSpPr>
        <p:spPr>
          <a:xfrm>
            <a:off x="3667430" y="4011463"/>
            <a:ext cx="1220236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2E75B6"/>
                </a:solidFill>
                <a:latin typeface="나눔고딕"/>
                <a:cs typeface="나눔고딕"/>
              </a:rPr>
              <a:t>수반되므로</a:t>
            </a:r>
          </a:p>
        </p:txBody>
      </p:sp>
      <p:sp>
        <p:nvSpPr>
          <p:cNvPr id="140" name="TextBox 140"/>
          <p:cNvSpPr txBox="1"/>
          <p:nvPr/>
        </p:nvSpPr>
        <p:spPr>
          <a:xfrm>
            <a:off x="4862246" y="4011463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2E75B6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141" name="TextBox 141"/>
          <p:cNvSpPr txBox="1"/>
          <p:nvPr/>
        </p:nvSpPr>
        <p:spPr>
          <a:xfrm>
            <a:off x="4929302" y="4011463"/>
            <a:ext cx="732129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2E75B6"/>
                </a:solidFill>
                <a:latin typeface="나눔고딕"/>
                <a:cs typeface="나눔고딕"/>
              </a:rPr>
              <a:t>사람과</a:t>
            </a:r>
          </a:p>
        </p:txBody>
      </p:sp>
      <p:sp>
        <p:nvSpPr>
          <p:cNvPr id="142" name="TextBox 142"/>
          <p:cNvSpPr txBox="1"/>
          <p:nvPr/>
        </p:nvSpPr>
        <p:spPr>
          <a:xfrm>
            <a:off x="5647360" y="4011463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2E75B6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143" name="TextBox 143"/>
          <p:cNvSpPr txBox="1"/>
          <p:nvPr/>
        </p:nvSpPr>
        <p:spPr>
          <a:xfrm>
            <a:off x="5715940" y="4011463"/>
            <a:ext cx="732129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2E75B6"/>
                </a:solidFill>
                <a:latin typeface="나눔고딕"/>
                <a:cs typeface="나눔고딕"/>
              </a:rPr>
              <a:t>상황에</a:t>
            </a:r>
          </a:p>
        </p:txBody>
      </p:sp>
      <p:sp>
        <p:nvSpPr>
          <p:cNvPr id="144" name="TextBox 144"/>
          <p:cNvSpPr txBox="1"/>
          <p:nvPr/>
        </p:nvSpPr>
        <p:spPr>
          <a:xfrm>
            <a:off x="6433744" y="4011463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2E75B6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145" name="TextBox 145"/>
          <p:cNvSpPr txBox="1"/>
          <p:nvPr/>
        </p:nvSpPr>
        <p:spPr>
          <a:xfrm>
            <a:off x="6500800" y="4011463"/>
            <a:ext cx="488076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2E75B6"/>
                </a:solidFill>
                <a:latin typeface="나눔고딕"/>
                <a:cs typeface="나눔고딕"/>
              </a:rPr>
              <a:t>따라</a:t>
            </a:r>
          </a:p>
        </p:txBody>
      </p:sp>
      <p:sp>
        <p:nvSpPr>
          <p:cNvPr id="146" name="TextBox 146"/>
          <p:cNvSpPr txBox="1"/>
          <p:nvPr/>
        </p:nvSpPr>
        <p:spPr>
          <a:xfrm>
            <a:off x="6979336" y="4011463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2E75B6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147" name="TextBox 147"/>
          <p:cNvSpPr txBox="1"/>
          <p:nvPr/>
        </p:nvSpPr>
        <p:spPr>
          <a:xfrm>
            <a:off x="7049440" y="4011463"/>
            <a:ext cx="488076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2E75B6"/>
                </a:solidFill>
                <a:latin typeface="나눔고딕"/>
                <a:cs typeface="나눔고딕"/>
              </a:rPr>
              <a:t>다를</a:t>
            </a:r>
          </a:p>
        </p:txBody>
      </p:sp>
      <p:sp>
        <p:nvSpPr>
          <p:cNvPr id="148" name="TextBox 148"/>
          <p:cNvSpPr txBox="1"/>
          <p:nvPr/>
        </p:nvSpPr>
        <p:spPr>
          <a:xfrm>
            <a:off x="7528357" y="4011463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2E75B6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149" name="TextBox 149"/>
          <p:cNvSpPr txBox="1"/>
          <p:nvPr/>
        </p:nvSpPr>
        <p:spPr>
          <a:xfrm>
            <a:off x="7596937" y="4011463"/>
            <a:ext cx="244022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2E75B6"/>
                </a:solidFill>
                <a:latin typeface="나눔고딕"/>
                <a:cs typeface="나눔고딕"/>
              </a:rPr>
              <a:t>수</a:t>
            </a:r>
          </a:p>
        </p:txBody>
      </p:sp>
      <p:sp>
        <p:nvSpPr>
          <p:cNvPr id="150" name="TextBox 150"/>
          <p:cNvSpPr txBox="1"/>
          <p:nvPr/>
        </p:nvSpPr>
        <p:spPr>
          <a:xfrm>
            <a:off x="7836205" y="4011463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2E75B6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151" name="TextBox 151"/>
          <p:cNvSpPr txBox="1"/>
          <p:nvPr/>
        </p:nvSpPr>
        <p:spPr>
          <a:xfrm>
            <a:off x="7906309" y="4011463"/>
            <a:ext cx="488076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2E75B6"/>
                </a:solidFill>
                <a:latin typeface="나눔고딕"/>
                <a:cs typeface="나눔고딕"/>
              </a:rPr>
              <a:t>있음</a:t>
            </a:r>
          </a:p>
        </p:txBody>
      </p:sp>
      <p:sp>
        <p:nvSpPr>
          <p:cNvPr id="152" name="TextBox 152"/>
          <p:cNvSpPr txBox="1"/>
          <p:nvPr/>
        </p:nvSpPr>
        <p:spPr>
          <a:xfrm>
            <a:off x="1356411" y="4315982"/>
            <a:ext cx="976473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2E75B6"/>
                </a:solidFill>
                <a:latin typeface="나눔고딕"/>
                <a:cs typeface="나눔고딕"/>
              </a:rPr>
              <a:t>기업별로</a:t>
            </a:r>
          </a:p>
        </p:txBody>
      </p:sp>
      <p:sp>
        <p:nvSpPr>
          <p:cNvPr id="153" name="TextBox 153"/>
          <p:cNvSpPr txBox="1"/>
          <p:nvPr/>
        </p:nvSpPr>
        <p:spPr>
          <a:xfrm>
            <a:off x="2313864" y="4315982"/>
            <a:ext cx="152888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2E75B6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154" name="TextBox 154"/>
          <p:cNvSpPr txBox="1"/>
          <p:nvPr/>
        </p:nvSpPr>
        <p:spPr>
          <a:xfrm>
            <a:off x="2380920" y="4315982"/>
            <a:ext cx="732420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2E75B6"/>
                </a:solidFill>
                <a:latin typeface="나눔고딕"/>
                <a:cs typeface="나눔고딕"/>
              </a:rPr>
              <a:t>사업장</a:t>
            </a:r>
          </a:p>
        </p:txBody>
      </p:sp>
      <p:sp>
        <p:nvSpPr>
          <p:cNvPr id="155" name="TextBox 155"/>
          <p:cNvSpPr txBox="1"/>
          <p:nvPr/>
        </p:nvSpPr>
        <p:spPr>
          <a:xfrm>
            <a:off x="3098724" y="4315982"/>
            <a:ext cx="152888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2E75B6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156" name="TextBox 156"/>
          <p:cNvSpPr txBox="1"/>
          <p:nvPr/>
        </p:nvSpPr>
        <p:spPr>
          <a:xfrm>
            <a:off x="3167304" y="4315982"/>
            <a:ext cx="732420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2E75B6"/>
                </a:solidFill>
                <a:latin typeface="나눔고딕"/>
                <a:cs typeface="나눔고딕"/>
              </a:rPr>
              <a:t>특성을</a:t>
            </a:r>
          </a:p>
        </p:txBody>
      </p:sp>
      <p:sp>
        <p:nvSpPr>
          <p:cNvPr id="157" name="TextBox 157"/>
          <p:cNvSpPr txBox="1"/>
          <p:nvPr/>
        </p:nvSpPr>
        <p:spPr>
          <a:xfrm>
            <a:off x="3885362" y="4315982"/>
            <a:ext cx="152888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2E75B6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158" name="TextBox 158"/>
          <p:cNvSpPr txBox="1"/>
          <p:nvPr/>
        </p:nvSpPr>
        <p:spPr>
          <a:xfrm>
            <a:off x="3952418" y="4315982"/>
            <a:ext cx="976473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2E75B6"/>
                </a:solidFill>
                <a:latin typeface="나눔고딕"/>
                <a:cs typeface="나눔고딕"/>
              </a:rPr>
              <a:t>고려하여</a:t>
            </a:r>
          </a:p>
        </p:txBody>
      </p:sp>
      <p:sp>
        <p:nvSpPr>
          <p:cNvPr id="159" name="TextBox 159"/>
          <p:cNvSpPr txBox="1"/>
          <p:nvPr/>
        </p:nvSpPr>
        <p:spPr>
          <a:xfrm>
            <a:off x="4909490" y="4315982"/>
            <a:ext cx="152888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2E75B6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160" name="TextBox 160"/>
          <p:cNvSpPr txBox="1"/>
          <p:nvPr/>
        </p:nvSpPr>
        <p:spPr>
          <a:xfrm>
            <a:off x="4976546" y="4315982"/>
            <a:ext cx="732420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2E75B6"/>
                </a:solidFill>
                <a:latin typeface="나눔고딕"/>
                <a:cs typeface="나눔고딕"/>
              </a:rPr>
              <a:t>적절한</a:t>
            </a:r>
          </a:p>
        </p:txBody>
      </p:sp>
      <p:sp>
        <p:nvSpPr>
          <p:cNvPr id="161" name="TextBox 161"/>
          <p:cNvSpPr txBox="1"/>
          <p:nvPr/>
        </p:nvSpPr>
        <p:spPr>
          <a:xfrm>
            <a:off x="5694604" y="4315982"/>
            <a:ext cx="152888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2E75B6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162" name="TextBox 162"/>
          <p:cNvSpPr txBox="1"/>
          <p:nvPr/>
        </p:nvSpPr>
        <p:spPr>
          <a:xfrm>
            <a:off x="5763184" y="4315982"/>
            <a:ext cx="732420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2E75B6"/>
                </a:solidFill>
                <a:latin typeface="나눔고딕"/>
                <a:cs typeface="나눔고딕"/>
              </a:rPr>
              <a:t>방법을</a:t>
            </a:r>
          </a:p>
        </p:txBody>
      </p:sp>
      <p:sp>
        <p:nvSpPr>
          <p:cNvPr id="163" name="TextBox 163"/>
          <p:cNvSpPr txBox="1"/>
          <p:nvPr/>
        </p:nvSpPr>
        <p:spPr>
          <a:xfrm>
            <a:off x="6480988" y="4315982"/>
            <a:ext cx="152888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2E75B6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164" name="TextBox 164"/>
          <p:cNvSpPr txBox="1"/>
          <p:nvPr/>
        </p:nvSpPr>
        <p:spPr>
          <a:xfrm>
            <a:off x="6548044" y="4315982"/>
            <a:ext cx="1220838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2E75B6"/>
                </a:solidFill>
                <a:latin typeface="나눔고딕"/>
                <a:cs typeface="나눔고딕"/>
              </a:rPr>
              <a:t>개발•적용</a:t>
            </a:r>
          </a:p>
        </p:txBody>
      </p:sp>
      <p:sp>
        <p:nvSpPr>
          <p:cNvPr id="165" name="TextBox 165"/>
          <p:cNvSpPr txBox="1"/>
          <p:nvPr/>
        </p:nvSpPr>
        <p:spPr>
          <a:xfrm>
            <a:off x="7744765" y="4315982"/>
            <a:ext cx="152888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2E75B6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166" name="TextBox 166"/>
          <p:cNvSpPr txBox="1"/>
          <p:nvPr/>
        </p:nvSpPr>
        <p:spPr>
          <a:xfrm>
            <a:off x="7811821" y="4315982"/>
            <a:ext cx="488367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2E75B6"/>
                </a:solidFill>
                <a:latin typeface="나눔고딕"/>
                <a:cs typeface="나눔고딕"/>
              </a:rPr>
              <a:t>필요</a:t>
            </a:r>
          </a:p>
        </p:txBody>
      </p:sp>
      <p:sp>
        <p:nvSpPr>
          <p:cNvPr id="167" name="TextBox 167"/>
          <p:cNvSpPr txBox="1"/>
          <p:nvPr/>
        </p:nvSpPr>
        <p:spPr>
          <a:xfrm>
            <a:off x="415138" y="105410"/>
            <a:ext cx="1349289" cy="42672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400" b="1" dirty="0">
                <a:solidFill>
                  <a:srgbClr val="000000"/>
                </a:solidFill>
                <a:latin typeface="나눔고딕"/>
                <a:cs typeface="나눔고딕"/>
              </a:rPr>
              <a:t>Ⅱ. 안전의</a:t>
            </a:r>
          </a:p>
        </p:txBody>
      </p:sp>
      <p:sp>
        <p:nvSpPr>
          <p:cNvPr id="168" name="TextBox 168"/>
          <p:cNvSpPr txBox="1"/>
          <p:nvPr/>
        </p:nvSpPr>
        <p:spPr>
          <a:xfrm>
            <a:off x="1737995" y="105410"/>
            <a:ext cx="182880" cy="42672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400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169" name="TextBox 169"/>
          <p:cNvSpPr txBox="1"/>
          <p:nvPr/>
        </p:nvSpPr>
        <p:spPr>
          <a:xfrm>
            <a:off x="1821815" y="105410"/>
            <a:ext cx="584795" cy="42672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400" b="1" dirty="0">
                <a:solidFill>
                  <a:srgbClr val="000000"/>
                </a:solidFill>
                <a:latin typeface="나눔고딕"/>
                <a:cs typeface="나눔고딕"/>
              </a:rPr>
              <a:t>개요</a:t>
            </a:r>
          </a:p>
        </p:txBody>
      </p:sp>
      <p:sp>
        <p:nvSpPr>
          <p:cNvPr id="170" name="직사각형 169"/>
          <p:cNvSpPr/>
          <p:nvPr/>
        </p:nvSpPr>
        <p:spPr>
          <a:xfrm>
            <a:off x="1694678" y="3328017"/>
            <a:ext cx="6757416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dirty="0"/>
              <a:t>"</a:t>
            </a:r>
            <a:r>
              <a:rPr lang="ko-KR" altLang="en-US" dirty="0"/>
              <a:t>확률은 높은데 피해가 작은 것</a:t>
            </a:r>
            <a:r>
              <a:rPr lang="en-US" altLang="ko-KR" dirty="0"/>
              <a:t>"</a:t>
            </a:r>
            <a:r>
              <a:rPr lang="ko-KR" altLang="en-US" dirty="0"/>
              <a:t>과 </a:t>
            </a:r>
            <a:r>
              <a:rPr lang="en-US" altLang="ko-KR" dirty="0"/>
              <a:t>"</a:t>
            </a:r>
            <a:r>
              <a:rPr lang="ko-KR" altLang="en-US" dirty="0"/>
              <a:t>확률은 낮은데 피해가 치명적인 것</a:t>
            </a:r>
            <a:r>
              <a:rPr lang="en-US" altLang="ko-KR" dirty="0"/>
              <a:t>" </a:t>
            </a:r>
            <a:r>
              <a:rPr lang="ko-KR" altLang="en-US" dirty="0"/>
              <a:t>중 어느 쪽의 리스크가 더 큰지 단순 비교하기 어렵다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5"/>
          <p:cNvSpPr txBox="1"/>
          <p:nvPr/>
        </p:nvSpPr>
        <p:spPr>
          <a:xfrm>
            <a:off x="487070" y="679170"/>
            <a:ext cx="370025" cy="427147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402" b="1" spc="151" dirty="0">
                <a:solidFill>
                  <a:srgbClr val="967754"/>
                </a:solidFill>
                <a:latin typeface="나눔고딕 2"/>
                <a:cs typeface="나눔고딕 2"/>
              </a:rPr>
              <a:t>6. 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848258" y="679170"/>
            <a:ext cx="1169260" cy="427147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402" b="1" dirty="0">
                <a:solidFill>
                  <a:srgbClr val="967754"/>
                </a:solidFill>
                <a:latin typeface="나눔고딕"/>
                <a:cs typeface="나눔고딕"/>
              </a:rPr>
              <a:t>리스크의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994662" y="679170"/>
            <a:ext cx="183063" cy="427147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402" b="1" dirty="0">
                <a:solidFill>
                  <a:srgbClr val="967754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2078482" y="679170"/>
            <a:ext cx="584776" cy="427147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402" b="1" dirty="0">
                <a:solidFill>
                  <a:srgbClr val="967754"/>
                </a:solidFill>
                <a:latin typeface="나눔고딕"/>
                <a:cs typeface="나눔고딕"/>
              </a:rPr>
              <a:t>의미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882091" y="3413918"/>
            <a:ext cx="152888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dirty="0">
                <a:solidFill>
                  <a:srgbClr val="7F7F7F"/>
                </a:solidFill>
                <a:latin typeface="Wingdings"/>
                <a:cs typeface="Wingdings"/>
              </a:rPr>
              <a:t>▪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098499" y="3408567"/>
            <a:ext cx="1463028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0000"/>
                </a:solidFill>
                <a:latin typeface="나눔고딕"/>
                <a:cs typeface="나눔고딕"/>
              </a:rPr>
              <a:t>산업안전에서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2531364" y="3408567"/>
            <a:ext cx="152888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2598420" y="3408567"/>
            <a:ext cx="488367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0000"/>
                </a:solidFill>
                <a:latin typeface="나눔고딕"/>
                <a:cs typeface="나눔고딕"/>
              </a:rPr>
              <a:t>상해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3076956" y="3408567"/>
            <a:ext cx="152888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0000"/>
                </a:solidFill>
                <a:latin typeface="나눔고딕 2"/>
                <a:cs typeface="나눔고딕 2"/>
              </a:rPr>
              <a:t>, 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3223260" y="3408567"/>
            <a:ext cx="733043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0000"/>
                </a:solidFill>
                <a:latin typeface="나눔고딕"/>
                <a:cs typeface="나눔고딕"/>
              </a:rPr>
              <a:t>사망을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3941318" y="3408567"/>
            <a:ext cx="152888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4008374" y="3408567"/>
            <a:ext cx="976473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0000"/>
                </a:solidFill>
                <a:latin typeface="나눔고딕"/>
                <a:cs typeface="나눔고딕"/>
              </a:rPr>
              <a:t>금액으로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4965446" y="3408567"/>
            <a:ext cx="152888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5032502" y="3408567"/>
            <a:ext cx="977408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0000"/>
                </a:solidFill>
                <a:latin typeface="나눔고딕"/>
                <a:cs typeface="나눔고딕"/>
              </a:rPr>
              <a:t>환산하는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5989955" y="3408567"/>
            <a:ext cx="152888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6057011" y="3408567"/>
            <a:ext cx="488367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0000"/>
                </a:solidFill>
                <a:latin typeface="나눔고딕"/>
                <a:cs typeface="나눔고딕"/>
              </a:rPr>
              <a:t>것은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6535547" y="3408567"/>
            <a:ext cx="152888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6605651" y="3408567"/>
            <a:ext cx="732420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0000"/>
                </a:solidFill>
                <a:latin typeface="나눔고딕"/>
                <a:cs typeface="나눔고딕"/>
              </a:rPr>
              <a:t>심리적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7323709" y="3408567"/>
            <a:ext cx="152888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7390765" y="3408567"/>
            <a:ext cx="976473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0000"/>
                </a:solidFill>
                <a:latin typeface="나눔고딕"/>
                <a:cs typeface="나눔고딕"/>
              </a:rPr>
              <a:t>저항감이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8347837" y="3408567"/>
            <a:ext cx="152888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098499" y="3713902"/>
            <a:ext cx="488076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높을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577340" y="3713902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645920" y="3713902"/>
            <a:ext cx="244022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수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885188" y="3713902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955292" y="3713902"/>
            <a:ext cx="488076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있어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2433828" y="3713902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2503932" y="3713902"/>
            <a:ext cx="488076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주의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2982468" y="3713902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3051048" y="3713902"/>
            <a:ext cx="488387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필요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1121359" y="4364650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dirty="0">
                <a:solidFill>
                  <a:srgbClr val="000000"/>
                </a:solidFill>
                <a:latin typeface="나눔고딕"/>
                <a:cs typeface="나눔고딕"/>
              </a:rPr>
              <a:t> 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1191463" y="4364650"/>
            <a:ext cx="97711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금액으로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2148840" y="4364650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2215896" y="4364650"/>
            <a:ext cx="732129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비교한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2933700" y="4364650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3002280" y="4364650"/>
            <a:ext cx="732129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리스크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3720338" y="4364650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3787394" y="4364650"/>
            <a:ext cx="488076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예시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1096975" y="4745369"/>
            <a:ext cx="152888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0000"/>
                </a:solidFill>
                <a:latin typeface="나눔고딕 2"/>
                <a:cs typeface="나눔고딕 2"/>
              </a:rPr>
              <a:t>-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1260043" y="4745369"/>
            <a:ext cx="157505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0000"/>
                </a:solidFill>
                <a:latin typeface="나눔고딕 2"/>
                <a:cs typeface="나눔고딕 2"/>
              </a:rPr>
              <a:t>B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1414272" y="4745369"/>
            <a:ext cx="488367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0000"/>
                </a:solidFill>
                <a:latin typeface="나눔고딕"/>
                <a:cs typeface="나눔고딕"/>
              </a:rPr>
              <a:t>기계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1892808" y="4745369"/>
            <a:ext cx="535189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spc="127" dirty="0">
                <a:solidFill>
                  <a:srgbClr val="000000"/>
                </a:solidFill>
                <a:latin typeface="나눔고딕 2"/>
                <a:cs typeface="나눔고딕 2"/>
              </a:rPr>
              <a:t> : 10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2417064" y="4747966"/>
            <a:ext cx="166743" cy="23683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1332" b="1" dirty="0">
                <a:solidFill>
                  <a:srgbClr val="000000"/>
                </a:solidFill>
                <a:latin typeface="나눔고딕 2"/>
                <a:cs typeface="나눔고딕 2"/>
              </a:rPr>
              <a:t>-5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2580132" y="4745369"/>
            <a:ext cx="152888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0000"/>
                </a:solidFill>
                <a:latin typeface="나눔고딕 2"/>
                <a:cs typeface="나눔고딕 2"/>
              </a:rPr>
              <a:t>/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2676144" y="4745369"/>
            <a:ext cx="244315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0000"/>
                </a:solidFill>
                <a:latin typeface="나눔고딕"/>
                <a:cs typeface="나눔고딕"/>
              </a:rPr>
              <a:t>시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2915412" y="4745369"/>
            <a:ext cx="152888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51" name="TextBox 51"/>
          <p:cNvSpPr txBox="1"/>
          <p:nvPr/>
        </p:nvSpPr>
        <p:spPr>
          <a:xfrm>
            <a:off x="2987040" y="4745369"/>
            <a:ext cx="732420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0000"/>
                </a:solidFill>
                <a:latin typeface="나눔고딕"/>
                <a:cs typeface="나눔고딕"/>
              </a:rPr>
              <a:t>확률로</a:t>
            </a:r>
          </a:p>
        </p:txBody>
      </p:sp>
      <p:sp>
        <p:nvSpPr>
          <p:cNvPr id="52" name="TextBox 52"/>
          <p:cNvSpPr txBox="1"/>
          <p:nvPr/>
        </p:nvSpPr>
        <p:spPr>
          <a:xfrm>
            <a:off x="3705098" y="4745369"/>
            <a:ext cx="152888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53" name="TextBox 53"/>
          <p:cNvSpPr txBox="1"/>
          <p:nvPr/>
        </p:nvSpPr>
        <p:spPr>
          <a:xfrm>
            <a:off x="3773678" y="4745369"/>
            <a:ext cx="488367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0000"/>
                </a:solidFill>
                <a:latin typeface="나눔고딕"/>
                <a:cs typeface="나눔고딕"/>
              </a:rPr>
              <a:t>실명</a:t>
            </a:r>
          </a:p>
        </p:txBody>
      </p:sp>
      <p:sp>
        <p:nvSpPr>
          <p:cNvPr id="54" name="TextBox 54"/>
          <p:cNvSpPr txBox="1"/>
          <p:nvPr/>
        </p:nvSpPr>
        <p:spPr>
          <a:xfrm>
            <a:off x="4252214" y="4745369"/>
            <a:ext cx="152888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55" name="TextBox 55"/>
          <p:cNvSpPr txBox="1"/>
          <p:nvPr/>
        </p:nvSpPr>
        <p:spPr>
          <a:xfrm>
            <a:off x="4320794" y="4745369"/>
            <a:ext cx="488367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0000"/>
                </a:solidFill>
                <a:latin typeface="나눔고딕"/>
                <a:cs typeface="나눔고딕"/>
              </a:rPr>
              <a:t>발생</a:t>
            </a:r>
          </a:p>
        </p:txBody>
      </p:sp>
      <p:sp>
        <p:nvSpPr>
          <p:cNvPr id="56" name="TextBox 56"/>
          <p:cNvSpPr txBox="1"/>
          <p:nvPr/>
        </p:nvSpPr>
        <p:spPr>
          <a:xfrm>
            <a:off x="4799330" y="4745369"/>
            <a:ext cx="152888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57" name="TextBox 57"/>
          <p:cNvSpPr txBox="1"/>
          <p:nvPr/>
        </p:nvSpPr>
        <p:spPr>
          <a:xfrm>
            <a:off x="4869434" y="4745369"/>
            <a:ext cx="732420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0000"/>
                </a:solidFill>
                <a:latin typeface="나눔고딕"/>
                <a:cs typeface="나눔고딕"/>
              </a:rPr>
              <a:t>가능성</a:t>
            </a:r>
          </a:p>
        </p:txBody>
      </p:sp>
      <p:sp>
        <p:nvSpPr>
          <p:cNvPr id="58" name="TextBox 58"/>
          <p:cNvSpPr txBox="1"/>
          <p:nvPr/>
        </p:nvSpPr>
        <p:spPr>
          <a:xfrm>
            <a:off x="1096975" y="5127031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-</a:t>
            </a:r>
          </a:p>
        </p:txBody>
      </p:sp>
      <p:sp>
        <p:nvSpPr>
          <p:cNvPr id="59" name="TextBox 59"/>
          <p:cNvSpPr txBox="1"/>
          <p:nvPr/>
        </p:nvSpPr>
        <p:spPr>
          <a:xfrm>
            <a:off x="1260043" y="5127031"/>
            <a:ext cx="174450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C</a:t>
            </a:r>
          </a:p>
        </p:txBody>
      </p:sp>
      <p:sp>
        <p:nvSpPr>
          <p:cNvPr id="60" name="TextBox 60"/>
          <p:cNvSpPr txBox="1"/>
          <p:nvPr/>
        </p:nvSpPr>
        <p:spPr>
          <a:xfrm>
            <a:off x="1431036" y="5127031"/>
            <a:ext cx="488076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기계</a:t>
            </a:r>
          </a:p>
        </p:txBody>
      </p:sp>
      <p:sp>
        <p:nvSpPr>
          <p:cNvPr id="61" name="TextBox 61"/>
          <p:cNvSpPr txBox="1"/>
          <p:nvPr/>
        </p:nvSpPr>
        <p:spPr>
          <a:xfrm>
            <a:off x="1909572" y="5127031"/>
            <a:ext cx="536706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spc="131" dirty="0">
                <a:solidFill>
                  <a:srgbClr val="000000"/>
                </a:solidFill>
                <a:latin typeface="나눔고딕 2"/>
                <a:cs typeface="나눔고딕 2"/>
              </a:rPr>
              <a:t> : 10</a:t>
            </a:r>
          </a:p>
        </p:txBody>
      </p:sp>
      <p:sp>
        <p:nvSpPr>
          <p:cNvPr id="62" name="TextBox 62"/>
          <p:cNvSpPr txBox="1"/>
          <p:nvPr/>
        </p:nvSpPr>
        <p:spPr>
          <a:xfrm>
            <a:off x="2435352" y="5129347"/>
            <a:ext cx="166743" cy="23683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1332" b="1" dirty="0">
                <a:solidFill>
                  <a:srgbClr val="000000"/>
                </a:solidFill>
                <a:latin typeface="나눔고딕 2"/>
                <a:cs typeface="나눔고딕 2"/>
              </a:rPr>
              <a:t>-7</a:t>
            </a:r>
          </a:p>
        </p:txBody>
      </p:sp>
      <p:sp>
        <p:nvSpPr>
          <p:cNvPr id="63" name="TextBox 63"/>
          <p:cNvSpPr txBox="1"/>
          <p:nvPr/>
        </p:nvSpPr>
        <p:spPr>
          <a:xfrm>
            <a:off x="2598420" y="5127031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/</a:t>
            </a:r>
          </a:p>
        </p:txBody>
      </p:sp>
      <p:sp>
        <p:nvSpPr>
          <p:cNvPr id="64" name="TextBox 64"/>
          <p:cNvSpPr txBox="1"/>
          <p:nvPr/>
        </p:nvSpPr>
        <p:spPr>
          <a:xfrm>
            <a:off x="2694432" y="5127031"/>
            <a:ext cx="244022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시</a:t>
            </a:r>
          </a:p>
        </p:txBody>
      </p:sp>
      <p:sp>
        <p:nvSpPr>
          <p:cNvPr id="65" name="TextBox 65"/>
          <p:cNvSpPr txBox="1"/>
          <p:nvPr/>
        </p:nvSpPr>
        <p:spPr>
          <a:xfrm>
            <a:off x="2933700" y="5127031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66" name="TextBox 66"/>
          <p:cNvSpPr txBox="1"/>
          <p:nvPr/>
        </p:nvSpPr>
        <p:spPr>
          <a:xfrm>
            <a:off x="3005328" y="5127031"/>
            <a:ext cx="732751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확률로</a:t>
            </a:r>
          </a:p>
        </p:txBody>
      </p:sp>
      <p:sp>
        <p:nvSpPr>
          <p:cNvPr id="67" name="TextBox 67"/>
          <p:cNvSpPr txBox="1"/>
          <p:nvPr/>
        </p:nvSpPr>
        <p:spPr>
          <a:xfrm>
            <a:off x="3723386" y="5127031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68" name="TextBox 68"/>
          <p:cNvSpPr txBox="1"/>
          <p:nvPr/>
        </p:nvSpPr>
        <p:spPr>
          <a:xfrm>
            <a:off x="3790442" y="5127031"/>
            <a:ext cx="488076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사망</a:t>
            </a:r>
          </a:p>
        </p:txBody>
      </p:sp>
      <p:sp>
        <p:nvSpPr>
          <p:cNvPr id="69" name="TextBox 69"/>
          <p:cNvSpPr txBox="1"/>
          <p:nvPr/>
        </p:nvSpPr>
        <p:spPr>
          <a:xfrm>
            <a:off x="4268978" y="5127031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70" name="TextBox 70"/>
          <p:cNvSpPr txBox="1"/>
          <p:nvPr/>
        </p:nvSpPr>
        <p:spPr>
          <a:xfrm>
            <a:off x="4339082" y="5127031"/>
            <a:ext cx="488076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발생</a:t>
            </a:r>
          </a:p>
        </p:txBody>
      </p:sp>
      <p:sp>
        <p:nvSpPr>
          <p:cNvPr id="71" name="TextBox 71"/>
          <p:cNvSpPr txBox="1"/>
          <p:nvPr/>
        </p:nvSpPr>
        <p:spPr>
          <a:xfrm>
            <a:off x="4817618" y="5127031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72" name="TextBox 72"/>
          <p:cNvSpPr txBox="1"/>
          <p:nvPr/>
        </p:nvSpPr>
        <p:spPr>
          <a:xfrm>
            <a:off x="4886198" y="5127031"/>
            <a:ext cx="732129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가능성</a:t>
            </a:r>
          </a:p>
        </p:txBody>
      </p:sp>
      <p:sp>
        <p:nvSpPr>
          <p:cNvPr id="73" name="TextBox 73"/>
          <p:cNvSpPr txBox="1"/>
          <p:nvPr/>
        </p:nvSpPr>
        <p:spPr>
          <a:xfrm>
            <a:off x="1096975" y="5507980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-</a:t>
            </a:r>
          </a:p>
        </p:txBody>
      </p:sp>
      <p:sp>
        <p:nvSpPr>
          <p:cNvPr id="74" name="TextBox 74"/>
          <p:cNvSpPr txBox="1"/>
          <p:nvPr/>
        </p:nvSpPr>
        <p:spPr>
          <a:xfrm>
            <a:off x="1260043" y="5507980"/>
            <a:ext cx="732751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사망이</a:t>
            </a:r>
          </a:p>
        </p:txBody>
      </p:sp>
      <p:sp>
        <p:nvSpPr>
          <p:cNvPr id="75" name="TextBox 75"/>
          <p:cNvSpPr txBox="1"/>
          <p:nvPr/>
        </p:nvSpPr>
        <p:spPr>
          <a:xfrm>
            <a:off x="1978152" y="5507980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76" name="TextBox 76"/>
          <p:cNvSpPr txBox="1"/>
          <p:nvPr/>
        </p:nvSpPr>
        <p:spPr>
          <a:xfrm>
            <a:off x="2046732" y="5507980"/>
            <a:ext cx="976182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실명보다</a:t>
            </a:r>
          </a:p>
        </p:txBody>
      </p:sp>
      <p:sp>
        <p:nvSpPr>
          <p:cNvPr id="77" name="TextBox 77"/>
          <p:cNvSpPr txBox="1"/>
          <p:nvPr/>
        </p:nvSpPr>
        <p:spPr>
          <a:xfrm>
            <a:off x="3003804" y="5507980"/>
            <a:ext cx="53816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spc="164" dirty="0">
                <a:solidFill>
                  <a:srgbClr val="000000"/>
                </a:solidFill>
                <a:latin typeface="나눔고딕 2"/>
                <a:cs typeface="나눔고딕 2"/>
              </a:rPr>
              <a:t> 100</a:t>
            </a:r>
          </a:p>
        </p:txBody>
      </p:sp>
      <p:sp>
        <p:nvSpPr>
          <p:cNvPr id="78" name="TextBox 78"/>
          <p:cNvSpPr txBox="1"/>
          <p:nvPr/>
        </p:nvSpPr>
        <p:spPr>
          <a:xfrm>
            <a:off x="3686326" y="5532669"/>
            <a:ext cx="488076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배의</a:t>
            </a:r>
          </a:p>
        </p:txBody>
      </p:sp>
      <p:sp>
        <p:nvSpPr>
          <p:cNvPr id="79" name="TextBox 79"/>
          <p:cNvSpPr txBox="1"/>
          <p:nvPr/>
        </p:nvSpPr>
        <p:spPr>
          <a:xfrm>
            <a:off x="4164862" y="5532669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80" name="TextBox 80"/>
          <p:cNvSpPr txBox="1"/>
          <p:nvPr/>
        </p:nvSpPr>
        <p:spPr>
          <a:xfrm>
            <a:off x="4234966" y="5532669"/>
            <a:ext cx="732129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보험금</a:t>
            </a:r>
          </a:p>
        </p:txBody>
      </p:sp>
      <p:sp>
        <p:nvSpPr>
          <p:cNvPr id="81" name="TextBox 81"/>
          <p:cNvSpPr txBox="1"/>
          <p:nvPr/>
        </p:nvSpPr>
        <p:spPr>
          <a:xfrm>
            <a:off x="4952770" y="5532669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82" name="TextBox 82"/>
          <p:cNvSpPr txBox="1"/>
          <p:nvPr/>
        </p:nvSpPr>
        <p:spPr>
          <a:xfrm>
            <a:off x="5021350" y="5532669"/>
            <a:ext cx="488076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지불</a:t>
            </a:r>
          </a:p>
        </p:txBody>
      </p:sp>
      <p:sp>
        <p:nvSpPr>
          <p:cNvPr id="83" name="TextBox 83"/>
          <p:cNvSpPr txBox="1"/>
          <p:nvPr/>
        </p:nvSpPr>
        <p:spPr>
          <a:xfrm>
            <a:off x="953719" y="5888980"/>
            <a:ext cx="244022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☞</a:t>
            </a:r>
          </a:p>
        </p:txBody>
      </p:sp>
      <p:sp>
        <p:nvSpPr>
          <p:cNvPr id="84" name="TextBox 84"/>
          <p:cNvSpPr txBox="1"/>
          <p:nvPr/>
        </p:nvSpPr>
        <p:spPr>
          <a:xfrm>
            <a:off x="1263091" y="5888980"/>
            <a:ext cx="157316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B</a:t>
            </a:r>
          </a:p>
        </p:txBody>
      </p:sp>
      <p:sp>
        <p:nvSpPr>
          <p:cNvPr id="85" name="TextBox 85"/>
          <p:cNvSpPr txBox="1"/>
          <p:nvPr/>
        </p:nvSpPr>
        <p:spPr>
          <a:xfrm>
            <a:off x="1417320" y="5888980"/>
            <a:ext cx="732129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기계와</a:t>
            </a:r>
          </a:p>
        </p:txBody>
      </p:sp>
      <p:sp>
        <p:nvSpPr>
          <p:cNvPr id="86" name="TextBox 86"/>
          <p:cNvSpPr txBox="1"/>
          <p:nvPr/>
        </p:nvSpPr>
        <p:spPr>
          <a:xfrm>
            <a:off x="2135124" y="5888980"/>
            <a:ext cx="244402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C</a:t>
            </a:r>
          </a:p>
        </p:txBody>
      </p:sp>
      <p:sp>
        <p:nvSpPr>
          <p:cNvPr id="87" name="TextBox 87"/>
          <p:cNvSpPr txBox="1"/>
          <p:nvPr/>
        </p:nvSpPr>
        <p:spPr>
          <a:xfrm>
            <a:off x="2374392" y="5888980"/>
            <a:ext cx="732129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기계는</a:t>
            </a:r>
          </a:p>
        </p:txBody>
      </p:sp>
      <p:sp>
        <p:nvSpPr>
          <p:cNvPr id="88" name="TextBox 88"/>
          <p:cNvSpPr txBox="1"/>
          <p:nvPr/>
        </p:nvSpPr>
        <p:spPr>
          <a:xfrm>
            <a:off x="3092196" y="5888980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89" name="TextBox 89"/>
          <p:cNvSpPr txBox="1"/>
          <p:nvPr/>
        </p:nvSpPr>
        <p:spPr>
          <a:xfrm>
            <a:off x="3160776" y="5888980"/>
            <a:ext cx="977116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리스크의</a:t>
            </a:r>
          </a:p>
        </p:txBody>
      </p:sp>
      <p:sp>
        <p:nvSpPr>
          <p:cNvPr id="90" name="TextBox 90"/>
          <p:cNvSpPr txBox="1"/>
          <p:nvPr/>
        </p:nvSpPr>
        <p:spPr>
          <a:xfrm>
            <a:off x="4118102" y="5888980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91" name="TextBox 91"/>
          <p:cNvSpPr txBox="1"/>
          <p:nvPr/>
        </p:nvSpPr>
        <p:spPr>
          <a:xfrm>
            <a:off x="4185158" y="5888980"/>
            <a:ext cx="732129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크기가</a:t>
            </a:r>
          </a:p>
        </p:txBody>
      </p:sp>
      <p:sp>
        <p:nvSpPr>
          <p:cNvPr id="92" name="TextBox 92"/>
          <p:cNvSpPr txBox="1"/>
          <p:nvPr/>
        </p:nvSpPr>
        <p:spPr>
          <a:xfrm>
            <a:off x="4902962" y="5888980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93" name="TextBox 93"/>
          <p:cNvSpPr txBox="1"/>
          <p:nvPr/>
        </p:nvSpPr>
        <p:spPr>
          <a:xfrm>
            <a:off x="4970018" y="5888980"/>
            <a:ext cx="488387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같다</a:t>
            </a:r>
          </a:p>
        </p:txBody>
      </p:sp>
      <p:sp>
        <p:nvSpPr>
          <p:cNvPr id="94" name="TextBox 94"/>
          <p:cNvSpPr txBox="1"/>
          <p:nvPr/>
        </p:nvSpPr>
        <p:spPr>
          <a:xfrm>
            <a:off x="5448935" y="5888980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. </a:t>
            </a:r>
          </a:p>
        </p:txBody>
      </p:sp>
      <p:sp>
        <p:nvSpPr>
          <p:cNvPr id="95" name="TextBox 95"/>
          <p:cNvSpPr txBox="1"/>
          <p:nvPr/>
        </p:nvSpPr>
        <p:spPr>
          <a:xfrm>
            <a:off x="592531" y="1213164"/>
            <a:ext cx="355691" cy="390876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198" b="1" spc="150" dirty="0">
                <a:solidFill>
                  <a:srgbClr val="000000"/>
                </a:solidFill>
                <a:latin typeface="나눔고딕 2"/>
                <a:cs typeface="나눔고딕 2"/>
              </a:rPr>
              <a:t>2) </a:t>
            </a:r>
          </a:p>
        </p:txBody>
      </p:sp>
      <p:sp>
        <p:nvSpPr>
          <p:cNvPr id="96" name="TextBox 96"/>
          <p:cNvSpPr txBox="1"/>
          <p:nvPr/>
        </p:nvSpPr>
        <p:spPr>
          <a:xfrm>
            <a:off x="941527" y="1213164"/>
            <a:ext cx="1069804" cy="390876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198" b="1" dirty="0">
                <a:solidFill>
                  <a:srgbClr val="000000"/>
                </a:solidFill>
                <a:latin typeface="나눔고딕"/>
                <a:cs typeface="나눔고딕"/>
              </a:rPr>
              <a:t>리스크는</a:t>
            </a:r>
          </a:p>
        </p:txBody>
      </p:sp>
      <p:sp>
        <p:nvSpPr>
          <p:cNvPr id="97" name="TextBox 97"/>
          <p:cNvSpPr txBox="1"/>
          <p:nvPr/>
        </p:nvSpPr>
        <p:spPr>
          <a:xfrm>
            <a:off x="1990344" y="1213164"/>
            <a:ext cx="167518" cy="390876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198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98" name="TextBox 98"/>
          <p:cNvSpPr txBox="1"/>
          <p:nvPr/>
        </p:nvSpPr>
        <p:spPr>
          <a:xfrm>
            <a:off x="2068068" y="1213164"/>
            <a:ext cx="1069804" cy="390876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198" b="1" dirty="0">
                <a:solidFill>
                  <a:srgbClr val="000000"/>
                </a:solidFill>
                <a:latin typeface="나눔고딕"/>
                <a:cs typeface="나눔고딕"/>
              </a:rPr>
              <a:t>금액으로</a:t>
            </a:r>
          </a:p>
        </p:txBody>
      </p:sp>
      <p:sp>
        <p:nvSpPr>
          <p:cNvPr id="99" name="TextBox 99"/>
          <p:cNvSpPr txBox="1"/>
          <p:nvPr/>
        </p:nvSpPr>
        <p:spPr>
          <a:xfrm>
            <a:off x="3116834" y="1213164"/>
            <a:ext cx="167518" cy="390876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198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100" name="TextBox 100"/>
          <p:cNvSpPr txBox="1"/>
          <p:nvPr/>
        </p:nvSpPr>
        <p:spPr>
          <a:xfrm>
            <a:off x="3193034" y="1213164"/>
            <a:ext cx="1871915" cy="390876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198" b="1" dirty="0">
                <a:solidFill>
                  <a:srgbClr val="000000"/>
                </a:solidFill>
                <a:latin typeface="나눔고딕"/>
                <a:cs typeface="나눔고딕"/>
              </a:rPr>
              <a:t>계산•비교하는</a:t>
            </a:r>
          </a:p>
        </p:txBody>
      </p:sp>
      <p:sp>
        <p:nvSpPr>
          <p:cNvPr id="101" name="TextBox 101"/>
          <p:cNvSpPr txBox="1"/>
          <p:nvPr/>
        </p:nvSpPr>
        <p:spPr>
          <a:xfrm>
            <a:off x="5028311" y="1213164"/>
            <a:ext cx="167518" cy="390876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198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102" name="TextBox 102"/>
          <p:cNvSpPr txBox="1"/>
          <p:nvPr/>
        </p:nvSpPr>
        <p:spPr>
          <a:xfrm>
            <a:off x="5104511" y="1213164"/>
            <a:ext cx="802434" cy="390876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198" b="1" dirty="0">
                <a:solidFill>
                  <a:srgbClr val="000000"/>
                </a:solidFill>
                <a:latin typeface="나눔고딕"/>
                <a:cs typeface="나눔고딕"/>
              </a:rPr>
              <a:t>경우가</a:t>
            </a:r>
          </a:p>
        </p:txBody>
      </p:sp>
      <p:sp>
        <p:nvSpPr>
          <p:cNvPr id="103" name="TextBox 103"/>
          <p:cNvSpPr txBox="1"/>
          <p:nvPr/>
        </p:nvSpPr>
        <p:spPr>
          <a:xfrm>
            <a:off x="5890895" y="1213164"/>
            <a:ext cx="167518" cy="390876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198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104" name="TextBox 104"/>
          <p:cNvSpPr txBox="1"/>
          <p:nvPr/>
        </p:nvSpPr>
        <p:spPr>
          <a:xfrm>
            <a:off x="5968619" y="1213164"/>
            <a:ext cx="535064" cy="390876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198" b="1" dirty="0">
                <a:solidFill>
                  <a:srgbClr val="000000"/>
                </a:solidFill>
                <a:latin typeface="나눔고딕"/>
                <a:cs typeface="나눔고딕"/>
              </a:rPr>
              <a:t>있다</a:t>
            </a:r>
          </a:p>
        </p:txBody>
      </p:sp>
      <p:sp>
        <p:nvSpPr>
          <p:cNvPr id="105" name="TextBox 105"/>
          <p:cNvSpPr txBox="1"/>
          <p:nvPr/>
        </p:nvSpPr>
        <p:spPr>
          <a:xfrm>
            <a:off x="882091" y="1830756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dirty="0">
                <a:solidFill>
                  <a:srgbClr val="7F7F7F"/>
                </a:solidFill>
                <a:latin typeface="Wingdings"/>
                <a:cs typeface="Wingdings"/>
              </a:rPr>
              <a:t>▪</a:t>
            </a:r>
          </a:p>
        </p:txBody>
      </p:sp>
      <p:sp>
        <p:nvSpPr>
          <p:cNvPr id="106" name="TextBox 106"/>
          <p:cNvSpPr txBox="1"/>
          <p:nvPr/>
        </p:nvSpPr>
        <p:spPr>
          <a:xfrm>
            <a:off x="1098499" y="1825412"/>
            <a:ext cx="1220236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보험에서의</a:t>
            </a:r>
          </a:p>
        </p:txBody>
      </p:sp>
      <p:sp>
        <p:nvSpPr>
          <p:cNvPr id="107" name="TextBox 107"/>
          <p:cNvSpPr txBox="1"/>
          <p:nvPr/>
        </p:nvSpPr>
        <p:spPr>
          <a:xfrm>
            <a:off x="2293620" y="1825412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108" name="TextBox 108"/>
          <p:cNvSpPr txBox="1"/>
          <p:nvPr/>
        </p:nvSpPr>
        <p:spPr>
          <a:xfrm>
            <a:off x="2360676" y="1825412"/>
            <a:ext cx="732129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리스크</a:t>
            </a:r>
          </a:p>
        </p:txBody>
      </p:sp>
      <p:sp>
        <p:nvSpPr>
          <p:cNvPr id="109" name="TextBox 109"/>
          <p:cNvSpPr txBox="1"/>
          <p:nvPr/>
        </p:nvSpPr>
        <p:spPr>
          <a:xfrm>
            <a:off x="3078480" y="1825412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110" name="TextBox 110"/>
          <p:cNvSpPr txBox="1"/>
          <p:nvPr/>
        </p:nvSpPr>
        <p:spPr>
          <a:xfrm>
            <a:off x="3147060" y="1825412"/>
            <a:ext cx="732751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계산은</a:t>
            </a:r>
          </a:p>
        </p:txBody>
      </p:sp>
      <p:sp>
        <p:nvSpPr>
          <p:cNvPr id="111" name="TextBox 111"/>
          <p:cNvSpPr txBox="1"/>
          <p:nvPr/>
        </p:nvSpPr>
        <p:spPr>
          <a:xfrm>
            <a:off x="3865118" y="1825412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112" name="TextBox 112"/>
          <p:cNvSpPr txBox="1"/>
          <p:nvPr/>
        </p:nvSpPr>
        <p:spPr>
          <a:xfrm>
            <a:off x="3932174" y="1825412"/>
            <a:ext cx="976182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단순하고</a:t>
            </a:r>
          </a:p>
        </p:txBody>
      </p:sp>
      <p:sp>
        <p:nvSpPr>
          <p:cNvPr id="113" name="TextBox 113"/>
          <p:cNvSpPr txBox="1"/>
          <p:nvPr/>
        </p:nvSpPr>
        <p:spPr>
          <a:xfrm>
            <a:off x="4889246" y="1825412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114" name="TextBox 114"/>
          <p:cNvSpPr txBox="1"/>
          <p:nvPr/>
        </p:nvSpPr>
        <p:spPr>
          <a:xfrm>
            <a:off x="4956302" y="1825412"/>
            <a:ext cx="732751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명확함</a:t>
            </a:r>
          </a:p>
        </p:txBody>
      </p:sp>
      <p:sp>
        <p:nvSpPr>
          <p:cNvPr id="115" name="TextBox 115"/>
          <p:cNvSpPr txBox="1"/>
          <p:nvPr/>
        </p:nvSpPr>
        <p:spPr>
          <a:xfrm>
            <a:off x="882091" y="2206131"/>
            <a:ext cx="240468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spc="112" dirty="0">
                <a:solidFill>
                  <a:srgbClr val="000000"/>
                </a:solidFill>
                <a:latin typeface="나눔고딕 2"/>
                <a:cs typeface="나눔고딕 2"/>
              </a:rPr>
              <a:t>  -</a:t>
            </a:r>
          </a:p>
        </p:txBody>
      </p:sp>
      <p:sp>
        <p:nvSpPr>
          <p:cNvPr id="116" name="TextBox 116"/>
          <p:cNvSpPr txBox="1"/>
          <p:nvPr/>
        </p:nvSpPr>
        <p:spPr>
          <a:xfrm>
            <a:off x="1188415" y="2206131"/>
            <a:ext cx="488679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0000"/>
                </a:solidFill>
                <a:latin typeface="나눔고딕"/>
                <a:cs typeface="나눔고딕"/>
              </a:rPr>
              <a:t>과거</a:t>
            </a:r>
          </a:p>
        </p:txBody>
      </p:sp>
      <p:sp>
        <p:nvSpPr>
          <p:cNvPr id="117" name="TextBox 117"/>
          <p:cNvSpPr txBox="1"/>
          <p:nvPr/>
        </p:nvSpPr>
        <p:spPr>
          <a:xfrm>
            <a:off x="1667256" y="2206131"/>
            <a:ext cx="152888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118" name="TextBox 118"/>
          <p:cNvSpPr txBox="1"/>
          <p:nvPr/>
        </p:nvSpPr>
        <p:spPr>
          <a:xfrm>
            <a:off x="1735836" y="2206131"/>
            <a:ext cx="732420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0000"/>
                </a:solidFill>
                <a:latin typeface="나눔고딕"/>
                <a:cs typeface="나눔고딕"/>
              </a:rPr>
              <a:t>축적된</a:t>
            </a:r>
          </a:p>
        </p:txBody>
      </p:sp>
      <p:sp>
        <p:nvSpPr>
          <p:cNvPr id="119" name="TextBox 119"/>
          <p:cNvSpPr txBox="1"/>
          <p:nvPr/>
        </p:nvSpPr>
        <p:spPr>
          <a:xfrm>
            <a:off x="2453640" y="2206131"/>
            <a:ext cx="152888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120" name="TextBox 120"/>
          <p:cNvSpPr txBox="1"/>
          <p:nvPr/>
        </p:nvSpPr>
        <p:spPr>
          <a:xfrm>
            <a:off x="2522220" y="2206131"/>
            <a:ext cx="1463028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0000"/>
                </a:solidFill>
                <a:latin typeface="나눔고딕"/>
                <a:cs typeface="나눔고딕"/>
              </a:rPr>
              <a:t>데이터로부터</a:t>
            </a:r>
          </a:p>
        </p:txBody>
      </p:sp>
      <p:sp>
        <p:nvSpPr>
          <p:cNvPr id="121" name="TextBox 121"/>
          <p:cNvSpPr txBox="1"/>
          <p:nvPr/>
        </p:nvSpPr>
        <p:spPr>
          <a:xfrm>
            <a:off x="3956558" y="2206131"/>
            <a:ext cx="152888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122" name="TextBox 122"/>
          <p:cNvSpPr txBox="1"/>
          <p:nvPr/>
        </p:nvSpPr>
        <p:spPr>
          <a:xfrm>
            <a:off x="4022090" y="2206131"/>
            <a:ext cx="732420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0000"/>
                </a:solidFill>
                <a:latin typeface="나눔고딕"/>
                <a:cs typeface="나눔고딕"/>
              </a:rPr>
              <a:t>명확한</a:t>
            </a:r>
          </a:p>
        </p:txBody>
      </p:sp>
      <p:sp>
        <p:nvSpPr>
          <p:cNvPr id="123" name="TextBox 123"/>
          <p:cNvSpPr txBox="1"/>
          <p:nvPr/>
        </p:nvSpPr>
        <p:spPr>
          <a:xfrm>
            <a:off x="4739894" y="2206131"/>
            <a:ext cx="152888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124" name="TextBox 124"/>
          <p:cNvSpPr txBox="1"/>
          <p:nvPr/>
        </p:nvSpPr>
        <p:spPr>
          <a:xfrm>
            <a:off x="4808474" y="2206131"/>
            <a:ext cx="488367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0000"/>
                </a:solidFill>
                <a:latin typeface="나눔고딕"/>
                <a:cs typeface="나눔고딕"/>
              </a:rPr>
              <a:t>발생</a:t>
            </a:r>
          </a:p>
        </p:txBody>
      </p:sp>
      <p:sp>
        <p:nvSpPr>
          <p:cNvPr id="125" name="TextBox 125"/>
          <p:cNvSpPr txBox="1"/>
          <p:nvPr/>
        </p:nvSpPr>
        <p:spPr>
          <a:xfrm>
            <a:off x="5287391" y="2206131"/>
            <a:ext cx="152888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126" name="TextBox 126"/>
          <p:cNvSpPr txBox="1"/>
          <p:nvPr/>
        </p:nvSpPr>
        <p:spPr>
          <a:xfrm>
            <a:off x="5355971" y="2206131"/>
            <a:ext cx="488367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0000"/>
                </a:solidFill>
                <a:latin typeface="나눔고딕"/>
                <a:cs typeface="나눔고딕"/>
              </a:rPr>
              <a:t>확률</a:t>
            </a:r>
          </a:p>
        </p:txBody>
      </p:sp>
      <p:sp>
        <p:nvSpPr>
          <p:cNvPr id="127" name="TextBox 127"/>
          <p:cNvSpPr txBox="1"/>
          <p:nvPr/>
        </p:nvSpPr>
        <p:spPr>
          <a:xfrm>
            <a:off x="5834507" y="2206131"/>
            <a:ext cx="152888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128" name="TextBox 128"/>
          <p:cNvSpPr txBox="1"/>
          <p:nvPr/>
        </p:nvSpPr>
        <p:spPr>
          <a:xfrm>
            <a:off x="5904611" y="2206131"/>
            <a:ext cx="488367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0000"/>
                </a:solidFill>
                <a:latin typeface="나눔고딕"/>
                <a:cs typeface="나눔고딕"/>
              </a:rPr>
              <a:t>구할</a:t>
            </a:r>
          </a:p>
        </p:txBody>
      </p:sp>
      <p:sp>
        <p:nvSpPr>
          <p:cNvPr id="129" name="TextBox 129"/>
          <p:cNvSpPr txBox="1"/>
          <p:nvPr/>
        </p:nvSpPr>
        <p:spPr>
          <a:xfrm>
            <a:off x="6383147" y="2206131"/>
            <a:ext cx="152888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130" name="TextBox 130"/>
          <p:cNvSpPr txBox="1"/>
          <p:nvPr/>
        </p:nvSpPr>
        <p:spPr>
          <a:xfrm>
            <a:off x="6451727" y="2206131"/>
            <a:ext cx="244315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0000"/>
                </a:solidFill>
                <a:latin typeface="나눔고딕"/>
                <a:cs typeface="나눔고딕"/>
              </a:rPr>
              <a:t>수</a:t>
            </a:r>
          </a:p>
        </p:txBody>
      </p:sp>
      <p:sp>
        <p:nvSpPr>
          <p:cNvPr id="131" name="TextBox 131"/>
          <p:cNvSpPr txBox="1"/>
          <p:nvPr/>
        </p:nvSpPr>
        <p:spPr>
          <a:xfrm>
            <a:off x="6690995" y="2206131"/>
            <a:ext cx="152888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132" name="TextBox 132"/>
          <p:cNvSpPr txBox="1"/>
          <p:nvPr/>
        </p:nvSpPr>
        <p:spPr>
          <a:xfrm>
            <a:off x="6761099" y="2206131"/>
            <a:ext cx="488367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0000"/>
                </a:solidFill>
                <a:latin typeface="나눔고딕"/>
                <a:cs typeface="나눔고딕"/>
              </a:rPr>
              <a:t>있음</a:t>
            </a:r>
          </a:p>
        </p:txBody>
      </p:sp>
      <p:sp>
        <p:nvSpPr>
          <p:cNvPr id="133" name="TextBox 133"/>
          <p:cNvSpPr txBox="1"/>
          <p:nvPr/>
        </p:nvSpPr>
        <p:spPr>
          <a:xfrm>
            <a:off x="1025347" y="2511466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-</a:t>
            </a:r>
          </a:p>
        </p:txBody>
      </p:sp>
      <p:sp>
        <p:nvSpPr>
          <p:cNvPr id="134" name="TextBox 134"/>
          <p:cNvSpPr txBox="1"/>
          <p:nvPr/>
        </p:nvSpPr>
        <p:spPr>
          <a:xfrm>
            <a:off x="1188415" y="2511466"/>
            <a:ext cx="1878092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‘실명’, ‘사망’ 등에</a:t>
            </a:r>
          </a:p>
        </p:txBody>
      </p:sp>
      <p:sp>
        <p:nvSpPr>
          <p:cNvPr id="135" name="TextBox 135"/>
          <p:cNvSpPr txBox="1"/>
          <p:nvPr/>
        </p:nvSpPr>
        <p:spPr>
          <a:xfrm>
            <a:off x="3029712" y="2511466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136" name="TextBox 136"/>
          <p:cNvSpPr txBox="1"/>
          <p:nvPr/>
        </p:nvSpPr>
        <p:spPr>
          <a:xfrm>
            <a:off x="3098292" y="2511466"/>
            <a:ext cx="488387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대한</a:t>
            </a:r>
          </a:p>
        </p:txBody>
      </p:sp>
      <p:sp>
        <p:nvSpPr>
          <p:cNvPr id="137" name="TextBox 137"/>
          <p:cNvSpPr txBox="1"/>
          <p:nvPr/>
        </p:nvSpPr>
        <p:spPr>
          <a:xfrm>
            <a:off x="3577082" y="2511466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138" name="TextBox 138"/>
          <p:cNvSpPr txBox="1"/>
          <p:nvPr/>
        </p:nvSpPr>
        <p:spPr>
          <a:xfrm>
            <a:off x="3647186" y="2511466"/>
            <a:ext cx="488076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지급</a:t>
            </a:r>
          </a:p>
        </p:txBody>
      </p:sp>
      <p:sp>
        <p:nvSpPr>
          <p:cNvPr id="139" name="TextBox 139"/>
          <p:cNvSpPr txBox="1"/>
          <p:nvPr/>
        </p:nvSpPr>
        <p:spPr>
          <a:xfrm>
            <a:off x="4125722" y="2511466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140" name="TextBox 140"/>
          <p:cNvSpPr txBox="1"/>
          <p:nvPr/>
        </p:nvSpPr>
        <p:spPr>
          <a:xfrm>
            <a:off x="4194302" y="2511466"/>
            <a:ext cx="732129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보험금</a:t>
            </a:r>
          </a:p>
        </p:txBody>
      </p:sp>
      <p:sp>
        <p:nvSpPr>
          <p:cNvPr id="141" name="TextBox 141"/>
          <p:cNvSpPr txBox="1"/>
          <p:nvPr/>
        </p:nvSpPr>
        <p:spPr>
          <a:xfrm>
            <a:off x="4912106" y="2511466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142" name="TextBox 142"/>
          <p:cNvSpPr txBox="1"/>
          <p:nvPr/>
        </p:nvSpPr>
        <p:spPr>
          <a:xfrm>
            <a:off x="4980686" y="2511466"/>
            <a:ext cx="488387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명확</a:t>
            </a:r>
          </a:p>
        </p:txBody>
      </p:sp>
      <p:sp>
        <p:nvSpPr>
          <p:cNvPr id="143" name="TextBox 143"/>
          <p:cNvSpPr txBox="1"/>
          <p:nvPr/>
        </p:nvSpPr>
        <p:spPr>
          <a:xfrm>
            <a:off x="953719" y="2816266"/>
            <a:ext cx="244022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☞</a:t>
            </a:r>
          </a:p>
        </p:txBody>
      </p:sp>
      <p:sp>
        <p:nvSpPr>
          <p:cNvPr id="144" name="TextBox 144"/>
          <p:cNvSpPr txBox="1"/>
          <p:nvPr/>
        </p:nvSpPr>
        <p:spPr>
          <a:xfrm>
            <a:off x="1263091" y="2816266"/>
            <a:ext cx="97711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리스크는</a:t>
            </a:r>
          </a:p>
        </p:txBody>
      </p:sp>
      <p:sp>
        <p:nvSpPr>
          <p:cNvPr id="145" name="TextBox 145"/>
          <p:cNvSpPr txBox="1"/>
          <p:nvPr/>
        </p:nvSpPr>
        <p:spPr>
          <a:xfrm>
            <a:off x="2220468" y="2816266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146" name="TextBox 146"/>
          <p:cNvSpPr txBox="1"/>
          <p:nvPr/>
        </p:nvSpPr>
        <p:spPr>
          <a:xfrm>
            <a:off x="2287524" y="2816266"/>
            <a:ext cx="828507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‘빈도’와</a:t>
            </a:r>
          </a:p>
        </p:txBody>
      </p:sp>
      <p:sp>
        <p:nvSpPr>
          <p:cNvPr id="147" name="TextBox 147"/>
          <p:cNvSpPr txBox="1"/>
          <p:nvPr/>
        </p:nvSpPr>
        <p:spPr>
          <a:xfrm>
            <a:off x="3099816" y="2816266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148" name="TextBox 148"/>
          <p:cNvSpPr txBox="1"/>
          <p:nvPr/>
        </p:nvSpPr>
        <p:spPr>
          <a:xfrm>
            <a:off x="3168396" y="2816266"/>
            <a:ext cx="1072819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‘중대성’의</a:t>
            </a:r>
          </a:p>
        </p:txBody>
      </p:sp>
      <p:sp>
        <p:nvSpPr>
          <p:cNvPr id="149" name="TextBox 149"/>
          <p:cNvSpPr txBox="1"/>
          <p:nvPr/>
        </p:nvSpPr>
        <p:spPr>
          <a:xfrm>
            <a:off x="4220210" y="2816266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150" name="TextBox 150"/>
          <p:cNvSpPr txBox="1"/>
          <p:nvPr/>
        </p:nvSpPr>
        <p:spPr>
          <a:xfrm>
            <a:off x="4287266" y="2816266"/>
            <a:ext cx="488076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곱셈</a:t>
            </a:r>
          </a:p>
        </p:txBody>
      </p:sp>
      <p:sp>
        <p:nvSpPr>
          <p:cNvPr id="151" name="TextBox 151"/>
          <p:cNvSpPr txBox="1"/>
          <p:nvPr/>
        </p:nvSpPr>
        <p:spPr>
          <a:xfrm>
            <a:off x="4765802" y="2816266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152" name="TextBox 152"/>
          <p:cNvSpPr txBox="1"/>
          <p:nvPr/>
        </p:nvSpPr>
        <p:spPr>
          <a:xfrm>
            <a:off x="4835906" y="2816266"/>
            <a:ext cx="976182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조합으로</a:t>
            </a:r>
          </a:p>
        </p:txBody>
      </p:sp>
      <p:sp>
        <p:nvSpPr>
          <p:cNvPr id="153" name="TextBox 153"/>
          <p:cNvSpPr txBox="1"/>
          <p:nvPr/>
        </p:nvSpPr>
        <p:spPr>
          <a:xfrm>
            <a:off x="5793359" y="2816266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154" name="TextBox 154"/>
          <p:cNvSpPr txBox="1"/>
          <p:nvPr/>
        </p:nvSpPr>
        <p:spPr>
          <a:xfrm>
            <a:off x="5860415" y="2816266"/>
            <a:ext cx="732129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금액화</a:t>
            </a:r>
          </a:p>
        </p:txBody>
      </p:sp>
      <p:sp>
        <p:nvSpPr>
          <p:cNvPr id="155" name="TextBox 155"/>
          <p:cNvSpPr txBox="1"/>
          <p:nvPr/>
        </p:nvSpPr>
        <p:spPr>
          <a:xfrm>
            <a:off x="6578219" y="2816266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156" name="TextBox 156"/>
          <p:cNvSpPr txBox="1"/>
          <p:nvPr/>
        </p:nvSpPr>
        <p:spPr>
          <a:xfrm>
            <a:off x="6645275" y="2816266"/>
            <a:ext cx="488076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가능</a:t>
            </a:r>
          </a:p>
        </p:txBody>
      </p:sp>
      <p:sp>
        <p:nvSpPr>
          <p:cNvPr id="157" name="TextBox 157"/>
          <p:cNvSpPr txBox="1"/>
          <p:nvPr/>
        </p:nvSpPr>
        <p:spPr>
          <a:xfrm>
            <a:off x="415138" y="105410"/>
            <a:ext cx="1349289" cy="42672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400" b="1" dirty="0">
                <a:solidFill>
                  <a:srgbClr val="000000"/>
                </a:solidFill>
                <a:latin typeface="나눔고딕"/>
                <a:cs typeface="나눔고딕"/>
              </a:rPr>
              <a:t>Ⅱ. 안전의</a:t>
            </a:r>
          </a:p>
        </p:txBody>
      </p:sp>
      <p:sp>
        <p:nvSpPr>
          <p:cNvPr id="158" name="TextBox 158"/>
          <p:cNvSpPr txBox="1"/>
          <p:nvPr/>
        </p:nvSpPr>
        <p:spPr>
          <a:xfrm>
            <a:off x="1737995" y="105410"/>
            <a:ext cx="182880" cy="42672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400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159" name="TextBox 159"/>
          <p:cNvSpPr txBox="1"/>
          <p:nvPr/>
        </p:nvSpPr>
        <p:spPr>
          <a:xfrm>
            <a:off x="1821815" y="105410"/>
            <a:ext cx="584795" cy="42672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400" b="1" dirty="0">
                <a:solidFill>
                  <a:srgbClr val="000000"/>
                </a:solidFill>
                <a:latin typeface="나눔고딕"/>
                <a:cs typeface="나눔고딕"/>
              </a:rPr>
              <a:t>개요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3"/>
          <p:cNvSpPr/>
          <p:nvPr/>
        </p:nvSpPr>
        <p:spPr>
          <a:xfrm>
            <a:off x="0" y="6525349"/>
            <a:ext cx="9144000" cy="1"/>
          </a:xfrm>
          <a:custGeom>
            <a:avLst/>
            <a:gdLst/>
            <a:ahLst/>
            <a:cxnLst/>
            <a:rect l="0" t="0" r="9144000" b="1"/>
            <a:pathLst>
              <a:path w="9144000" h="1" fill="none">
                <a:moveTo>
                  <a:pt x="0" y="0"/>
                </a:moveTo>
                <a:lnTo>
                  <a:pt x="9144000" y="0"/>
                </a:lnTo>
              </a:path>
            </a:pathLst>
          </a:custGeom>
          <a:noFill/>
          <a:ln w="19050">
            <a:solidFill>
              <a:srgbClr val="5B9BD5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6" name="Shape 6"/>
          <p:cNvSpPr/>
          <p:nvPr/>
        </p:nvSpPr>
        <p:spPr>
          <a:xfrm>
            <a:off x="21900" y="476640"/>
            <a:ext cx="1331595" cy="97400"/>
          </a:xfrm>
          <a:prstGeom prst="rect">
            <a:avLst/>
          </a:prstGeom>
          <a:solidFill>
            <a:srgbClr val="92D050"/>
          </a:solidFill>
        </p:spPr>
        <p:txBody>
          <a:bodyPr/>
          <a:lstStyle/>
          <a:p>
            <a:endParaRPr/>
          </a:p>
        </p:txBody>
      </p:sp>
      <p:sp>
        <p:nvSpPr>
          <p:cNvPr id="7" name="Shape 7"/>
          <p:cNvSpPr/>
          <p:nvPr/>
        </p:nvSpPr>
        <p:spPr>
          <a:xfrm>
            <a:off x="1353566" y="476640"/>
            <a:ext cx="7776845" cy="97400"/>
          </a:xfrm>
          <a:prstGeom prst="rect">
            <a:avLst/>
          </a:prstGeom>
          <a:solidFill>
            <a:srgbClr val="5B9BD5"/>
          </a:solidFill>
        </p:spPr>
        <p:txBody>
          <a:bodyPr/>
          <a:lstStyle/>
          <a:p>
            <a:endParaRPr/>
          </a:p>
        </p:txBody>
      </p:sp>
      <p:sp>
        <p:nvSpPr>
          <p:cNvPr id="8" name="Shape 8"/>
          <p:cNvSpPr/>
          <p:nvPr/>
        </p:nvSpPr>
        <p:spPr>
          <a:xfrm>
            <a:off x="1353566" y="470281"/>
            <a:ext cx="1" cy="122809"/>
          </a:xfrm>
          <a:custGeom>
            <a:avLst/>
            <a:gdLst/>
            <a:ahLst/>
            <a:cxnLst/>
            <a:rect l="0" t="0" r="1" b="122809"/>
            <a:pathLst>
              <a:path w="1" h="122809" fill="none">
                <a:moveTo>
                  <a:pt x="0" y="0"/>
                </a:moveTo>
                <a:lnTo>
                  <a:pt x="0" y="122809"/>
                </a:lnTo>
              </a:path>
            </a:pathLst>
          </a:custGeom>
          <a:noFill/>
          <a:ln w="12700">
            <a:solidFill>
              <a:srgbClr val="FFFFF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9" name="Shape 9"/>
          <p:cNvSpPr/>
          <p:nvPr/>
        </p:nvSpPr>
        <p:spPr>
          <a:xfrm>
            <a:off x="21900" y="470281"/>
            <a:ext cx="1" cy="122809"/>
          </a:xfrm>
          <a:custGeom>
            <a:avLst/>
            <a:gdLst/>
            <a:ahLst/>
            <a:cxnLst/>
            <a:rect l="0" t="0" r="1" b="122809"/>
            <a:pathLst>
              <a:path w="1" h="122809" fill="none">
                <a:moveTo>
                  <a:pt x="0" y="0"/>
                </a:moveTo>
                <a:lnTo>
                  <a:pt x="0" y="122809"/>
                </a:lnTo>
              </a:path>
            </a:pathLst>
          </a:custGeom>
          <a:noFill/>
          <a:ln w="12700">
            <a:solidFill>
              <a:srgbClr val="FFFFF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0" name="Shape 10"/>
          <p:cNvSpPr/>
          <p:nvPr/>
        </p:nvSpPr>
        <p:spPr>
          <a:xfrm>
            <a:off x="9130411" y="470281"/>
            <a:ext cx="1" cy="122809"/>
          </a:xfrm>
          <a:custGeom>
            <a:avLst/>
            <a:gdLst/>
            <a:ahLst/>
            <a:cxnLst/>
            <a:rect l="0" t="0" r="1" b="122809"/>
            <a:pathLst>
              <a:path w="1" h="122809" fill="none">
                <a:moveTo>
                  <a:pt x="0" y="0"/>
                </a:moveTo>
                <a:lnTo>
                  <a:pt x="0" y="122809"/>
                </a:lnTo>
              </a:path>
            </a:pathLst>
          </a:custGeom>
          <a:noFill/>
          <a:ln w="12700">
            <a:solidFill>
              <a:srgbClr val="FFFFF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1" name="Shape 11"/>
          <p:cNvSpPr/>
          <p:nvPr/>
        </p:nvSpPr>
        <p:spPr>
          <a:xfrm>
            <a:off x="15550" y="476631"/>
            <a:ext cx="9121211" cy="1"/>
          </a:xfrm>
          <a:custGeom>
            <a:avLst/>
            <a:gdLst/>
            <a:ahLst/>
            <a:cxnLst/>
            <a:rect l="0" t="0" r="9121211" b="1"/>
            <a:pathLst>
              <a:path w="9121211" h="1" fill="none">
                <a:moveTo>
                  <a:pt x="0" y="0"/>
                </a:moveTo>
                <a:lnTo>
                  <a:pt x="9121211" y="0"/>
                </a:lnTo>
              </a:path>
            </a:pathLst>
          </a:custGeom>
          <a:noFill/>
          <a:ln w="12700">
            <a:solidFill>
              <a:srgbClr val="FFFFF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2" name="Shape 12"/>
          <p:cNvSpPr/>
          <p:nvPr/>
        </p:nvSpPr>
        <p:spPr>
          <a:xfrm>
            <a:off x="15550" y="574040"/>
            <a:ext cx="9121211" cy="1"/>
          </a:xfrm>
          <a:custGeom>
            <a:avLst/>
            <a:gdLst/>
            <a:ahLst/>
            <a:cxnLst/>
            <a:rect l="0" t="0" r="9121211" b="1"/>
            <a:pathLst>
              <a:path w="9121211" h="1" fill="none">
                <a:moveTo>
                  <a:pt x="0" y="0"/>
                </a:moveTo>
                <a:lnTo>
                  <a:pt x="9121211" y="0"/>
                </a:lnTo>
              </a:path>
            </a:pathLst>
          </a:custGeom>
          <a:noFill/>
          <a:ln w="38100">
            <a:solidFill>
              <a:srgbClr val="FFFFF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3" name="TextBox 13"/>
          <p:cNvSpPr txBox="1"/>
          <p:nvPr/>
        </p:nvSpPr>
        <p:spPr>
          <a:xfrm>
            <a:off x="487070" y="679170"/>
            <a:ext cx="370025" cy="427147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402" b="1" spc="151" dirty="0">
                <a:solidFill>
                  <a:srgbClr val="967754"/>
                </a:solidFill>
                <a:latin typeface="나눔고딕 2"/>
                <a:cs typeface="나눔고딕 2"/>
              </a:rPr>
              <a:t>7. 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848258" y="679170"/>
            <a:ext cx="877018" cy="427147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402" b="1" dirty="0">
                <a:solidFill>
                  <a:srgbClr val="967754"/>
                </a:solidFill>
                <a:latin typeface="나눔고딕"/>
                <a:cs typeface="나눔고딕"/>
              </a:rPr>
              <a:t>안전과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708150" y="679170"/>
            <a:ext cx="183063" cy="427147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402" b="1" dirty="0">
                <a:solidFill>
                  <a:srgbClr val="967754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791970" y="679170"/>
            <a:ext cx="584776" cy="427147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402" b="1" dirty="0">
                <a:solidFill>
                  <a:srgbClr val="967754"/>
                </a:solidFill>
                <a:latin typeface="나눔고딕"/>
                <a:cs typeface="나눔고딕"/>
              </a:rPr>
              <a:t>안심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633984" y="1429563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dirty="0">
                <a:solidFill>
                  <a:srgbClr val="7F7F7F"/>
                </a:solidFill>
                <a:latin typeface="Wingdings"/>
                <a:cs typeface="Wingdings"/>
              </a:rPr>
              <a:t>▪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850392" y="1424219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(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943356" y="1424219"/>
            <a:ext cx="488076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안전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421892" y="1424219"/>
            <a:ext cx="167511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) 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581912" y="1424219"/>
            <a:ext cx="1220236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과학기술을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2776982" y="1424219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2844038" y="1424219"/>
            <a:ext cx="976182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이용하여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3801110" y="1424219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3868166" y="1424219"/>
            <a:ext cx="1221480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완성해가는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5063363" y="1424219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5130419" y="1424219"/>
            <a:ext cx="732129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측면이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5848477" y="1424219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5917057" y="1424219"/>
            <a:ext cx="488076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강함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6395593" y="1424219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. 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1705356" y="1805219"/>
            <a:ext cx="244022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그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1944624" y="1805219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2014982" y="1805219"/>
            <a:ext cx="732129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평가도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2732786" y="1805219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2801366" y="1805219"/>
            <a:ext cx="1949707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객관적•수량적인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4711319" y="1805219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4778375" y="1805219"/>
            <a:ext cx="1220236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접근방법을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5973445" y="1805219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6040501" y="1805219"/>
            <a:ext cx="976183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지향하여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6997573" y="1805219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7064629" y="1805219"/>
            <a:ext cx="732130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발전해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7782814" y="1805219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7849870" y="1805219"/>
            <a:ext cx="488076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왔음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8328406" y="1805219"/>
            <a:ext cx="362139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spc="106" dirty="0">
                <a:solidFill>
                  <a:srgbClr val="000000"/>
                </a:solidFill>
                <a:latin typeface="나눔고딕 2"/>
                <a:cs typeface="나눔고딕 2"/>
              </a:rPr>
              <a:t>     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633984" y="2191289"/>
            <a:ext cx="152888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dirty="0">
                <a:solidFill>
                  <a:srgbClr val="7F7F7F"/>
                </a:solidFill>
                <a:latin typeface="Wingdings"/>
                <a:cs typeface="Wingdings"/>
              </a:rPr>
              <a:t>▪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850392" y="2185938"/>
            <a:ext cx="152888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0000"/>
                </a:solidFill>
                <a:latin typeface="나눔고딕 2"/>
                <a:cs typeface="나눔고딕 2"/>
              </a:rPr>
              <a:t>(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943356" y="2185938"/>
            <a:ext cx="488367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0000"/>
                </a:solidFill>
                <a:latin typeface="나눔고딕"/>
                <a:cs typeface="나눔고딕"/>
              </a:rPr>
              <a:t>안심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1421892" y="2185938"/>
            <a:ext cx="167598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0000"/>
                </a:solidFill>
                <a:latin typeface="나눔고딕 2"/>
                <a:cs typeface="나눔고딕 2"/>
              </a:rPr>
              <a:t>) 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1581912" y="2185938"/>
            <a:ext cx="976473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0000"/>
                </a:solidFill>
                <a:latin typeface="나눔고딕"/>
                <a:cs typeface="나눔고딕"/>
              </a:rPr>
              <a:t>주관적인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2539238" y="2185938"/>
            <a:ext cx="152888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51" name="TextBox 51"/>
          <p:cNvSpPr txBox="1"/>
          <p:nvPr/>
        </p:nvSpPr>
        <p:spPr>
          <a:xfrm>
            <a:off x="2606294" y="2185938"/>
            <a:ext cx="732420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0000"/>
                </a:solidFill>
                <a:latin typeface="나눔고딕"/>
                <a:cs typeface="나눔고딕"/>
              </a:rPr>
              <a:t>판단이</a:t>
            </a:r>
          </a:p>
        </p:txBody>
      </p:sp>
      <p:sp>
        <p:nvSpPr>
          <p:cNvPr id="52" name="TextBox 52"/>
          <p:cNvSpPr txBox="1"/>
          <p:nvPr/>
        </p:nvSpPr>
        <p:spPr>
          <a:xfrm>
            <a:off x="3324098" y="2185938"/>
            <a:ext cx="152888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53" name="TextBox 53"/>
          <p:cNvSpPr txBox="1"/>
          <p:nvPr/>
        </p:nvSpPr>
        <p:spPr>
          <a:xfrm>
            <a:off x="3392678" y="2185938"/>
            <a:ext cx="732420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0000"/>
                </a:solidFill>
                <a:latin typeface="나눔고딕"/>
                <a:cs typeface="나눔고딕"/>
              </a:rPr>
              <a:t>중심을</a:t>
            </a:r>
          </a:p>
        </p:txBody>
      </p:sp>
      <p:sp>
        <p:nvSpPr>
          <p:cNvPr id="54" name="TextBox 54"/>
          <p:cNvSpPr txBox="1"/>
          <p:nvPr/>
        </p:nvSpPr>
        <p:spPr>
          <a:xfrm>
            <a:off x="4110863" y="2185938"/>
            <a:ext cx="152888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55" name="TextBox 55"/>
          <p:cNvSpPr txBox="1"/>
          <p:nvPr/>
        </p:nvSpPr>
        <p:spPr>
          <a:xfrm>
            <a:off x="4177919" y="2185938"/>
            <a:ext cx="732420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0000"/>
                </a:solidFill>
                <a:latin typeface="나눔고딕"/>
                <a:cs typeface="나눔고딕"/>
              </a:rPr>
              <a:t>이루고</a:t>
            </a:r>
          </a:p>
        </p:txBody>
      </p:sp>
      <p:sp>
        <p:nvSpPr>
          <p:cNvPr id="56" name="TextBox 56"/>
          <p:cNvSpPr txBox="1"/>
          <p:nvPr/>
        </p:nvSpPr>
        <p:spPr>
          <a:xfrm>
            <a:off x="4895723" y="2185938"/>
            <a:ext cx="152888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0000"/>
                </a:solidFill>
                <a:latin typeface="나눔고딕 2"/>
                <a:cs typeface="나눔고딕 2"/>
              </a:rPr>
              <a:t>, </a:t>
            </a:r>
          </a:p>
        </p:txBody>
      </p:sp>
      <p:sp>
        <p:nvSpPr>
          <p:cNvPr id="57" name="TextBox 57"/>
          <p:cNvSpPr txBox="1"/>
          <p:nvPr/>
        </p:nvSpPr>
        <p:spPr>
          <a:xfrm>
            <a:off x="5040503" y="2185938"/>
            <a:ext cx="732420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0000"/>
                </a:solidFill>
                <a:latin typeface="나눔고딕"/>
                <a:cs typeface="나눔고딕"/>
              </a:rPr>
              <a:t>개인에</a:t>
            </a:r>
          </a:p>
        </p:txBody>
      </p:sp>
      <p:sp>
        <p:nvSpPr>
          <p:cNvPr id="58" name="TextBox 58"/>
          <p:cNvSpPr txBox="1"/>
          <p:nvPr/>
        </p:nvSpPr>
        <p:spPr>
          <a:xfrm>
            <a:off x="5758307" y="2185938"/>
            <a:ext cx="152888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59" name="TextBox 59"/>
          <p:cNvSpPr txBox="1"/>
          <p:nvPr/>
        </p:nvSpPr>
        <p:spPr>
          <a:xfrm>
            <a:off x="5827141" y="2185938"/>
            <a:ext cx="488367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0000"/>
                </a:solidFill>
                <a:latin typeface="나눔고딕"/>
                <a:cs typeface="나눔고딕"/>
              </a:rPr>
              <a:t>따라</a:t>
            </a:r>
          </a:p>
        </p:txBody>
      </p:sp>
      <p:sp>
        <p:nvSpPr>
          <p:cNvPr id="60" name="TextBox 60"/>
          <p:cNvSpPr txBox="1"/>
          <p:nvPr/>
        </p:nvSpPr>
        <p:spPr>
          <a:xfrm>
            <a:off x="6305677" y="2185938"/>
            <a:ext cx="152888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61" name="TextBox 61"/>
          <p:cNvSpPr txBox="1"/>
          <p:nvPr/>
        </p:nvSpPr>
        <p:spPr>
          <a:xfrm>
            <a:off x="6374257" y="2185938"/>
            <a:ext cx="732420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0000"/>
                </a:solidFill>
                <a:latin typeface="나눔고딕"/>
                <a:cs typeface="나눔고딕"/>
              </a:rPr>
              <a:t>느끼는</a:t>
            </a:r>
          </a:p>
        </p:txBody>
      </p:sp>
      <p:sp>
        <p:nvSpPr>
          <p:cNvPr id="62" name="TextBox 62"/>
          <p:cNvSpPr txBox="1"/>
          <p:nvPr/>
        </p:nvSpPr>
        <p:spPr>
          <a:xfrm>
            <a:off x="7092061" y="2185938"/>
            <a:ext cx="152888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63" name="TextBox 63"/>
          <p:cNvSpPr txBox="1"/>
          <p:nvPr/>
        </p:nvSpPr>
        <p:spPr>
          <a:xfrm>
            <a:off x="7160641" y="2185938"/>
            <a:ext cx="732420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0000"/>
                </a:solidFill>
                <a:latin typeface="나눔고딕"/>
                <a:cs typeface="나눔고딕"/>
              </a:rPr>
              <a:t>방법이</a:t>
            </a:r>
          </a:p>
        </p:txBody>
      </p:sp>
      <p:sp>
        <p:nvSpPr>
          <p:cNvPr id="64" name="TextBox 64"/>
          <p:cNvSpPr txBox="1"/>
          <p:nvPr/>
        </p:nvSpPr>
        <p:spPr>
          <a:xfrm>
            <a:off x="7878826" y="2185938"/>
            <a:ext cx="152888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65" name="TextBox 65"/>
          <p:cNvSpPr txBox="1"/>
          <p:nvPr/>
        </p:nvSpPr>
        <p:spPr>
          <a:xfrm>
            <a:off x="7945882" y="2185938"/>
            <a:ext cx="488367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0000"/>
                </a:solidFill>
                <a:latin typeface="나눔고딕"/>
                <a:cs typeface="나눔고딕"/>
              </a:rPr>
              <a:t>다름</a:t>
            </a:r>
          </a:p>
        </p:txBody>
      </p:sp>
      <p:sp>
        <p:nvSpPr>
          <p:cNvPr id="66" name="TextBox 66"/>
          <p:cNvSpPr txBox="1"/>
          <p:nvPr/>
        </p:nvSpPr>
        <p:spPr>
          <a:xfrm>
            <a:off x="8424418" y="2185938"/>
            <a:ext cx="217024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spc="105" dirty="0">
                <a:solidFill>
                  <a:srgbClr val="000000"/>
                </a:solidFill>
                <a:latin typeface="나눔고딕 2"/>
                <a:cs typeface="나눔고딕 2"/>
              </a:rPr>
              <a:t>   </a:t>
            </a:r>
          </a:p>
        </p:txBody>
      </p:sp>
      <p:sp>
        <p:nvSpPr>
          <p:cNvPr id="67" name="TextBox 67"/>
          <p:cNvSpPr txBox="1"/>
          <p:nvPr/>
        </p:nvSpPr>
        <p:spPr>
          <a:xfrm>
            <a:off x="633984" y="2567600"/>
            <a:ext cx="1090572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spc="108" dirty="0">
                <a:solidFill>
                  <a:srgbClr val="000000"/>
                </a:solidFill>
                <a:latin typeface="나눔고딕 2"/>
                <a:cs typeface="나눔고딕 2"/>
              </a:rPr>
              <a:t>               </a:t>
            </a:r>
          </a:p>
        </p:txBody>
      </p:sp>
      <p:sp>
        <p:nvSpPr>
          <p:cNvPr id="68" name="TextBox 68"/>
          <p:cNvSpPr txBox="1"/>
          <p:nvPr/>
        </p:nvSpPr>
        <p:spPr>
          <a:xfrm>
            <a:off x="1705356" y="2567600"/>
            <a:ext cx="732129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안심은</a:t>
            </a:r>
          </a:p>
        </p:txBody>
      </p:sp>
      <p:sp>
        <p:nvSpPr>
          <p:cNvPr id="69" name="TextBox 69"/>
          <p:cNvSpPr txBox="1"/>
          <p:nvPr/>
        </p:nvSpPr>
        <p:spPr>
          <a:xfrm>
            <a:off x="2423414" y="2567600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70" name="TextBox 70"/>
          <p:cNvSpPr txBox="1"/>
          <p:nvPr/>
        </p:nvSpPr>
        <p:spPr>
          <a:xfrm>
            <a:off x="2491994" y="2567600"/>
            <a:ext cx="1220236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신뢰한다고</a:t>
            </a:r>
          </a:p>
        </p:txBody>
      </p:sp>
      <p:sp>
        <p:nvSpPr>
          <p:cNvPr id="71" name="TextBox 71"/>
          <p:cNvSpPr txBox="1"/>
          <p:nvPr/>
        </p:nvSpPr>
        <p:spPr>
          <a:xfrm>
            <a:off x="3686810" y="2567600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72" name="TextBox 72"/>
          <p:cNvSpPr txBox="1"/>
          <p:nvPr/>
        </p:nvSpPr>
        <p:spPr>
          <a:xfrm>
            <a:off x="3753866" y="2567600"/>
            <a:ext cx="488387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하는</a:t>
            </a:r>
          </a:p>
        </p:txBody>
      </p:sp>
      <p:sp>
        <p:nvSpPr>
          <p:cNvPr id="73" name="TextBox 73"/>
          <p:cNvSpPr txBox="1"/>
          <p:nvPr/>
        </p:nvSpPr>
        <p:spPr>
          <a:xfrm>
            <a:off x="4232783" y="2567600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74" name="TextBox 74"/>
          <p:cNvSpPr txBox="1"/>
          <p:nvPr/>
        </p:nvSpPr>
        <p:spPr>
          <a:xfrm>
            <a:off x="4301363" y="2567600"/>
            <a:ext cx="732129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인간의</a:t>
            </a:r>
          </a:p>
        </p:txBody>
      </p:sp>
      <p:sp>
        <p:nvSpPr>
          <p:cNvPr id="75" name="TextBox 75"/>
          <p:cNvSpPr txBox="1"/>
          <p:nvPr/>
        </p:nvSpPr>
        <p:spPr>
          <a:xfrm>
            <a:off x="5019167" y="2567600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76" name="TextBox 76"/>
          <p:cNvSpPr txBox="1"/>
          <p:nvPr/>
        </p:nvSpPr>
        <p:spPr>
          <a:xfrm>
            <a:off x="5087747" y="2567600"/>
            <a:ext cx="732129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마음과</a:t>
            </a:r>
          </a:p>
        </p:txBody>
      </p:sp>
      <p:sp>
        <p:nvSpPr>
          <p:cNvPr id="77" name="TextBox 77"/>
          <p:cNvSpPr txBox="1"/>
          <p:nvPr/>
        </p:nvSpPr>
        <p:spPr>
          <a:xfrm>
            <a:off x="5805805" y="2567600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78" name="TextBox 78"/>
          <p:cNvSpPr txBox="1"/>
          <p:nvPr/>
        </p:nvSpPr>
        <p:spPr>
          <a:xfrm>
            <a:off x="5874385" y="2567600"/>
            <a:ext cx="732129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강하게</a:t>
            </a:r>
          </a:p>
        </p:txBody>
      </p:sp>
      <p:sp>
        <p:nvSpPr>
          <p:cNvPr id="79" name="TextBox 79"/>
          <p:cNvSpPr txBox="1"/>
          <p:nvPr/>
        </p:nvSpPr>
        <p:spPr>
          <a:xfrm>
            <a:off x="6592189" y="2567600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80" name="TextBox 80"/>
          <p:cNvSpPr txBox="1"/>
          <p:nvPr/>
        </p:nvSpPr>
        <p:spPr>
          <a:xfrm>
            <a:off x="6659245" y="2567600"/>
            <a:ext cx="976183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관련되어</a:t>
            </a:r>
          </a:p>
        </p:txBody>
      </p:sp>
      <p:sp>
        <p:nvSpPr>
          <p:cNvPr id="81" name="TextBox 81"/>
          <p:cNvSpPr txBox="1"/>
          <p:nvPr/>
        </p:nvSpPr>
        <p:spPr>
          <a:xfrm>
            <a:off x="7616317" y="2567600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82" name="TextBox 82"/>
          <p:cNvSpPr txBox="1"/>
          <p:nvPr/>
        </p:nvSpPr>
        <p:spPr>
          <a:xfrm>
            <a:off x="7683754" y="2567600"/>
            <a:ext cx="488076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있음</a:t>
            </a:r>
          </a:p>
        </p:txBody>
      </p:sp>
      <p:sp>
        <p:nvSpPr>
          <p:cNvPr id="83" name="TextBox 83"/>
          <p:cNvSpPr txBox="1"/>
          <p:nvPr/>
        </p:nvSpPr>
        <p:spPr>
          <a:xfrm>
            <a:off x="8162290" y="2567600"/>
            <a:ext cx="215207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spc="101" dirty="0">
                <a:solidFill>
                  <a:srgbClr val="000000"/>
                </a:solidFill>
                <a:latin typeface="나눔고딕 2"/>
                <a:cs typeface="나눔고딕 2"/>
              </a:rPr>
              <a:t>   </a:t>
            </a:r>
          </a:p>
        </p:txBody>
      </p:sp>
      <p:sp>
        <p:nvSpPr>
          <p:cNvPr id="84" name="TextBox 84"/>
          <p:cNvSpPr txBox="1"/>
          <p:nvPr/>
        </p:nvSpPr>
        <p:spPr>
          <a:xfrm>
            <a:off x="633984" y="3253400"/>
            <a:ext cx="313416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spc="112" dirty="0">
                <a:solidFill>
                  <a:srgbClr val="000000"/>
                </a:solidFill>
                <a:latin typeface="나눔고딕 2"/>
                <a:cs typeface="나눔고딕 2"/>
              </a:rPr>
              <a:t>   -</a:t>
            </a:r>
          </a:p>
        </p:txBody>
      </p:sp>
      <p:sp>
        <p:nvSpPr>
          <p:cNvPr id="85" name="TextBox 85"/>
          <p:cNvSpPr txBox="1"/>
          <p:nvPr/>
        </p:nvSpPr>
        <p:spPr>
          <a:xfrm>
            <a:off x="1011936" y="3253400"/>
            <a:ext cx="1462836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안전하더라도</a:t>
            </a:r>
          </a:p>
        </p:txBody>
      </p:sp>
      <p:sp>
        <p:nvSpPr>
          <p:cNvPr id="86" name="TextBox 86"/>
          <p:cNvSpPr txBox="1"/>
          <p:nvPr/>
        </p:nvSpPr>
        <p:spPr>
          <a:xfrm>
            <a:off x="2444750" y="3253400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87" name="TextBox 87"/>
          <p:cNvSpPr txBox="1"/>
          <p:nvPr/>
        </p:nvSpPr>
        <p:spPr>
          <a:xfrm>
            <a:off x="2511806" y="3253400"/>
            <a:ext cx="732129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안심할</a:t>
            </a:r>
          </a:p>
        </p:txBody>
      </p:sp>
      <p:sp>
        <p:nvSpPr>
          <p:cNvPr id="88" name="TextBox 88"/>
          <p:cNvSpPr txBox="1"/>
          <p:nvPr/>
        </p:nvSpPr>
        <p:spPr>
          <a:xfrm>
            <a:off x="3229610" y="3253400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89" name="TextBox 89"/>
          <p:cNvSpPr txBox="1"/>
          <p:nvPr/>
        </p:nvSpPr>
        <p:spPr>
          <a:xfrm>
            <a:off x="3298190" y="3253400"/>
            <a:ext cx="244022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수</a:t>
            </a:r>
          </a:p>
        </p:txBody>
      </p:sp>
      <p:sp>
        <p:nvSpPr>
          <p:cNvPr id="90" name="TextBox 90"/>
          <p:cNvSpPr txBox="1"/>
          <p:nvPr/>
        </p:nvSpPr>
        <p:spPr>
          <a:xfrm>
            <a:off x="3537458" y="3253400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91" name="TextBox 91"/>
          <p:cNvSpPr txBox="1"/>
          <p:nvPr/>
        </p:nvSpPr>
        <p:spPr>
          <a:xfrm>
            <a:off x="3607562" y="3253400"/>
            <a:ext cx="732129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없었던</a:t>
            </a:r>
          </a:p>
        </p:txBody>
      </p:sp>
      <p:sp>
        <p:nvSpPr>
          <p:cNvPr id="92" name="TextBox 92"/>
          <p:cNvSpPr txBox="1"/>
          <p:nvPr/>
        </p:nvSpPr>
        <p:spPr>
          <a:xfrm>
            <a:off x="4325747" y="3253400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93" name="TextBox 93"/>
          <p:cNvSpPr txBox="1"/>
          <p:nvPr/>
        </p:nvSpPr>
        <p:spPr>
          <a:xfrm>
            <a:off x="4394327" y="3253400"/>
            <a:ext cx="244022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예</a:t>
            </a:r>
          </a:p>
        </p:txBody>
      </p:sp>
      <p:sp>
        <p:nvSpPr>
          <p:cNvPr id="94" name="TextBox 94"/>
          <p:cNvSpPr txBox="1"/>
          <p:nvPr/>
        </p:nvSpPr>
        <p:spPr>
          <a:xfrm>
            <a:off x="4633595" y="3253400"/>
            <a:ext cx="223472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spc="89" dirty="0">
                <a:solidFill>
                  <a:srgbClr val="000000"/>
                </a:solidFill>
                <a:latin typeface="나눔고딕 2"/>
                <a:cs typeface="나눔고딕 2"/>
              </a:rPr>
              <a:t> : </a:t>
            </a:r>
          </a:p>
        </p:txBody>
      </p:sp>
      <p:sp>
        <p:nvSpPr>
          <p:cNvPr id="95" name="TextBox 95"/>
          <p:cNvSpPr txBox="1"/>
          <p:nvPr/>
        </p:nvSpPr>
        <p:spPr>
          <a:xfrm>
            <a:off x="4851527" y="3253400"/>
            <a:ext cx="732129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광우병</a:t>
            </a:r>
          </a:p>
        </p:txBody>
      </p:sp>
      <p:sp>
        <p:nvSpPr>
          <p:cNvPr id="96" name="TextBox 96"/>
          <p:cNvSpPr txBox="1"/>
          <p:nvPr/>
        </p:nvSpPr>
        <p:spPr>
          <a:xfrm>
            <a:off x="633984" y="3634119"/>
            <a:ext cx="313529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spc="111" dirty="0">
                <a:solidFill>
                  <a:srgbClr val="000000"/>
                </a:solidFill>
                <a:latin typeface="나눔고딕 2"/>
                <a:cs typeface="나눔고딕 2"/>
              </a:rPr>
              <a:t>   -</a:t>
            </a:r>
          </a:p>
        </p:txBody>
      </p:sp>
      <p:sp>
        <p:nvSpPr>
          <p:cNvPr id="97" name="TextBox 97"/>
          <p:cNvSpPr txBox="1"/>
          <p:nvPr/>
        </p:nvSpPr>
        <p:spPr>
          <a:xfrm>
            <a:off x="1011936" y="3634119"/>
            <a:ext cx="976473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0000"/>
                </a:solidFill>
                <a:latin typeface="나눔고딕"/>
                <a:cs typeface="나눔고딕"/>
              </a:rPr>
              <a:t>안심하고</a:t>
            </a:r>
          </a:p>
        </p:txBody>
      </p:sp>
      <p:sp>
        <p:nvSpPr>
          <p:cNvPr id="98" name="TextBox 98"/>
          <p:cNvSpPr txBox="1"/>
          <p:nvPr/>
        </p:nvSpPr>
        <p:spPr>
          <a:xfrm>
            <a:off x="1969008" y="3634119"/>
            <a:ext cx="152888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99" name="TextBox 99"/>
          <p:cNvSpPr txBox="1"/>
          <p:nvPr/>
        </p:nvSpPr>
        <p:spPr>
          <a:xfrm>
            <a:off x="2036318" y="3634119"/>
            <a:ext cx="732420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0000"/>
                </a:solidFill>
                <a:latin typeface="나눔고딕"/>
                <a:cs typeface="나눔고딕"/>
              </a:rPr>
              <a:t>있지만</a:t>
            </a:r>
          </a:p>
        </p:txBody>
      </p:sp>
      <p:sp>
        <p:nvSpPr>
          <p:cNvPr id="100" name="TextBox 100"/>
          <p:cNvSpPr txBox="1"/>
          <p:nvPr/>
        </p:nvSpPr>
        <p:spPr>
          <a:xfrm>
            <a:off x="2754122" y="3634119"/>
            <a:ext cx="152888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101" name="TextBox 101"/>
          <p:cNvSpPr txBox="1"/>
          <p:nvPr/>
        </p:nvSpPr>
        <p:spPr>
          <a:xfrm>
            <a:off x="2821178" y="3634119"/>
            <a:ext cx="976473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0000"/>
                </a:solidFill>
                <a:latin typeface="나눔고딕"/>
                <a:cs typeface="나눔고딕"/>
              </a:rPr>
              <a:t>안전하지</a:t>
            </a:r>
          </a:p>
        </p:txBody>
      </p:sp>
      <p:sp>
        <p:nvSpPr>
          <p:cNvPr id="102" name="TextBox 102"/>
          <p:cNvSpPr txBox="1"/>
          <p:nvPr/>
        </p:nvSpPr>
        <p:spPr>
          <a:xfrm>
            <a:off x="3778250" y="3634119"/>
            <a:ext cx="152888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103" name="TextBox 103"/>
          <p:cNvSpPr txBox="1"/>
          <p:nvPr/>
        </p:nvSpPr>
        <p:spPr>
          <a:xfrm>
            <a:off x="3845306" y="3634119"/>
            <a:ext cx="488679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0000"/>
                </a:solidFill>
                <a:latin typeface="나눔고딕"/>
                <a:cs typeface="나눔고딕"/>
              </a:rPr>
              <a:t>않는</a:t>
            </a:r>
          </a:p>
        </p:txBody>
      </p:sp>
      <p:sp>
        <p:nvSpPr>
          <p:cNvPr id="104" name="TextBox 104"/>
          <p:cNvSpPr txBox="1"/>
          <p:nvPr/>
        </p:nvSpPr>
        <p:spPr>
          <a:xfrm>
            <a:off x="4324223" y="3634119"/>
            <a:ext cx="152888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105" name="TextBox 105"/>
          <p:cNvSpPr txBox="1"/>
          <p:nvPr/>
        </p:nvSpPr>
        <p:spPr>
          <a:xfrm>
            <a:off x="4394327" y="3634119"/>
            <a:ext cx="244315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0000"/>
                </a:solidFill>
                <a:latin typeface="나눔고딕"/>
                <a:cs typeface="나눔고딕"/>
              </a:rPr>
              <a:t>예</a:t>
            </a:r>
          </a:p>
        </p:txBody>
      </p:sp>
      <p:sp>
        <p:nvSpPr>
          <p:cNvPr id="106" name="TextBox 106"/>
          <p:cNvSpPr txBox="1"/>
          <p:nvPr/>
        </p:nvSpPr>
        <p:spPr>
          <a:xfrm>
            <a:off x="4633595" y="3634119"/>
            <a:ext cx="223559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spc="88" dirty="0">
                <a:solidFill>
                  <a:srgbClr val="000000"/>
                </a:solidFill>
                <a:latin typeface="나눔고딕 2"/>
                <a:cs typeface="나눔고딕 2"/>
              </a:rPr>
              <a:t> : </a:t>
            </a:r>
          </a:p>
        </p:txBody>
      </p:sp>
      <p:sp>
        <p:nvSpPr>
          <p:cNvPr id="107" name="TextBox 107"/>
          <p:cNvSpPr txBox="1"/>
          <p:nvPr/>
        </p:nvSpPr>
        <p:spPr>
          <a:xfrm>
            <a:off x="4851527" y="3634119"/>
            <a:ext cx="732420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0000"/>
                </a:solidFill>
                <a:latin typeface="나눔고딕"/>
                <a:cs typeface="나눔고딕"/>
              </a:rPr>
              <a:t>자동차</a:t>
            </a:r>
          </a:p>
        </p:txBody>
      </p:sp>
      <p:sp>
        <p:nvSpPr>
          <p:cNvPr id="108" name="TextBox 108"/>
          <p:cNvSpPr txBox="1"/>
          <p:nvPr/>
        </p:nvSpPr>
        <p:spPr>
          <a:xfrm>
            <a:off x="633984" y="4320454"/>
            <a:ext cx="218809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spc="110" dirty="0">
                <a:solidFill>
                  <a:srgbClr val="000000"/>
                </a:solidFill>
                <a:latin typeface="나눔고딕 2"/>
                <a:cs typeface="나눔고딕 2"/>
              </a:rPr>
              <a:t>   </a:t>
            </a:r>
          </a:p>
        </p:txBody>
      </p:sp>
      <p:sp>
        <p:nvSpPr>
          <p:cNvPr id="109" name="TextBox 109"/>
          <p:cNvSpPr txBox="1"/>
          <p:nvPr/>
        </p:nvSpPr>
        <p:spPr>
          <a:xfrm>
            <a:off x="848868" y="4320454"/>
            <a:ext cx="244022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☞</a:t>
            </a:r>
          </a:p>
        </p:txBody>
      </p:sp>
      <p:sp>
        <p:nvSpPr>
          <p:cNvPr id="110" name="TextBox 110"/>
          <p:cNvSpPr txBox="1"/>
          <p:nvPr/>
        </p:nvSpPr>
        <p:spPr>
          <a:xfrm>
            <a:off x="1088136" y="4320454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111" name="TextBox 111"/>
          <p:cNvSpPr txBox="1"/>
          <p:nvPr/>
        </p:nvSpPr>
        <p:spPr>
          <a:xfrm>
            <a:off x="1158240" y="4320454"/>
            <a:ext cx="732129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안전을</a:t>
            </a:r>
          </a:p>
        </p:txBody>
      </p:sp>
      <p:sp>
        <p:nvSpPr>
          <p:cNvPr id="112" name="TextBox 112"/>
          <p:cNvSpPr txBox="1"/>
          <p:nvPr/>
        </p:nvSpPr>
        <p:spPr>
          <a:xfrm>
            <a:off x="1876044" y="4320454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113" name="TextBox 113"/>
          <p:cNvSpPr txBox="1"/>
          <p:nvPr/>
        </p:nvSpPr>
        <p:spPr>
          <a:xfrm>
            <a:off x="1943100" y="4320454"/>
            <a:ext cx="97711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안심으로</a:t>
            </a:r>
          </a:p>
        </p:txBody>
      </p:sp>
      <p:sp>
        <p:nvSpPr>
          <p:cNvPr id="114" name="TextBox 114"/>
          <p:cNvSpPr txBox="1"/>
          <p:nvPr/>
        </p:nvSpPr>
        <p:spPr>
          <a:xfrm>
            <a:off x="2900426" y="4320454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115" name="TextBox 115"/>
          <p:cNvSpPr txBox="1"/>
          <p:nvPr/>
        </p:nvSpPr>
        <p:spPr>
          <a:xfrm>
            <a:off x="2967482" y="4320454"/>
            <a:ext cx="976182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연결하는</a:t>
            </a:r>
          </a:p>
        </p:txBody>
      </p:sp>
      <p:sp>
        <p:nvSpPr>
          <p:cNvPr id="116" name="TextBox 116"/>
          <p:cNvSpPr txBox="1"/>
          <p:nvPr/>
        </p:nvSpPr>
        <p:spPr>
          <a:xfrm>
            <a:off x="3924935" y="4320454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117" name="TextBox 117"/>
          <p:cNvSpPr txBox="1"/>
          <p:nvPr/>
        </p:nvSpPr>
        <p:spPr>
          <a:xfrm>
            <a:off x="3991991" y="4320454"/>
            <a:ext cx="488076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데는</a:t>
            </a:r>
          </a:p>
        </p:txBody>
      </p:sp>
      <p:sp>
        <p:nvSpPr>
          <p:cNvPr id="118" name="TextBox 118"/>
          <p:cNvSpPr txBox="1"/>
          <p:nvPr/>
        </p:nvSpPr>
        <p:spPr>
          <a:xfrm>
            <a:off x="4470527" y="4320454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119" name="TextBox 119"/>
          <p:cNvSpPr txBox="1"/>
          <p:nvPr/>
        </p:nvSpPr>
        <p:spPr>
          <a:xfrm>
            <a:off x="4540631" y="4320454"/>
            <a:ext cx="780092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‘리스크</a:t>
            </a:r>
          </a:p>
        </p:txBody>
      </p:sp>
      <p:sp>
        <p:nvSpPr>
          <p:cNvPr id="120" name="TextBox 120"/>
          <p:cNvSpPr txBox="1"/>
          <p:nvPr/>
        </p:nvSpPr>
        <p:spPr>
          <a:xfrm>
            <a:off x="5305679" y="4320454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121" name="TextBox 121"/>
          <p:cNvSpPr txBox="1"/>
          <p:nvPr/>
        </p:nvSpPr>
        <p:spPr>
          <a:xfrm>
            <a:off x="5372735" y="4320454"/>
            <a:ext cx="1754882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커뮤니케이션’이</a:t>
            </a:r>
          </a:p>
        </p:txBody>
      </p:sp>
      <p:sp>
        <p:nvSpPr>
          <p:cNvPr id="122" name="TextBox 122"/>
          <p:cNvSpPr txBox="1"/>
          <p:nvPr/>
        </p:nvSpPr>
        <p:spPr>
          <a:xfrm>
            <a:off x="7092061" y="4320454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123" name="TextBox 123"/>
          <p:cNvSpPr txBox="1"/>
          <p:nvPr/>
        </p:nvSpPr>
        <p:spPr>
          <a:xfrm>
            <a:off x="7159117" y="4320454"/>
            <a:ext cx="488076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중요</a:t>
            </a:r>
          </a:p>
        </p:txBody>
      </p:sp>
      <p:sp>
        <p:nvSpPr>
          <p:cNvPr id="124" name="TextBox 124"/>
          <p:cNvSpPr txBox="1"/>
          <p:nvPr/>
        </p:nvSpPr>
        <p:spPr>
          <a:xfrm>
            <a:off x="1091184" y="4705271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dirty="0">
                <a:solidFill>
                  <a:srgbClr val="000000"/>
                </a:solidFill>
                <a:latin typeface="Arial"/>
                <a:cs typeface="Arial"/>
              </a:rPr>
              <a:t>•</a:t>
            </a:r>
          </a:p>
        </p:txBody>
      </p:sp>
      <p:sp>
        <p:nvSpPr>
          <p:cNvPr id="125" name="TextBox 125"/>
          <p:cNvSpPr txBox="1"/>
          <p:nvPr/>
        </p:nvSpPr>
        <p:spPr>
          <a:xfrm>
            <a:off x="1251204" y="4701454"/>
            <a:ext cx="732129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안전이</a:t>
            </a:r>
          </a:p>
        </p:txBody>
      </p:sp>
      <p:sp>
        <p:nvSpPr>
          <p:cNvPr id="126" name="TextBox 126"/>
          <p:cNvSpPr txBox="1"/>
          <p:nvPr/>
        </p:nvSpPr>
        <p:spPr>
          <a:xfrm>
            <a:off x="1969008" y="4701454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127" name="TextBox 127"/>
          <p:cNvSpPr txBox="1"/>
          <p:nvPr/>
        </p:nvSpPr>
        <p:spPr>
          <a:xfrm>
            <a:off x="2036318" y="4701454"/>
            <a:ext cx="488076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어떤</a:t>
            </a:r>
          </a:p>
        </p:txBody>
      </p:sp>
      <p:sp>
        <p:nvSpPr>
          <p:cNvPr id="128" name="TextBox 128"/>
          <p:cNvSpPr txBox="1"/>
          <p:nvPr/>
        </p:nvSpPr>
        <p:spPr>
          <a:xfrm>
            <a:off x="2514854" y="4701454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129" name="TextBox 129"/>
          <p:cNvSpPr txBox="1"/>
          <p:nvPr/>
        </p:nvSpPr>
        <p:spPr>
          <a:xfrm>
            <a:off x="2584958" y="4701454"/>
            <a:ext cx="732129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구조로</a:t>
            </a:r>
          </a:p>
        </p:txBody>
      </p:sp>
      <p:sp>
        <p:nvSpPr>
          <p:cNvPr id="130" name="TextBox 130"/>
          <p:cNvSpPr txBox="1"/>
          <p:nvPr/>
        </p:nvSpPr>
        <p:spPr>
          <a:xfrm>
            <a:off x="3302762" y="4701454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131" name="TextBox 131"/>
          <p:cNvSpPr txBox="1"/>
          <p:nvPr/>
        </p:nvSpPr>
        <p:spPr>
          <a:xfrm>
            <a:off x="3371342" y="4701454"/>
            <a:ext cx="976182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실현되고</a:t>
            </a:r>
          </a:p>
        </p:txBody>
      </p:sp>
      <p:sp>
        <p:nvSpPr>
          <p:cNvPr id="132" name="TextBox 132"/>
          <p:cNvSpPr txBox="1"/>
          <p:nvPr/>
        </p:nvSpPr>
        <p:spPr>
          <a:xfrm>
            <a:off x="4328795" y="4701454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133" name="TextBox 133"/>
          <p:cNvSpPr txBox="1"/>
          <p:nvPr/>
        </p:nvSpPr>
        <p:spPr>
          <a:xfrm>
            <a:off x="4394327" y="4701454"/>
            <a:ext cx="732129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있는가</a:t>
            </a:r>
          </a:p>
        </p:txBody>
      </p:sp>
      <p:sp>
        <p:nvSpPr>
          <p:cNvPr id="134" name="TextBox 134"/>
          <p:cNvSpPr txBox="1"/>
          <p:nvPr/>
        </p:nvSpPr>
        <p:spPr>
          <a:xfrm>
            <a:off x="5112131" y="4701454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, </a:t>
            </a:r>
          </a:p>
        </p:txBody>
      </p:sp>
      <p:sp>
        <p:nvSpPr>
          <p:cNvPr id="135" name="TextBox 135"/>
          <p:cNvSpPr txBox="1"/>
          <p:nvPr/>
        </p:nvSpPr>
        <p:spPr>
          <a:xfrm>
            <a:off x="5256911" y="4701454"/>
            <a:ext cx="732129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최악의</a:t>
            </a:r>
          </a:p>
        </p:txBody>
      </p:sp>
      <p:sp>
        <p:nvSpPr>
          <p:cNvPr id="136" name="TextBox 136"/>
          <p:cNvSpPr txBox="1"/>
          <p:nvPr/>
        </p:nvSpPr>
        <p:spPr>
          <a:xfrm>
            <a:off x="5974969" y="4701454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137" name="TextBox 137"/>
          <p:cNvSpPr txBox="1"/>
          <p:nvPr/>
        </p:nvSpPr>
        <p:spPr>
          <a:xfrm>
            <a:off x="6043549" y="4701454"/>
            <a:ext cx="976183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경우에는</a:t>
            </a:r>
          </a:p>
        </p:txBody>
      </p:sp>
      <p:sp>
        <p:nvSpPr>
          <p:cNvPr id="138" name="TextBox 138"/>
          <p:cNvSpPr txBox="1"/>
          <p:nvPr/>
        </p:nvSpPr>
        <p:spPr>
          <a:xfrm>
            <a:off x="7000621" y="4701454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139" name="TextBox 139"/>
          <p:cNvSpPr txBox="1"/>
          <p:nvPr/>
        </p:nvSpPr>
        <p:spPr>
          <a:xfrm>
            <a:off x="7067677" y="4701454"/>
            <a:ext cx="488076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어떤</a:t>
            </a:r>
          </a:p>
        </p:txBody>
      </p:sp>
      <p:sp>
        <p:nvSpPr>
          <p:cNvPr id="140" name="TextBox 140"/>
          <p:cNvSpPr txBox="1"/>
          <p:nvPr/>
        </p:nvSpPr>
        <p:spPr>
          <a:xfrm>
            <a:off x="7546213" y="4701454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141" name="TextBox 141"/>
          <p:cNvSpPr txBox="1"/>
          <p:nvPr/>
        </p:nvSpPr>
        <p:spPr>
          <a:xfrm>
            <a:off x="7614793" y="4701454"/>
            <a:ext cx="732751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위험이</a:t>
            </a:r>
          </a:p>
        </p:txBody>
      </p:sp>
      <p:sp>
        <p:nvSpPr>
          <p:cNvPr id="142" name="TextBox 142"/>
          <p:cNvSpPr txBox="1"/>
          <p:nvPr/>
        </p:nvSpPr>
        <p:spPr>
          <a:xfrm>
            <a:off x="8332978" y="4701454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143" name="TextBox 143"/>
          <p:cNvSpPr txBox="1"/>
          <p:nvPr/>
        </p:nvSpPr>
        <p:spPr>
          <a:xfrm>
            <a:off x="1234440" y="5005973"/>
            <a:ext cx="1220526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0000"/>
                </a:solidFill>
                <a:latin typeface="나눔고딕"/>
                <a:cs typeface="나눔고딕"/>
              </a:rPr>
              <a:t>발생하는가</a:t>
            </a:r>
          </a:p>
        </p:txBody>
      </p:sp>
      <p:sp>
        <p:nvSpPr>
          <p:cNvPr id="144" name="TextBox 144"/>
          <p:cNvSpPr txBox="1"/>
          <p:nvPr/>
        </p:nvSpPr>
        <p:spPr>
          <a:xfrm>
            <a:off x="2496566" y="5005973"/>
            <a:ext cx="488367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0000"/>
                </a:solidFill>
                <a:latin typeface="나눔고딕"/>
                <a:cs typeface="나눔고딕"/>
              </a:rPr>
              <a:t>등에</a:t>
            </a:r>
          </a:p>
        </p:txBody>
      </p:sp>
      <p:sp>
        <p:nvSpPr>
          <p:cNvPr id="145" name="TextBox 145"/>
          <p:cNvSpPr txBox="1"/>
          <p:nvPr/>
        </p:nvSpPr>
        <p:spPr>
          <a:xfrm>
            <a:off x="2975102" y="5005973"/>
            <a:ext cx="152888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146" name="TextBox 146"/>
          <p:cNvSpPr txBox="1"/>
          <p:nvPr/>
        </p:nvSpPr>
        <p:spPr>
          <a:xfrm>
            <a:off x="3043682" y="5005973"/>
            <a:ext cx="488367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0000"/>
                </a:solidFill>
                <a:latin typeface="나눔고딕"/>
                <a:cs typeface="나눔고딕"/>
              </a:rPr>
              <a:t>대한</a:t>
            </a:r>
          </a:p>
        </p:txBody>
      </p:sp>
      <p:sp>
        <p:nvSpPr>
          <p:cNvPr id="147" name="TextBox 147"/>
          <p:cNvSpPr txBox="1"/>
          <p:nvPr/>
        </p:nvSpPr>
        <p:spPr>
          <a:xfrm>
            <a:off x="3522218" y="5005973"/>
            <a:ext cx="152888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148" name="TextBox 148"/>
          <p:cNvSpPr txBox="1"/>
          <p:nvPr/>
        </p:nvSpPr>
        <p:spPr>
          <a:xfrm>
            <a:off x="3592322" y="5005973"/>
            <a:ext cx="488367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0000"/>
                </a:solidFill>
                <a:latin typeface="나눔고딕"/>
                <a:cs typeface="나눔고딕"/>
              </a:rPr>
              <a:t>정보</a:t>
            </a:r>
          </a:p>
        </p:txBody>
      </p:sp>
      <p:sp>
        <p:nvSpPr>
          <p:cNvPr id="149" name="TextBox 149"/>
          <p:cNvSpPr txBox="1"/>
          <p:nvPr/>
        </p:nvSpPr>
        <p:spPr>
          <a:xfrm>
            <a:off x="4071239" y="5005973"/>
            <a:ext cx="152888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150" name="TextBox 150"/>
          <p:cNvSpPr txBox="1"/>
          <p:nvPr/>
        </p:nvSpPr>
        <p:spPr>
          <a:xfrm>
            <a:off x="4139819" y="5005973"/>
            <a:ext cx="488367" cy="35673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6" b="1" dirty="0">
                <a:solidFill>
                  <a:srgbClr val="000000"/>
                </a:solidFill>
                <a:latin typeface="나눔고딕"/>
                <a:cs typeface="나눔고딕"/>
              </a:rPr>
              <a:t>공개</a:t>
            </a:r>
          </a:p>
        </p:txBody>
      </p:sp>
      <p:sp>
        <p:nvSpPr>
          <p:cNvPr id="151" name="TextBox 151"/>
          <p:cNvSpPr txBox="1"/>
          <p:nvPr/>
        </p:nvSpPr>
        <p:spPr>
          <a:xfrm>
            <a:off x="1091184" y="5316776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dirty="0">
                <a:solidFill>
                  <a:srgbClr val="000000"/>
                </a:solidFill>
                <a:latin typeface="Arial"/>
                <a:cs typeface="Arial"/>
              </a:rPr>
              <a:t>•</a:t>
            </a:r>
          </a:p>
        </p:txBody>
      </p:sp>
      <p:sp>
        <p:nvSpPr>
          <p:cNvPr id="152" name="TextBox 152"/>
          <p:cNvSpPr txBox="1"/>
          <p:nvPr/>
        </p:nvSpPr>
        <p:spPr>
          <a:xfrm>
            <a:off x="1251204" y="5312959"/>
            <a:ext cx="1462836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잔류위험성에</a:t>
            </a:r>
          </a:p>
        </p:txBody>
      </p:sp>
      <p:sp>
        <p:nvSpPr>
          <p:cNvPr id="153" name="TextBox 153"/>
          <p:cNvSpPr txBox="1"/>
          <p:nvPr/>
        </p:nvSpPr>
        <p:spPr>
          <a:xfrm>
            <a:off x="2684018" y="5312959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154" name="TextBox 154"/>
          <p:cNvSpPr txBox="1"/>
          <p:nvPr/>
        </p:nvSpPr>
        <p:spPr>
          <a:xfrm>
            <a:off x="2751074" y="5312959"/>
            <a:ext cx="488076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대한</a:t>
            </a:r>
          </a:p>
        </p:txBody>
      </p:sp>
      <p:sp>
        <p:nvSpPr>
          <p:cNvPr id="155" name="TextBox 155"/>
          <p:cNvSpPr txBox="1"/>
          <p:nvPr/>
        </p:nvSpPr>
        <p:spPr>
          <a:xfrm>
            <a:off x="3229610" y="5312959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156" name="TextBox 156"/>
          <p:cNvSpPr txBox="1"/>
          <p:nvPr/>
        </p:nvSpPr>
        <p:spPr>
          <a:xfrm>
            <a:off x="3299714" y="5312959"/>
            <a:ext cx="732129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합의와</a:t>
            </a:r>
          </a:p>
        </p:txBody>
      </p:sp>
      <p:sp>
        <p:nvSpPr>
          <p:cNvPr id="157" name="TextBox 157"/>
          <p:cNvSpPr txBox="1"/>
          <p:nvPr/>
        </p:nvSpPr>
        <p:spPr>
          <a:xfrm>
            <a:off x="4017899" y="5312959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158" name="TextBox 158"/>
          <p:cNvSpPr txBox="1"/>
          <p:nvPr/>
        </p:nvSpPr>
        <p:spPr>
          <a:xfrm>
            <a:off x="4084955" y="5312959"/>
            <a:ext cx="488076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납득</a:t>
            </a:r>
          </a:p>
        </p:txBody>
      </p:sp>
      <p:sp>
        <p:nvSpPr>
          <p:cNvPr id="159" name="TextBox 159"/>
          <p:cNvSpPr txBox="1"/>
          <p:nvPr/>
        </p:nvSpPr>
        <p:spPr>
          <a:xfrm>
            <a:off x="4563491" y="5312959"/>
            <a:ext cx="152705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160" name="TextBox 160"/>
          <p:cNvSpPr txBox="1"/>
          <p:nvPr/>
        </p:nvSpPr>
        <p:spPr>
          <a:xfrm>
            <a:off x="4633595" y="5312959"/>
            <a:ext cx="244022" cy="3563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004" b="1" dirty="0">
                <a:solidFill>
                  <a:srgbClr val="000000"/>
                </a:solidFill>
                <a:latin typeface="나눔고딕"/>
                <a:cs typeface="나눔고딕"/>
              </a:rPr>
              <a:t>등</a:t>
            </a:r>
          </a:p>
        </p:txBody>
      </p:sp>
      <p:sp>
        <p:nvSpPr>
          <p:cNvPr id="161" name="TextBox 161"/>
          <p:cNvSpPr txBox="1"/>
          <p:nvPr/>
        </p:nvSpPr>
        <p:spPr>
          <a:xfrm>
            <a:off x="415138" y="105410"/>
            <a:ext cx="1349289" cy="42672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400" b="1" dirty="0">
                <a:solidFill>
                  <a:srgbClr val="000000"/>
                </a:solidFill>
                <a:latin typeface="나눔고딕"/>
                <a:cs typeface="나눔고딕"/>
              </a:rPr>
              <a:t>Ⅱ. 안전의</a:t>
            </a:r>
          </a:p>
        </p:txBody>
      </p:sp>
      <p:sp>
        <p:nvSpPr>
          <p:cNvPr id="162" name="TextBox 162"/>
          <p:cNvSpPr txBox="1"/>
          <p:nvPr/>
        </p:nvSpPr>
        <p:spPr>
          <a:xfrm>
            <a:off x="1737995" y="105410"/>
            <a:ext cx="182880" cy="42672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400" b="1" dirty="0">
                <a:solidFill>
                  <a:srgbClr val="000000"/>
                </a:solidFill>
                <a:latin typeface="나눔고딕 2"/>
                <a:cs typeface="나눔고딕 2"/>
              </a:rPr>
              <a:t> </a:t>
            </a:r>
          </a:p>
        </p:txBody>
      </p:sp>
      <p:sp>
        <p:nvSpPr>
          <p:cNvPr id="163" name="TextBox 163"/>
          <p:cNvSpPr txBox="1"/>
          <p:nvPr/>
        </p:nvSpPr>
        <p:spPr>
          <a:xfrm>
            <a:off x="1821815" y="105410"/>
            <a:ext cx="584795" cy="42672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400" b="1" dirty="0">
                <a:solidFill>
                  <a:srgbClr val="000000"/>
                </a:solidFill>
                <a:latin typeface="나눔고딕"/>
                <a:cs typeface="나눔고딕"/>
              </a:rPr>
              <a:t>개요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2286000" y="3105835"/>
            <a:ext cx="560923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dirty="0"/>
              <a:t>https://www.youtube.com/watch?v=nbVbSAK-uok</a:t>
            </a:r>
          </a:p>
        </p:txBody>
      </p:sp>
      <p:sp>
        <p:nvSpPr>
          <p:cNvPr id="3" name="직사각형 2"/>
          <p:cNvSpPr/>
          <p:nvPr/>
        </p:nvSpPr>
        <p:spPr>
          <a:xfrm>
            <a:off x="2286000" y="1450771"/>
            <a:ext cx="583387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dirty="0"/>
              <a:t>https://www.youtube.com/watch?v=wMzrn-43YRQ</a:t>
            </a:r>
          </a:p>
        </p:txBody>
      </p:sp>
    </p:spTree>
    <p:extLst>
      <p:ext uri="{BB962C8B-B14F-4D97-AF65-F5344CB8AC3E}">
        <p14:creationId xmlns:p14="http://schemas.microsoft.com/office/powerpoint/2010/main" val="125451197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350</TotalTime>
  <Words>2209</Words>
  <Application>Microsoft Office PowerPoint</Application>
  <PresentationFormat>화면 슬라이드 쇼(4:3)</PresentationFormat>
  <Paragraphs>1822</Paragraphs>
  <Slides>21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9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21</vt:i4>
      </vt:variant>
    </vt:vector>
  </HeadingPairs>
  <TitlesOfParts>
    <vt:vector size="31" baseType="lpstr">
      <vt:lpstr>Arial</vt:lpstr>
      <vt:lpstr>맑은 고딕 2</vt:lpstr>
      <vt:lpstr>나눔고딕 2</vt:lpstr>
      <vt:lpstr>굴림</vt:lpstr>
      <vt:lpstr>Calibri</vt:lpstr>
      <vt:lpstr>맑은 고딕</vt:lpstr>
      <vt:lpstr>Wingdings</vt:lpstr>
      <vt:lpstr>나눔고딕 ExtraBold</vt:lpstr>
      <vt:lpstr>나눔고딕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cp:lastModifiedBy>user</cp:lastModifiedBy>
  <cp:revision>23</cp:revision>
  <dcterms:modified xsi:type="dcterms:W3CDTF">2026-08-30T01:39:51Z</dcterms:modified>
</cp:coreProperties>
</file>