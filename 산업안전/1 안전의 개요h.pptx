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9144000" cy="6858000" type="screen4x3"/>
  <p:notesSz cx="6858000" cy="9144000"/>
  <p:embeddedFontLst>
    <p:embeddedFont>
      <p:font typeface="Wingdings" panose="05000000000000000000" pitchFamily="2" charset="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나눔고딕 ExtraBold"/>
      <p:regular r:id="rId29"/>
    </p:embeddedFont>
    <p:embeddedFont>
      <p:font typeface="나눔고딕"/>
      <p:regular r:id="rId30"/>
      <p:bold r:id="rId31"/>
    </p:embeddedFont>
    <p:embeddedFont>
      <p:font typeface="나눔고딕 2"/>
      <p:bold r:id="rId32"/>
    </p:embeddedFont>
    <p:embeddedFont>
      <p:font typeface="굴림" panose="020B0600000101010101" pitchFamily="34" charset="-127"/>
      <p:regular r:id="rId33"/>
    </p:embeddedFont>
    <p:embeddedFont>
      <p:font typeface="맑은 고딕 2"/>
      <p:bold r:id="rId34"/>
    </p:embeddedFont>
    <p:embeddedFont>
      <p:font typeface="맑은 고딕" panose="020B0503020000020004" pitchFamily="34" charset="-127"/>
      <p:regular r:id="rId35"/>
      <p:bold r:id="rId36"/>
    </p:embeddedFont>
    <p:embeddedFont>
      <p:font typeface="Arial" panose="020B0604020202020204" pitchFamily="34" charset="0"/>
      <p:regular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5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3024" y="6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A8B4-58E7-484B-B94D-008707242CD5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2EA40-CB40-4DFA-AA4F-0467D3D1B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02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2EA40-CB40-4DFA-AA4F-0467D3D1B50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56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2EA40-CB40-4DFA-AA4F-0467D3D1B50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5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492375" y="2683043"/>
            <a:ext cx="2581183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나눔고딕"/>
                <a:cs typeface="나눔고딕"/>
              </a:rPr>
              <a:t>산업안전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2469" y="2629154"/>
            <a:ext cx="404165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맑은 고딕"/>
                <a:cs typeface="맑은 고딕"/>
              </a:rPr>
              <a:t>(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63261" y="2683043"/>
            <a:ext cx="1291276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나눔고딕"/>
                <a:cs typeface="나눔고딕"/>
              </a:rPr>
              <a:t>일반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28562" y="2629154"/>
            <a:ext cx="404165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맑은 고딕"/>
                <a:cs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341243" y="1225880"/>
            <a:ext cx="3230580" cy="853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802" b="1" spc="432" dirty="0">
                <a:solidFill>
                  <a:srgbClr val="000000"/>
                </a:solidFill>
                <a:latin typeface="맑은 고딕"/>
                <a:cs typeface="맑은 고딕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0320" y="2523195"/>
            <a:ext cx="967229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08502" y="2523195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6226" y="2523195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320" y="3188548"/>
            <a:ext cx="1234910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70630" y="3188548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48354" y="3188548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461501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117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8193" y="142598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4601" y="142063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일하는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2354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0934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사람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9470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8738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15794" y="142063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업무에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3979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02559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기인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81095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59631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26687" y="142063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5477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50257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8793" y="142063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하거나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45073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12129" y="142063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91046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0314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8894" y="142063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이환되는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55966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23022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38" name="Shape 38"/>
          <p:cNvSpPr/>
          <p:nvPr/>
        </p:nvSpPr>
        <p:spPr>
          <a:xfrm>
            <a:off x="2092667" y="2969801"/>
            <a:ext cx="360299" cy="1"/>
          </a:xfrm>
          <a:custGeom>
            <a:avLst/>
            <a:gdLst/>
            <a:ahLst/>
            <a:cxnLst/>
            <a:rect l="0" t="0" r="360299" b="1"/>
            <a:pathLst>
              <a:path w="360299" h="1" fill="none">
                <a:moveTo>
                  <a:pt x="0" y="0"/>
                </a:moveTo>
                <a:lnTo>
                  <a:pt x="36029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2452966" y="2251235"/>
            <a:ext cx="496839" cy="162577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092667" y="2969801"/>
            <a:ext cx="360299" cy="1"/>
          </a:xfrm>
          <a:custGeom>
            <a:avLst/>
            <a:gdLst/>
            <a:ahLst/>
            <a:cxnLst/>
            <a:rect l="0" t="0" r="360299" b="1"/>
            <a:pathLst>
              <a:path w="360299" h="1" fill="none">
                <a:moveTo>
                  <a:pt x="0" y="0"/>
                </a:moveTo>
                <a:lnTo>
                  <a:pt x="36029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4727155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베임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5691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50471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찔림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29007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75311" y="211513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절단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54228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99008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골절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77544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23848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02384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70964" y="21151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87494" y="341366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유해물질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744566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811622" y="341366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29015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34938" y="341366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진폐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1372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060032" y="341366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요통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3856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87494" y="3779141"/>
            <a:ext cx="122052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뇌•심혈관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982310" y="37791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49366" y="37791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질환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27902" y="37791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787494" y="41454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직업성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05298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73878" y="41454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13146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959450" y="4145436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정신질환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916776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983832" y="41454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1" name="Shape 71"/>
          <p:cNvSpPr/>
          <p:nvPr/>
        </p:nvSpPr>
        <p:spPr>
          <a:xfrm>
            <a:off x="2939757" y="1952912"/>
            <a:ext cx="1678686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3146767" y="209351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업무상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864571" y="209351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933151" y="209351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75" name="Shape 75"/>
          <p:cNvSpPr/>
          <p:nvPr/>
        </p:nvSpPr>
        <p:spPr>
          <a:xfrm>
            <a:off x="2949804" y="3608566"/>
            <a:ext cx="1678686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3156814" y="37650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업무상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74618" y="37650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943452" y="37650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79" name="Shape 79"/>
          <p:cNvSpPr/>
          <p:nvPr/>
        </p:nvSpPr>
        <p:spPr>
          <a:xfrm>
            <a:off x="776629" y="2674780"/>
            <a:ext cx="1311275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907452" y="2800977"/>
            <a:ext cx="1070446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939757" y="4735374"/>
            <a:ext cx="50551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https://www.youtube.com/watch?v=NfhwtcTEVDw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81314" y="2549433"/>
            <a:ext cx="233830" cy="1042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2949803" y="5233708"/>
            <a:ext cx="51986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https://www.youtube.com/shorts/wMY935nM8r4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881314" y="2798597"/>
            <a:ext cx="504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https://www.youtube.com/shorts/rVRaHwM1Hb4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949803" y="5664572"/>
            <a:ext cx="5144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https://www.youtube.com/shorts/3gBpPC0DuvM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2950328" y="6104978"/>
            <a:ext cx="49726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https://www.youtube.com/watch?v=tA5k0_kXl0k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보호제도</a:t>
            </a:r>
          </a:p>
        </p:txBody>
      </p:sp>
      <p:sp>
        <p:nvSpPr>
          <p:cNvPr id="21" name="Shape 21"/>
          <p:cNvSpPr/>
          <p:nvPr/>
        </p:nvSpPr>
        <p:spPr>
          <a:xfrm>
            <a:off x="971550" y="2838386"/>
            <a:ext cx="1871726" cy="671513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971550" y="2838386"/>
            <a:ext cx="1871726" cy="671513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190854" y="2879358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한국산업안전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623" y="315434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보건공단</a:t>
            </a:r>
          </a:p>
        </p:txBody>
      </p:sp>
      <p:sp>
        <p:nvSpPr>
          <p:cNvPr id="25" name="Shape 25"/>
          <p:cNvSpPr/>
          <p:nvPr/>
        </p:nvSpPr>
        <p:spPr>
          <a:xfrm>
            <a:off x="3511550" y="2838386"/>
            <a:ext cx="1871599" cy="652463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3511550" y="2838386"/>
            <a:ext cx="1871599" cy="652463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3731387" y="3007401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근로복지공단</a:t>
            </a:r>
          </a:p>
        </p:txBody>
      </p:sp>
      <p:sp>
        <p:nvSpPr>
          <p:cNvPr id="28" name="Shape 28"/>
          <p:cNvSpPr/>
          <p:nvPr/>
        </p:nvSpPr>
        <p:spPr>
          <a:xfrm>
            <a:off x="6156325" y="2846388"/>
            <a:ext cx="1871726" cy="655638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156325" y="2846388"/>
            <a:ext cx="1871726" cy="655638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6376416" y="3017180"/>
            <a:ext cx="14641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근로복지공단</a:t>
            </a:r>
          </a:p>
        </p:txBody>
      </p:sp>
      <p:sp>
        <p:nvSpPr>
          <p:cNvPr id="31" name="Shape 31"/>
          <p:cNvSpPr/>
          <p:nvPr/>
        </p:nvSpPr>
        <p:spPr>
          <a:xfrm>
            <a:off x="971550" y="3605149"/>
            <a:ext cx="1871599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971550" y="3605149"/>
            <a:ext cx="1871599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071982" y="3700567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산업안전보건법</a:t>
            </a:r>
          </a:p>
        </p:txBody>
      </p:sp>
      <p:sp>
        <p:nvSpPr>
          <p:cNvPr id="34" name="Shape 34"/>
          <p:cNvSpPr/>
          <p:nvPr/>
        </p:nvSpPr>
        <p:spPr>
          <a:xfrm>
            <a:off x="3511550" y="3603117"/>
            <a:ext cx="1871599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3511550" y="3603117"/>
            <a:ext cx="1871599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3612515" y="3698408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산재보상보험법</a:t>
            </a:r>
          </a:p>
        </p:txBody>
      </p:sp>
      <p:sp>
        <p:nvSpPr>
          <p:cNvPr id="37" name="Shape 37"/>
          <p:cNvSpPr/>
          <p:nvPr/>
        </p:nvSpPr>
        <p:spPr>
          <a:xfrm>
            <a:off x="6156325" y="3603117"/>
            <a:ext cx="1871726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156325" y="3603117"/>
            <a:ext cx="1871726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257544" y="3698408"/>
            <a:ext cx="170529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산재보상보험법</a:t>
            </a:r>
          </a:p>
        </p:txBody>
      </p:sp>
      <p:sp>
        <p:nvSpPr>
          <p:cNvPr id="40" name="Shape 40"/>
          <p:cNvSpPr/>
          <p:nvPr/>
        </p:nvSpPr>
        <p:spPr>
          <a:xfrm>
            <a:off x="2973324" y="2168525"/>
            <a:ext cx="408051" cy="431800"/>
          </a:xfrm>
          <a:custGeom>
            <a:avLst/>
            <a:gdLst/>
            <a:ahLst/>
            <a:cxnLst/>
            <a:rect l="0" t="0" r="408051" b="431800"/>
            <a:pathLst>
              <a:path w="408051" h="431800" stroke="0">
                <a:moveTo>
                  <a:pt x="0" y="0"/>
                </a:moveTo>
                <a:lnTo>
                  <a:pt x="224282" y="0"/>
                </a:lnTo>
                <a:lnTo>
                  <a:pt x="408051" y="215900"/>
                </a:lnTo>
                <a:lnTo>
                  <a:pt x="224282" y="431800"/>
                </a:lnTo>
                <a:lnTo>
                  <a:pt x="0" y="431800"/>
                </a:lnTo>
                <a:lnTo>
                  <a:pt x="183896" y="215900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971550" y="2017166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971550" y="2017166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1607185" y="2207981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69313" y="2207981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47037" y="2207981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방</a:t>
            </a:r>
          </a:p>
        </p:txBody>
      </p:sp>
      <p:sp>
        <p:nvSpPr>
          <p:cNvPr id="46" name="Shape 46"/>
          <p:cNvSpPr/>
          <p:nvPr/>
        </p:nvSpPr>
        <p:spPr>
          <a:xfrm>
            <a:off x="3511550" y="2000276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3511550" y="2000276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4147439" y="2190683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"/>
                <a:cs typeface="나눔고딕"/>
              </a:rPr>
              <a:t>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409567" y="2190683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87291" y="2190683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"/>
                <a:cs typeface="나눔고딕"/>
              </a:rPr>
              <a:t>상</a:t>
            </a:r>
          </a:p>
        </p:txBody>
      </p:sp>
      <p:sp>
        <p:nvSpPr>
          <p:cNvPr id="51" name="Shape 51"/>
          <p:cNvSpPr/>
          <p:nvPr/>
        </p:nvSpPr>
        <p:spPr>
          <a:xfrm>
            <a:off x="6156325" y="1998497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6156325" y="1998497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6792722" y="2189439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재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54850" y="2189439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132574" y="2189439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활</a:t>
            </a:r>
          </a:p>
        </p:txBody>
      </p:sp>
      <p:sp>
        <p:nvSpPr>
          <p:cNvPr id="56" name="Shape 56"/>
          <p:cNvSpPr/>
          <p:nvPr/>
        </p:nvSpPr>
        <p:spPr>
          <a:xfrm>
            <a:off x="5565775" y="2164334"/>
            <a:ext cx="408051" cy="431800"/>
          </a:xfrm>
          <a:custGeom>
            <a:avLst/>
            <a:gdLst/>
            <a:ahLst/>
            <a:cxnLst/>
            <a:rect l="0" t="0" r="408051" b="431800"/>
            <a:pathLst>
              <a:path w="408051" h="431800" stroke="0">
                <a:moveTo>
                  <a:pt x="0" y="0"/>
                </a:moveTo>
                <a:lnTo>
                  <a:pt x="224155" y="0"/>
                </a:lnTo>
                <a:lnTo>
                  <a:pt x="408051" y="215900"/>
                </a:lnTo>
                <a:lnTo>
                  <a:pt x="224155" y="431800"/>
                </a:lnTo>
                <a:lnTo>
                  <a:pt x="0" y="431800"/>
                </a:lnTo>
                <a:lnTo>
                  <a:pt x="183769" y="215900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lstStyle/>
          <a:p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1461502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발생이론과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1296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359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31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54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844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93792" y="679170"/>
            <a:ext cx="58508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활동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3517" y="1254592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2513" y="1254592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6718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4442" y="1254592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9079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06803" y="1254592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메커니즘</a:t>
            </a:r>
          </a:p>
        </p:txBody>
      </p:sp>
      <p:sp>
        <p:nvSpPr>
          <p:cNvPr id="29" name="Shape 29"/>
          <p:cNvSpPr/>
          <p:nvPr/>
        </p:nvSpPr>
        <p:spPr>
          <a:xfrm>
            <a:off x="644703" y="3658032"/>
            <a:ext cx="1531493" cy="663524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44703" y="3651631"/>
            <a:ext cx="1" cy="676275"/>
          </a:xfrm>
          <a:custGeom>
            <a:avLst/>
            <a:gdLst/>
            <a:ahLst/>
            <a:cxnLst/>
            <a:rect l="0" t="0" r="1" b="676275"/>
            <a:pathLst>
              <a:path w="1" h="676275" fill="none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176145" y="3651631"/>
            <a:ext cx="1" cy="676275"/>
          </a:xfrm>
          <a:custGeom>
            <a:avLst/>
            <a:gdLst/>
            <a:ahLst/>
            <a:cxnLst/>
            <a:rect l="0" t="0" r="1" b="676275"/>
            <a:pathLst>
              <a:path w="1" h="676275" fill="none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638353" y="3657981"/>
            <a:ext cx="1544142" cy="1"/>
          </a:xfrm>
          <a:custGeom>
            <a:avLst/>
            <a:gdLst/>
            <a:ahLst/>
            <a:cxnLst/>
            <a:rect l="0" t="0" r="1544142" b="1"/>
            <a:pathLst>
              <a:path w="1544142" h="1" fill="none">
                <a:moveTo>
                  <a:pt x="0" y="0"/>
                </a:moveTo>
                <a:lnTo>
                  <a:pt x="1544142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638353" y="4321556"/>
            <a:ext cx="1544142" cy="1"/>
          </a:xfrm>
          <a:custGeom>
            <a:avLst/>
            <a:gdLst/>
            <a:ahLst/>
            <a:cxnLst/>
            <a:rect l="0" t="0" r="1544142" b="1"/>
            <a:pathLst>
              <a:path w="1544142" h="1" fill="none">
                <a:moveTo>
                  <a:pt x="0" y="0"/>
                </a:moveTo>
                <a:lnTo>
                  <a:pt x="1544142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806806" y="372554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조직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6574" y="37255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9187" y="372554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14093" y="37255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95426" y="399986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39" name="Shape 39"/>
          <p:cNvSpPr/>
          <p:nvPr/>
        </p:nvSpPr>
        <p:spPr>
          <a:xfrm>
            <a:off x="2463038" y="2860230"/>
            <a:ext cx="1285875" cy="585788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463038" y="28538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3748913" y="28538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456688" y="2860167"/>
            <a:ext cx="1298575" cy="1"/>
          </a:xfrm>
          <a:custGeom>
            <a:avLst/>
            <a:gdLst/>
            <a:ahLst/>
            <a:cxnLst/>
            <a:rect l="0" t="0" r="1298575" b="1"/>
            <a:pathLst>
              <a:path w="1298575" h="1" fill="none">
                <a:moveTo>
                  <a:pt x="0" y="0"/>
                </a:moveTo>
                <a:lnTo>
                  <a:pt x="129857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2456688" y="3446018"/>
            <a:ext cx="1298575" cy="1"/>
          </a:xfrm>
          <a:custGeom>
            <a:avLst/>
            <a:gdLst/>
            <a:ahLst/>
            <a:cxnLst/>
            <a:rect l="0" t="0" r="1298575" b="1"/>
            <a:pathLst>
              <a:path w="1298575" h="1" fill="none">
                <a:moveTo>
                  <a:pt x="0" y="0"/>
                </a:moveTo>
                <a:lnTo>
                  <a:pt x="129857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675890" y="2861183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90774" y="3135223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상태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20796" y="3135223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Shape 47"/>
          <p:cNvSpPr/>
          <p:nvPr/>
        </p:nvSpPr>
        <p:spPr>
          <a:xfrm>
            <a:off x="1410462" y="3047492"/>
            <a:ext cx="1" cy="576326"/>
          </a:xfrm>
          <a:custGeom>
            <a:avLst/>
            <a:gdLst/>
            <a:ahLst/>
            <a:cxnLst/>
            <a:rect l="0" t="0" r="1" b="576326"/>
            <a:pathLst>
              <a:path w="1" h="576326" fill="none">
                <a:moveTo>
                  <a:pt x="0" y="57632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1410462" y="2997581"/>
            <a:ext cx="962025" cy="99822"/>
          </a:xfrm>
          <a:custGeom>
            <a:avLst/>
            <a:gdLst/>
            <a:ahLst/>
            <a:cxnLst/>
            <a:rect l="0" t="0" r="962025" b="99822"/>
            <a:pathLst>
              <a:path w="962025" h="99822" stroke="0">
                <a:moveTo>
                  <a:pt x="0" y="45212"/>
                </a:moveTo>
                <a:lnTo>
                  <a:pt x="952627" y="45212"/>
                </a:lnTo>
                <a:lnTo>
                  <a:pt x="952627" y="54737"/>
                </a:lnTo>
                <a:lnTo>
                  <a:pt x="0" y="54737"/>
                </a:lnTo>
                <a:close/>
                <a:moveTo>
                  <a:pt x="878840" y="1397"/>
                </a:moveTo>
                <a:lnTo>
                  <a:pt x="962025" y="49911"/>
                </a:lnTo>
                <a:lnTo>
                  <a:pt x="878840" y="98552"/>
                </a:lnTo>
                <a:cubicBezTo>
                  <a:pt x="876554" y="99822"/>
                  <a:pt x="873633" y="99060"/>
                  <a:pt x="872236" y="96774"/>
                </a:cubicBezTo>
                <a:cubicBezTo>
                  <a:pt x="870966" y="94488"/>
                  <a:pt x="871728" y="91567"/>
                  <a:pt x="874014" y="90297"/>
                </a:cubicBezTo>
                <a:lnTo>
                  <a:pt x="950214" y="45847"/>
                </a:lnTo>
                <a:lnTo>
                  <a:pt x="950214" y="54102"/>
                </a:lnTo>
                <a:lnTo>
                  <a:pt x="874014" y="9652"/>
                </a:lnTo>
                <a:cubicBezTo>
                  <a:pt x="871728" y="8255"/>
                  <a:pt x="870966" y="5334"/>
                  <a:pt x="872236" y="3048"/>
                </a:cubicBezTo>
                <a:cubicBezTo>
                  <a:pt x="873633" y="889"/>
                  <a:pt x="876554" y="0"/>
                  <a:pt x="878840" y="1397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3817112" y="3067304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4248912" y="2412492"/>
            <a:ext cx="3000375" cy="1104900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4248912" y="2412492"/>
            <a:ext cx="3000375" cy="11049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4533138" y="2887218"/>
            <a:ext cx="936625" cy="447675"/>
          </a:xfrm>
          <a:prstGeom prst="rect">
            <a:avLst/>
          </a:prstGeom>
          <a:solidFill>
            <a:srgbClr val="F39B8F"/>
          </a:solidFill>
        </p:spPr>
        <p:txBody>
          <a:bodyPr/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4533138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469763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4526788" y="2887218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hape 56"/>
          <p:cNvSpPr/>
          <p:nvPr/>
        </p:nvSpPr>
        <p:spPr>
          <a:xfrm>
            <a:off x="4526788" y="3334893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4679315" y="295630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기인물</a:t>
            </a:r>
          </a:p>
        </p:txBody>
      </p:sp>
      <p:sp>
        <p:nvSpPr>
          <p:cNvPr id="58" name="Shape 58"/>
          <p:cNvSpPr/>
          <p:nvPr/>
        </p:nvSpPr>
        <p:spPr>
          <a:xfrm>
            <a:off x="6117463" y="2887218"/>
            <a:ext cx="936625" cy="447675"/>
          </a:xfrm>
          <a:prstGeom prst="rect">
            <a:avLst/>
          </a:prstGeom>
          <a:solidFill>
            <a:srgbClr val="C694AD"/>
          </a:solidFill>
        </p:spPr>
        <p:txBody>
          <a:bodyPr/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117463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7054088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6111113" y="2887218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hape 62"/>
          <p:cNvSpPr/>
          <p:nvPr/>
        </p:nvSpPr>
        <p:spPr>
          <a:xfrm>
            <a:off x="6111113" y="3334893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6263894" y="295630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가해물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337939" y="250850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52823" y="250850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35119" y="250850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850003" y="2508504"/>
            <a:ext cx="28353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79" dirty="0">
                <a:solidFill>
                  <a:srgbClr val="000000"/>
                </a:solidFill>
                <a:latin typeface="나눔고딕 2"/>
                <a:cs typeface="나눔고딕 2"/>
              </a:rPr>
              <a:t>) :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128895" y="2508504"/>
            <a:ext cx="87765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기계설비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88685" y="250850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119749" y="2508504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작업환경</a:t>
            </a:r>
          </a:p>
        </p:txBody>
      </p:sp>
      <p:sp>
        <p:nvSpPr>
          <p:cNvPr id="71" name="Shape 71"/>
          <p:cNvSpPr/>
          <p:nvPr/>
        </p:nvSpPr>
        <p:spPr>
          <a:xfrm>
            <a:off x="5541137" y="3067304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72" name="Shape 72"/>
          <p:cNvSpPr/>
          <p:nvPr/>
        </p:nvSpPr>
        <p:spPr>
          <a:xfrm>
            <a:off x="2463038" y="4879530"/>
            <a:ext cx="1357376" cy="585788"/>
          </a:xfrm>
          <a:prstGeom prst="rect">
            <a:avLst/>
          </a:prstGeom>
          <a:solidFill>
            <a:srgbClr val="D3D3EB"/>
          </a:solidFill>
        </p:spPr>
        <p:txBody>
          <a:bodyPr/>
          <a:lstStyle/>
          <a:p>
            <a:endParaRPr/>
          </a:p>
        </p:txBody>
      </p:sp>
      <p:sp>
        <p:nvSpPr>
          <p:cNvPr id="73" name="Shape 73"/>
          <p:cNvSpPr/>
          <p:nvPr/>
        </p:nvSpPr>
        <p:spPr>
          <a:xfrm>
            <a:off x="2463038" y="48731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Shape 74"/>
          <p:cNvSpPr/>
          <p:nvPr/>
        </p:nvSpPr>
        <p:spPr>
          <a:xfrm>
            <a:off x="3820287" y="48731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Shape 75"/>
          <p:cNvSpPr/>
          <p:nvPr/>
        </p:nvSpPr>
        <p:spPr>
          <a:xfrm>
            <a:off x="2456688" y="4879467"/>
            <a:ext cx="1369949" cy="1"/>
          </a:xfrm>
          <a:custGeom>
            <a:avLst/>
            <a:gdLst/>
            <a:ahLst/>
            <a:cxnLst/>
            <a:rect l="0" t="0" r="1369949" b="1"/>
            <a:pathLst>
              <a:path w="1369949" h="1" fill="none">
                <a:moveTo>
                  <a:pt x="0" y="0"/>
                </a:moveTo>
                <a:lnTo>
                  <a:pt x="136994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Shape 76"/>
          <p:cNvSpPr/>
          <p:nvPr/>
        </p:nvSpPr>
        <p:spPr>
          <a:xfrm>
            <a:off x="2456688" y="5465318"/>
            <a:ext cx="1369949" cy="1"/>
          </a:xfrm>
          <a:custGeom>
            <a:avLst/>
            <a:gdLst/>
            <a:ahLst/>
            <a:cxnLst/>
            <a:rect l="0" t="0" r="1369949" b="1"/>
            <a:pathLst>
              <a:path w="1369949" h="1" fill="none">
                <a:moveTo>
                  <a:pt x="0" y="0"/>
                </a:moveTo>
                <a:lnTo>
                  <a:pt x="136994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TextBox 77"/>
          <p:cNvSpPr txBox="1"/>
          <p:nvPr/>
        </p:nvSpPr>
        <p:spPr>
          <a:xfrm>
            <a:off x="2712466" y="488111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572256" y="488111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63342" y="5155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989834" y="5155438"/>
            <a:ext cx="43867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419856" y="5155438"/>
            <a:ext cx="19423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93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82" name="Shape 82"/>
          <p:cNvSpPr/>
          <p:nvPr/>
        </p:nvSpPr>
        <p:spPr>
          <a:xfrm>
            <a:off x="6177788" y="4962017"/>
            <a:ext cx="936625" cy="447675"/>
          </a:xfrm>
          <a:prstGeom prst="rect">
            <a:avLst/>
          </a:prstGeom>
          <a:solidFill>
            <a:srgbClr val="D3D3EB"/>
          </a:solidFill>
        </p:spPr>
        <p:txBody>
          <a:bodyPr/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>
            <a:off x="6177788" y="4955667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Shape 84"/>
          <p:cNvSpPr/>
          <p:nvPr/>
        </p:nvSpPr>
        <p:spPr>
          <a:xfrm>
            <a:off x="7114413" y="4955667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Shape 85"/>
          <p:cNvSpPr/>
          <p:nvPr/>
        </p:nvSpPr>
        <p:spPr>
          <a:xfrm>
            <a:off x="6171438" y="4962017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Shape 86"/>
          <p:cNvSpPr/>
          <p:nvPr/>
        </p:nvSpPr>
        <p:spPr>
          <a:xfrm>
            <a:off x="6171438" y="5409692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TextBox 87"/>
          <p:cNvSpPr txBox="1"/>
          <p:nvPr/>
        </p:nvSpPr>
        <p:spPr>
          <a:xfrm>
            <a:off x="6324346" y="503161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작업자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441694" y="3893185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접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656578" y="3893185"/>
            <a:ext cx="19423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93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47078" y="3893185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촉</a:t>
            </a:r>
          </a:p>
        </p:txBody>
      </p:sp>
      <p:sp>
        <p:nvSpPr>
          <p:cNvPr id="91" name="Shape 91"/>
          <p:cNvSpPr/>
          <p:nvPr/>
        </p:nvSpPr>
        <p:spPr>
          <a:xfrm>
            <a:off x="1410462" y="4443095"/>
            <a:ext cx="8763" cy="804672"/>
          </a:xfrm>
          <a:custGeom>
            <a:avLst/>
            <a:gdLst/>
            <a:ahLst/>
            <a:cxnLst/>
            <a:rect l="0" t="0" r="8763" b="804672"/>
            <a:pathLst>
              <a:path w="8763" h="804672" fill="none">
                <a:moveTo>
                  <a:pt x="0" y="0"/>
                </a:moveTo>
                <a:lnTo>
                  <a:pt x="8763" y="804672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1419225" y="5196078"/>
            <a:ext cx="953262" cy="103378"/>
          </a:xfrm>
          <a:custGeom>
            <a:avLst/>
            <a:gdLst/>
            <a:ahLst/>
            <a:cxnLst/>
            <a:rect l="0" t="0" r="953262" b="103378"/>
            <a:pathLst>
              <a:path w="953262" h="103378" stroke="0">
                <a:moveTo>
                  <a:pt x="0" y="45339"/>
                </a:moveTo>
                <a:lnTo>
                  <a:pt x="940689" y="45339"/>
                </a:lnTo>
                <a:lnTo>
                  <a:pt x="940689" y="58039"/>
                </a:lnTo>
                <a:lnTo>
                  <a:pt x="0" y="58039"/>
                </a:lnTo>
                <a:close/>
                <a:moveTo>
                  <a:pt x="867664" y="1778"/>
                </a:moveTo>
                <a:lnTo>
                  <a:pt x="953262" y="51689"/>
                </a:lnTo>
                <a:lnTo>
                  <a:pt x="867664" y="101600"/>
                </a:lnTo>
                <a:cubicBezTo>
                  <a:pt x="864616" y="103378"/>
                  <a:pt x="860806" y="102362"/>
                  <a:pt x="859028" y="99314"/>
                </a:cubicBezTo>
                <a:cubicBezTo>
                  <a:pt x="857250" y="96393"/>
                  <a:pt x="858266" y="92456"/>
                  <a:pt x="861314" y="90678"/>
                </a:cubicBezTo>
                <a:lnTo>
                  <a:pt x="937514" y="46228"/>
                </a:lnTo>
                <a:lnTo>
                  <a:pt x="937514" y="57150"/>
                </a:lnTo>
                <a:lnTo>
                  <a:pt x="861314" y="12700"/>
                </a:lnTo>
                <a:cubicBezTo>
                  <a:pt x="858266" y="11049"/>
                  <a:pt x="857250" y="7112"/>
                  <a:pt x="859028" y="4064"/>
                </a:cubicBezTo>
                <a:cubicBezTo>
                  <a:pt x="860806" y="1016"/>
                  <a:pt x="864616" y="0"/>
                  <a:pt x="867664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3891788" y="5123053"/>
            <a:ext cx="2159000" cy="103378"/>
          </a:xfrm>
          <a:custGeom>
            <a:avLst/>
            <a:gdLst/>
            <a:ahLst/>
            <a:cxnLst/>
            <a:rect l="0" t="0" r="2159000" b="103378"/>
            <a:pathLst>
              <a:path w="2159000" h="103378" stroke="0">
                <a:moveTo>
                  <a:pt x="0" y="45339"/>
                </a:moveTo>
                <a:lnTo>
                  <a:pt x="2146300" y="45339"/>
                </a:lnTo>
                <a:lnTo>
                  <a:pt x="2146300" y="58039"/>
                </a:lnTo>
                <a:lnTo>
                  <a:pt x="0" y="58039"/>
                </a:lnTo>
                <a:close/>
                <a:moveTo>
                  <a:pt x="2073402" y="1778"/>
                </a:moveTo>
                <a:lnTo>
                  <a:pt x="2159000" y="51689"/>
                </a:lnTo>
                <a:lnTo>
                  <a:pt x="2073402" y="101600"/>
                </a:lnTo>
                <a:cubicBezTo>
                  <a:pt x="2070354" y="103378"/>
                  <a:pt x="2066417" y="102362"/>
                  <a:pt x="2064639" y="99314"/>
                </a:cubicBezTo>
                <a:cubicBezTo>
                  <a:pt x="2062988" y="96393"/>
                  <a:pt x="2064004" y="92456"/>
                  <a:pt x="2066925" y="90678"/>
                </a:cubicBezTo>
                <a:lnTo>
                  <a:pt x="2143125" y="46228"/>
                </a:lnTo>
                <a:lnTo>
                  <a:pt x="2143125" y="57150"/>
                </a:lnTo>
                <a:lnTo>
                  <a:pt x="2066925" y="12700"/>
                </a:lnTo>
                <a:cubicBezTo>
                  <a:pt x="2064004" y="11049"/>
                  <a:pt x="2062988" y="7112"/>
                  <a:pt x="2064639" y="4064"/>
                </a:cubicBezTo>
                <a:cubicBezTo>
                  <a:pt x="2066417" y="1016"/>
                  <a:pt x="2070354" y="0"/>
                  <a:pt x="20734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7125462" y="4003929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5" name="Shape 95"/>
          <p:cNvSpPr/>
          <p:nvPr/>
        </p:nvSpPr>
        <p:spPr>
          <a:xfrm>
            <a:off x="6697472" y="3519043"/>
            <a:ext cx="103505" cy="1224026"/>
          </a:xfrm>
          <a:custGeom>
            <a:avLst/>
            <a:gdLst/>
            <a:ahLst/>
            <a:cxnLst/>
            <a:rect l="0" t="0" r="103505" b="1224026"/>
            <a:pathLst>
              <a:path w="103505" h="1224026" stroke="0">
                <a:moveTo>
                  <a:pt x="58166" y="12573"/>
                </a:moveTo>
                <a:lnTo>
                  <a:pt x="58166" y="1211326"/>
                </a:lnTo>
                <a:lnTo>
                  <a:pt x="45466" y="1211326"/>
                </a:lnTo>
                <a:lnTo>
                  <a:pt x="45466" y="12573"/>
                </a:lnTo>
                <a:close/>
                <a:moveTo>
                  <a:pt x="1778" y="85598"/>
                </a:moveTo>
                <a:lnTo>
                  <a:pt x="51816" y="0"/>
                </a:lnTo>
                <a:lnTo>
                  <a:pt x="101727" y="85598"/>
                </a:lnTo>
                <a:cubicBezTo>
                  <a:pt x="103505" y="88519"/>
                  <a:pt x="102489" y="92456"/>
                  <a:pt x="99441" y="94234"/>
                </a:cubicBezTo>
                <a:cubicBezTo>
                  <a:pt x="96393" y="96012"/>
                  <a:pt x="92456" y="94996"/>
                  <a:pt x="90678" y="91948"/>
                </a:cubicBezTo>
                <a:lnTo>
                  <a:pt x="46228" y="15748"/>
                </a:lnTo>
                <a:lnTo>
                  <a:pt x="57277" y="15748"/>
                </a:lnTo>
                <a:lnTo>
                  <a:pt x="12827" y="91948"/>
                </a:lnTo>
                <a:cubicBezTo>
                  <a:pt x="11049" y="94996"/>
                  <a:pt x="7112" y="96012"/>
                  <a:pt x="4064" y="94234"/>
                </a:cubicBezTo>
                <a:cubicBezTo>
                  <a:pt x="1143" y="92456"/>
                  <a:pt x="0" y="88519"/>
                  <a:pt x="1778" y="85598"/>
                </a:cubicBezTo>
                <a:close/>
                <a:moveTo>
                  <a:pt x="101727" y="1138301"/>
                </a:moveTo>
                <a:lnTo>
                  <a:pt x="51816" y="1224026"/>
                </a:lnTo>
                <a:lnTo>
                  <a:pt x="1778" y="1138301"/>
                </a:lnTo>
                <a:cubicBezTo>
                  <a:pt x="127" y="1135380"/>
                  <a:pt x="1143" y="1131443"/>
                  <a:pt x="4064" y="1129665"/>
                </a:cubicBezTo>
                <a:cubicBezTo>
                  <a:pt x="7112" y="1127887"/>
                  <a:pt x="11049" y="1128903"/>
                  <a:pt x="12827" y="1131951"/>
                </a:cubicBezTo>
                <a:lnTo>
                  <a:pt x="12827" y="1131951"/>
                </a:lnTo>
                <a:lnTo>
                  <a:pt x="57277" y="1208151"/>
                </a:lnTo>
                <a:lnTo>
                  <a:pt x="46228" y="1208151"/>
                </a:lnTo>
                <a:lnTo>
                  <a:pt x="90678" y="1131951"/>
                </a:lnTo>
                <a:cubicBezTo>
                  <a:pt x="92456" y="1128903"/>
                  <a:pt x="96393" y="1127887"/>
                  <a:pt x="99441" y="1129665"/>
                </a:cubicBezTo>
                <a:cubicBezTo>
                  <a:pt x="102489" y="1131443"/>
                  <a:pt x="103505" y="1135380"/>
                  <a:pt x="101727" y="1138301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6" name="TextBox 96"/>
          <p:cNvSpPr txBox="1"/>
          <p:nvPr/>
        </p:nvSpPr>
        <p:spPr>
          <a:xfrm>
            <a:off x="2537206" y="34805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(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624074" y="3471418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054096" y="347141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13532" y="3471418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543300" y="34805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)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571242" y="45565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(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658110" y="4547362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인적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087878" y="45473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147314" y="4547362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77082" y="45565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)</a:t>
            </a:r>
          </a:p>
        </p:txBody>
      </p:sp>
      <p:sp>
        <p:nvSpPr>
          <p:cNvPr id="106" name="Shape 106"/>
          <p:cNvSpPr/>
          <p:nvPr/>
        </p:nvSpPr>
        <p:spPr>
          <a:xfrm>
            <a:off x="7609713" y="3520567"/>
            <a:ext cx="1100074" cy="1081151"/>
          </a:xfrm>
          <a:custGeom>
            <a:avLst/>
            <a:gdLst/>
            <a:ahLst/>
            <a:cxnLst/>
            <a:rect l="0" t="0" r="1100074" b="1081151"/>
            <a:pathLst>
              <a:path w="1100074" h="1081151" stroke="0">
                <a:moveTo>
                  <a:pt x="0" y="540639"/>
                </a:moveTo>
                <a:lnTo>
                  <a:pt x="550037" y="0"/>
                </a:lnTo>
                <a:lnTo>
                  <a:pt x="1100074" y="540639"/>
                </a:lnTo>
                <a:lnTo>
                  <a:pt x="550037" y="1081151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7609713" y="3520567"/>
            <a:ext cx="1100074" cy="1081151"/>
          </a:xfrm>
          <a:custGeom>
            <a:avLst/>
            <a:gdLst/>
            <a:ahLst/>
            <a:cxnLst/>
            <a:rect l="0" t="0" r="1100074" b="1081151"/>
            <a:pathLst>
              <a:path w="1100074" h="1081151" fill="none">
                <a:moveTo>
                  <a:pt x="0" y="540639"/>
                </a:moveTo>
                <a:lnTo>
                  <a:pt x="550037" y="0"/>
                </a:lnTo>
                <a:lnTo>
                  <a:pt x="1100074" y="540639"/>
                </a:lnTo>
                <a:lnTo>
                  <a:pt x="550037" y="1081151"/>
                </a:lnTo>
                <a:close/>
              </a:path>
            </a:pathLst>
          </a:custGeom>
          <a:noFill/>
          <a:ln w="12700">
            <a:solidFill>
              <a:srgbClr val="41719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TextBox 108"/>
          <p:cNvSpPr txBox="1"/>
          <p:nvPr/>
        </p:nvSpPr>
        <p:spPr>
          <a:xfrm>
            <a:off x="8041513" y="376698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재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041513" y="407178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해</a:t>
            </a:r>
          </a:p>
        </p:txBody>
      </p:sp>
      <p:sp>
        <p:nvSpPr>
          <p:cNvPr id="110" name="Shape 110"/>
          <p:cNvSpPr/>
          <p:nvPr/>
        </p:nvSpPr>
        <p:spPr>
          <a:xfrm>
            <a:off x="6034913" y="4814418"/>
            <a:ext cx="1225550" cy="108108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TextBox 111"/>
          <p:cNvSpPr txBox="1"/>
          <p:nvPr/>
        </p:nvSpPr>
        <p:spPr>
          <a:xfrm>
            <a:off x="6354445" y="552541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569329" y="552541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651625" y="552541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人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866509" y="552541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520442" y="211344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613406" y="2113448"/>
            <a:ext cx="9715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직접원인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566160" y="211344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]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42162" y="21158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35126" y="2115861"/>
            <a:ext cx="9724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근본원인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887982" y="21158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]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2508" y="5957111"/>
            <a:ext cx="6752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https://www.youtube.com/watch?v=NBVk94KFAZA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1461502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발생이론과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1296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359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31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54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844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93792" y="679170"/>
            <a:ext cx="58508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활동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3517" y="1254592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2513" y="1254592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8846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66570" y="1254592"/>
            <a:ext cx="1070446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15463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91663" y="1254592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예방활동</a:t>
            </a:r>
          </a:p>
        </p:txBody>
      </p:sp>
      <p:sp>
        <p:nvSpPr>
          <p:cNvPr id="29" name="Shape 29"/>
          <p:cNvSpPr/>
          <p:nvPr/>
        </p:nvSpPr>
        <p:spPr>
          <a:xfrm>
            <a:off x="2075734" y="5583418"/>
            <a:ext cx="5841238" cy="76200"/>
          </a:xfrm>
          <a:custGeom>
            <a:avLst/>
            <a:gdLst/>
            <a:ahLst/>
            <a:cxnLst/>
            <a:rect l="0" t="0" r="5841238" b="76200"/>
            <a:pathLst>
              <a:path w="5841238" h="76200" stroke="0">
                <a:moveTo>
                  <a:pt x="0" y="31750"/>
                </a:moveTo>
                <a:lnTo>
                  <a:pt x="5777865" y="31750"/>
                </a:lnTo>
                <a:lnTo>
                  <a:pt x="5777865" y="44450"/>
                </a:lnTo>
                <a:lnTo>
                  <a:pt x="0" y="44450"/>
                </a:lnTo>
                <a:close/>
                <a:moveTo>
                  <a:pt x="5765038" y="0"/>
                </a:moveTo>
                <a:lnTo>
                  <a:pt x="5841238" y="38100"/>
                </a:lnTo>
                <a:lnTo>
                  <a:pt x="576503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2037634" y="1858356"/>
            <a:ext cx="76200" cy="3763162"/>
          </a:xfrm>
          <a:custGeom>
            <a:avLst/>
            <a:gdLst/>
            <a:ahLst/>
            <a:cxnLst/>
            <a:rect l="0" t="0" r="76200" b="3763162"/>
            <a:pathLst>
              <a:path w="76200" h="3763162" stroke="0">
                <a:moveTo>
                  <a:pt x="44450" y="3763162"/>
                </a:moveTo>
                <a:lnTo>
                  <a:pt x="44450" y="63627"/>
                </a:lnTo>
                <a:lnTo>
                  <a:pt x="31750" y="63627"/>
                </a:lnTo>
                <a:lnTo>
                  <a:pt x="31750" y="3763162"/>
                </a:lnTo>
                <a:close/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236770" y="1948653"/>
            <a:ext cx="1724406" cy="1092581"/>
          </a:xfrm>
          <a:custGeom>
            <a:avLst/>
            <a:gdLst/>
            <a:ahLst/>
            <a:cxnLst/>
            <a:rect l="0" t="0" r="1724406" b="1092581"/>
            <a:pathLst>
              <a:path w="1724406" h="1092581" fill="none">
                <a:moveTo>
                  <a:pt x="0" y="0"/>
                </a:moveTo>
                <a:cubicBezTo>
                  <a:pt x="91440" y="371475"/>
                  <a:pt x="182880" y="742950"/>
                  <a:pt x="470281" y="917829"/>
                </a:cubicBezTo>
                <a:cubicBezTo>
                  <a:pt x="757682" y="1092581"/>
                  <a:pt x="1241044" y="1070737"/>
                  <a:pt x="1724406" y="1048893"/>
                </a:cubicBezTo>
              </a:path>
            </a:pathLst>
          </a:custGeom>
          <a:noFill/>
          <a:ln w="19050">
            <a:solidFill>
              <a:srgbClr val="ED7D3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3958636" y="2997927"/>
            <a:ext cx="1805051" cy="1044956"/>
          </a:xfrm>
          <a:custGeom>
            <a:avLst/>
            <a:gdLst/>
            <a:ahLst/>
            <a:cxnLst/>
            <a:rect l="0" t="0" r="1805051" b="1044956"/>
            <a:pathLst>
              <a:path w="1805051" h="1044956" fill="none">
                <a:moveTo>
                  <a:pt x="0" y="0"/>
                </a:moveTo>
                <a:cubicBezTo>
                  <a:pt x="95758" y="355219"/>
                  <a:pt x="191516" y="710565"/>
                  <a:pt x="492252" y="877824"/>
                </a:cubicBezTo>
                <a:cubicBezTo>
                  <a:pt x="793115" y="1044956"/>
                  <a:pt x="1299083" y="1024128"/>
                  <a:pt x="1805051" y="1003173"/>
                </a:cubicBezTo>
              </a:path>
            </a:pathLst>
          </a:custGeom>
          <a:noFill/>
          <a:ln w="19050">
            <a:solidFill>
              <a:srgbClr val="ED7D3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4623989" y="318923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19243" y="199718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감독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97779" y="199718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19243" y="230251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97779" y="23025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90743" y="230251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68009" y="23025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2383" y="212636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9419" y="24308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2383" y="243088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90441" y="24308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29597" y="577512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</a:t>
            </a:r>
          </a:p>
        </p:txBody>
      </p:sp>
      <p:sp>
        <p:nvSpPr>
          <p:cNvPr id="45" name="Shape 45"/>
          <p:cNvSpPr/>
          <p:nvPr/>
        </p:nvSpPr>
        <p:spPr>
          <a:xfrm>
            <a:off x="5773212" y="4007450"/>
            <a:ext cx="1990725" cy="1270178"/>
          </a:xfrm>
          <a:custGeom>
            <a:avLst/>
            <a:gdLst/>
            <a:ahLst/>
            <a:cxnLst/>
            <a:rect l="0" t="0" r="1990725" b="1270178"/>
            <a:pathLst>
              <a:path w="1990725" h="1270178" fill="none">
                <a:moveTo>
                  <a:pt x="0" y="0"/>
                </a:moveTo>
                <a:cubicBezTo>
                  <a:pt x="105537" y="431800"/>
                  <a:pt x="211074" y="863727"/>
                  <a:pt x="542925" y="1066927"/>
                </a:cubicBezTo>
                <a:cubicBezTo>
                  <a:pt x="874649" y="1270178"/>
                  <a:pt x="1432687" y="1244727"/>
                  <a:pt x="1990725" y="1219327"/>
                </a:cubicBezTo>
              </a:path>
            </a:pathLst>
          </a:custGeom>
          <a:noFill/>
          <a:ln w="19050">
            <a:solidFill>
              <a:srgbClr val="BF9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6559723" y="433438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안전문화</a:t>
            </a:r>
          </a:p>
        </p:txBody>
      </p:sp>
      <p:sp>
        <p:nvSpPr>
          <p:cNvPr id="47" name="Shape 47"/>
          <p:cNvSpPr/>
          <p:nvPr/>
        </p:nvSpPr>
        <p:spPr>
          <a:xfrm>
            <a:off x="2294301" y="3555838"/>
            <a:ext cx="1541399" cy="1554226"/>
          </a:xfrm>
          <a:prstGeom prst="rect">
            <a:avLst/>
          </a:prstGeom>
          <a:noFill/>
          <a:ln w="15875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2386122" y="3616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38522" y="3612267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법규준수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86122" y="3997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38522" y="399326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교육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17312" y="39932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62092" y="39932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훈련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86122" y="4378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38522" y="4374267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설비개선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86122" y="475880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38522" y="475498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점검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17312" y="47549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162092" y="475498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진단</a:t>
            </a:r>
          </a:p>
        </p:txBody>
      </p:sp>
      <p:sp>
        <p:nvSpPr>
          <p:cNvPr id="60" name="Shape 60"/>
          <p:cNvSpPr/>
          <p:nvPr/>
        </p:nvSpPr>
        <p:spPr>
          <a:xfrm>
            <a:off x="3968161" y="4386405"/>
            <a:ext cx="1847215" cy="1092606"/>
          </a:xfrm>
          <a:prstGeom prst="rect">
            <a:avLst/>
          </a:prstGeom>
          <a:noFill/>
          <a:ln w="15875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Box 61"/>
          <p:cNvSpPr txBox="1"/>
          <p:nvPr/>
        </p:nvSpPr>
        <p:spPr>
          <a:xfrm>
            <a:off x="4060363" y="44463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12763" y="4442566"/>
            <a:ext cx="146302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안전보건경영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12763" y="474790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60363" y="51327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212763" y="512895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위험성평가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263303" y="1691918"/>
            <a:ext cx="5569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https://www.youtube.com/watch?v=XVybyrXqcE0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273722" y="2131994"/>
            <a:ext cx="5088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https://www.youtube.com/watch?v=AjHECeYYH8g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8193" y="142598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601" y="1420636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헌법에서의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9366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6422" y="142063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인권존중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63875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30931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7039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0107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3071" y="191139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2390" y="1911391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0492" y="1911391"/>
            <a:ext cx="985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조) “모든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6708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86812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04870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73450" y="1911391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인간으로서의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06010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73066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존엄과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91251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59831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가치를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77635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4691" y="19113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가지며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62749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07529" y="19113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행복을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0399" y="2292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추구할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78508" y="2292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47088" y="2292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64892" y="2292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633472" y="2292391"/>
            <a:ext cx="9010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가진다.”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6037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9105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2069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1388" y="3383158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34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29490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68758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7338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76606" y="3383158"/>
            <a:ext cx="15750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30530" y="3383158"/>
            <a:ext cx="98735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항) “모든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298270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67104" y="338315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084908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53488" y="338315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인간다운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10560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177616" y="3383158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생활을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895801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962857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할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02125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73753" y="338315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91557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58613" y="3383158"/>
            <a:ext cx="90266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가진다.”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1901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14969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7933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7252" y="4115561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35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55354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894622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963202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02470" y="4115561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356394" y="4115561"/>
            <a:ext cx="9870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항) “모든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324134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392968" y="41155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110772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179352" y="411556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건강하고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36424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203480" y="411556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쾌적한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921665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988721" y="411556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환경에서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945793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012849" y="411556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생활할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65261" y="44965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783370" y="4496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51950" y="4496561"/>
            <a:ext cx="121475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가지며, …”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46084" y="499884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85352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55456" y="49988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인권존중의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450628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517684" y="499884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이념은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235488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04068" y="4998846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‘안전’의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116360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184940" y="499884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9886" y="5687460"/>
            <a:ext cx="5715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https://www.youtube.com/watch?v=NkZXcZxlwBE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12439" y="6114106"/>
            <a:ext cx="5786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https://www.youtube.com/watch?v=FJz2q9jubIo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73517" y="2727740"/>
            <a:ext cx="5122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https://www.youtube.com/watch?v=SuV8S78sAok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963812" y="2981570"/>
            <a:ext cx="5450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https://www.youtube.com/watch?v=L2MnXjUE9AU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963811" y="3704256"/>
            <a:ext cx="6508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https://www.youtube.com/watch?v=d_q3oJffYQ4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7010" y="124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418" y="1240793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안전관리활동의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5576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92632" y="124079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기본사상은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6132" y="1240793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‘생명의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91434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60014" y="1240793"/>
            <a:ext cx="780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소중함’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5062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242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2531" y="169773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7626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4682" y="169773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2486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71066" y="169773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종업원의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28519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95575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74111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67075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4408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1143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89679" y="1697739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12437" y="169773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51705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44669" y="169773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8393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2517" y="169773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대기업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8147" y="2078458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인사부장의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94766" y="20784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61822" y="207845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3159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2991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5955" y="2459993"/>
            <a:ext cx="17176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부인) “회사에는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70254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7310" y="245999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76578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48206" y="2459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2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95322" y="2459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일하고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413507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82087" y="2459993"/>
            <a:ext cx="1206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있습니까?”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159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2991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85955" y="2840993"/>
            <a:ext cx="211745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인사부장) “3만명이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61922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30502" y="2840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일하고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948306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15362" y="2840993"/>
            <a:ext cx="1145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있습니다.”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3159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92991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85955" y="3221993"/>
            <a:ext cx="12295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부인) “저의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291718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361822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남편이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079626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148206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죽은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26742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95322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174239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42819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회사에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960623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029203" y="322199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있어서는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86275" y="3221993"/>
            <a:ext cx="225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207509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만분의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25313" y="3221993"/>
            <a:ext cx="22571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146293" y="322199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85561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57189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잃은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09958" y="361170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셈이네요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067055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08787" y="361170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그러나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926845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995425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저는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473961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544065" y="36117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인생의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62250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329306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모든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807842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877946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356482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425062" y="3611700"/>
            <a:ext cx="13875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잃었습니다.”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53545" y="47722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69953" y="4766875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안전활동의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064718" y="476687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131774" y="4766875"/>
            <a:ext cx="247993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목표, ‘무재해?’, ‘안전?’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72391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35459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무재해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753568" y="5257503"/>
            <a:ext cx="221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5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968452" y="525750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결과로서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925524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992580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재해가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710638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779218" y="5257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257754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402534" y="5257503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유해위험요인이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07474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141799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있어도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85960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928183" y="5257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40697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475553" y="525750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14123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있어도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732232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800812" y="563852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사람에게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757884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824940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피해가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542998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611578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없으면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329382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396438" y="5638528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‘재해는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161486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230066" y="5638528"/>
            <a:ext cx="53652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제로’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72391" y="601983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181763" y="601983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지향해야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139140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206196" y="601983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할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445464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515568" y="601983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목표는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233372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00428" y="6019833"/>
            <a:ext cx="13168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‘무재해’보다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591510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658566" y="6019833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‘안전’이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71239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539819" y="601983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합리적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92899" y="4357911"/>
            <a:ext cx="6891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https://www.youtube.com/watch?v=nbVbSAK-uok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1760" y="4080912"/>
            <a:ext cx="7154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https://www.youtube.com/watch?v=twsti5eUv_c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257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6982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49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7314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사고의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368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06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8193" y="1426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4601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565" y="1421171"/>
            <a:ext cx="17050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산업안전보건법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08199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75255" y="142117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14523" y="1421171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68447" y="142117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07715" y="1421171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69259" y="142117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64329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31385" y="14211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039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0107" y="1912915"/>
            <a:ext cx="822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“노무를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16608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85188" y="19129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제공하는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2260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9316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88106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56686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업무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35222" y="191291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74490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43070" y="19129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관계되는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00142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67198" y="191291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건설물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85383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70727" y="1912915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46215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30035" y="1912915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원재료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45045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28865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05877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0399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증기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39240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09344" y="227380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9468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17322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240280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718816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88920" y="229416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의하거나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46246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1177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9031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36041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3895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907534" y="22941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146802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6906" y="229416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밖의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695823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765927" y="229416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업무로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83731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50787" y="229416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인하여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268845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37425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60399" y="2673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3924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09344" y="267364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부상하거나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0416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1216" y="2673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질병에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589274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656330" y="2673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걸리는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374134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442714" y="2673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2125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989830" y="2673645"/>
            <a:ext cx="9026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말한다.”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47039" y="305464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56411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49375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전단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728216" y="3054645"/>
            <a:ext cx="4057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1" dirty="0">
                <a:solidFill>
                  <a:srgbClr val="000000"/>
                </a:solidFill>
                <a:latin typeface="나눔고딕 2"/>
                <a:cs typeface="나눔고딕 2"/>
              </a:rPr>
              <a:t>) ~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125980" y="3054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인하여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4378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12364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일이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39115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459734" y="3054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생기는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177538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246118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72465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793234" y="3054645"/>
            <a:ext cx="5847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‘사고’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47039" y="3435364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56411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49375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후단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728216" y="3435364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888236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366772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511552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990088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136392" y="343536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질병이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854450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921506" y="343536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발생하면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878578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945634" y="3435364"/>
            <a:ext cx="5847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‘재해’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257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6982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49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7314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사고의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368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06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0326" y="14295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734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698" y="1424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"/>
                <a:cs typeface="나눔고딕"/>
              </a:rPr>
              <a:t>최근의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7477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4533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"/>
                <a:cs typeface="나눔고딕"/>
              </a:rPr>
              <a:t>동향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03450" y="1424219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]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64994" y="1424219"/>
            <a:ext cx="355912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Incident, Accident, Near-miss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29426" y="1424219"/>
            <a:ext cx="14534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6" dirty="0">
                <a:solidFill>
                  <a:srgbClr val="000000"/>
                </a:solidFill>
                <a:latin typeface="나눔고딕 2"/>
                <a:cs typeface="나눔고딕 2"/>
              </a:rPr>
              <a:t>(ISO 45001)</a:t>
            </a:r>
          </a:p>
        </p:txBody>
      </p:sp>
      <p:sp>
        <p:nvSpPr>
          <p:cNvPr id="30" name="Shape 30"/>
          <p:cNvSpPr/>
          <p:nvPr/>
        </p:nvSpPr>
        <p:spPr>
          <a:xfrm>
            <a:off x="882167" y="2996057"/>
            <a:ext cx="3086075" cy="1518158"/>
          </a:xfrm>
          <a:custGeom>
            <a:avLst/>
            <a:gdLst/>
            <a:ahLst/>
            <a:cxnLst/>
            <a:rect l="0" t="0" r="3086075" b="1518158"/>
            <a:pathLst>
              <a:path w="3086075" h="1518158" stroke="0">
                <a:moveTo>
                  <a:pt x="0" y="253111"/>
                </a:moveTo>
                <a:cubicBezTo>
                  <a:pt x="0" y="113284"/>
                  <a:pt x="113284" y="0"/>
                  <a:pt x="253022" y="0"/>
                </a:cubicBezTo>
                <a:lnTo>
                  <a:pt x="2833091" y="0"/>
                </a:lnTo>
                <a:cubicBezTo>
                  <a:pt x="2972791" y="0"/>
                  <a:pt x="3086075" y="113284"/>
                  <a:pt x="3086075" y="253111"/>
                </a:cubicBezTo>
                <a:lnTo>
                  <a:pt x="3086075" y="1265174"/>
                </a:lnTo>
                <a:cubicBezTo>
                  <a:pt x="3086075" y="1404874"/>
                  <a:pt x="2972791" y="1518158"/>
                  <a:pt x="2833091" y="1518158"/>
                </a:cubicBezTo>
                <a:lnTo>
                  <a:pt x="253022" y="1518158"/>
                </a:lnTo>
                <a:cubicBezTo>
                  <a:pt x="113284" y="1518158"/>
                  <a:pt x="0" y="1404874"/>
                  <a:pt x="0" y="1265174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070458" y="3122590"/>
            <a:ext cx="9568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4" dirty="0">
                <a:solidFill>
                  <a:srgbClr val="0070C0"/>
                </a:solidFill>
                <a:latin typeface="나눔고딕 2"/>
                <a:cs typeface="나눔고딕 2"/>
              </a:rPr>
              <a:t>Incident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0458" y="3503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4901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93799" y="350359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258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42693" y="3503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2122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89809" y="35035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07613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0458" y="3808109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발생하였거나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03297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46553" y="380810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364357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432937" y="380810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72586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0458" y="41135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있었던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88541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57121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35657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04237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82773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51353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사건</a:t>
            </a:r>
          </a:p>
        </p:txBody>
      </p:sp>
      <p:sp>
        <p:nvSpPr>
          <p:cNvPr id="53" name="Shape 53"/>
          <p:cNvSpPr/>
          <p:nvPr/>
        </p:nvSpPr>
        <p:spPr>
          <a:xfrm>
            <a:off x="4920742" y="2363089"/>
            <a:ext cx="3250819" cy="1169289"/>
          </a:xfrm>
          <a:custGeom>
            <a:avLst/>
            <a:gdLst/>
            <a:ahLst/>
            <a:cxnLst/>
            <a:rect l="0" t="0" r="3250819" b="1169289"/>
            <a:pathLst>
              <a:path w="3250819" h="1169289" stroke="0">
                <a:moveTo>
                  <a:pt x="0" y="194818"/>
                </a:moveTo>
                <a:cubicBezTo>
                  <a:pt x="0" y="87249"/>
                  <a:pt x="87249" y="0"/>
                  <a:pt x="194945" y="0"/>
                </a:cubicBezTo>
                <a:lnTo>
                  <a:pt x="3055874" y="0"/>
                </a:lnTo>
                <a:cubicBezTo>
                  <a:pt x="3163570" y="0"/>
                  <a:pt x="3250819" y="87249"/>
                  <a:pt x="3250819" y="194818"/>
                </a:cubicBezTo>
                <a:lnTo>
                  <a:pt x="3250819" y="974471"/>
                </a:lnTo>
                <a:cubicBezTo>
                  <a:pt x="3250819" y="1082040"/>
                  <a:pt x="3163570" y="1169289"/>
                  <a:pt x="3055874" y="1169289"/>
                </a:cubicBezTo>
                <a:lnTo>
                  <a:pt x="194945" y="1169289"/>
                </a:lnTo>
                <a:cubicBezTo>
                  <a:pt x="87249" y="1169289"/>
                  <a:pt x="0" y="1082040"/>
                  <a:pt x="0" y="974471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5109718" y="2489495"/>
            <a:ext cx="10521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1" dirty="0">
                <a:solidFill>
                  <a:srgbClr val="0070C0"/>
                </a:solidFill>
                <a:latin typeface="나눔고딕 2"/>
                <a:cs typeface="나눔고딕 2"/>
              </a:rPr>
              <a:t>Accident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0971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88508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3328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11824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28192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60464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829044" y="2870495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47102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109718" y="317529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실제로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96356" y="317529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14160" y="3175295"/>
            <a:ext cx="10252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4" dirty="0">
                <a:solidFill>
                  <a:srgbClr val="000000"/>
                </a:solidFill>
                <a:latin typeface="나눔고딕 2"/>
                <a:cs typeface="나눔고딕 2"/>
              </a:rPr>
              <a:t> Incident</a:t>
            </a:r>
          </a:p>
        </p:txBody>
      </p:sp>
      <p:sp>
        <p:nvSpPr>
          <p:cNvPr id="66" name="Shape 66"/>
          <p:cNvSpPr/>
          <p:nvPr/>
        </p:nvSpPr>
        <p:spPr>
          <a:xfrm>
            <a:off x="4941316" y="4007231"/>
            <a:ext cx="3250692" cy="1210310"/>
          </a:xfrm>
          <a:custGeom>
            <a:avLst/>
            <a:gdLst/>
            <a:ahLst/>
            <a:cxnLst/>
            <a:rect l="0" t="0" r="3250692" b="1210310"/>
            <a:pathLst>
              <a:path w="3250692" h="1210310" stroke="0">
                <a:moveTo>
                  <a:pt x="0" y="201676"/>
                </a:moveTo>
                <a:cubicBezTo>
                  <a:pt x="0" y="90297"/>
                  <a:pt x="90297" y="0"/>
                  <a:pt x="201676" y="0"/>
                </a:cubicBezTo>
                <a:lnTo>
                  <a:pt x="3049016" y="0"/>
                </a:lnTo>
                <a:cubicBezTo>
                  <a:pt x="3160395" y="0"/>
                  <a:pt x="3250692" y="90297"/>
                  <a:pt x="3250692" y="201676"/>
                </a:cubicBezTo>
                <a:lnTo>
                  <a:pt x="3250692" y="1008634"/>
                </a:lnTo>
                <a:cubicBezTo>
                  <a:pt x="3250692" y="1120013"/>
                  <a:pt x="3160395" y="1210310"/>
                  <a:pt x="3049016" y="1210310"/>
                </a:cubicBezTo>
                <a:lnTo>
                  <a:pt x="201676" y="1210310"/>
                </a:lnTo>
                <a:cubicBezTo>
                  <a:pt x="90297" y="1210310"/>
                  <a:pt x="0" y="1120013"/>
                  <a:pt x="0" y="1008634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5130419" y="4133891"/>
            <a:ext cx="117933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2" dirty="0">
                <a:solidFill>
                  <a:srgbClr val="0070C0"/>
                </a:solidFill>
                <a:latin typeface="나눔고딕 2"/>
                <a:cs typeface="나눔고딕 2"/>
              </a:rPr>
              <a:t>Near-miss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77955" y="41414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570919" y="414148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아차사고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28245" y="41414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130419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08955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53735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32271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02375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780911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49745" y="45148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567549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30419" y="482007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087491" y="482007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54547" y="482007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않은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633083" y="4820072"/>
            <a:ext cx="10268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5" dirty="0">
                <a:solidFill>
                  <a:srgbClr val="000000"/>
                </a:solidFill>
                <a:latin typeface="나눔고딕 2"/>
                <a:cs typeface="나눔고딕 2"/>
              </a:rPr>
              <a:t> Incident</a:t>
            </a:r>
          </a:p>
        </p:txBody>
      </p:sp>
      <p:sp>
        <p:nvSpPr>
          <p:cNvPr id="83" name="Shape 83"/>
          <p:cNvSpPr/>
          <p:nvPr/>
        </p:nvSpPr>
        <p:spPr>
          <a:xfrm>
            <a:off x="3968242" y="2909570"/>
            <a:ext cx="952500" cy="855091"/>
          </a:xfrm>
          <a:custGeom>
            <a:avLst/>
            <a:gdLst/>
            <a:ahLst/>
            <a:cxnLst/>
            <a:rect l="0" t="0" r="952500" b="855091"/>
            <a:pathLst>
              <a:path w="952500" h="855091" stroke="0">
                <a:moveTo>
                  <a:pt x="0" y="855091"/>
                </a:moveTo>
                <a:lnTo>
                  <a:pt x="485775" y="855091"/>
                </a:lnTo>
                <a:lnTo>
                  <a:pt x="485775" y="38100"/>
                </a:lnTo>
                <a:lnTo>
                  <a:pt x="476250" y="47625"/>
                </a:lnTo>
                <a:lnTo>
                  <a:pt x="889000" y="47625"/>
                </a:lnTo>
                <a:lnTo>
                  <a:pt x="889000" y="28575"/>
                </a:lnTo>
                <a:lnTo>
                  <a:pt x="466725" y="28575"/>
                </a:lnTo>
                <a:lnTo>
                  <a:pt x="466725" y="845566"/>
                </a:lnTo>
                <a:lnTo>
                  <a:pt x="476250" y="836041"/>
                </a:lnTo>
                <a:lnTo>
                  <a:pt x="0" y="836041"/>
                </a:lnTo>
                <a:close/>
                <a:moveTo>
                  <a:pt x="876300" y="76200"/>
                </a:moveTo>
                <a:lnTo>
                  <a:pt x="952500" y="38100"/>
                </a:lnTo>
                <a:lnTo>
                  <a:pt x="876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84" name="Shape 84"/>
          <p:cNvSpPr/>
          <p:nvPr/>
        </p:nvSpPr>
        <p:spPr>
          <a:xfrm>
            <a:off x="3958717" y="3745611"/>
            <a:ext cx="973074" cy="904875"/>
          </a:xfrm>
          <a:custGeom>
            <a:avLst/>
            <a:gdLst/>
            <a:ahLst/>
            <a:cxnLst/>
            <a:rect l="0" t="0" r="973074" b="904875"/>
            <a:pathLst>
              <a:path w="973074" h="904875" stroke="0">
                <a:moveTo>
                  <a:pt x="0" y="0"/>
                </a:moveTo>
                <a:lnTo>
                  <a:pt x="496062" y="0"/>
                </a:lnTo>
                <a:lnTo>
                  <a:pt x="496062" y="866775"/>
                </a:lnTo>
                <a:lnTo>
                  <a:pt x="486537" y="857250"/>
                </a:lnTo>
                <a:lnTo>
                  <a:pt x="909574" y="857250"/>
                </a:lnTo>
                <a:lnTo>
                  <a:pt x="909574" y="876300"/>
                </a:lnTo>
                <a:lnTo>
                  <a:pt x="477012" y="876300"/>
                </a:lnTo>
                <a:lnTo>
                  <a:pt x="477012" y="9525"/>
                </a:lnTo>
                <a:lnTo>
                  <a:pt x="486537" y="19050"/>
                </a:lnTo>
                <a:lnTo>
                  <a:pt x="0" y="19050"/>
                </a:lnTo>
                <a:close/>
                <a:moveTo>
                  <a:pt x="896874" y="828675"/>
                </a:moveTo>
                <a:lnTo>
                  <a:pt x="973074" y="866775"/>
                </a:lnTo>
                <a:lnTo>
                  <a:pt x="896874" y="90487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653248" y="5561635"/>
            <a:ext cx="6067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https://www.youtube.com/watch?v=AEmvaCOJ9bg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80694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80694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80694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80694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위험제거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56285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40126" y="680694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감소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128" y="121983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536" y="1214494"/>
            <a:ext cx="24342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산업안전보건법에서의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6374" y="121449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11906" y="1214494"/>
            <a:ext cx="11444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‘위험’ 용어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33951" y="121449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4055" y="121449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1974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5042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8311" y="17047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7630" y="1704714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36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65478" y="17047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04746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73326" y="1704714"/>
            <a:ext cx="24469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위험성평가) “사업주는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2356" y="1704714"/>
            <a:ext cx="3910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0" dirty="0">
                <a:solidFill>
                  <a:srgbClr val="000000"/>
                </a:solidFill>
                <a:latin typeface="나눔고딕 2"/>
                <a:cs typeface="나눔고딕 2"/>
              </a:rPr>
              <a:t> ~,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4880" y="1704714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근로자에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206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79262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57798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26378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5295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73875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52411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22515" y="170471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건강장해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3706" y="2085433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3279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13434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방지하기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270506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37562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위하여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55620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24200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필요한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42004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910584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경우에는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867910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34966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추가적인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92038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57570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조치를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75374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44335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하여야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62139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30719" y="2085433"/>
            <a:ext cx="65835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한다.”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0819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83887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7156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16475" y="3003277"/>
            <a:ext cx="4713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97" dirty="0">
                <a:solidFill>
                  <a:srgbClr val="000000"/>
                </a:solidFill>
                <a:latin typeface="나눔고딕 2"/>
                <a:cs typeface="나눔고딕 2"/>
              </a:rPr>
              <a:t>142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78247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017515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086095" y="3003277"/>
            <a:ext cx="194932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산업안전지도사의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995921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062977" y="3003277"/>
            <a:ext cx="123142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직무) “유해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270239" y="29829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 smtClean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  <a:endParaRPr lang="en-US" sz="2004" b="1" dirty="0">
              <a:solidFill>
                <a:srgbClr val="000000"/>
              </a:solidFill>
              <a:latin typeface="맑은 고딕 2"/>
              <a:cs typeface="맑은 고딕 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5355583" y="3003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32595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70339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137395" y="3003277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방지대책에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32592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399648" y="3003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62551" y="338427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평가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441443" y="33639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26787" y="3384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지도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9191" y="3763472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58868" y="3763472"/>
            <a:ext cx="13884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‘재해’ 방지가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419851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486907" y="37634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아닌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965697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35801" y="3763472"/>
            <a:ext cx="114435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‘위험’ 방지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157465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226045" y="37634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용어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704581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773161" y="3763472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49191" y="414500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58868" y="414500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776723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843779" y="41450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반대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322315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392419" y="414500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개념은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110477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179057" y="4145007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‘재해’가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991349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059929" y="41450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아닌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538465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607045" y="4145007"/>
            <a:ext cx="58458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‘위험’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79110" y="2402843"/>
            <a:ext cx="5878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https://www.youtube.com/shorts/wbx6445hEYU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0"/>
          <p:cNvSpPr txBox="1"/>
          <p:nvPr/>
        </p:nvSpPr>
        <p:spPr>
          <a:xfrm>
            <a:off x="413008" y="6930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" name="TextBox 101"/>
          <p:cNvSpPr txBox="1"/>
          <p:nvPr/>
        </p:nvSpPr>
        <p:spPr>
          <a:xfrm>
            <a:off x="629416" y="687715"/>
            <a:ext cx="8285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‘위험’의</a:t>
            </a:r>
          </a:p>
        </p:txBody>
      </p:sp>
      <p:sp>
        <p:nvSpPr>
          <p:cNvPr id="4" name="TextBox 102"/>
          <p:cNvSpPr txBox="1"/>
          <p:nvPr/>
        </p:nvSpPr>
        <p:spPr>
          <a:xfrm>
            <a:off x="1441987" y="6877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" name="TextBox 103"/>
          <p:cNvSpPr txBox="1"/>
          <p:nvPr/>
        </p:nvSpPr>
        <p:spPr>
          <a:xfrm>
            <a:off x="1510567" y="6877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  <p:sp>
        <p:nvSpPr>
          <p:cNvPr id="6" name="TextBox 104"/>
          <p:cNvSpPr txBox="1"/>
          <p:nvPr/>
        </p:nvSpPr>
        <p:spPr>
          <a:xfrm>
            <a:off x="614480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" name="TextBox 105"/>
          <p:cNvSpPr txBox="1"/>
          <p:nvPr/>
        </p:nvSpPr>
        <p:spPr>
          <a:xfrm>
            <a:off x="777548" y="11479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8" name="TextBox 106"/>
          <p:cNvSpPr txBox="1"/>
          <p:nvPr/>
        </p:nvSpPr>
        <p:spPr>
          <a:xfrm>
            <a:off x="1256059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" name="TextBox 107"/>
          <p:cNvSpPr txBox="1"/>
          <p:nvPr/>
        </p:nvSpPr>
        <p:spPr>
          <a:xfrm>
            <a:off x="1324639" y="1147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자체가</a:t>
            </a:r>
          </a:p>
        </p:txBody>
      </p:sp>
      <p:sp>
        <p:nvSpPr>
          <p:cNvPr id="10" name="TextBox 108"/>
          <p:cNvSpPr txBox="1"/>
          <p:nvPr/>
        </p:nvSpPr>
        <p:spPr>
          <a:xfrm>
            <a:off x="2042824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" name="TextBox 109"/>
          <p:cNvSpPr txBox="1"/>
          <p:nvPr/>
        </p:nvSpPr>
        <p:spPr>
          <a:xfrm>
            <a:off x="2111404" y="1147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아니라</a:t>
            </a:r>
          </a:p>
        </p:txBody>
      </p:sp>
      <p:sp>
        <p:nvSpPr>
          <p:cNvPr id="12" name="TextBox 110"/>
          <p:cNvSpPr txBox="1"/>
          <p:nvPr/>
        </p:nvSpPr>
        <p:spPr>
          <a:xfrm>
            <a:off x="614480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3" name="TextBox 111"/>
          <p:cNvSpPr txBox="1"/>
          <p:nvPr/>
        </p:nvSpPr>
        <p:spPr>
          <a:xfrm>
            <a:off x="777548" y="1528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14" name="TextBox 112"/>
          <p:cNvSpPr txBox="1"/>
          <p:nvPr/>
        </p:nvSpPr>
        <p:spPr>
          <a:xfrm>
            <a:off x="1495327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" name="TextBox 113"/>
          <p:cNvSpPr txBox="1"/>
          <p:nvPr/>
        </p:nvSpPr>
        <p:spPr>
          <a:xfrm>
            <a:off x="1563907" y="1528963"/>
            <a:ext cx="8288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‘씨앗’에</a:t>
            </a:r>
          </a:p>
        </p:txBody>
      </p:sp>
      <p:sp>
        <p:nvSpPr>
          <p:cNvPr id="16" name="TextBox 114"/>
          <p:cNvSpPr txBox="1"/>
          <p:nvPr/>
        </p:nvSpPr>
        <p:spPr>
          <a:xfrm>
            <a:off x="2376580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15"/>
          <p:cNvSpPr txBox="1"/>
          <p:nvPr/>
        </p:nvSpPr>
        <p:spPr>
          <a:xfrm>
            <a:off x="2445160" y="152896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해당하는</a:t>
            </a:r>
          </a:p>
        </p:txBody>
      </p:sp>
      <p:sp>
        <p:nvSpPr>
          <p:cNvPr id="18" name="TextBox 116"/>
          <p:cNvSpPr txBox="1"/>
          <p:nvPr/>
        </p:nvSpPr>
        <p:spPr>
          <a:xfrm>
            <a:off x="3402232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" name="TextBox 117"/>
          <p:cNvSpPr txBox="1"/>
          <p:nvPr/>
        </p:nvSpPr>
        <p:spPr>
          <a:xfrm>
            <a:off x="3469288" y="1528963"/>
            <a:ext cx="9117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1" dirty="0">
                <a:solidFill>
                  <a:srgbClr val="0070C0"/>
                </a:solidFill>
                <a:latin typeface="나눔고딕 2"/>
                <a:cs typeface="나눔고딕 2"/>
              </a:rPr>
              <a:t>hazard(</a:t>
            </a:r>
          </a:p>
        </p:txBody>
      </p:sp>
      <p:sp>
        <p:nvSpPr>
          <p:cNvPr id="20" name="TextBox 118"/>
          <p:cNvSpPr txBox="1"/>
          <p:nvPr/>
        </p:nvSpPr>
        <p:spPr>
          <a:xfrm>
            <a:off x="4458493" y="1543631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위험요인</a:t>
            </a:r>
          </a:p>
        </p:txBody>
      </p:sp>
      <p:sp>
        <p:nvSpPr>
          <p:cNvPr id="21" name="TextBox 119"/>
          <p:cNvSpPr txBox="1"/>
          <p:nvPr/>
        </p:nvSpPr>
        <p:spPr>
          <a:xfrm>
            <a:off x="5410993" y="1543631"/>
            <a:ext cx="16595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2" name="TextBox 120"/>
          <p:cNvSpPr txBox="1"/>
          <p:nvPr/>
        </p:nvSpPr>
        <p:spPr>
          <a:xfrm>
            <a:off x="5475126" y="152896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23" name="TextBox 121"/>
          <p:cNvSpPr txBox="1"/>
          <p:nvPr/>
        </p:nvSpPr>
        <p:spPr>
          <a:xfrm>
            <a:off x="5838255" y="24508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122"/>
          <p:cNvSpPr txBox="1"/>
          <p:nvPr/>
        </p:nvSpPr>
        <p:spPr>
          <a:xfrm>
            <a:off x="465624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628692" y="28840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26" name="TextBox 124"/>
          <p:cNvSpPr txBox="1"/>
          <p:nvPr/>
        </p:nvSpPr>
        <p:spPr>
          <a:xfrm>
            <a:off x="1346471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125"/>
          <p:cNvSpPr txBox="1"/>
          <p:nvPr/>
        </p:nvSpPr>
        <p:spPr>
          <a:xfrm>
            <a:off x="1415051" y="2884037"/>
            <a:ext cx="58484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‘싹’에</a:t>
            </a:r>
          </a:p>
        </p:txBody>
      </p:sp>
      <p:sp>
        <p:nvSpPr>
          <p:cNvPr id="28" name="TextBox 126"/>
          <p:cNvSpPr txBox="1"/>
          <p:nvPr/>
        </p:nvSpPr>
        <p:spPr>
          <a:xfrm>
            <a:off x="1988456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127"/>
          <p:cNvSpPr txBox="1"/>
          <p:nvPr/>
        </p:nvSpPr>
        <p:spPr>
          <a:xfrm>
            <a:off x="2057036" y="28840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해당하는</a:t>
            </a:r>
          </a:p>
        </p:txBody>
      </p:sp>
      <p:sp>
        <p:nvSpPr>
          <p:cNvPr id="30" name="TextBox 128"/>
          <p:cNvSpPr txBox="1"/>
          <p:nvPr/>
        </p:nvSpPr>
        <p:spPr>
          <a:xfrm>
            <a:off x="3014108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129"/>
          <p:cNvSpPr txBox="1"/>
          <p:nvPr/>
        </p:nvSpPr>
        <p:spPr>
          <a:xfrm>
            <a:off x="3081164" y="2884037"/>
            <a:ext cx="4963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48" dirty="0">
                <a:solidFill>
                  <a:srgbClr val="0070C0"/>
                </a:solidFill>
                <a:latin typeface="나눔고딕 2"/>
                <a:cs typeface="나눔고딕 2"/>
              </a:rPr>
              <a:t>risk(</a:t>
            </a:r>
          </a:p>
        </p:txBody>
      </p:sp>
      <p:sp>
        <p:nvSpPr>
          <p:cNvPr id="32" name="TextBox 130"/>
          <p:cNvSpPr txBox="1"/>
          <p:nvPr/>
        </p:nvSpPr>
        <p:spPr>
          <a:xfrm>
            <a:off x="3569098" y="28840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33" name="TextBox 131"/>
          <p:cNvSpPr txBox="1"/>
          <p:nvPr/>
        </p:nvSpPr>
        <p:spPr>
          <a:xfrm>
            <a:off x="4286902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4" name="TextBox 132"/>
          <p:cNvSpPr txBox="1"/>
          <p:nvPr/>
        </p:nvSpPr>
        <p:spPr>
          <a:xfrm>
            <a:off x="4378342" y="28840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35" name="TextBox 133"/>
          <p:cNvSpPr txBox="1"/>
          <p:nvPr/>
        </p:nvSpPr>
        <p:spPr>
          <a:xfrm>
            <a:off x="4616086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134"/>
          <p:cNvSpPr txBox="1"/>
          <p:nvPr/>
        </p:nvSpPr>
        <p:spPr>
          <a:xfrm>
            <a:off x="4683142" y="28840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935990" y="1909963"/>
            <a:ext cx="49324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https://www.youtube.com/watch?v=eIElipN3GBU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914485" y="2279295"/>
            <a:ext cx="5109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https://www.youtube.com/watch?v=lf5PWo2Kodc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522" y="54315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위험성평가</a:t>
            </a:r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777548" y="6004483"/>
            <a:ext cx="59660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https://www.youtube.com/watch?v=OYmS4GpJaqk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30" y="3515769"/>
            <a:ext cx="7835073" cy="171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80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중요성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669" y="1426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077" y="14211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0830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9410" y="142117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궁극적인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6863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3919" y="14211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목표는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71723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8779" y="1421171"/>
            <a:ext cx="114432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‘이윤’ 추구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669" y="1807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077" y="1802171"/>
            <a:ext cx="67080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5" dirty="0">
                <a:solidFill>
                  <a:srgbClr val="000000"/>
                </a:solidFill>
                <a:latin typeface="나눔고딕 2"/>
                <a:cs typeface="나눔고딕 2"/>
              </a:rPr>
              <a:t>(but)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8346" y="180217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93543" y="1802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60599" y="18021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9135" y="1802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553" y="21828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4621" y="21828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피재자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2374" y="21828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90954" y="2182890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553" y="2564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4621" y="2564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3106" y="2564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1686" y="2564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553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4621" y="294555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기업에서의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99767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66823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45359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90139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368675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38779" y="294555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능률을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56837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23893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575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04643" y="398541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22396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90976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69893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38473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817009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85589" y="398541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경영을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603393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71973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330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76271" y="436666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여론의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794024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1080" y="436666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3999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486301" y="43666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책임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6483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33417" y="43666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추궁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511953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82057" y="436666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821325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9312" y="3431535"/>
            <a:ext cx="5680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https://www.youtube.com/watch?v=hLmefQiFzDA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1888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61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38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026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8834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652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5802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2567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315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527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94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4329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1949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21473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705" y="1750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1113" y="1745275"/>
            <a:ext cx="22197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4" dirty="0">
                <a:solidFill>
                  <a:srgbClr val="000000"/>
                </a:solidFill>
                <a:latin typeface="나눔고딕 2"/>
                <a:cs typeface="나눔고딕 2"/>
              </a:rPr>
              <a:t>ISO/IEC GUIDE 51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9589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2606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7114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15922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4458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4562" y="2126275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2015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89071" y="2126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46143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1675" y="2126275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90465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60569" y="212627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1270" y="2507275"/>
            <a:ext cx="4980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7" dirty="0">
                <a:solidFill>
                  <a:srgbClr val="000000"/>
                </a:solidFill>
                <a:latin typeface="나눔고딕 2"/>
                <a:cs typeface="나눔고딕 2"/>
              </a:rPr>
              <a:t>(freedom from risk which is not tolerable)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6574" y="33226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70C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06703" y="3322615"/>
            <a:ext cx="198722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1" dirty="0">
                <a:solidFill>
                  <a:srgbClr val="0070C0"/>
                </a:solidFill>
                <a:latin typeface="나눔고딕 2"/>
                <a:cs typeface="나눔고딕 2"/>
              </a:rPr>
              <a:t>ISO, IEC, ISO/IEC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7306" y="38562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77138" y="3856269"/>
            <a:ext cx="537627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1" dirty="0">
                <a:solidFill>
                  <a:srgbClr val="000000"/>
                </a:solidFill>
                <a:latin typeface="나눔고딕 2"/>
                <a:cs typeface="나눔고딕 2"/>
              </a:rPr>
              <a:t>ISO(International Organization for Standard: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52887" y="3881202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국제표준화기구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859744" y="3856268"/>
            <a:ext cx="243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4" dirty="0">
                <a:solidFill>
                  <a:srgbClr val="000000"/>
                </a:solidFill>
                <a:latin typeface="나눔고딕 2"/>
                <a:cs typeface="나눔고딕 2"/>
              </a:rPr>
              <a:t>):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7138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55699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24279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63801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56765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35301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678557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57093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227197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외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66465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59429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99078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67658" y="431346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국제표준을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062474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29530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검토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608320" y="429310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693664" y="4313469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작성하고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46164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13220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191756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61860" y="4313469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국제기구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97306" y="48465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7138" y="4846588"/>
            <a:ext cx="396765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80" dirty="0">
                <a:solidFill>
                  <a:srgbClr val="000000"/>
                </a:solidFill>
                <a:latin typeface="나눔고딕 2"/>
                <a:cs typeface="나눔고딕 2"/>
              </a:rPr>
              <a:t>IEC(International Electrotechnical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607101" y="4846588"/>
            <a:ext cx="16148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9" dirty="0">
                <a:solidFill>
                  <a:srgbClr val="000000"/>
                </a:solidFill>
                <a:latin typeface="나눔고딕 2"/>
                <a:cs typeface="나눔고딕 2"/>
              </a:rPr>
              <a:t>Commission: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295747" y="4872056"/>
            <a:ext cx="14645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국제전기기술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150606" y="48465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77138" y="53043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위원회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895221" y="5304323"/>
            <a:ext cx="2455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):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131441" y="530432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전기관계의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326257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393313" y="530432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국제표준을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588510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655566" y="5304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검토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134102" y="52839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219446" y="5304323"/>
            <a:ext cx="97453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작성하고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173724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240780" y="5304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719316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787896" y="530432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국제기구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97306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77138" y="5837774"/>
            <a:ext cx="104280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6" dirty="0">
                <a:solidFill>
                  <a:srgbClr val="000000"/>
                </a:solidFill>
                <a:latin typeface="나눔고딕 2"/>
                <a:cs typeface="나눔고딕 2"/>
              </a:rPr>
              <a:t>ISO/IEC: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200021" y="58377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439289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509393" y="58377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두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748661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818765" y="583777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297301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365881" y="5837774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국제표준기관이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038090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105146" y="583777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합동으로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062472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129528" y="58377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847332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915912" y="583777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표준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2726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(1)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2494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안전은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6849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40001" y="1799844"/>
            <a:ext cx="819056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‘리스크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4353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41066" y="1799844"/>
            <a:ext cx="117441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위험성)’에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9321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63568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6648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39640" y="1799844"/>
            <a:ext cx="102517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정의된다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4548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988" y="23064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3396" y="2301154"/>
            <a:ext cx="14189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‘리스크(risk)’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55062" y="23011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9433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86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인체에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7919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46246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247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71086" y="23011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장해를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8927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6327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미치는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7413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42711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0769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27825" y="23011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45629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4209" y="2301154"/>
            <a:ext cx="5843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‘확률’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87233" y="23011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68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3396" y="26059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81200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49780" y="260595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발생하였을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44850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11906" y="2605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551174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21278" y="26059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407662" y="2605954"/>
            <a:ext cx="107294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‘중대성’의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59603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26659" y="26059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조합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005195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149975" y="2605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89497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459601" y="26059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양자를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177405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45985" y="26059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합하여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963789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63396" y="29107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981200" y="29107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049780" y="29107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것이다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767838" y="29107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151888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6761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7538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8026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878834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6652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765802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52567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65315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91527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994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04329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1949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21473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7070" y="684022"/>
            <a:ext cx="36965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84022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84022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84022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4714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4714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1888" y="1214714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614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3868" y="1214714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0263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8834" y="1214714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65218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5802" y="1214714"/>
            <a:ext cx="80276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2567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3151" y="1214714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5279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94527" y="1214714"/>
            <a:ext cx="1069514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43293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19493" y="1214714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43749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21473" y="1214714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6196" y="1830070"/>
            <a:ext cx="1000308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(2) ‘허용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7652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62328" y="1830070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16962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88590" y="1830070"/>
            <a:ext cx="1074923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리스크’란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43198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16350" y="1830070"/>
            <a:ext cx="102517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무엇인가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0458" y="233672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891" y="23313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대상이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04695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3275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51811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20391" y="2331380"/>
            <a:ext cx="12214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것으로부터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15461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82517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받는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61053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31157" y="2331380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안전하게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88610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5414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하기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32678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0278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81572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5015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비용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28688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174992" y="2331380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이용편리성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37118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15654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86891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고려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65427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243963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387219" y="263589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44545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11601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크기가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129405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196461" y="2635899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받아들여도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39318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60238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좋다고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7804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45098" y="2635899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생각할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963156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31736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정도로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749540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816596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낮은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9513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65490" y="263589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604758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36574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06703" y="318050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64029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331085" y="318050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종류와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048889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117469" y="318050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97306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"/>
                <a:cs typeface="나눔고딕"/>
              </a:rPr>
              <a:t>-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77138" y="3561883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‘누구나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942465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011045" y="35618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수용하는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968117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035173" y="3561883"/>
            <a:ext cx="14646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리스크’, ‘널리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471162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39742" y="3561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018278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88382" y="3561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06440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873496" y="3561883"/>
            <a:ext cx="780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리스크’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40562" y="3942883"/>
            <a:ext cx="44079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9" dirty="0">
                <a:solidFill>
                  <a:srgbClr val="000000"/>
                </a:solidFill>
                <a:latin typeface="나눔고딕 2"/>
                <a:cs typeface="나눔고딕 2"/>
              </a:rPr>
              <a:t>ex)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571879" y="3942883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떨어지는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529205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596261" y="3942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운석에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314065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382645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맞을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861562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930142" y="39428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887214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954270" y="394288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존재하지만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14934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92596" y="3942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현실이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01040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78980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55777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626350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568831" y="43238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매우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047621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116201" y="4323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드문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594737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664841" y="432388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904109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997073" y="4323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빈도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75609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567049" y="43238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이기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04444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11498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때문에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82930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972558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누구도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690616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759196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방어를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477000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545580" y="432388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생각하지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502906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7568438" y="432388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않는다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28624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97306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나눔고딕"/>
                <a:cs typeface="나눔고딕"/>
              </a:rPr>
              <a:t>-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177138" y="4704602"/>
            <a:ext cx="53655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‘허용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702943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773047" y="4704602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491105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2558161" y="4704602"/>
            <a:ext cx="78024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리스크’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140562" y="5086137"/>
            <a:ext cx="44079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9" dirty="0">
                <a:solidFill>
                  <a:srgbClr val="000000"/>
                </a:solidFill>
                <a:latin typeface="나눔고딕 2"/>
                <a:cs typeface="나눔고딕 2"/>
              </a:rPr>
              <a:t>ex)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71879" y="508613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358517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837053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905633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384169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452749" y="50861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692398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764026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매년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242562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311142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다수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789678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858258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533679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5483098" y="5086137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크레인은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44042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507480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매우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986016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054596" y="5086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777265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7841234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8319770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568831" y="5467137"/>
            <a:ext cx="4815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5" dirty="0">
                <a:solidFill>
                  <a:srgbClr val="000000"/>
                </a:solidFill>
                <a:latin typeface="나눔고딕 2"/>
                <a:cs typeface="나눔고딕 2"/>
              </a:rPr>
              <a:t>but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040001" y="54671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크레인은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997073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064129" y="5467137"/>
            <a:ext cx="1464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전세계적에서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498594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565650" y="546713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보편적으로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760720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827776" y="5467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282319" y="5848137"/>
            <a:ext cx="17068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☞이용편리성과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2954401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021457" y="58481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위험성을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397891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045966" y="58481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저울에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76377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832350" y="58481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달았을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550154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617464" y="58481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5856732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5926836" y="584813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이용편리성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123176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190232" y="5848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쪽으로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90829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7975346" y="5848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기울어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869315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997306" y="615265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진다고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715135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783715" y="6152656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판단하고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2741041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2884297" y="615265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위험성은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3841750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3907282" y="6152656"/>
            <a:ext cx="14645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안전대책으로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5341366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5408422" y="6152656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대응하면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6365748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6432804" y="615265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된다고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7150608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217664" y="6152656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생각하기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174990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8242046" y="615265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때문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527" y="1213164"/>
            <a:ext cx="133717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절대안전은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247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0196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7896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55162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4154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03090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985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9043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7682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77407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3953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8783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제로일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0542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162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47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없다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4572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705" y="1750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1113" y="1745275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‘기계는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6110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64690" y="1745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고장나기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22143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89199" y="1745275"/>
            <a:ext cx="19508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마련’이고, ‘인간은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02073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70653" y="1745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실수하기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27725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94781" y="1745275"/>
            <a:ext cx="10247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마련’이다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99478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705" y="2131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1113" y="2126275"/>
            <a:ext cx="126842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‘허용가능한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7312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40178" y="2126275"/>
            <a:ext cx="151286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리스크’에서는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921887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88943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누릴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467479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36313" y="21262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혜택과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54117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22697" y="212627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이해득실을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17894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84950" y="2126275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저울질할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4202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31113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088134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155190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존재한다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112643" y="2431075"/>
            <a:ext cx="24012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0" dirty="0">
                <a:solidFill>
                  <a:srgbClr val="000000"/>
                </a:solidFill>
                <a:latin typeface="나눔고딕 2"/>
                <a:cs typeface="나눔고딕 2"/>
              </a:rPr>
              <a:t>. (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348863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생산속도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304411" y="2431075"/>
            <a:ext cx="3773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65" dirty="0">
                <a:solidFill>
                  <a:srgbClr val="000000"/>
                </a:solidFill>
                <a:latin typeface="나눔고딕 2"/>
                <a:cs typeface="나눔고딕 2"/>
              </a:rPr>
              <a:t> vs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73473" y="24310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152009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220589" y="243107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459857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14705" y="28171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31113" y="281179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088134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55190" y="2811794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절대안전을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350387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17443" y="281179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의미하는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374515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441571" y="2811794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920361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988941" y="281179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아니라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706745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851525" y="2811794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리스크라는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046722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13778" y="2811794"/>
            <a:ext cx="82879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‘크기’의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926070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31113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848866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917446" y="311712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도입하여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87489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941955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그것이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65975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726815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허용할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44461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513453" y="311712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752721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822825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301361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369941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데까지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087745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156325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낮게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635242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703822" y="311712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억제되어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660894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727950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206486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31113" y="34219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상태를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848866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917446" y="34219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395982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540762" y="342192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잔류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019679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088259" y="342192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045331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112387" y="34219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</a:t>
            </a:r>
          </a:p>
        </p:txBody>
      </p:sp>
      <p:sp>
        <p:nvSpPr>
          <p:cNvPr id="114" name="Shape 114"/>
          <p:cNvSpPr/>
          <p:nvPr/>
        </p:nvSpPr>
        <p:spPr>
          <a:xfrm>
            <a:off x="843496" y="4039692"/>
            <a:ext cx="7922387" cy="2323719"/>
          </a:xfrm>
          <a:prstGeom prst="rect">
            <a:avLst/>
          </a:prstGeom>
          <a:noFill/>
          <a:ln w="19050">
            <a:solidFill>
              <a:srgbClr val="9D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TextBox 115"/>
          <p:cNvSpPr txBox="1"/>
          <p:nvPr/>
        </p:nvSpPr>
        <p:spPr>
          <a:xfrm>
            <a:off x="935126" y="409617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244498" y="409617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962277" y="409617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030857" y="4096172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감소방안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7838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241450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사람이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959229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027809" y="447869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조금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50672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575306" y="447869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실수하여도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77012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913378" y="447869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392168" y="44583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477512" y="4478696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설비에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19379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260848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다소의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97890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045962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문제가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76376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832346" y="4478696"/>
            <a:ext cx="146283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발생하더라도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220114" y="485789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큰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459357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530985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사고에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24917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316226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이르지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03403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102610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않도록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3820414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3888994" y="485789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367784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436364" y="485789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방안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491490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4983480" y="485789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강구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220114" y="5239426"/>
            <a:ext cx="5202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8" dirty="0">
                <a:solidFill>
                  <a:srgbClr val="000000"/>
                </a:solidFill>
                <a:latin typeface="나눔고딕 2"/>
                <a:cs typeface="나눔고딕 2"/>
              </a:rPr>
              <a:t>(ex,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729105" y="523942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근원적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2447290" y="523942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2514346" y="5239426"/>
            <a:ext cx="377052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안전설계: ‘Fool Proof’, ‘Fail Safe’)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006754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169822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648333" y="56016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733677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211070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278126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파손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2756662" y="56016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842006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고장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319018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386074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864610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934714" y="5621975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관리시스템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5129784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5196840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운영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006754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1698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직원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648333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718437" y="60014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교육훈련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2675890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7414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실시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3219958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33129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3791458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3858514" y="600145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감소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4337304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8482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068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확률과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5445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30652" y="1213164"/>
            <a:ext cx="107073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중대성의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94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57142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조합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91" y="18307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8499" y="1825412"/>
            <a:ext cx="73649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‘확률’,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9760" y="1825412"/>
            <a:ext cx="22930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‘중대성’, ‘리스크’에는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37914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04970" y="182541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크기의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22774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89830" y="182541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091" y="22114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8499" y="220613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55876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2932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크기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2091" y="2587666"/>
            <a:ext cx="2403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-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8415" y="2587666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6568" y="2589982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963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55648" y="25876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491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66544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84348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52928" y="2587666"/>
            <a:ext cx="114432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7484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43426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29810" y="2587666"/>
            <a:ext cx="6303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 10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47411" y="2589982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10479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06491" y="25876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45759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17387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735191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02247" y="2587666"/>
            <a:ext cx="114432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24165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94269" y="258766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4931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4984" y="4898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통계적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833169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01749" y="489868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사고발생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858821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25877" y="4898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04667" y="4898685"/>
            <a:ext cx="38427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61" dirty="0">
                <a:solidFill>
                  <a:srgbClr val="000000"/>
                </a:solidFill>
                <a:latin typeface="나눔고딕 2"/>
                <a:cs typeface="나눔고딕 2"/>
              </a:rPr>
              <a:t> 10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81095" y="4901001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944163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40175" y="4898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279443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51071" y="4898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20547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3564" y="5279685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91412" y="5282001"/>
            <a:ext cx="167131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54861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750873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90141" y="5279685"/>
            <a:ext cx="159274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9" dirty="0">
                <a:solidFill>
                  <a:srgbClr val="000000"/>
                </a:solidFill>
                <a:latin typeface="나눔고딕 2"/>
                <a:cs typeface="나눔고딕 2"/>
              </a:rPr>
              <a:t> = 1/100,000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02696" y="529202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963704" y="5274389"/>
            <a:ext cx="4684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7" dirty="0">
                <a:solidFill>
                  <a:srgbClr val="000000"/>
                </a:solidFill>
                <a:latin typeface="나눔고딕 2"/>
                <a:cs typeface="나눔고딕 2"/>
              </a:rPr>
              <a:t> (10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540249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779517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49621" y="5279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시간당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67806" y="5279685"/>
            <a:ext cx="22571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88786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028054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0547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83564" y="5660685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91412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731061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801165" y="5660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518969" y="5660685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741473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980741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50845" y="5660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밖에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529635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598215" y="566068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일어나지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55287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622343" y="566068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않는다거나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817540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84596" y="5660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반드시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602400" y="5660685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824904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번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064172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134276" y="5660685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일어난다는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233856" y="604140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712773" y="604140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782877" y="604140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2054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83564" y="642299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실제로는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14101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208073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내일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686609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755189" y="64229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47324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541827" y="64229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59631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326687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805223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875327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26871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89939" y="2992769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497838" y="29953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6090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756918" y="29927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99618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067814" y="2992769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785872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854452" y="2992769"/>
            <a:ext cx="114435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97611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044950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831334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FF0000"/>
                </a:solidFill>
                <a:latin typeface="나눔고딕 2"/>
                <a:cs typeface="나눔고딕 2"/>
              </a:rPr>
              <a:t>?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183378" y="2992769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5491226" y="29953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-7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54294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750306" y="29927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989955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061583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779387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6847967" y="2992769"/>
            <a:ext cx="114280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‘사망’ 발생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7968361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038465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99820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239063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309167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48435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618539" y="4011463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판단에는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575992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643048" y="401146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가치관이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600120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667430" y="401146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수반되므로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862246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929302" y="40114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사람과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647360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5715940" y="40114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상황에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433744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6500800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979336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049440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다를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528357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596937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7836205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906309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356411" y="431598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기업별로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31386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380920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사업장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09872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167304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특성을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3885362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952418" y="431598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고려하여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909490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976546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적절한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69460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763184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방법을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6480988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6548044" y="4315982"/>
            <a:ext cx="122083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개발•적용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7744765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7811821" y="431598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1694678" y="3328017"/>
            <a:ext cx="6757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확률은 높은데 피해가 작은 것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확률은 낮은데 피해가 치명적인 것</a:t>
            </a:r>
            <a:r>
              <a:rPr lang="en-US" altLang="ko-KR" dirty="0"/>
              <a:t>" </a:t>
            </a:r>
            <a:r>
              <a:rPr lang="ko-KR" altLang="en-US" dirty="0"/>
              <a:t>중 어느 쪽의 리스크가 더 큰지 단순 비교하기 어렵다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8482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091" y="3413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8499" y="3408567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산업안전에서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31364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98420" y="3408567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상해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76956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3260" y="3408567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사망을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41318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08374" y="3408567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65446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32502" y="3408567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환산하는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9955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57011" y="3408567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5547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5651" y="3408567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심리적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23709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90765" y="3408567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저항감이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47837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8499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높을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7340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5920" y="371390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8518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55292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3382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03932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주의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8246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51048" y="371390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1359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1463" y="4364650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48840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15896" y="436465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비교한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33700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02280" y="436465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20338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87394" y="436465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6975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60043" y="4745369"/>
            <a:ext cx="15750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4272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92808" y="4745369"/>
            <a:ext cx="53518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27" dirty="0">
                <a:solidFill>
                  <a:srgbClr val="000000"/>
                </a:solidFill>
                <a:latin typeface="나눔고딕 2"/>
                <a:cs typeface="나눔고딕 2"/>
              </a:rPr>
              <a:t> : 10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17064" y="47479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80132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676144" y="47453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15412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87040" y="47453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05098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773678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실명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52214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20794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99330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69434" y="47453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96975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0043" y="5127031"/>
            <a:ext cx="1744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C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31036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909572" y="5127031"/>
            <a:ext cx="53670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31" dirty="0">
                <a:solidFill>
                  <a:srgbClr val="000000"/>
                </a:solidFill>
                <a:latin typeface="나눔고딕 2"/>
                <a:cs typeface="나눔고딕 2"/>
              </a:rPr>
              <a:t> : 10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435352" y="5129347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-7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98420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694432" y="512703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33700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05328" y="512703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723386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90442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68978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339082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17618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886198" y="512703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96975" y="5507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60043" y="550798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978152" y="5507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046732" y="550798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실명보다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003804" y="5507980"/>
            <a:ext cx="53816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64" dirty="0">
                <a:solidFill>
                  <a:srgbClr val="000000"/>
                </a:solidFill>
                <a:latin typeface="나눔고딕 2"/>
                <a:cs typeface="나눔고딕 2"/>
              </a:rPr>
              <a:t> 100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686326" y="55326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배의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164862" y="55326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4966" y="553266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보험금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952770" y="55326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021350" y="55326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지불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53719" y="588898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63091" y="5888980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B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17320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기계와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135124" y="5888980"/>
            <a:ext cx="24440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C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74392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092196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160776" y="5888980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118102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185158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크기가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902962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970018" y="588898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같다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448935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0680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168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193034" y="1213164"/>
            <a:ext cx="1871915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계산•비교하는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2831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104511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경우가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89089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968619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있다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82091" y="18307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98499" y="182541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보험에서의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93620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360676" y="182541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078480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147060" y="1825412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계산은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865118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932174" y="182541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단순하고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889246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956302" y="1825412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명확함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82091" y="2206131"/>
            <a:ext cx="24046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-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188415" y="220613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과거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667256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735836" y="220613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축적된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453640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522220" y="2206131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데이터로부터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956558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4022090" y="220613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명확한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4739894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808474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287391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355971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834507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904611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구할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383147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451727" y="220613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690995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761099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25347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188415" y="2511466"/>
            <a:ext cx="18780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‘실명’, ‘사망’ 등에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02971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098292" y="251146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357708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647186" y="25114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지급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12572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194302" y="25114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보험금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912106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980686" y="251146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명확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53719" y="28162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263091" y="2816266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220468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287524" y="2816266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‘빈도’와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099816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168396" y="2816266"/>
            <a:ext cx="107281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‘중대성’의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220210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287266" y="28162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곱셈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765802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835906" y="281626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조합으로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793359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860415" y="28162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금액화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578219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645275" y="28162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7.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984" y="14295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392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356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1892" y="1424219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81912" y="142421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과학기술을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76982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44038" y="142421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이용하여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01110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68166" y="1424219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완성해가는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63363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30419" y="1424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측면이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48477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17057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95593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5356" y="180521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44624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4982" y="1805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평가도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32786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01366" y="1805219"/>
            <a:ext cx="19497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객관적•수량적인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11319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78375" y="180521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접근방법을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73445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40501" y="180521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지향하여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97573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64629" y="180521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발전해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82814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49870" y="1805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왔음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28406" y="1805219"/>
            <a:ext cx="36213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6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984" y="219128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0392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356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1892" y="2185938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81912" y="218593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주관적인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39238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06294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판단이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24098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92678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중심을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110863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177919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이루고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895723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040503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개인에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758307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827141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05677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74257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느끼는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092061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60641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방법이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878826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945882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다름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24418" y="2185938"/>
            <a:ext cx="21702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5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3984" y="2567600"/>
            <a:ext cx="10905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8" dirty="0">
                <a:solidFill>
                  <a:srgbClr val="000000"/>
                </a:solidFill>
                <a:latin typeface="나눔고딕 2"/>
                <a:cs typeface="나눔고딕 2"/>
              </a:rPr>
              <a:t>              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705356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안심은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423414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491994" y="2567600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신뢰한다고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686810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753866" y="256760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232783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301363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인간의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019167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087747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마음과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05805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874385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강하게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592189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659245" y="2567600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관련되어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616317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683754" y="25676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162290" y="2567600"/>
            <a:ext cx="2152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1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3984" y="3253400"/>
            <a:ext cx="3134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11936" y="3253400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안전하더라도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444750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511806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안심할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229610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298190" y="325340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537458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607562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없었던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325747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94327" y="325340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633595" y="3253400"/>
            <a:ext cx="2234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851527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광우병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33984" y="3634119"/>
            <a:ext cx="31352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1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11936" y="363411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안심하고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969008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036318" y="363411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있지만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754122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821178" y="363411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안전하지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778250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845306" y="3634119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324223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394327" y="363411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633595" y="3634119"/>
            <a:ext cx="22355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88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851527" y="363411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자동차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33984" y="4320454"/>
            <a:ext cx="2188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48868" y="43204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8136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58240" y="4320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876044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943100" y="4320454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안심으로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900426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967482" y="43204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연결하는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924935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991991" y="4320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데는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470527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540631" y="4320454"/>
            <a:ext cx="7800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‘리스크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305679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372735" y="4320454"/>
            <a:ext cx="17548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커뮤니케이션’이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092061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159117" y="4320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중요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91184" y="47052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251204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안전이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969008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036318" y="4701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514854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584958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구조로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302762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371342" y="47014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실현되고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4328795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394327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있는가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112131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256911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최악의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974969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6043549" y="470145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경우에는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7000621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7067677" y="4701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7546213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7614793" y="47014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위험이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332978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234440" y="5005973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발생하는가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496566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975102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3043682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522218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592322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정보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071239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139819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공개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091184" y="531677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251204" y="5312959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잔류위험성에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684018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751074" y="531295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229610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299714" y="531295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합의와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017899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4084955" y="531295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납득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563491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633595" y="531295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000" y="3105835"/>
            <a:ext cx="5609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https://www.youtube.com/watch?v=nbVbSAK-uok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286000" y="1450771"/>
            <a:ext cx="58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https://www.youtube.com/watch?v=wMzrn-43YRQ</a:t>
            </a:r>
          </a:p>
        </p:txBody>
      </p:sp>
    </p:spTree>
    <p:extLst>
      <p:ext uri="{BB962C8B-B14F-4D97-AF65-F5344CB8AC3E}">
        <p14:creationId xmlns:p14="http://schemas.microsoft.com/office/powerpoint/2010/main" val="1254511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2209</Words>
  <Application>Microsoft Office PowerPoint</Application>
  <PresentationFormat>화면 슬라이드 쇼(4:3)</PresentationFormat>
  <Paragraphs>1822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Wingdings</vt:lpstr>
      <vt:lpstr>Calibri</vt:lpstr>
      <vt:lpstr>나눔고딕 ExtraBold</vt:lpstr>
      <vt:lpstr>나눔고딕</vt:lpstr>
      <vt:lpstr>나눔고딕 2</vt:lpstr>
      <vt:lpstr>굴림</vt:lpstr>
      <vt:lpstr>맑은 고딕 2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24</cp:revision>
  <dcterms:modified xsi:type="dcterms:W3CDTF">2026-08-31T04:23:31Z</dcterms:modified>
</cp:coreProperties>
</file>